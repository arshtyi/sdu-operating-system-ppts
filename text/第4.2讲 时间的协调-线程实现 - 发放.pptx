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7"/>
  </p:handoutMasterIdLst>
  <p:sldIdLst>
    <p:sldId id="256" r:id="rId3"/>
    <p:sldId id="4868" r:id="rId5"/>
    <p:sldId id="4876" r:id="rId6"/>
    <p:sldId id="4878" r:id="rId7"/>
    <p:sldId id="4879" r:id="rId8"/>
    <p:sldId id="4877" r:id="rId9"/>
    <p:sldId id="4880" r:id="rId10"/>
    <p:sldId id="4881" r:id="rId11"/>
    <p:sldId id="4882" r:id="rId12"/>
    <p:sldId id="4883" r:id="rId13"/>
    <p:sldId id="4870" r:id="rId14"/>
    <p:sldId id="4884" r:id="rId15"/>
    <p:sldId id="4885" r:id="rId16"/>
    <p:sldId id="4886" r:id="rId17"/>
    <p:sldId id="4869" r:id="rId18"/>
    <p:sldId id="4887" r:id="rId19"/>
    <p:sldId id="4888" r:id="rId20"/>
    <p:sldId id="4889" r:id="rId21"/>
    <p:sldId id="4890" r:id="rId22"/>
    <p:sldId id="4891" r:id="rId23"/>
    <p:sldId id="4871" r:id="rId24"/>
    <p:sldId id="4872" r:id="rId25"/>
    <p:sldId id="4892" r:id="rId26"/>
    <p:sldId id="4894" r:id="rId27"/>
    <p:sldId id="4895" r:id="rId28"/>
    <p:sldId id="4896" r:id="rId29"/>
    <p:sldId id="4899" r:id="rId30"/>
    <p:sldId id="4897" r:id="rId31"/>
    <p:sldId id="4874" r:id="rId32"/>
    <p:sldId id="4902" r:id="rId33"/>
    <p:sldId id="4875" r:id="rId34"/>
    <p:sldId id="4903" r:id="rId35"/>
    <p:sldId id="4856" r:id="rId36"/>
  </p:sldIdLst>
  <p:sldSz cx="12192000" cy="6858000"/>
  <p:notesSz cx="6858000" cy="9144000"/>
  <p:custDataLst>
    <p:tags r:id="rId4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1" userDrawn="1">
          <p15:clr>
            <a:srgbClr val="A4A3A4"/>
          </p15:clr>
        </p15:guide>
        <p15:guide id="2" pos="37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妍洁" initials="王妍洁" lastIdx="3" clrIdx="0"/>
  <p:cmAuthor id="2" name="Administrator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0B15"/>
    <a:srgbClr val="D02F35"/>
    <a:srgbClr val="CD858A"/>
    <a:srgbClr val="8BA8DB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108" y="36"/>
      </p:cViewPr>
      <p:guideLst>
        <p:guide orient="horz" pos="2091"/>
        <p:guide pos="37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tags" Target="tags/tag236.xml"/><Relationship Id="rId41" Type="http://schemas.openxmlformats.org/officeDocument/2006/relationships/commentAuthors" Target="commentAuthors.xml"/><Relationship Id="rId4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handoutMaster" Target="handoutMasters/handoutMaster1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2" name="圆: 空心 11"/>
          <p:cNvSpPr/>
          <p:nvPr userDrawn="1"/>
        </p:nvSpPr>
        <p:spPr>
          <a:xfrm>
            <a:off x="11604170" y="6385918"/>
            <a:ext cx="1248229" cy="1248229"/>
          </a:xfrm>
          <a:prstGeom prst="donut">
            <a:avLst>
              <a:gd name="adj" fmla="val 21798"/>
            </a:avLst>
          </a:prstGeom>
          <a:solidFill>
            <a:srgbClr val="9C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US" strike="noStrike" noProof="1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2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>
                <a:latin typeface="Calibri" panose="020F0502020204030204" charset="0"/>
                <a:ea typeface="等线" panose="02010600030101010101" charset="-122"/>
                <a:cs typeface="+mn-cs"/>
              </a:rPr>
            </a:fld>
            <a:endParaRPr lang="en-US" altLang="zh-CN" strike="noStrike" noProof="1">
              <a:ea typeface="等线" panose="02010600030101010101" charset="-122"/>
            </a:endParaRP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2.xml"/><Relationship Id="rId4" Type="http://schemas.openxmlformats.org/officeDocument/2006/relationships/image" Target="../media/image2.png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4" Type="http://schemas.openxmlformats.org/officeDocument/2006/relationships/notesSlide" Target="../notesSlides/notesSlide10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54.xml"/><Relationship Id="rId11" Type="http://schemas.openxmlformats.org/officeDocument/2006/relationships/tags" Target="../tags/tag53.xml"/><Relationship Id="rId10" Type="http://schemas.openxmlformats.org/officeDocument/2006/relationships/tags" Target="../tags/tag52.xml"/><Relationship Id="rId1" Type="http://schemas.openxmlformats.org/officeDocument/2006/relationships/tags" Target="../tags/tag43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56.xml"/><Relationship Id="rId1" Type="http://schemas.openxmlformats.org/officeDocument/2006/relationships/tags" Target="../tags/tag55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58.xml"/><Relationship Id="rId1" Type="http://schemas.openxmlformats.org/officeDocument/2006/relationships/tags" Target="../tags/tag57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0.xml"/><Relationship Id="rId1" Type="http://schemas.openxmlformats.org/officeDocument/2006/relationships/tags" Target="../tags/tag59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2.xml"/><Relationship Id="rId1" Type="http://schemas.openxmlformats.org/officeDocument/2006/relationships/tags" Target="../tags/tag6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5" Type="http://schemas.openxmlformats.org/officeDocument/2006/relationships/notesSlide" Target="../notesSlides/notesSlide16.xml"/><Relationship Id="rId24" Type="http://schemas.openxmlformats.org/officeDocument/2006/relationships/slideLayout" Target="../slideLayouts/slideLayout2.xml"/><Relationship Id="rId23" Type="http://schemas.openxmlformats.org/officeDocument/2006/relationships/tags" Target="../tags/tag87.xml"/><Relationship Id="rId22" Type="http://schemas.openxmlformats.org/officeDocument/2006/relationships/tags" Target="../tags/tag86.xml"/><Relationship Id="rId21" Type="http://schemas.openxmlformats.org/officeDocument/2006/relationships/tags" Target="../tags/tag85.xml"/><Relationship Id="rId20" Type="http://schemas.openxmlformats.org/officeDocument/2006/relationships/tags" Target="../tags/tag84.xml"/><Relationship Id="rId2" Type="http://schemas.openxmlformats.org/officeDocument/2006/relationships/tags" Target="../tags/tag66.xml"/><Relationship Id="rId19" Type="http://schemas.openxmlformats.org/officeDocument/2006/relationships/tags" Target="../tags/tag83.xml"/><Relationship Id="rId18" Type="http://schemas.openxmlformats.org/officeDocument/2006/relationships/tags" Target="../tags/tag82.xml"/><Relationship Id="rId17" Type="http://schemas.openxmlformats.org/officeDocument/2006/relationships/tags" Target="../tags/tag81.xml"/><Relationship Id="rId16" Type="http://schemas.openxmlformats.org/officeDocument/2006/relationships/tags" Target="../tags/tag80.xml"/><Relationship Id="rId15" Type="http://schemas.openxmlformats.org/officeDocument/2006/relationships/tags" Target="../tags/tag79.xml"/><Relationship Id="rId14" Type="http://schemas.openxmlformats.org/officeDocument/2006/relationships/tags" Target="../tags/tag78.xml"/><Relationship Id="rId13" Type="http://schemas.openxmlformats.org/officeDocument/2006/relationships/tags" Target="../tags/tag77.xml"/><Relationship Id="rId12" Type="http://schemas.openxmlformats.org/officeDocument/2006/relationships/tags" Target="../tags/tag76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tags" Target="../tags/tag65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6" Type="http://schemas.openxmlformats.org/officeDocument/2006/relationships/notesSlide" Target="../notesSlides/notesSlide17.xml"/><Relationship Id="rId35" Type="http://schemas.openxmlformats.org/officeDocument/2006/relationships/slideLayout" Target="../slideLayouts/slideLayout2.xml"/><Relationship Id="rId34" Type="http://schemas.openxmlformats.org/officeDocument/2006/relationships/tags" Target="../tags/tag121.xml"/><Relationship Id="rId33" Type="http://schemas.openxmlformats.org/officeDocument/2006/relationships/tags" Target="../tags/tag120.xml"/><Relationship Id="rId32" Type="http://schemas.openxmlformats.org/officeDocument/2006/relationships/tags" Target="../tags/tag119.xml"/><Relationship Id="rId31" Type="http://schemas.openxmlformats.org/officeDocument/2006/relationships/tags" Target="../tags/tag118.xml"/><Relationship Id="rId30" Type="http://schemas.openxmlformats.org/officeDocument/2006/relationships/tags" Target="../tags/tag117.xml"/><Relationship Id="rId3" Type="http://schemas.openxmlformats.org/officeDocument/2006/relationships/tags" Target="../tags/tag90.xml"/><Relationship Id="rId29" Type="http://schemas.openxmlformats.org/officeDocument/2006/relationships/tags" Target="../tags/tag116.xml"/><Relationship Id="rId28" Type="http://schemas.openxmlformats.org/officeDocument/2006/relationships/tags" Target="../tags/tag115.xml"/><Relationship Id="rId27" Type="http://schemas.openxmlformats.org/officeDocument/2006/relationships/tags" Target="../tags/tag114.xml"/><Relationship Id="rId26" Type="http://schemas.openxmlformats.org/officeDocument/2006/relationships/tags" Target="../tags/tag113.xml"/><Relationship Id="rId25" Type="http://schemas.openxmlformats.org/officeDocument/2006/relationships/tags" Target="../tags/tag112.xml"/><Relationship Id="rId24" Type="http://schemas.openxmlformats.org/officeDocument/2006/relationships/tags" Target="../tags/tag111.xml"/><Relationship Id="rId23" Type="http://schemas.openxmlformats.org/officeDocument/2006/relationships/tags" Target="../tags/tag110.xml"/><Relationship Id="rId22" Type="http://schemas.openxmlformats.org/officeDocument/2006/relationships/tags" Target="../tags/tag109.xml"/><Relationship Id="rId21" Type="http://schemas.openxmlformats.org/officeDocument/2006/relationships/tags" Target="../tags/tag108.xml"/><Relationship Id="rId20" Type="http://schemas.openxmlformats.org/officeDocument/2006/relationships/tags" Target="../tags/tag107.xml"/><Relationship Id="rId2" Type="http://schemas.openxmlformats.org/officeDocument/2006/relationships/tags" Target="../tags/tag89.xml"/><Relationship Id="rId19" Type="http://schemas.openxmlformats.org/officeDocument/2006/relationships/tags" Target="../tags/tag106.xml"/><Relationship Id="rId18" Type="http://schemas.openxmlformats.org/officeDocument/2006/relationships/tags" Target="../tags/tag105.xml"/><Relationship Id="rId17" Type="http://schemas.openxmlformats.org/officeDocument/2006/relationships/tags" Target="../tags/tag104.xml"/><Relationship Id="rId16" Type="http://schemas.openxmlformats.org/officeDocument/2006/relationships/tags" Target="../tags/tag103.xml"/><Relationship Id="rId15" Type="http://schemas.openxmlformats.org/officeDocument/2006/relationships/tags" Target="../tags/tag102.xml"/><Relationship Id="rId14" Type="http://schemas.openxmlformats.org/officeDocument/2006/relationships/tags" Target="../tags/tag101.xml"/><Relationship Id="rId13" Type="http://schemas.openxmlformats.org/officeDocument/2006/relationships/tags" Target="../tags/tag100.xml"/><Relationship Id="rId12" Type="http://schemas.openxmlformats.org/officeDocument/2006/relationships/tags" Target="../tags/tag99.xml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tags" Target="../tags/tag88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7.xml"/><Relationship Id="rId1" Type="http://schemas.openxmlformats.org/officeDocument/2006/relationships/tags" Target="../tags/tag126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136.xml"/><Relationship Id="rId8" Type="http://schemas.openxmlformats.org/officeDocument/2006/relationships/tags" Target="../tags/tag135.xml"/><Relationship Id="rId7" Type="http://schemas.openxmlformats.org/officeDocument/2006/relationships/tags" Target="../tags/tag134.xml"/><Relationship Id="rId6" Type="http://schemas.openxmlformats.org/officeDocument/2006/relationships/tags" Target="../tags/tag133.xml"/><Relationship Id="rId5" Type="http://schemas.openxmlformats.org/officeDocument/2006/relationships/tags" Target="../tags/tag132.xml"/><Relationship Id="rId4" Type="http://schemas.openxmlformats.org/officeDocument/2006/relationships/tags" Target="../tags/tag131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9" Type="http://schemas.openxmlformats.org/officeDocument/2006/relationships/notesSlide" Target="../notesSlides/notesSlide21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144.xml"/><Relationship Id="rId16" Type="http://schemas.openxmlformats.org/officeDocument/2006/relationships/tags" Target="../tags/tag143.xml"/><Relationship Id="rId15" Type="http://schemas.openxmlformats.org/officeDocument/2006/relationships/tags" Target="../tags/tag142.xml"/><Relationship Id="rId14" Type="http://schemas.openxmlformats.org/officeDocument/2006/relationships/tags" Target="../tags/tag141.xml"/><Relationship Id="rId13" Type="http://schemas.openxmlformats.org/officeDocument/2006/relationships/tags" Target="../tags/tag140.xml"/><Relationship Id="rId12" Type="http://schemas.openxmlformats.org/officeDocument/2006/relationships/tags" Target="../tags/tag139.xml"/><Relationship Id="rId11" Type="http://schemas.openxmlformats.org/officeDocument/2006/relationships/tags" Target="../tags/tag138.xml"/><Relationship Id="rId10" Type="http://schemas.openxmlformats.org/officeDocument/2006/relationships/tags" Target="../tags/tag137.xml"/><Relationship Id="rId1" Type="http://schemas.openxmlformats.org/officeDocument/2006/relationships/tags" Target="../tags/tag128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2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149.xml"/><Relationship Id="rId6" Type="http://schemas.openxmlformats.org/officeDocument/2006/relationships/tags" Target="../tags/tag148.xml"/><Relationship Id="rId5" Type="http://schemas.openxmlformats.org/officeDocument/2006/relationships/image" Target="../media/image4.png"/><Relationship Id="rId4" Type="http://schemas.openxmlformats.org/officeDocument/2006/relationships/tags" Target="../tags/tag147.xml"/><Relationship Id="rId3" Type="http://schemas.openxmlformats.org/officeDocument/2006/relationships/image" Target="../media/image3.png"/><Relationship Id="rId2" Type="http://schemas.openxmlformats.org/officeDocument/2006/relationships/tags" Target="../tags/tag146.xml"/><Relationship Id="rId1" Type="http://schemas.openxmlformats.org/officeDocument/2006/relationships/tags" Target="../tags/tag145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" Type="http://schemas.openxmlformats.org/officeDocument/2006/relationships/tags" Target="../tags/tag150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4.xml"/><Relationship Id="rId1" Type="http://schemas.openxmlformats.org/officeDocument/2006/relationships/tags" Target="../tags/tag153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163.xml"/><Relationship Id="rId8" Type="http://schemas.openxmlformats.org/officeDocument/2006/relationships/tags" Target="../tags/tag162.xml"/><Relationship Id="rId7" Type="http://schemas.openxmlformats.org/officeDocument/2006/relationships/tags" Target="../tags/tag161.xml"/><Relationship Id="rId6" Type="http://schemas.openxmlformats.org/officeDocument/2006/relationships/tags" Target="../tags/tag160.xml"/><Relationship Id="rId5" Type="http://schemas.openxmlformats.org/officeDocument/2006/relationships/tags" Target="../tags/tag159.xml"/><Relationship Id="rId4" Type="http://schemas.openxmlformats.org/officeDocument/2006/relationships/tags" Target="../tags/tag158.xml"/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2" Type="http://schemas.openxmlformats.org/officeDocument/2006/relationships/notesSlide" Target="../notesSlides/notesSlide25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164.xml"/><Relationship Id="rId1" Type="http://schemas.openxmlformats.org/officeDocument/2006/relationships/tags" Target="../tags/tag155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6.xml"/><Relationship Id="rId1" Type="http://schemas.openxmlformats.org/officeDocument/2006/relationships/tags" Target="../tags/tag165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175.xml"/><Relationship Id="rId8" Type="http://schemas.openxmlformats.org/officeDocument/2006/relationships/tags" Target="../tags/tag174.xml"/><Relationship Id="rId7" Type="http://schemas.openxmlformats.org/officeDocument/2006/relationships/tags" Target="../tags/tag173.xml"/><Relationship Id="rId6" Type="http://schemas.openxmlformats.org/officeDocument/2006/relationships/tags" Target="../tags/tag172.xml"/><Relationship Id="rId5" Type="http://schemas.openxmlformats.org/officeDocument/2006/relationships/tags" Target="../tags/tag171.xml"/><Relationship Id="rId4" Type="http://schemas.openxmlformats.org/officeDocument/2006/relationships/tags" Target="../tags/tag170.xml"/><Relationship Id="rId3" Type="http://schemas.openxmlformats.org/officeDocument/2006/relationships/tags" Target="../tags/tag169.xml"/><Relationship Id="rId27" Type="http://schemas.openxmlformats.org/officeDocument/2006/relationships/notesSlide" Target="../notesSlides/notesSlide27.xml"/><Relationship Id="rId26" Type="http://schemas.openxmlformats.org/officeDocument/2006/relationships/slideLayout" Target="../slideLayouts/slideLayout2.xml"/><Relationship Id="rId25" Type="http://schemas.openxmlformats.org/officeDocument/2006/relationships/tags" Target="../tags/tag191.xml"/><Relationship Id="rId24" Type="http://schemas.openxmlformats.org/officeDocument/2006/relationships/tags" Target="../tags/tag190.xml"/><Relationship Id="rId23" Type="http://schemas.openxmlformats.org/officeDocument/2006/relationships/tags" Target="../tags/tag189.xml"/><Relationship Id="rId22" Type="http://schemas.openxmlformats.org/officeDocument/2006/relationships/tags" Target="../tags/tag188.xml"/><Relationship Id="rId21" Type="http://schemas.openxmlformats.org/officeDocument/2006/relationships/tags" Target="../tags/tag187.xml"/><Relationship Id="rId20" Type="http://schemas.openxmlformats.org/officeDocument/2006/relationships/tags" Target="../tags/tag186.xml"/><Relationship Id="rId2" Type="http://schemas.openxmlformats.org/officeDocument/2006/relationships/tags" Target="../tags/tag168.xml"/><Relationship Id="rId19" Type="http://schemas.openxmlformats.org/officeDocument/2006/relationships/tags" Target="../tags/tag185.xml"/><Relationship Id="rId18" Type="http://schemas.openxmlformats.org/officeDocument/2006/relationships/tags" Target="../tags/tag184.xml"/><Relationship Id="rId17" Type="http://schemas.openxmlformats.org/officeDocument/2006/relationships/tags" Target="../tags/tag183.xml"/><Relationship Id="rId16" Type="http://schemas.openxmlformats.org/officeDocument/2006/relationships/tags" Target="../tags/tag182.xml"/><Relationship Id="rId15" Type="http://schemas.openxmlformats.org/officeDocument/2006/relationships/tags" Target="../tags/tag181.xml"/><Relationship Id="rId14" Type="http://schemas.openxmlformats.org/officeDocument/2006/relationships/tags" Target="../tags/tag180.xml"/><Relationship Id="rId13" Type="http://schemas.openxmlformats.org/officeDocument/2006/relationships/tags" Target="../tags/tag179.xml"/><Relationship Id="rId12" Type="http://schemas.openxmlformats.org/officeDocument/2006/relationships/tags" Target="../tags/tag178.xml"/><Relationship Id="rId11" Type="http://schemas.openxmlformats.org/officeDocument/2006/relationships/tags" Target="../tags/tag177.xml"/><Relationship Id="rId10" Type="http://schemas.openxmlformats.org/officeDocument/2006/relationships/tags" Target="../tags/tag176.xml"/><Relationship Id="rId1" Type="http://schemas.openxmlformats.org/officeDocument/2006/relationships/tags" Target="../tags/tag167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200.xml"/><Relationship Id="rId8" Type="http://schemas.openxmlformats.org/officeDocument/2006/relationships/tags" Target="../tags/tag199.xml"/><Relationship Id="rId7" Type="http://schemas.openxmlformats.org/officeDocument/2006/relationships/tags" Target="../tags/tag198.xml"/><Relationship Id="rId6" Type="http://schemas.openxmlformats.org/officeDocument/2006/relationships/tags" Target="../tags/tag197.xml"/><Relationship Id="rId5" Type="http://schemas.openxmlformats.org/officeDocument/2006/relationships/tags" Target="../tags/tag196.xml"/><Relationship Id="rId4" Type="http://schemas.openxmlformats.org/officeDocument/2006/relationships/tags" Target="../tags/tag195.xml"/><Relationship Id="rId35" Type="http://schemas.openxmlformats.org/officeDocument/2006/relationships/notesSlide" Target="../notesSlides/notesSlide28.xml"/><Relationship Id="rId34" Type="http://schemas.openxmlformats.org/officeDocument/2006/relationships/slideLayout" Target="../slideLayouts/slideLayout2.xml"/><Relationship Id="rId33" Type="http://schemas.openxmlformats.org/officeDocument/2006/relationships/tags" Target="../tags/tag224.xml"/><Relationship Id="rId32" Type="http://schemas.openxmlformats.org/officeDocument/2006/relationships/tags" Target="../tags/tag223.xml"/><Relationship Id="rId31" Type="http://schemas.openxmlformats.org/officeDocument/2006/relationships/tags" Target="../tags/tag222.xml"/><Relationship Id="rId30" Type="http://schemas.openxmlformats.org/officeDocument/2006/relationships/tags" Target="../tags/tag221.xml"/><Relationship Id="rId3" Type="http://schemas.openxmlformats.org/officeDocument/2006/relationships/tags" Target="../tags/tag194.xml"/><Relationship Id="rId29" Type="http://schemas.openxmlformats.org/officeDocument/2006/relationships/tags" Target="../tags/tag220.xml"/><Relationship Id="rId28" Type="http://schemas.openxmlformats.org/officeDocument/2006/relationships/tags" Target="../tags/tag219.xml"/><Relationship Id="rId27" Type="http://schemas.openxmlformats.org/officeDocument/2006/relationships/tags" Target="../tags/tag218.xml"/><Relationship Id="rId26" Type="http://schemas.openxmlformats.org/officeDocument/2006/relationships/tags" Target="../tags/tag217.xml"/><Relationship Id="rId25" Type="http://schemas.openxmlformats.org/officeDocument/2006/relationships/tags" Target="../tags/tag216.xml"/><Relationship Id="rId24" Type="http://schemas.openxmlformats.org/officeDocument/2006/relationships/tags" Target="../tags/tag215.xml"/><Relationship Id="rId23" Type="http://schemas.openxmlformats.org/officeDocument/2006/relationships/tags" Target="../tags/tag214.xml"/><Relationship Id="rId22" Type="http://schemas.openxmlformats.org/officeDocument/2006/relationships/tags" Target="../tags/tag213.xml"/><Relationship Id="rId21" Type="http://schemas.openxmlformats.org/officeDocument/2006/relationships/tags" Target="../tags/tag212.xml"/><Relationship Id="rId20" Type="http://schemas.openxmlformats.org/officeDocument/2006/relationships/tags" Target="../tags/tag211.xml"/><Relationship Id="rId2" Type="http://schemas.openxmlformats.org/officeDocument/2006/relationships/tags" Target="../tags/tag193.xml"/><Relationship Id="rId19" Type="http://schemas.openxmlformats.org/officeDocument/2006/relationships/tags" Target="../tags/tag210.xml"/><Relationship Id="rId18" Type="http://schemas.openxmlformats.org/officeDocument/2006/relationships/tags" Target="../tags/tag209.xml"/><Relationship Id="rId17" Type="http://schemas.openxmlformats.org/officeDocument/2006/relationships/tags" Target="../tags/tag208.xml"/><Relationship Id="rId16" Type="http://schemas.openxmlformats.org/officeDocument/2006/relationships/tags" Target="../tags/tag207.xml"/><Relationship Id="rId15" Type="http://schemas.openxmlformats.org/officeDocument/2006/relationships/tags" Target="../tags/tag206.xml"/><Relationship Id="rId14" Type="http://schemas.openxmlformats.org/officeDocument/2006/relationships/tags" Target="../tags/tag205.xml"/><Relationship Id="rId13" Type="http://schemas.openxmlformats.org/officeDocument/2006/relationships/tags" Target="../tags/tag204.xml"/><Relationship Id="rId12" Type="http://schemas.openxmlformats.org/officeDocument/2006/relationships/tags" Target="../tags/tag203.xml"/><Relationship Id="rId11" Type="http://schemas.openxmlformats.org/officeDocument/2006/relationships/tags" Target="../tags/tag202.xml"/><Relationship Id="rId10" Type="http://schemas.openxmlformats.org/officeDocument/2006/relationships/tags" Target="../tags/tag201.xml"/><Relationship Id="rId1" Type="http://schemas.openxmlformats.org/officeDocument/2006/relationships/tags" Target="../tags/tag192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6.xml"/><Relationship Id="rId1" Type="http://schemas.openxmlformats.org/officeDocument/2006/relationships/tags" Target="../tags/tag225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8.xml"/><Relationship Id="rId1" Type="http://schemas.openxmlformats.org/officeDocument/2006/relationships/tags" Target="../tags/tag227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1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31.xml"/><Relationship Id="rId2" Type="http://schemas.openxmlformats.org/officeDocument/2006/relationships/tags" Target="../tags/tag230.xml"/><Relationship Id="rId1" Type="http://schemas.openxmlformats.org/officeDocument/2006/relationships/tags" Target="../tags/tag229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3.xml"/><Relationship Id="rId1" Type="http://schemas.openxmlformats.org/officeDocument/2006/relationships/tags" Target="../tags/tag232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5.xml"/><Relationship Id="rId1" Type="http://schemas.openxmlformats.org/officeDocument/2006/relationships/tags" Target="../tags/tag2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9712960" y="-2204720"/>
            <a:ext cx="11268075" cy="11268075"/>
          </a:xfrm>
          <a:prstGeom prst="ellipse">
            <a:avLst/>
          </a:prstGeom>
          <a:solidFill>
            <a:srgbClr val="9C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: 空心 9"/>
          <p:cNvSpPr/>
          <p:nvPr/>
        </p:nvSpPr>
        <p:spPr>
          <a:xfrm>
            <a:off x="571500" y="6216650"/>
            <a:ext cx="1282700" cy="1282700"/>
          </a:xfrm>
          <a:prstGeom prst="donut">
            <a:avLst>
              <a:gd name="adj" fmla="val 17079"/>
            </a:avLst>
          </a:prstGeom>
          <a:solidFill>
            <a:srgbClr val="9C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4533368" y="-314812"/>
            <a:ext cx="584775" cy="58477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34036" y="2450322"/>
            <a:ext cx="8754538" cy="1567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48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操作系统</a:t>
            </a:r>
            <a:endParaRPr lang="zh-CN" altLang="en-US" sz="4800" b="1" spc="3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32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处理器调度机制与实现（</a:t>
            </a:r>
            <a:r>
              <a:rPr lang="en-US" altLang="zh-CN" sz="32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2</a:t>
            </a:r>
            <a:r>
              <a:rPr lang="zh-CN" altLang="en-US" sz="32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学时）</a:t>
            </a:r>
            <a:endParaRPr lang="zh-CN" altLang="en-US" sz="3200" b="1" spc="3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3" name="矩形: 圆角 52"/>
          <p:cNvSpPr/>
          <p:nvPr/>
        </p:nvSpPr>
        <p:spPr>
          <a:xfrm>
            <a:off x="1966595" y="4857750"/>
            <a:ext cx="2438400" cy="405130"/>
          </a:xfrm>
          <a:prstGeom prst="roundRect">
            <a:avLst>
              <a:gd name="adj" fmla="val 50000"/>
            </a:avLst>
          </a:prstGeom>
          <a:solidFill>
            <a:srgbClr val="9C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主讲人</a:t>
            </a:r>
            <a:r>
              <a:rPr sz="2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：</a:t>
            </a:r>
            <a:r>
              <a:rPr lang="zh-CN" sz="2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潘润宇</a:t>
            </a:r>
            <a:endParaRPr lang="zh-CN" sz="2000" b="1" dirty="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56" name="矩形: 圆角 55"/>
          <p:cNvSpPr/>
          <p:nvPr/>
        </p:nvSpPr>
        <p:spPr>
          <a:xfrm>
            <a:off x="4633595" y="4857750"/>
            <a:ext cx="3055620" cy="405130"/>
          </a:xfrm>
          <a:prstGeom prst="roundRect">
            <a:avLst>
              <a:gd name="adj" fmla="val 50000"/>
            </a:avLst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时间：</a:t>
            </a:r>
            <a:r>
              <a:rPr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202</a:t>
            </a:r>
            <a:r>
              <a:rPr lang="en-US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6</a:t>
            </a:r>
            <a:r>
              <a:rPr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年</a:t>
            </a:r>
            <a:r>
              <a:rPr lang="zh-CN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春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季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学期</a:t>
            </a:r>
            <a:endParaRPr lang="zh-CN" altLang="en-US" sz="20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276860" y="429895"/>
            <a:ext cx="3893820" cy="102870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5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1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2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5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6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7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6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8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8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sp>
        <p:nvSpPr>
          <p:cNvPr id="57" name="文本框 56"/>
          <p:cNvSpPr txBox="1"/>
          <p:nvPr/>
        </p:nvSpPr>
        <p:spPr>
          <a:xfrm>
            <a:off x="1367155" y="4196715"/>
            <a:ext cx="66681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b="1">
                <a:solidFill>
                  <a:srgbClr val="9C0B15"/>
                </a:solidFill>
                <a:latin typeface="华文楷体" panose="02010600040101010101" charset="-122"/>
                <a:ea typeface="华文楷体" panose="02010600040101010101" charset="-122"/>
              </a:rPr>
              <a:t>千载文脉凝风骨，根植山大盛芳华</a:t>
            </a:r>
            <a:endParaRPr lang="zh-CN" altLang="en-US" b="1">
              <a:solidFill>
                <a:srgbClr val="9C0B15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15454" t="16281" r="18136" b="20815"/>
          <a:stretch>
            <a:fillRect/>
          </a:stretch>
        </p:blipFill>
        <p:spPr>
          <a:xfrm>
            <a:off x="7983855" y="0"/>
            <a:ext cx="1918335" cy="1744345"/>
          </a:xfrm>
          <a:prstGeom prst="ellipse">
            <a:avLst/>
          </a:prstGeom>
        </p:spPr>
      </p:pic>
    </p:spTree>
    <p:custDataLst>
      <p:tags r:id="rId2"/>
    </p:custData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</a:t>
                      </a: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系统线程总览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系统中的线程总览：按优先级划分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zh-CN" altLang="en-US" sz="2000">
                <a:sym typeface="+mn-ea"/>
              </a:rPr>
              <a:t>按照操作系统中的线程的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优先级</a:t>
            </a:r>
            <a:r>
              <a:rPr lang="zh-CN" altLang="en-US" sz="2000">
                <a:sym typeface="+mn-ea"/>
              </a:rPr>
              <a:t>，大致可以将它们分为如下五类。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输入输出线程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en-US" altLang="zh-CN" sz="2000"/>
              <a:t>I/O</a:t>
            </a:r>
            <a:r>
              <a:rPr lang="zh-CN" altLang="en-US" sz="2000"/>
              <a:t>线程必须与</a:t>
            </a:r>
            <a:r>
              <a:rPr lang="en-US" altLang="zh-CN" sz="2000">
                <a:solidFill>
                  <a:srgbClr val="9C0B15"/>
                </a:solidFill>
              </a:rPr>
              <a:t>硬件</a:t>
            </a:r>
            <a:r>
              <a:rPr lang="zh-CN" altLang="en-US" sz="2000"/>
              <a:t>打交道。这意味着，它们要对硬件的变动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做出</a:t>
            </a:r>
            <a:r>
              <a:rPr lang="en-US" altLang="zh-CN" sz="2000">
                <a:solidFill>
                  <a:srgbClr val="9C0B15"/>
                </a:solidFill>
              </a:rPr>
              <a:t>即时的响应</a:t>
            </a:r>
            <a:r>
              <a:rPr lang="zh-CN" sz="2000"/>
              <a:t>，因而</a:t>
            </a:r>
            <a:r>
              <a:rPr lang="zh-CN" altLang="en-US" sz="2000"/>
              <a:t>一般位于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极高</a:t>
            </a:r>
            <a:r>
              <a:rPr lang="en-US" altLang="zh-CN" sz="2000">
                <a:solidFill>
                  <a:srgbClr val="9C0B15"/>
                </a:solidFill>
              </a:rPr>
              <a:t>优先级段，且是实时的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例子</a:t>
            </a:r>
            <a:r>
              <a:rPr lang="en-US" altLang="zh-CN" sz="2000"/>
              <a:t>		</a:t>
            </a:r>
            <a:r>
              <a:rPr lang="zh-CN" altLang="en-US" sz="2000"/>
              <a:t>鼠标键盘驱动、网卡驱动、显卡驱动。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速率限制</a:t>
            </a:r>
            <a:r>
              <a:rPr lang="en-US" altLang="zh-CN" sz="2000"/>
              <a:t>	</a:t>
            </a:r>
            <a:r>
              <a:rPr lang="zh-CN" altLang="en-US" sz="2000"/>
              <a:t>限制驱动程序占用</a:t>
            </a:r>
            <a:r>
              <a:rPr lang="en-US" altLang="zh-CN" sz="2000"/>
              <a:t>CPU</a:t>
            </a:r>
            <a:r>
              <a:rPr lang="zh-CN" altLang="en-US" sz="2000"/>
              <a:t>的时间或频次，以防驱动程序占用大</a:t>
            </a:r>
            <a:r>
              <a:rPr lang="zh-CN" altLang="en-US" sz="2000">
                <a:sym typeface="+mn-ea"/>
              </a:rPr>
              <a:t>量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Rate-Limi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t</a:t>
            </a:r>
            <a:r>
              <a:rPr lang="en-US" altLang="zh-CN" sz="2000"/>
              <a:t>	CPU</a:t>
            </a:r>
            <a:r>
              <a:rPr lang="zh-CN" altLang="en-US" sz="2000"/>
              <a:t>。部分外设会大量生成中断，这将导致</a:t>
            </a:r>
            <a:r>
              <a:rPr lang="en-US" altLang="zh-CN" sz="2000">
                <a:solidFill>
                  <a:srgbClr val="9C0B15"/>
                </a:solidFill>
              </a:rPr>
              <a:t>系统频繁发生线程	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</a:t>
            </a:r>
            <a:r>
              <a:rPr lang="en-US" altLang="zh-CN" sz="2000">
                <a:solidFill>
                  <a:srgbClr val="9C0B15"/>
                </a:solidFill>
              </a:rPr>
              <a:t>调度和切换</a:t>
            </a:r>
            <a:r>
              <a:rPr lang="zh-CN" altLang="en-US" sz="2000"/>
              <a:t>（调度和切换都不是免费的），降低</a:t>
            </a:r>
            <a:r>
              <a:rPr lang="en-US" altLang="zh-CN" sz="2000"/>
              <a:t>CPU</a:t>
            </a:r>
            <a:r>
              <a:rPr lang="zh-CN" altLang="en-US" sz="2000"/>
              <a:t>的利用率。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/>
              <a:t>又称为</a:t>
            </a:r>
            <a:r>
              <a:rPr lang="zh-CN" altLang="en-US" sz="2000" b="1">
                <a:solidFill>
                  <a:srgbClr val="9C0B15"/>
                </a:solidFill>
              </a:rPr>
              <a:t>节流（Throttle）</a:t>
            </a:r>
            <a:r>
              <a:rPr lang="zh-CN" altLang="en-US" sz="2000"/>
              <a:t>。后面我们还要回顾这个概念。</a:t>
            </a:r>
            <a:endParaRPr lang="zh-CN" altLang="en-US" sz="2000"/>
          </a:p>
        </p:txBody>
      </p:sp>
      <p:sp>
        <p:nvSpPr>
          <p:cNvPr id="4" name="圆角矩形 3"/>
          <p:cNvSpPr/>
          <p:nvPr/>
        </p:nvSpPr>
        <p:spPr>
          <a:xfrm>
            <a:off x="2981960" y="2286635"/>
            <a:ext cx="3823335" cy="3683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前台程序线程</a:t>
            </a:r>
            <a:endParaRPr lang="zh-CN" altLang="en-US" b="1"/>
          </a:p>
        </p:txBody>
      </p:sp>
      <p:sp>
        <p:nvSpPr>
          <p:cNvPr id="7" name="圆角矩形 6"/>
          <p:cNvSpPr/>
          <p:nvPr>
            <p:custDataLst>
              <p:tags r:id="rId2"/>
            </p:custDataLst>
          </p:nvPr>
        </p:nvSpPr>
        <p:spPr>
          <a:xfrm>
            <a:off x="2981960" y="2781935"/>
            <a:ext cx="3823335" cy="3683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后台服务线程</a:t>
            </a:r>
            <a:endParaRPr lang="zh-CN" altLang="en-US" b="1"/>
          </a:p>
        </p:txBody>
      </p:sp>
      <p:sp>
        <p:nvSpPr>
          <p:cNvPr id="8" name="圆角矩形 7"/>
          <p:cNvSpPr/>
          <p:nvPr>
            <p:custDataLst>
              <p:tags r:id="rId3"/>
            </p:custDataLst>
          </p:nvPr>
        </p:nvSpPr>
        <p:spPr>
          <a:xfrm>
            <a:off x="2981960" y="3277235"/>
            <a:ext cx="3823335" cy="3683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/>
              <a:t>CPU</a:t>
            </a:r>
            <a:r>
              <a:rPr lang="zh-CN" altLang="en-US" b="1"/>
              <a:t>空闲线程</a:t>
            </a:r>
            <a:endParaRPr lang="zh-CN" altLang="en-US" b="1"/>
          </a:p>
        </p:txBody>
      </p:sp>
      <p:sp>
        <p:nvSpPr>
          <p:cNvPr id="9" name="圆角矩形 8"/>
          <p:cNvSpPr/>
          <p:nvPr>
            <p:custDataLst>
              <p:tags r:id="rId4"/>
            </p:custDataLst>
          </p:nvPr>
        </p:nvSpPr>
        <p:spPr>
          <a:xfrm>
            <a:off x="2981960" y="1319530"/>
            <a:ext cx="3823335" cy="36830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输入输出线程</a:t>
            </a:r>
            <a:endParaRPr lang="zh-CN" altLang="en-US" b="1"/>
          </a:p>
        </p:txBody>
      </p:sp>
      <p:sp>
        <p:nvSpPr>
          <p:cNvPr id="17" name="圆角矩形 16"/>
          <p:cNvSpPr/>
          <p:nvPr>
            <p:custDataLst>
              <p:tags r:id="rId5"/>
            </p:custDataLst>
          </p:nvPr>
        </p:nvSpPr>
        <p:spPr>
          <a:xfrm>
            <a:off x="2981960" y="1814830"/>
            <a:ext cx="3823335" cy="3683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系统服务线程</a:t>
            </a:r>
            <a:endParaRPr lang="zh-CN" altLang="en-US" b="1"/>
          </a:p>
        </p:txBody>
      </p:sp>
    </p:spTree>
    <p:custDataLst>
      <p:tags r:id="rId6"/>
    </p:custData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</a:t>
                      </a: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系统线程总览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5939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系统中的线程总览：按优先级划分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zh-CN" altLang="en-US" sz="2000">
                <a:sym typeface="+mn-ea"/>
              </a:rPr>
              <a:t>按照操作系统中的线程的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优先级</a:t>
            </a:r>
            <a:r>
              <a:rPr lang="zh-CN" altLang="en-US" sz="2000">
                <a:sym typeface="+mn-ea"/>
              </a:rPr>
              <a:t>，大致可以将它们分为如下</a:t>
            </a:r>
            <a:r>
              <a:rPr lang="zh-CN" altLang="en-US" sz="2000">
                <a:sym typeface="+mn-ea"/>
              </a:rPr>
              <a:t>五</a:t>
            </a:r>
            <a:r>
              <a:rPr lang="zh-CN" altLang="en-US" sz="2000">
                <a:sym typeface="+mn-ea"/>
              </a:rPr>
              <a:t>类。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系统服务线程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一系列为应用程序提供必要服务的线程。这些线程承担着重要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的职责，</a:t>
            </a:r>
            <a:r>
              <a:rPr lang="zh-CN" sz="2000">
                <a:sym typeface="+mn-ea"/>
              </a:rPr>
              <a:t>因而</a:t>
            </a:r>
            <a:r>
              <a:rPr lang="zh-CN" altLang="en-US" sz="2000">
                <a:sym typeface="+mn-ea"/>
              </a:rPr>
              <a:t>一般位于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较高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优先级段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例子</a:t>
            </a:r>
            <a:r>
              <a:rPr lang="en-US" altLang="zh-CN" sz="2000"/>
              <a:t>		</a:t>
            </a:r>
            <a:r>
              <a:rPr lang="zh-CN" altLang="en-US" sz="2000"/>
              <a:t>网络协议栈、文件系统、用户登录服务、远程桌面服务等。</a:t>
            </a:r>
            <a:endParaRPr lang="zh-CN" altLang="en-US" sz="2000"/>
          </a:p>
        </p:txBody>
      </p:sp>
      <p:sp>
        <p:nvSpPr>
          <p:cNvPr id="4" name="圆角矩形 3"/>
          <p:cNvSpPr/>
          <p:nvPr/>
        </p:nvSpPr>
        <p:spPr>
          <a:xfrm>
            <a:off x="2981960" y="2286635"/>
            <a:ext cx="3823335" cy="3683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前台程序线程</a:t>
            </a:r>
            <a:endParaRPr lang="zh-CN" altLang="en-US" b="1"/>
          </a:p>
        </p:txBody>
      </p:sp>
      <p:sp>
        <p:nvSpPr>
          <p:cNvPr id="7" name="圆角矩形 6"/>
          <p:cNvSpPr/>
          <p:nvPr>
            <p:custDataLst>
              <p:tags r:id="rId2"/>
            </p:custDataLst>
          </p:nvPr>
        </p:nvSpPr>
        <p:spPr>
          <a:xfrm>
            <a:off x="2981960" y="2781935"/>
            <a:ext cx="3823335" cy="3683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后台服务线程</a:t>
            </a:r>
            <a:endParaRPr lang="zh-CN" altLang="en-US" b="1"/>
          </a:p>
        </p:txBody>
      </p:sp>
      <p:sp>
        <p:nvSpPr>
          <p:cNvPr id="8" name="圆角矩形 7"/>
          <p:cNvSpPr/>
          <p:nvPr>
            <p:custDataLst>
              <p:tags r:id="rId3"/>
            </p:custDataLst>
          </p:nvPr>
        </p:nvSpPr>
        <p:spPr>
          <a:xfrm>
            <a:off x="2981960" y="3277235"/>
            <a:ext cx="3823335" cy="3683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/>
              <a:t>CPU</a:t>
            </a:r>
            <a:r>
              <a:rPr lang="zh-CN" altLang="en-US" b="1"/>
              <a:t>空闲线程</a:t>
            </a:r>
            <a:endParaRPr lang="zh-CN" altLang="en-US" b="1"/>
          </a:p>
        </p:txBody>
      </p:sp>
      <p:sp>
        <p:nvSpPr>
          <p:cNvPr id="9" name="圆角矩形 8"/>
          <p:cNvSpPr/>
          <p:nvPr>
            <p:custDataLst>
              <p:tags r:id="rId4"/>
            </p:custDataLst>
          </p:nvPr>
        </p:nvSpPr>
        <p:spPr>
          <a:xfrm>
            <a:off x="2981960" y="1319530"/>
            <a:ext cx="3823335" cy="36830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ym typeface="+mn-ea"/>
              </a:rPr>
              <a:t>输入输出</a:t>
            </a:r>
            <a:r>
              <a:rPr lang="zh-CN" altLang="en-US" b="1"/>
              <a:t>线程</a:t>
            </a:r>
            <a:endParaRPr lang="zh-CN" altLang="en-US" b="1"/>
          </a:p>
        </p:txBody>
      </p:sp>
      <p:sp>
        <p:nvSpPr>
          <p:cNvPr id="17" name="圆角矩形 16"/>
          <p:cNvSpPr/>
          <p:nvPr>
            <p:custDataLst>
              <p:tags r:id="rId5"/>
            </p:custDataLst>
          </p:nvPr>
        </p:nvSpPr>
        <p:spPr>
          <a:xfrm>
            <a:off x="2981960" y="1814830"/>
            <a:ext cx="3823335" cy="3683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系统服务线程</a:t>
            </a:r>
            <a:endParaRPr lang="zh-CN" altLang="en-US" b="1"/>
          </a:p>
        </p:txBody>
      </p:sp>
    </p:spTree>
    <p:custDataLst>
      <p:tags r:id="rId6"/>
    </p:custData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</a:t>
                      </a: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系统线程总览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系统中的线程总览：按优先级划分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zh-CN" altLang="en-US" sz="2000">
                <a:sym typeface="+mn-ea"/>
              </a:rPr>
              <a:t>按照操作系统中的线程的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优先级</a:t>
            </a:r>
            <a:r>
              <a:rPr lang="zh-CN" altLang="en-US" sz="2000">
                <a:sym typeface="+mn-ea"/>
              </a:rPr>
              <a:t>，大致可以将它们分为如下</a:t>
            </a:r>
            <a:r>
              <a:rPr lang="zh-CN" altLang="en-US" sz="2000">
                <a:sym typeface="+mn-ea"/>
              </a:rPr>
              <a:t>五</a:t>
            </a:r>
            <a:r>
              <a:rPr lang="zh-CN" altLang="en-US" sz="2000">
                <a:sym typeface="+mn-ea"/>
              </a:rPr>
              <a:t>类。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前台程序线程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sz="2000"/>
              <a:t>当前用户</a:t>
            </a:r>
            <a:r>
              <a:rPr lang="en-US" altLang="zh-CN" sz="2000">
                <a:solidFill>
                  <a:srgbClr val="9C0B15"/>
                </a:solidFill>
              </a:rPr>
              <a:t>正在交互的应用程序</a:t>
            </a:r>
            <a:r>
              <a:rPr lang="zh-CN" sz="2000"/>
              <a:t>中的线程</a:t>
            </a:r>
            <a:r>
              <a:rPr lang="zh-CN" altLang="en-US" sz="2000"/>
              <a:t>。它们可能正在等待用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户的输入，或者正需要把输出反馈给用户，因此总是希望它们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能较为优先的得到</a:t>
            </a:r>
            <a:r>
              <a:rPr lang="en-US" altLang="zh-CN" sz="2000"/>
              <a:t>CPU</a:t>
            </a:r>
            <a:r>
              <a:rPr lang="zh-CN" altLang="en-US" sz="2000"/>
              <a:t>。但考虑到它们不如系统服务和驱动程序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那样紧急，因此在系统中处于</a:t>
            </a:r>
            <a:r>
              <a:rPr lang="en-US" altLang="zh-CN" sz="2000">
                <a:solidFill>
                  <a:srgbClr val="9C0B15"/>
                </a:solidFill>
              </a:rPr>
              <a:t>中间优先级</a:t>
            </a:r>
            <a:r>
              <a:rPr lang="zh-CN" altLang="en-US" sz="2000"/>
              <a:t>位置。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例子</a:t>
            </a:r>
            <a:r>
              <a:rPr lang="en-US" altLang="zh-CN" sz="2000"/>
              <a:t>		</a:t>
            </a:r>
            <a:r>
              <a:rPr lang="zh-CN" altLang="en-US" sz="2000"/>
              <a:t>文字处理软件、视频游戏、浏览器、即时通信软件等。</a:t>
            </a:r>
            <a:endParaRPr lang="zh-CN" altLang="en-US" sz="2000"/>
          </a:p>
        </p:txBody>
      </p:sp>
      <p:sp>
        <p:nvSpPr>
          <p:cNvPr id="4" name="圆角矩形 3"/>
          <p:cNvSpPr/>
          <p:nvPr/>
        </p:nvSpPr>
        <p:spPr>
          <a:xfrm>
            <a:off x="2981960" y="2286635"/>
            <a:ext cx="3823335" cy="3683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前台程序线程</a:t>
            </a:r>
            <a:endParaRPr lang="zh-CN" altLang="en-US" b="1"/>
          </a:p>
        </p:txBody>
      </p:sp>
      <p:sp>
        <p:nvSpPr>
          <p:cNvPr id="7" name="圆角矩形 6"/>
          <p:cNvSpPr/>
          <p:nvPr>
            <p:custDataLst>
              <p:tags r:id="rId2"/>
            </p:custDataLst>
          </p:nvPr>
        </p:nvSpPr>
        <p:spPr>
          <a:xfrm>
            <a:off x="2981960" y="2781935"/>
            <a:ext cx="3823335" cy="3683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后台服务线程</a:t>
            </a:r>
            <a:endParaRPr lang="zh-CN" altLang="en-US" b="1"/>
          </a:p>
        </p:txBody>
      </p:sp>
      <p:sp>
        <p:nvSpPr>
          <p:cNvPr id="8" name="圆角矩形 7"/>
          <p:cNvSpPr/>
          <p:nvPr>
            <p:custDataLst>
              <p:tags r:id="rId3"/>
            </p:custDataLst>
          </p:nvPr>
        </p:nvSpPr>
        <p:spPr>
          <a:xfrm>
            <a:off x="2981960" y="3277235"/>
            <a:ext cx="3823335" cy="3683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/>
              <a:t>CPU</a:t>
            </a:r>
            <a:r>
              <a:rPr lang="zh-CN" altLang="en-US" b="1"/>
              <a:t>空闲线程</a:t>
            </a:r>
            <a:endParaRPr lang="zh-CN" altLang="en-US" b="1"/>
          </a:p>
        </p:txBody>
      </p:sp>
      <p:sp>
        <p:nvSpPr>
          <p:cNvPr id="9" name="圆角矩形 8"/>
          <p:cNvSpPr/>
          <p:nvPr>
            <p:custDataLst>
              <p:tags r:id="rId4"/>
            </p:custDataLst>
          </p:nvPr>
        </p:nvSpPr>
        <p:spPr>
          <a:xfrm>
            <a:off x="2981960" y="1319530"/>
            <a:ext cx="3823335" cy="36830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ym typeface="+mn-ea"/>
              </a:rPr>
              <a:t>输入输出</a:t>
            </a:r>
            <a:r>
              <a:rPr lang="zh-CN" altLang="en-US" b="1"/>
              <a:t>线程</a:t>
            </a:r>
            <a:endParaRPr lang="zh-CN" altLang="en-US" b="1"/>
          </a:p>
        </p:txBody>
      </p:sp>
      <p:sp>
        <p:nvSpPr>
          <p:cNvPr id="17" name="圆角矩形 16"/>
          <p:cNvSpPr/>
          <p:nvPr>
            <p:custDataLst>
              <p:tags r:id="rId5"/>
            </p:custDataLst>
          </p:nvPr>
        </p:nvSpPr>
        <p:spPr>
          <a:xfrm>
            <a:off x="2981960" y="1814830"/>
            <a:ext cx="3823335" cy="3683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系统服务线程</a:t>
            </a:r>
            <a:endParaRPr lang="zh-CN" altLang="en-US" b="1"/>
          </a:p>
        </p:txBody>
      </p:sp>
    </p:spTree>
    <p:custDataLst>
      <p:tags r:id="rId6"/>
    </p:custData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</a:t>
                      </a: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系统线程总览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系统中的线程总览：按优先级划分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zh-CN" altLang="en-US" sz="2000">
                <a:sym typeface="+mn-ea"/>
              </a:rPr>
              <a:t>按照操作系统中的线程的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优先级</a:t>
            </a:r>
            <a:r>
              <a:rPr lang="zh-CN" altLang="en-US" sz="2000">
                <a:sym typeface="+mn-ea"/>
              </a:rPr>
              <a:t>，大致可以将它们分为如下</a:t>
            </a:r>
            <a:r>
              <a:rPr lang="zh-CN" altLang="en-US" sz="2000">
                <a:sym typeface="+mn-ea"/>
              </a:rPr>
              <a:t>五</a:t>
            </a:r>
            <a:r>
              <a:rPr lang="zh-CN" altLang="en-US" sz="2000">
                <a:sym typeface="+mn-ea"/>
              </a:rPr>
              <a:t>类。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后台服务线程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sz="2000"/>
              <a:t>提供一些</a:t>
            </a:r>
            <a:r>
              <a:rPr lang="en-US" altLang="zh-CN" sz="2000">
                <a:solidFill>
                  <a:srgbClr val="9C0B15"/>
                </a:solidFill>
              </a:rPr>
              <a:t>时间不敏感的背景服务</a:t>
            </a:r>
            <a:r>
              <a:rPr lang="zh-CN" sz="2000"/>
              <a:t>的线程</a:t>
            </a:r>
            <a:r>
              <a:rPr lang="zh-CN" altLang="en-US" sz="2000"/>
              <a:t>。这些线程一般</a:t>
            </a:r>
            <a:r>
              <a:rPr lang="zh-CN" sz="2000"/>
              <a:t>不直接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sz="2000"/>
              <a:t>和系统中时间敏感的部分产生交集，但对</a:t>
            </a:r>
            <a:r>
              <a:rPr lang="en-US" altLang="zh-CN" sz="2000">
                <a:solidFill>
                  <a:srgbClr val="9C0B15"/>
                </a:solidFill>
              </a:rPr>
              <a:t>长期运行的系统的稳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>
                <a:solidFill>
                  <a:srgbClr val="9C0B15"/>
                </a:solidFill>
              </a:rPr>
              <a:t>定往往十分重要</a:t>
            </a:r>
            <a:r>
              <a:rPr lang="zh-CN" altLang="en-US" sz="2000"/>
              <a:t>。如果</a:t>
            </a:r>
            <a:r>
              <a:rPr lang="en-US" altLang="zh-CN" sz="2000"/>
              <a:t>CPU</a:t>
            </a:r>
            <a:r>
              <a:rPr lang="zh-CN" altLang="en-US" sz="2000"/>
              <a:t>上当前没有什么重要的任务，它们就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运行。它们处于较低的优先级。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例子</a:t>
            </a:r>
            <a:r>
              <a:rPr lang="en-US" altLang="zh-CN" sz="2000"/>
              <a:t>		</a:t>
            </a:r>
            <a:r>
              <a:rPr lang="zh-CN" altLang="en-US" sz="2000"/>
              <a:t>磁盘碎片整理、文件索引服务、垃圾</a:t>
            </a:r>
            <a:r>
              <a:rPr lang="zh-CN" altLang="en-US" sz="2000">
                <a:sym typeface="+mn-ea"/>
              </a:rPr>
              <a:t>文件</a:t>
            </a:r>
            <a:r>
              <a:rPr lang="zh-CN" altLang="en-US" sz="2000"/>
              <a:t>清理、杀毒软件等。</a:t>
            </a:r>
            <a:endParaRPr lang="zh-CN" altLang="en-US" sz="2000"/>
          </a:p>
        </p:txBody>
      </p:sp>
      <p:sp>
        <p:nvSpPr>
          <p:cNvPr id="4" name="圆角矩形 3"/>
          <p:cNvSpPr/>
          <p:nvPr/>
        </p:nvSpPr>
        <p:spPr>
          <a:xfrm>
            <a:off x="2981960" y="2286635"/>
            <a:ext cx="3823335" cy="3683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前台程序线程</a:t>
            </a:r>
            <a:endParaRPr lang="zh-CN" altLang="en-US" b="1"/>
          </a:p>
        </p:txBody>
      </p:sp>
      <p:sp>
        <p:nvSpPr>
          <p:cNvPr id="7" name="圆角矩形 6"/>
          <p:cNvSpPr/>
          <p:nvPr>
            <p:custDataLst>
              <p:tags r:id="rId2"/>
            </p:custDataLst>
          </p:nvPr>
        </p:nvSpPr>
        <p:spPr>
          <a:xfrm>
            <a:off x="2981960" y="2781935"/>
            <a:ext cx="3823335" cy="3683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后台服务线程</a:t>
            </a:r>
            <a:endParaRPr lang="zh-CN" altLang="en-US" b="1"/>
          </a:p>
        </p:txBody>
      </p:sp>
      <p:sp>
        <p:nvSpPr>
          <p:cNvPr id="8" name="圆角矩形 7"/>
          <p:cNvSpPr/>
          <p:nvPr>
            <p:custDataLst>
              <p:tags r:id="rId3"/>
            </p:custDataLst>
          </p:nvPr>
        </p:nvSpPr>
        <p:spPr>
          <a:xfrm>
            <a:off x="2981960" y="3277235"/>
            <a:ext cx="3823335" cy="3683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/>
              <a:t>CPU</a:t>
            </a:r>
            <a:r>
              <a:rPr lang="zh-CN" altLang="en-US" b="1"/>
              <a:t>空闲线程</a:t>
            </a:r>
            <a:endParaRPr lang="zh-CN" altLang="en-US" b="1"/>
          </a:p>
        </p:txBody>
      </p:sp>
      <p:sp>
        <p:nvSpPr>
          <p:cNvPr id="9" name="圆角矩形 8"/>
          <p:cNvSpPr/>
          <p:nvPr>
            <p:custDataLst>
              <p:tags r:id="rId4"/>
            </p:custDataLst>
          </p:nvPr>
        </p:nvSpPr>
        <p:spPr>
          <a:xfrm>
            <a:off x="2981960" y="1319530"/>
            <a:ext cx="3823335" cy="36830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ym typeface="+mn-ea"/>
              </a:rPr>
              <a:t>输入输出</a:t>
            </a:r>
            <a:r>
              <a:rPr lang="zh-CN" altLang="en-US" b="1"/>
              <a:t>线程</a:t>
            </a:r>
            <a:endParaRPr lang="zh-CN" altLang="en-US" b="1"/>
          </a:p>
        </p:txBody>
      </p:sp>
      <p:sp>
        <p:nvSpPr>
          <p:cNvPr id="17" name="圆角矩形 16"/>
          <p:cNvSpPr/>
          <p:nvPr>
            <p:custDataLst>
              <p:tags r:id="rId5"/>
            </p:custDataLst>
          </p:nvPr>
        </p:nvSpPr>
        <p:spPr>
          <a:xfrm>
            <a:off x="2981960" y="1814830"/>
            <a:ext cx="3823335" cy="3683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系统服务线程</a:t>
            </a:r>
            <a:endParaRPr lang="zh-CN" altLang="en-US" b="1"/>
          </a:p>
        </p:txBody>
      </p:sp>
    </p:spTree>
    <p:custDataLst>
      <p:tags r:id="rId6"/>
    </p:custData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</a:t>
                      </a: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系统线程总览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系统中的线程总览：按优先级划分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zh-CN" altLang="en-US" sz="2000">
                <a:sym typeface="+mn-ea"/>
              </a:rPr>
              <a:t>按照操作系统中的线程的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优先级</a:t>
            </a:r>
            <a:r>
              <a:rPr lang="zh-CN" altLang="en-US" sz="2000">
                <a:sym typeface="+mn-ea"/>
              </a:rPr>
              <a:t>，大致可以将它们分为如下</a:t>
            </a:r>
            <a:r>
              <a:rPr lang="zh-CN" altLang="en-US" sz="2000">
                <a:sym typeface="+mn-ea"/>
              </a:rPr>
              <a:t>五</a:t>
            </a:r>
            <a:r>
              <a:rPr lang="zh-CN" altLang="en-US" sz="2000">
                <a:sym typeface="+mn-ea"/>
              </a:rPr>
              <a:t>类。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CPU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空闲线程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sz="2000">
                <a:sym typeface="+mn-ea"/>
              </a:rPr>
              <a:t>由操作系统提供的、</a:t>
            </a:r>
            <a:r>
              <a:rPr lang="zh-CN" sz="2000"/>
              <a:t>当</a:t>
            </a:r>
            <a:r>
              <a:rPr lang="en-US" altLang="zh-CN" sz="2000"/>
              <a:t>CPU</a:t>
            </a:r>
            <a:r>
              <a:rPr lang="zh-CN" altLang="en-US" sz="2000"/>
              <a:t>确实</a:t>
            </a:r>
            <a:r>
              <a:rPr lang="en-US" altLang="zh-CN" sz="2000">
                <a:solidFill>
                  <a:srgbClr val="9C0B15"/>
                </a:solidFill>
              </a:rPr>
              <a:t>无事可做</a:t>
            </a:r>
            <a:r>
              <a:rPr lang="zh-CN" altLang="en-US" sz="2000"/>
              <a:t>时运行的线程。它通常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只做一件事，就是反复将当前处理器置于</a:t>
            </a:r>
            <a:r>
              <a:rPr lang="en-US" altLang="zh-CN" sz="2000">
                <a:solidFill>
                  <a:srgbClr val="9C0B15"/>
                </a:solidFill>
              </a:rPr>
              <a:t>睡眠态</a:t>
            </a:r>
            <a:r>
              <a:rPr lang="zh-CN" altLang="en-US" sz="2000"/>
              <a:t>以节约功耗，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它处于</a:t>
            </a:r>
            <a:r>
              <a:rPr lang="en-US" altLang="zh-CN" sz="2000">
                <a:solidFill>
                  <a:srgbClr val="9C0B15"/>
                </a:solidFill>
              </a:rPr>
              <a:t>最低优先级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备注</a:t>
            </a:r>
            <a:r>
              <a:rPr lang="en-US" altLang="zh-CN" sz="2000"/>
              <a:t>		</a:t>
            </a:r>
            <a:r>
              <a:rPr lang="zh-CN" altLang="en-US" sz="2000"/>
              <a:t>在多</a:t>
            </a:r>
            <a:r>
              <a:rPr lang="en-US" altLang="zh-CN" sz="2000"/>
              <a:t>CPU</a:t>
            </a:r>
            <a:r>
              <a:rPr lang="zh-CN" altLang="en-US" sz="2000"/>
              <a:t>系统中，每个</a:t>
            </a:r>
            <a:r>
              <a:rPr lang="en-US" altLang="zh-CN" sz="2000"/>
              <a:t>CPU</a:t>
            </a:r>
            <a:r>
              <a:rPr lang="zh-CN" altLang="en-US" sz="2000"/>
              <a:t>上都有一个空闲线程。当该</a:t>
            </a:r>
            <a:r>
              <a:rPr lang="en-US" altLang="zh-CN" sz="2000"/>
              <a:t>CPU</a:t>
            </a:r>
            <a:r>
              <a:rPr lang="zh-CN" altLang="en-US" sz="2000"/>
              <a:t>无线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程可调度时，就调度它。</a:t>
            </a:r>
            <a:endParaRPr lang="zh-CN" altLang="en-US" sz="2000"/>
          </a:p>
        </p:txBody>
      </p:sp>
      <p:sp>
        <p:nvSpPr>
          <p:cNvPr id="4" name="圆角矩形 3"/>
          <p:cNvSpPr/>
          <p:nvPr/>
        </p:nvSpPr>
        <p:spPr>
          <a:xfrm>
            <a:off x="2981960" y="2286635"/>
            <a:ext cx="3823335" cy="3683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前台程序线程</a:t>
            </a:r>
            <a:endParaRPr lang="zh-CN" altLang="en-US" b="1"/>
          </a:p>
        </p:txBody>
      </p:sp>
      <p:sp>
        <p:nvSpPr>
          <p:cNvPr id="7" name="圆角矩形 6"/>
          <p:cNvSpPr/>
          <p:nvPr>
            <p:custDataLst>
              <p:tags r:id="rId2"/>
            </p:custDataLst>
          </p:nvPr>
        </p:nvSpPr>
        <p:spPr>
          <a:xfrm>
            <a:off x="2981960" y="2781935"/>
            <a:ext cx="3823335" cy="3683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后台服务线程</a:t>
            </a:r>
            <a:endParaRPr lang="zh-CN" altLang="en-US" b="1"/>
          </a:p>
        </p:txBody>
      </p:sp>
      <p:sp>
        <p:nvSpPr>
          <p:cNvPr id="8" name="圆角矩形 7"/>
          <p:cNvSpPr/>
          <p:nvPr>
            <p:custDataLst>
              <p:tags r:id="rId3"/>
            </p:custDataLst>
          </p:nvPr>
        </p:nvSpPr>
        <p:spPr>
          <a:xfrm>
            <a:off x="2981960" y="3277235"/>
            <a:ext cx="3823335" cy="3683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/>
              <a:t>CPU</a:t>
            </a:r>
            <a:r>
              <a:rPr lang="zh-CN" altLang="en-US" b="1"/>
              <a:t>空闲线程</a:t>
            </a:r>
            <a:endParaRPr lang="zh-CN" altLang="en-US" b="1"/>
          </a:p>
        </p:txBody>
      </p:sp>
      <p:sp>
        <p:nvSpPr>
          <p:cNvPr id="9" name="圆角矩形 8"/>
          <p:cNvSpPr/>
          <p:nvPr>
            <p:custDataLst>
              <p:tags r:id="rId4"/>
            </p:custDataLst>
          </p:nvPr>
        </p:nvSpPr>
        <p:spPr>
          <a:xfrm>
            <a:off x="2981960" y="1319530"/>
            <a:ext cx="3823335" cy="36830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ym typeface="+mn-ea"/>
              </a:rPr>
              <a:t>输入输出</a:t>
            </a:r>
            <a:r>
              <a:rPr lang="zh-CN" altLang="en-US" b="1"/>
              <a:t>线程</a:t>
            </a:r>
            <a:endParaRPr lang="zh-CN" altLang="en-US" b="1"/>
          </a:p>
        </p:txBody>
      </p:sp>
      <p:sp>
        <p:nvSpPr>
          <p:cNvPr id="17" name="圆角矩形 16"/>
          <p:cNvSpPr/>
          <p:nvPr>
            <p:custDataLst>
              <p:tags r:id="rId5"/>
            </p:custDataLst>
          </p:nvPr>
        </p:nvSpPr>
        <p:spPr>
          <a:xfrm>
            <a:off x="2981960" y="1814830"/>
            <a:ext cx="3823335" cy="3683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系统服务线程</a:t>
            </a:r>
            <a:endParaRPr lang="zh-CN" altLang="en-US" b="1"/>
          </a:p>
        </p:txBody>
      </p:sp>
    </p:spTree>
    <p:custDataLst>
      <p:tags r:id="rId6"/>
    </p:custData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</a:t>
                      </a: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系统线程总览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系统中的线程总览：按来源划分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zh-CN" altLang="en-US" sz="2000">
                <a:sym typeface="+mn-ea"/>
              </a:rPr>
              <a:t>按照操作系统中的线程的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来源</a:t>
            </a:r>
            <a:r>
              <a:rPr lang="zh-CN" altLang="en-US" sz="2000">
                <a:sym typeface="+mn-ea"/>
              </a:rPr>
              <a:t>，大致可以将它们分为如下三类。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驱动程序线程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驱动程序</a:t>
            </a:r>
            <a:r>
              <a:rPr lang="zh-CN" sz="2000"/>
              <a:t>由</a:t>
            </a:r>
            <a:r>
              <a:rPr lang="en-US" altLang="zh-CN" sz="2000">
                <a:solidFill>
                  <a:srgbClr val="9C0B15"/>
                </a:solidFill>
              </a:rPr>
              <a:t>设备提供商</a:t>
            </a:r>
            <a:r>
              <a:rPr lang="zh-CN" sz="2000"/>
              <a:t>编写</a:t>
            </a:r>
            <a:r>
              <a:rPr lang="zh-CN" altLang="en-US" sz="2000"/>
              <a:t>。如果需要安装新的硬件，那么必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须安装适合它的驱动程序。驱动程序线程的运行交给操作系统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管理，用户不能直接管理。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系统内核线程</a:t>
            </a:r>
            <a:r>
              <a:rPr lang="en-US" altLang="zh-CN" sz="2000"/>
              <a:t>	</a:t>
            </a:r>
            <a:r>
              <a:rPr lang="zh-CN" altLang="en-US" sz="2000"/>
              <a:t>完成操作系统功能所必备的线程，它们运行由</a:t>
            </a:r>
            <a:r>
              <a:rPr lang="en-US" altLang="zh-CN" sz="2000">
                <a:solidFill>
                  <a:srgbClr val="9C0B15"/>
                </a:solidFill>
              </a:rPr>
              <a:t>操作系统开发商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提供的功能。这些线程对用户而言是透明的。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应用程序线程</a:t>
            </a:r>
            <a:r>
              <a:rPr lang="en-US" altLang="zh-CN" sz="2000"/>
              <a:t>	</a:t>
            </a:r>
            <a:r>
              <a:rPr lang="zh-CN" altLang="en-US" sz="2000"/>
              <a:t>一般的应用程序的线程，它们运行由</a:t>
            </a:r>
            <a:r>
              <a:rPr lang="en-US" altLang="zh-CN" sz="2000">
                <a:solidFill>
                  <a:srgbClr val="9C0B15"/>
                </a:solidFill>
              </a:rPr>
              <a:t>应用程序开发商</a:t>
            </a:r>
            <a:r>
              <a:rPr lang="zh-CN" altLang="en-US" sz="2000"/>
              <a:t>提供的应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用程序中包含的指令流。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备注</a:t>
            </a:r>
            <a:r>
              <a:rPr lang="en-US" altLang="zh-CN" sz="2000"/>
              <a:t>		</a:t>
            </a:r>
            <a:r>
              <a:rPr lang="zh-CN" altLang="en-US" sz="2000"/>
              <a:t>这个分类不是绝对的。事实上，操作系统一般会自带一些驱动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程序，而驱动程序的发行包中也可能含有应用程序组件。</a:t>
            </a:r>
            <a:endParaRPr lang="zh-CN" altLang="en-US" sz="2000"/>
          </a:p>
        </p:txBody>
      </p:sp>
      <p:sp>
        <p:nvSpPr>
          <p:cNvPr id="4" name="圆角矩形 3"/>
          <p:cNvSpPr/>
          <p:nvPr/>
        </p:nvSpPr>
        <p:spPr>
          <a:xfrm>
            <a:off x="2981960" y="2286635"/>
            <a:ext cx="3823335" cy="3683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应用程序线程</a:t>
            </a:r>
            <a:endParaRPr lang="zh-CN" altLang="en-US" b="1"/>
          </a:p>
        </p:txBody>
      </p:sp>
      <p:sp>
        <p:nvSpPr>
          <p:cNvPr id="9" name="圆角矩形 8"/>
          <p:cNvSpPr/>
          <p:nvPr>
            <p:custDataLst>
              <p:tags r:id="rId2"/>
            </p:custDataLst>
          </p:nvPr>
        </p:nvSpPr>
        <p:spPr>
          <a:xfrm>
            <a:off x="2981960" y="1319530"/>
            <a:ext cx="3823335" cy="36830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驱动程序线程</a:t>
            </a:r>
            <a:endParaRPr lang="zh-CN" altLang="en-US" b="1"/>
          </a:p>
        </p:txBody>
      </p:sp>
      <p:sp>
        <p:nvSpPr>
          <p:cNvPr id="17" name="圆角矩形 16"/>
          <p:cNvSpPr/>
          <p:nvPr>
            <p:custDataLst>
              <p:tags r:id="rId3"/>
            </p:custDataLst>
          </p:nvPr>
        </p:nvSpPr>
        <p:spPr>
          <a:xfrm>
            <a:off x="2981960" y="1814830"/>
            <a:ext cx="3823335" cy="3683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系统内核线程</a:t>
            </a:r>
            <a:endParaRPr lang="zh-CN" altLang="en-US" b="1"/>
          </a:p>
        </p:txBody>
      </p:sp>
    </p:spTree>
    <p:custDataLst>
      <p:tags r:id="rId4"/>
    </p:custData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</a:t>
                      </a: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系统线程总览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系统中的线程总览：按特权划分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zh-CN" altLang="en-US" sz="2000">
                <a:sym typeface="+mn-ea"/>
              </a:rPr>
              <a:t>按照操作系统中的线程的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特权</a:t>
            </a:r>
            <a:r>
              <a:rPr lang="zh-CN" altLang="en-US" sz="2000">
                <a:sym typeface="+mn-ea"/>
              </a:rPr>
              <a:t>，大致可以将它们分为如下两类。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内核线程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sz="2000"/>
              <a:t>运行在内核空间的线程；它们运行时，</a:t>
            </a:r>
            <a:r>
              <a:rPr lang="zh-CN" altLang="en-US" sz="2000">
                <a:solidFill>
                  <a:srgbClr val="9C0B15"/>
                </a:solidFill>
              </a:rPr>
              <a:t>CPU处于内核模式</a:t>
            </a:r>
            <a:r>
              <a:rPr lang="zh-CN" altLang="en-US" sz="2000"/>
              <a:t>。它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们可以</a:t>
            </a:r>
            <a:r>
              <a:rPr lang="zh-CN" altLang="en-US" sz="2000">
                <a:solidFill>
                  <a:srgbClr val="9C0B15"/>
                </a:solidFill>
              </a:rPr>
              <a:t>直接访问内核的一切资源</a:t>
            </a:r>
            <a:r>
              <a:rPr lang="zh-CN" altLang="en-US" sz="2000"/>
              <a:t>。正因如此，它们均由操作系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统内核启动和管理，甚至可以视作是内核的一部分。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严格意义上讲</a:t>
            </a:r>
            <a:r>
              <a:rPr lang="zh-CN" altLang="en-US" sz="2000"/>
              <a:t>只有</a:t>
            </a:r>
            <a:r>
              <a:rPr lang="zh-CN" altLang="en-US" sz="2000">
                <a:solidFill>
                  <a:srgbClr val="9C0B15"/>
                </a:solidFill>
              </a:rPr>
              <a:t>可抢占内核</a:t>
            </a:r>
            <a:r>
              <a:rPr lang="zh-CN" altLang="en-US" sz="2000"/>
              <a:t>有内核线程。后面详讲。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用户线程</a:t>
            </a:r>
            <a:r>
              <a:rPr lang="en-US" altLang="zh-CN" sz="2000"/>
              <a:t>	</a:t>
            </a:r>
            <a:r>
              <a:rPr lang="zh-CN" altLang="en-US" sz="2000"/>
              <a:t>运行在用户空间的线程；</a:t>
            </a:r>
            <a:r>
              <a:rPr lang="zh-CN" sz="2000">
                <a:sym typeface="+mn-ea"/>
              </a:rPr>
              <a:t>它们运行时，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CPU处于用户模式</a:t>
            </a:r>
            <a:r>
              <a:rPr lang="zh-CN" altLang="en-US" sz="2000">
                <a:sym typeface="+mn-ea"/>
              </a:rPr>
              <a:t>。它们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进入内核的唯一方法是系统调用。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常说的线程就是指用户线程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概念辨析</a:t>
            </a:r>
            <a:r>
              <a:rPr lang="en-US" altLang="zh-CN" sz="2000"/>
              <a:t>	</a:t>
            </a:r>
            <a:r>
              <a:rPr lang="zh-CN" altLang="en-US" sz="2000"/>
              <a:t>“内核线程（Kernel Thread）/用户线程（User Thread）”不要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/>
              <a:t>和“内核级线程（Kernel-Level Thread）/用户级线程（User-Level 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/>
              <a:t>Thread）”搞混了，前者是指</a:t>
            </a:r>
            <a:r>
              <a:rPr lang="zh-CN" altLang="en-US" sz="2000">
                <a:solidFill>
                  <a:srgbClr val="9C0B15"/>
                </a:solidFill>
              </a:rPr>
              <a:t>线程运行时的CPU模式</a:t>
            </a:r>
            <a:r>
              <a:rPr lang="zh-CN" altLang="en-US" sz="2000"/>
              <a:t>，而后者则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是指</a:t>
            </a:r>
            <a:r>
              <a:rPr lang="zh-CN" altLang="en-US" sz="2000">
                <a:solidFill>
                  <a:srgbClr val="9C0B15"/>
                </a:solidFill>
              </a:rPr>
              <a:t>操作系统是否知道它们的存在</a:t>
            </a:r>
            <a:r>
              <a:rPr lang="zh-CN" altLang="en-US" sz="2000"/>
              <a:t>。内核线程和用户线程都是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/>
              <a:t>内核级线程，而所谓的“用户级线程”则是指</a:t>
            </a:r>
            <a:r>
              <a:rPr lang="zh-CN" altLang="en-US" sz="2000"/>
              <a:t>协程和纤程。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这两个叫法之所以叫成这样是历史原因。不必深究。</a:t>
            </a:r>
            <a:endParaRPr lang="zh-CN" altLang="en-US" sz="2000"/>
          </a:p>
        </p:txBody>
      </p:sp>
      <p:sp>
        <p:nvSpPr>
          <p:cNvPr id="4" name="圆角矩形 3"/>
          <p:cNvSpPr/>
          <p:nvPr/>
        </p:nvSpPr>
        <p:spPr>
          <a:xfrm>
            <a:off x="2981960" y="1805305"/>
            <a:ext cx="3823335" cy="36830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用户线程</a:t>
            </a:r>
            <a:endParaRPr lang="zh-CN" altLang="en-US" b="1"/>
          </a:p>
        </p:txBody>
      </p:sp>
      <p:sp>
        <p:nvSpPr>
          <p:cNvPr id="9" name="圆角矩形 8"/>
          <p:cNvSpPr/>
          <p:nvPr>
            <p:custDataLst>
              <p:tags r:id="rId2"/>
            </p:custDataLst>
          </p:nvPr>
        </p:nvSpPr>
        <p:spPr>
          <a:xfrm>
            <a:off x="2981960" y="1319530"/>
            <a:ext cx="3823335" cy="36830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内核线程</a:t>
            </a:r>
            <a:endParaRPr lang="zh-CN" altLang="en-US" b="1"/>
          </a:p>
        </p:txBody>
      </p:sp>
      <p:sp>
        <p:nvSpPr>
          <p:cNvPr id="64" name="右箭头标注 63"/>
          <p:cNvSpPr/>
          <p:nvPr/>
        </p:nvSpPr>
        <p:spPr>
          <a:xfrm flipH="1">
            <a:off x="8950325" y="1938655"/>
            <a:ext cx="2846070" cy="2941955"/>
          </a:xfrm>
          <a:prstGeom prst="rightArrowCallout">
            <a:avLst>
              <a:gd name="adj1" fmla="val 12196"/>
              <a:gd name="adj2" fmla="val 14803"/>
              <a:gd name="adj3" fmla="val 14457"/>
              <a:gd name="adj4" fmla="val 76595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这是因为调度器理论上应当对内核线程和用户线程一视同仁，如果用户线程可以被打断，内核线程当然也是。当然，也可以特殊规定内核线程不可被抢占，就像</a:t>
            </a:r>
            <a:r>
              <a:rPr lang="en-US" altLang="zh-CN"/>
              <a:t>Linux 2.4</a:t>
            </a:r>
            <a:r>
              <a:rPr lang="zh-CN" altLang="en-US"/>
              <a:t>版本以前那样。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</a:t>
                      </a: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系统线程总览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系统中的线程总览：总结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l"/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/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/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/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/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/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/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/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/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/>
            <a:r>
              <a:rPr lang="zh-CN" altLang="en-US" sz="2000" b="1">
                <a:solidFill>
                  <a:srgbClr val="9C0B15"/>
                </a:solidFill>
                <a:sym typeface="+mn-ea"/>
              </a:rPr>
              <a:t>例外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以上展示的情况是</a:t>
            </a:r>
            <a:r>
              <a:rPr lang="en-US" altLang="zh-CN" sz="2000">
                <a:sym typeface="+mn-ea"/>
              </a:rPr>
              <a:t>Linux</a:t>
            </a:r>
            <a:r>
              <a:rPr lang="zh-CN" altLang="en-US" sz="2000">
                <a:sym typeface="+mn-ea"/>
              </a:rPr>
              <a:t>等宏内核（最常见）中的设计</a:t>
            </a:r>
            <a:r>
              <a:rPr lang="zh-CN" altLang="en-US" sz="2000">
                <a:sym typeface="+mn-ea"/>
              </a:rPr>
              <a:t>。对于（纯血的）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微内核，一切线程都运行在用户模式，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没有内核模式线程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/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332740" y="676910"/>
          <a:ext cx="9228455" cy="241363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37055"/>
                <a:gridCol w="2919095"/>
                <a:gridCol w="2593975"/>
                <a:gridCol w="1878330"/>
              </a:tblGrid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线程的优先级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一般情况下的特权模式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一般情况下的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提供方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常见调度策略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输入输出线程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内核模式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驱动程序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EDF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，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FPRR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系统服务线程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内核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模式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操作系统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FPRR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，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FCFS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0830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前台程序线程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用户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模式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应用程序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CFS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，常规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RR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0830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后台服务线程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用户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模式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操作系统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、应用程序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FCFS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0830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CPU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空闲线程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内核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模式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操作系统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-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r="13843" b="11558"/>
          <a:stretch>
            <a:fillRect/>
          </a:stretch>
        </p:blipFill>
        <p:spPr>
          <a:xfrm>
            <a:off x="330200" y="3231515"/>
            <a:ext cx="9230995" cy="262699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线程控制块</a:t>
            </a:r>
            <a:endParaRPr lang="zh-CN" altLang="en-US" sz="2000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线程控制块</a:t>
            </a:r>
            <a:r>
              <a:rPr lang="en-US" altLang="zh-CN" sz="2000"/>
              <a:t>	</a:t>
            </a:r>
            <a:r>
              <a:rPr lang="zh-CN" altLang="en-US" sz="2000"/>
              <a:t>操作系统用以描述和管理线程的内核对象，一般至少包含线程</a:t>
            </a:r>
            <a:r>
              <a:rPr lang="zh-CN" altLang="en-US" sz="2000" b="1">
                <a:solidFill>
                  <a:srgbClr val="9C0B15"/>
                </a:solidFill>
              </a:rPr>
              <a:t>Thread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/>
              <a:t>的</a:t>
            </a:r>
            <a:r>
              <a:rPr lang="zh-CN" altLang="en-US" sz="2000">
                <a:solidFill>
                  <a:srgbClr val="9C0B15"/>
                </a:solidFill>
              </a:rPr>
              <a:t>时间预算、优先级、运行状态及上下文</a:t>
            </a:r>
            <a:r>
              <a:rPr lang="zh-CN" altLang="en-US" sz="2000"/>
              <a:t>，有时还会包含一些</a:t>
            </a:r>
            <a:r>
              <a:rPr lang="en-US" altLang="zh-CN" sz="2000" b="1">
                <a:solidFill>
                  <a:srgbClr val="9C0B15"/>
                </a:solidFill>
              </a:rPr>
              <a:t>Control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身</a:t>
            </a:r>
            <a:r>
              <a:rPr lang="zh-CN" altLang="en-US" sz="2000">
                <a:solidFill>
                  <a:srgbClr val="9C0B15"/>
                </a:solidFill>
              </a:rPr>
              <a:t>份信息</a:t>
            </a:r>
            <a:r>
              <a:rPr lang="zh-CN" altLang="en-US" sz="2000"/>
              <a:t>（如线程名、线程号）或</a:t>
            </a:r>
            <a:r>
              <a:rPr lang="zh-CN" altLang="en-US" sz="2000">
                <a:solidFill>
                  <a:srgbClr val="9C0B15"/>
                </a:solidFill>
              </a:rPr>
              <a:t>统计信息</a:t>
            </a:r>
            <a:r>
              <a:rPr lang="zh-CN" altLang="en-US" sz="2000"/>
              <a:t>（如总</a:t>
            </a:r>
            <a:r>
              <a:rPr lang="zh-CN" altLang="en-US" sz="2000"/>
              <a:t>计CPU时间）</a:t>
            </a:r>
            <a:r>
              <a:rPr lang="zh-CN" altLang="en-US" sz="2000" b="1">
                <a:solidFill>
                  <a:srgbClr val="9C0B15"/>
                </a:solidFill>
              </a:rPr>
              <a:t>Block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/>
              <a:t>等。它在数据结构上一般是</a:t>
            </a:r>
            <a:r>
              <a:rPr lang="en-US" altLang="zh-CN" sz="2000"/>
              <a:t>C</a:t>
            </a:r>
            <a:r>
              <a:rPr lang="zh-CN" altLang="en-US" sz="2000"/>
              <a:t>语言的一个</a:t>
            </a:r>
            <a:r>
              <a:rPr lang="zh-CN" altLang="en-US" sz="2000">
                <a:solidFill>
                  <a:srgbClr val="9C0B15"/>
                </a:solidFill>
              </a:rPr>
              <a:t>结构体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（TCB）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	在那些有内核模式的处理器中，</a:t>
            </a:r>
            <a:r>
              <a:rPr lang="zh-CN" altLang="en-US" sz="2000"/>
              <a:t>线程控制块位于内核空间，只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/>
              <a:t>有操作系统可以更改，应用程序无法</a:t>
            </a:r>
            <a:r>
              <a:rPr lang="zh-CN" altLang="en-US" sz="2000"/>
              <a:t>更改。</a:t>
            </a:r>
            <a:endParaRPr lang="zh-CN" altLang="en-US" sz="2000"/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2844165" y="3429000"/>
            <a:ext cx="2167890" cy="423545"/>
          </a:xfrm>
          <a:prstGeom prst="rect">
            <a:avLst/>
          </a:prstGeom>
          <a:solidFill>
            <a:srgbClr val="BFBFBF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线程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号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5012055" y="3429000"/>
            <a:ext cx="2167890" cy="42354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r>
              <a:rPr lang="en-US" altLang="zh-CN"/>
              <a:t>x1294</a:t>
            </a:r>
            <a:endParaRPr lang="en-US" altLang="zh-CN"/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5012055" y="3852545"/>
            <a:ext cx="2167890" cy="42354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134</a:t>
            </a:r>
            <a:endParaRPr lang="en-US" altLang="zh-CN"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5012055" y="4699635"/>
            <a:ext cx="2167890" cy="126238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AX = 0x1234</a:t>
            </a:r>
            <a:endParaRPr lang="en-US" altLang="zh-CN"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BX = 0</a:t>
            </a:r>
            <a:r>
              <a:rPr lang="en-US" altLang="zh-CN">
                <a:sym typeface="+mn-ea"/>
              </a:rPr>
              <a:t>x5678</a:t>
            </a:r>
            <a:endParaRPr lang="en-US" altLang="zh-CN"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CX = 0xABCD</a:t>
            </a:r>
            <a:endParaRPr lang="en-US" altLang="zh-CN"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......</a:t>
            </a:r>
            <a:endParaRPr lang="en-US" altLang="zh-CN">
              <a:sym typeface="+mn-ea"/>
            </a:endParaRPr>
          </a:p>
        </p:txBody>
      </p:sp>
      <p:sp>
        <p:nvSpPr>
          <p:cNvPr id="15" name="矩形 14"/>
          <p:cNvSpPr/>
          <p:nvPr>
            <p:custDataLst>
              <p:tags r:id="rId6"/>
            </p:custDataLst>
          </p:nvPr>
        </p:nvSpPr>
        <p:spPr>
          <a:xfrm>
            <a:off x="2844165" y="3852545"/>
            <a:ext cx="2167890" cy="423545"/>
          </a:xfrm>
          <a:prstGeom prst="rect">
            <a:avLst/>
          </a:prstGeom>
          <a:solidFill>
            <a:srgbClr val="BFBFBF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当前剩余时间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预算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7" name="矩形 16"/>
          <p:cNvSpPr/>
          <p:nvPr>
            <p:custDataLst>
              <p:tags r:id="rId7"/>
            </p:custDataLst>
          </p:nvPr>
        </p:nvSpPr>
        <p:spPr>
          <a:xfrm>
            <a:off x="2844165" y="4276090"/>
            <a:ext cx="2167890" cy="423545"/>
          </a:xfrm>
          <a:prstGeom prst="rect">
            <a:avLst/>
          </a:prstGeom>
          <a:solidFill>
            <a:srgbClr val="BFBFBF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优先级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26" name="矩形 25"/>
          <p:cNvSpPr/>
          <p:nvPr>
            <p:custDataLst>
              <p:tags r:id="rId8"/>
            </p:custDataLst>
          </p:nvPr>
        </p:nvSpPr>
        <p:spPr>
          <a:xfrm>
            <a:off x="5012055" y="4276090"/>
            <a:ext cx="2167890" cy="42354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5</a:t>
            </a:r>
            <a:endParaRPr lang="en-US" altLang="zh-CN">
              <a:sym typeface="+mn-ea"/>
            </a:endParaRPr>
          </a:p>
        </p:txBody>
      </p:sp>
      <p:sp>
        <p:nvSpPr>
          <p:cNvPr id="28" name="矩形 27"/>
          <p:cNvSpPr/>
          <p:nvPr>
            <p:custDataLst>
              <p:tags r:id="rId9"/>
            </p:custDataLst>
          </p:nvPr>
        </p:nvSpPr>
        <p:spPr>
          <a:xfrm>
            <a:off x="2844165" y="4699635"/>
            <a:ext cx="2167890" cy="1263015"/>
          </a:xfrm>
          <a:prstGeom prst="rect">
            <a:avLst/>
          </a:prstGeom>
          <a:solidFill>
            <a:srgbClr val="BFBFBF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寄存器组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60" name="矩形 59"/>
          <p:cNvSpPr/>
          <p:nvPr>
            <p:custDataLst>
              <p:tags r:id="rId10"/>
            </p:custDataLst>
          </p:nvPr>
        </p:nvSpPr>
        <p:spPr>
          <a:xfrm>
            <a:off x="2844165" y="5962650"/>
            <a:ext cx="2167890" cy="423545"/>
          </a:xfrm>
          <a:prstGeom prst="rect">
            <a:avLst/>
          </a:prstGeom>
          <a:solidFill>
            <a:srgbClr val="BFBFBF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总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消耗时间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预算数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61" name="矩形 60"/>
          <p:cNvSpPr/>
          <p:nvPr>
            <p:custDataLst>
              <p:tags r:id="rId11"/>
            </p:custDataLst>
          </p:nvPr>
        </p:nvSpPr>
        <p:spPr>
          <a:xfrm>
            <a:off x="5012055" y="5962650"/>
            <a:ext cx="2167890" cy="423545"/>
          </a:xfrm>
          <a:prstGeom prst="rect">
            <a:avLst/>
          </a:prstGeom>
          <a:solidFill>
            <a:srgbClr val="7030A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1247814</a:t>
            </a:r>
            <a:endParaRPr lang="en-US" altLang="zh-CN">
              <a:sym typeface="+mn-ea"/>
            </a:endParaRPr>
          </a:p>
        </p:txBody>
      </p:sp>
    </p:spTree>
    <p:custDataLst>
      <p:tags r:id="rId12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一个实际的线程控制块（</a:t>
            </a:r>
            <a:r>
              <a:rPr lang="en-US" altLang="zh-CN" sz="2000" b="1">
                <a:solidFill>
                  <a:srgbClr val="9C0B15"/>
                </a:solidFill>
              </a:rPr>
              <a:t>Linux 6.3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https://elixir.bootlin.com/linux/v6.3-rc3/source/include/linux/sched.h#L737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FFC000"/>
                </a:solidFill>
                <a:cs typeface="+mn-lt"/>
              </a:rPr>
              <a:t>struct task_struct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FFC000"/>
                </a:solidFill>
                <a:cs typeface="+mn-lt"/>
              </a:rPr>
              <a:t>{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cs typeface="+mn-lt"/>
              </a:rPr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unsigned int</a:t>
            </a:r>
            <a:r>
              <a:rPr lang="zh-CN" altLang="en-US" sz="2000" b="1">
                <a:cs typeface="+mn-lt"/>
              </a:rPr>
              <a:t>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__state;</a:t>
            </a:r>
            <a:endParaRPr lang="zh-CN" altLang="en-US" sz="2000" b="1"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cs typeface="+mn-lt"/>
              </a:rPr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int</a:t>
            </a:r>
            <a:r>
              <a:rPr lang="zh-CN" altLang="en-US" sz="2000" b="1">
                <a:cs typeface="+mn-lt"/>
              </a:rPr>
              <a:t>	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prio;</a:t>
            </a:r>
            <a:endParaRPr lang="zh-CN" altLang="en-US" sz="2000" b="1"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cs typeface="+mn-lt"/>
              </a:rPr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struct sched_statistics</a:t>
            </a:r>
            <a:r>
              <a:rPr lang="en-US" sz="2000" b="1">
                <a:cs typeface="+mn-lt"/>
              </a:rPr>
              <a:t>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stats;</a:t>
            </a:r>
            <a:endParaRPr lang="zh-CN" altLang="en-US" sz="2000" b="1"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cs typeface="+mn-lt"/>
              </a:rPr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unsigned int</a:t>
            </a:r>
            <a:r>
              <a:rPr lang="zh-CN" altLang="en-US" sz="2000" b="1">
                <a:cs typeface="+mn-lt"/>
              </a:rPr>
              <a:t>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policy;</a:t>
            </a:r>
            <a:endParaRPr lang="zh-CN" altLang="en-US" sz="2000" b="1"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cs typeface="+mn-lt"/>
              </a:rPr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struct sched_info</a:t>
            </a:r>
            <a:r>
              <a:rPr lang="en-US" altLang="zh-CN" sz="2000" b="1">
                <a:cs typeface="+mn-lt"/>
              </a:rPr>
              <a:t>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sched_info;</a:t>
            </a:r>
            <a:endParaRPr lang="zh-CN" altLang="en-US" sz="2000" b="1"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cs typeface="+mn-lt"/>
              </a:rPr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pid_t</a:t>
            </a:r>
            <a:r>
              <a:rPr lang="zh-CN" altLang="en-US" sz="2000" b="1">
                <a:cs typeface="+mn-lt"/>
              </a:rPr>
              <a:t>	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pid;</a:t>
            </a:r>
            <a:endParaRPr lang="zh-CN" altLang="en-US" sz="2000" b="1"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cs typeface="+mn-lt"/>
              </a:rPr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u64</a:t>
            </a:r>
            <a:r>
              <a:rPr lang="zh-CN" altLang="en-US" sz="2000" b="1">
                <a:cs typeface="+mn-lt"/>
              </a:rPr>
              <a:t>	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utime;</a:t>
            </a:r>
            <a:endParaRPr lang="zh-CN" altLang="en-US" sz="2000" b="1"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cs typeface="+mn-lt"/>
              </a:rPr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u64</a:t>
            </a:r>
            <a:r>
              <a:rPr lang="zh-CN" altLang="en-US" sz="2000" b="1">
                <a:cs typeface="+mn-lt"/>
              </a:rPr>
              <a:t>	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stime;</a:t>
            </a:r>
            <a:endParaRPr lang="zh-CN" altLang="en-US" sz="2000" b="1"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cs typeface="+mn-lt"/>
              </a:rPr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struct thread_struct</a:t>
            </a:r>
            <a:r>
              <a:rPr lang="zh-CN" altLang="en-US" sz="2000" b="1">
                <a:cs typeface="+mn-lt"/>
              </a:rPr>
              <a:t>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thread;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FFC000"/>
                </a:solidFill>
                <a:cs typeface="+mn-lt"/>
              </a:rPr>
              <a:t>};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zh-CN" altLang="en-US" sz="2000"/>
              <a:t>线程的用户模式寄存器组（它被打断时的上下文）保存在哪？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线程控制块的补充信息（</a:t>
            </a:r>
            <a:r>
              <a:rPr lang="en-US" altLang="zh-CN" sz="2000" b="1">
                <a:solidFill>
                  <a:srgbClr val="9C0B15"/>
                </a:solidFill>
              </a:rPr>
              <a:t>Linux 6.3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https://elixir.bootlin.com/linux/v6.3</a:t>
            </a:r>
            <a:r>
              <a:rPr lang="en-US" altLang="zh-CN" sz="2000" b="1">
                <a:solidFill>
                  <a:srgbClr val="9C0B15"/>
                </a:solidFill>
              </a:rPr>
              <a:t>-</a:t>
            </a:r>
            <a:r>
              <a:rPr lang="zh-CN" altLang="en-US" sz="2000" b="1">
                <a:solidFill>
                  <a:srgbClr val="9C0B15"/>
                </a:solidFill>
              </a:rPr>
              <a:t>rc3/source/arch/x86/include/asm/processor.h#L414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FFC000"/>
                </a:solidFill>
                <a:cs typeface="+mn-lt"/>
              </a:rPr>
              <a:t>struct thread_struct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FFC000"/>
                </a:solidFill>
                <a:cs typeface="+mn-lt"/>
              </a:rPr>
              <a:t>{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/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unsigned long</a:t>
            </a:r>
            <a:r>
              <a:rPr lang="zh-CN" altLang="en-US" sz="2000"/>
              <a:t>		</a:t>
            </a:r>
            <a:r>
              <a:rPr lang="en-US" altLang="zh-CN" sz="2000"/>
              <a:t>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sp;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/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unsigned short</a:t>
            </a:r>
            <a:r>
              <a:rPr lang="zh-CN" altLang="en-US" sz="2000"/>
              <a:t>		</a:t>
            </a:r>
            <a:r>
              <a:rPr lang="en-US" altLang="zh-CN" sz="2000"/>
              <a:t>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es;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/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unsigned short</a:t>
            </a:r>
            <a:r>
              <a:rPr lang="zh-CN" altLang="en-US" sz="2000"/>
              <a:t>		</a:t>
            </a:r>
            <a:r>
              <a:rPr lang="en-US" altLang="zh-CN" sz="2000"/>
              <a:t>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ds;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/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unsigned short</a:t>
            </a:r>
            <a:r>
              <a:rPr lang="zh-CN" altLang="en-US" sz="2000"/>
              <a:t>		</a:t>
            </a:r>
            <a:r>
              <a:rPr lang="en-US" altLang="zh-CN" sz="2000"/>
              <a:t>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fsindex;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/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unsigned short</a:t>
            </a:r>
            <a:r>
              <a:rPr lang="zh-CN" altLang="en-US" sz="2000"/>
              <a:t>		</a:t>
            </a:r>
            <a:r>
              <a:rPr lang="en-US" altLang="zh-CN" sz="2000"/>
              <a:t>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gsindex;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/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unsigned long</a:t>
            </a:r>
            <a:r>
              <a:rPr lang="zh-CN" altLang="en-US" sz="2000"/>
              <a:t>		</a:t>
            </a:r>
            <a:r>
              <a:rPr lang="en-US" altLang="zh-CN" sz="2000"/>
              <a:t>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fsbase;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/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unsigned long</a:t>
            </a:r>
            <a:r>
              <a:rPr lang="zh-CN" altLang="en-US" sz="2000"/>
              <a:t>		</a:t>
            </a:r>
            <a:r>
              <a:rPr lang="en-US" altLang="zh-CN" sz="2000"/>
              <a:t>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gsbase;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/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struct fpu</a:t>
            </a:r>
            <a:r>
              <a:rPr lang="zh-CN" altLang="en-US" sz="2000"/>
              <a:t>		</a:t>
            </a:r>
            <a:r>
              <a:rPr lang="en-US" altLang="zh-CN" sz="2000"/>
              <a:t>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fpu;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FFC000"/>
                </a:solidFill>
                <a:cs typeface="+mn-lt"/>
              </a:rPr>
              <a:t>};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zh-CN" altLang="en-US" sz="2000"/>
              <a:t>线程的用户模式寄存器组（它被打断时的上下文）保存在哪？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C000"/>
                </a:solidFill>
                <a:cs typeface="+mn-lt"/>
                <a:sym typeface="+mn-ea"/>
              </a:rPr>
              <a:t>	</a:t>
            </a:r>
            <a:r>
              <a:rPr lang="zh-CN" altLang="en-US" sz="2000"/>
              <a:t>看上去那个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struct fpu</a:t>
            </a:r>
            <a:r>
              <a:rPr lang="zh-CN" altLang="en-US" sz="2000"/>
              <a:t>像是浮点寄存器上下文保存的地方。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C000"/>
                </a:solidFill>
                <a:cs typeface="+mn-lt"/>
                <a:sym typeface="+mn-ea"/>
              </a:rPr>
              <a:t>	</a:t>
            </a:r>
            <a:r>
              <a:rPr lang="zh-CN" altLang="en-US" sz="2000"/>
              <a:t>但通用寄存器我们只找到了</a:t>
            </a:r>
            <a:r>
              <a:rPr lang="en-US" altLang="zh-CN" sz="2000"/>
              <a:t>sp</a:t>
            </a:r>
            <a:r>
              <a:rPr lang="zh-CN" altLang="en-US" sz="2000"/>
              <a:t>一个。剩下的都在哪？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线程控制块的补充信息（</a:t>
            </a:r>
            <a:r>
              <a:rPr lang="en-US" altLang="zh-CN" sz="2000" b="1">
                <a:solidFill>
                  <a:srgbClr val="9C0B15"/>
                </a:solidFill>
              </a:rPr>
              <a:t>Linux 6.3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r>
              <a:rPr sz="2000" b="1">
                <a:solidFill>
                  <a:srgbClr val="9C0B15"/>
                </a:solidFill>
              </a:rPr>
              <a:t>https://elixir.bootlin.com/linux/v6.3-rc3/source/arch/x86/include/asm/fpu/types.h#L34</a:t>
            </a:r>
            <a:endParaRPr sz="2000" b="1">
              <a:solidFill>
                <a:srgbClr val="9C0B15"/>
              </a:solidFill>
            </a:endParaRPr>
          </a:p>
          <a:p>
            <a:pPr algn="ctr"/>
            <a:endParaRPr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FFC000"/>
                </a:solidFill>
                <a:cs typeface="+mn-lt"/>
              </a:rPr>
              <a:t>struct fxregs_state 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FFC000"/>
                </a:solidFill>
                <a:cs typeface="+mn-lt"/>
              </a:rPr>
              <a:t>{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u16</a:t>
            </a:r>
            <a:r>
              <a:rPr lang="zh-CN" altLang="en-US" sz="2000" b="1">
                <a:solidFill>
                  <a:srgbClr val="FFC000"/>
                </a:solidFill>
                <a:cs typeface="+mn-lt"/>
              </a:rPr>
              <a:t>			</a:t>
            </a:r>
            <a:r>
              <a:rPr lang="en-US" altLang="zh-CN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cwd;</a:t>
            </a:r>
            <a:r>
              <a:rPr lang="zh-CN" altLang="en-US" sz="2000" b="1">
                <a:solidFill>
                  <a:srgbClr val="FFC000"/>
                </a:solidFill>
                <a:cs typeface="+mn-lt"/>
              </a:rPr>
              <a:t> 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u16</a:t>
            </a:r>
            <a:r>
              <a:rPr lang="zh-CN" altLang="en-US" sz="2000" b="1">
                <a:solidFill>
                  <a:srgbClr val="FFC000"/>
                </a:solidFill>
                <a:cs typeface="+mn-lt"/>
              </a:rPr>
              <a:t>			</a:t>
            </a:r>
            <a:r>
              <a:rPr lang="en-US" altLang="zh-CN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swd;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u16</a:t>
            </a:r>
            <a:r>
              <a:rPr lang="zh-CN" altLang="en-US" sz="2000" b="1">
                <a:solidFill>
                  <a:srgbClr val="FFC000"/>
                </a:solidFill>
                <a:cs typeface="+mn-lt"/>
              </a:rPr>
              <a:t>			</a:t>
            </a:r>
            <a:r>
              <a:rPr lang="en-US" altLang="zh-CN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twd;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u16</a:t>
            </a:r>
            <a:r>
              <a:rPr lang="zh-CN" altLang="en-US" sz="2000" b="1">
                <a:solidFill>
                  <a:srgbClr val="FFC000"/>
                </a:solidFill>
                <a:cs typeface="+mn-lt"/>
              </a:rPr>
              <a:t>			</a:t>
            </a:r>
            <a:r>
              <a:rPr lang="en-US" altLang="zh-CN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fop;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u32</a:t>
            </a:r>
            <a:r>
              <a:rPr lang="zh-CN" altLang="en-US" sz="2000" b="1">
                <a:solidFill>
                  <a:srgbClr val="FFC000"/>
                </a:solidFill>
                <a:cs typeface="+mn-lt"/>
              </a:rPr>
              <a:t>			</a:t>
            </a:r>
            <a:r>
              <a:rPr lang="en-US" altLang="zh-CN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st_space[32];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u32</a:t>
            </a:r>
            <a:r>
              <a:rPr lang="zh-CN" altLang="en-US" sz="2000" b="1">
                <a:solidFill>
                  <a:srgbClr val="FFC000"/>
                </a:solidFill>
                <a:cs typeface="+mn-lt"/>
              </a:rPr>
              <a:t>			</a:t>
            </a:r>
            <a:r>
              <a:rPr lang="en-US" altLang="zh-CN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xmm_space[64];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FFC000"/>
                </a:solidFill>
                <a:cs typeface="+mn-lt"/>
              </a:rPr>
              <a:t>} __attribute__((aligned(16)));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zh-CN" altLang="en-US" sz="2000"/>
              <a:t>线程的用户模式通用寄存器组（它被打断时的上下文）保存在哪？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C000"/>
                </a:solidFill>
                <a:cs typeface="+mn-lt"/>
                <a:sym typeface="+mn-ea"/>
              </a:rPr>
              <a:t>	</a:t>
            </a:r>
            <a:r>
              <a:rPr lang="zh-CN" altLang="en-US" sz="2000"/>
              <a:t>在这里我们只找到了浮点寄存器保存的地方。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C000"/>
                </a:solidFill>
                <a:cs typeface="+mn-lt"/>
                <a:sym typeface="+mn-ea"/>
              </a:rPr>
              <a:t>	</a:t>
            </a:r>
            <a:r>
              <a:rPr lang="zh-CN" altLang="en-US" sz="2000"/>
              <a:t>接下来去找哪？中断向量入口，那里一定有上下文保存和恢复。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上下文切换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线程的上下文</a:t>
            </a:r>
            <a:endParaRPr lang="zh-CN" altLang="en-US" sz="2000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上下文</a:t>
            </a:r>
            <a:r>
              <a:rPr lang="en-US" altLang="zh-CN" sz="2000"/>
              <a:t>		</a:t>
            </a:r>
            <a:r>
              <a:rPr lang="zh-CN" altLang="en-US" sz="2000"/>
              <a:t>线程为什么也要有</a:t>
            </a:r>
            <a:r>
              <a:rPr lang="zh-CN" altLang="en-US" sz="2000">
                <a:solidFill>
                  <a:srgbClr val="9C0B15"/>
                </a:solidFill>
              </a:rPr>
              <a:t>上下文</a:t>
            </a:r>
            <a:r>
              <a:rPr lang="zh-CN" altLang="en-US" sz="2000"/>
              <a:t>？考虑线程上的执行流因为</a:t>
            </a:r>
            <a:r>
              <a:rPr lang="zh-CN" altLang="en-US" sz="2000">
                <a:solidFill>
                  <a:srgbClr val="9C0B15"/>
                </a:solidFill>
              </a:rPr>
              <a:t>主动等待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需要操作系统介入的I/O完成</a:t>
            </a:r>
            <a:r>
              <a:rPr lang="zh-CN" altLang="en-US" sz="2000"/>
              <a:t>或者</a:t>
            </a:r>
            <a:r>
              <a:rPr lang="zh-CN" altLang="en-US" sz="2000">
                <a:solidFill>
                  <a:srgbClr val="9C0B15"/>
                </a:solidFill>
              </a:rPr>
              <a:t>意外地被外设中断打断</a:t>
            </a:r>
            <a:r>
              <a:rPr lang="zh-CN" altLang="en-US" sz="2000">
                <a:sym typeface="+mn-ea"/>
              </a:rPr>
              <a:t>而暂停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运行的</a:t>
            </a:r>
            <a:r>
              <a:rPr lang="zh-CN" altLang="en-US" sz="2000"/>
              <a:t>场合。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内核阻塞</a:t>
            </a:r>
            <a:r>
              <a:rPr lang="en-US" altLang="zh-CN" sz="2000"/>
              <a:t>	</a:t>
            </a:r>
            <a:r>
              <a:rPr lang="zh-CN" altLang="en-US" sz="2000"/>
              <a:t>操作系统并不知道指令流的存在。因此，在遇到线程上的指令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流陷入内核阻塞的时候，内核只能</a:t>
            </a:r>
            <a:r>
              <a:rPr lang="zh-CN" altLang="en-US" sz="2000">
                <a:solidFill>
                  <a:srgbClr val="9C0B15"/>
                </a:solidFill>
              </a:rPr>
              <a:t>暂停执行当前这个线程</a:t>
            </a:r>
            <a:r>
              <a:rPr lang="zh-CN" altLang="en-US" sz="2000"/>
              <a:t>，切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换到别的线程去执行了。更麻烦的是，线程什么时候陷入内核，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依附在线程上的指令流是不知道</a:t>
            </a:r>
            <a:r>
              <a:rPr lang="zh-CN" altLang="en-US" sz="2000"/>
              <a:t>的，也即可能</a:t>
            </a:r>
            <a:r>
              <a:rPr lang="zh-CN" altLang="en-US" sz="2000">
                <a:solidFill>
                  <a:srgbClr val="9C0B15"/>
                </a:solidFill>
              </a:rPr>
              <a:t>发生抢占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一旦一个线程阻塞在内核，对它上面依附的所有指令流来说，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时间就都凝固了。因此，这些指令流都</a:t>
            </a:r>
            <a:r>
              <a:rPr lang="zh-CN" altLang="en-US" sz="2000">
                <a:solidFill>
                  <a:srgbClr val="9C0B15"/>
                </a:solidFill>
              </a:rPr>
              <a:t>停止运行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线程上下文</a:t>
            </a:r>
            <a:r>
              <a:rPr lang="en-US" altLang="zh-CN" sz="2000"/>
              <a:t>	</a:t>
            </a:r>
            <a:r>
              <a:rPr lang="zh-CN" altLang="en-US" sz="2000"/>
              <a:t>和指令流上下文一样，线程的上下文也是其</a:t>
            </a:r>
            <a:r>
              <a:rPr lang="zh-CN" altLang="en-US" sz="2000">
                <a:solidFill>
                  <a:srgbClr val="9C0B15"/>
                </a:solidFill>
              </a:rPr>
              <a:t>寄存器组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线程的状态</a:t>
            </a:r>
            <a:r>
              <a:rPr lang="en-US" altLang="zh-CN" sz="2000"/>
              <a:t>	</a:t>
            </a:r>
            <a:r>
              <a:rPr lang="zh-CN" altLang="en-US" sz="2000"/>
              <a:t>和指令流的状态是类似的，包括</a:t>
            </a:r>
            <a:r>
              <a:rPr lang="zh-CN" altLang="en-US" sz="2000">
                <a:solidFill>
                  <a:srgbClr val="9C0B15"/>
                </a:solidFill>
              </a:rPr>
              <a:t>运行、就绪和阻塞</a:t>
            </a:r>
            <a:r>
              <a:rPr lang="zh-CN" altLang="en-US" sz="2000"/>
              <a:t>三个</a:t>
            </a:r>
            <a:r>
              <a:rPr lang="zh-CN" altLang="en-US" sz="2000"/>
              <a:t>状态。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altLang="en-US" sz="2000"/>
              <a:t>线程的上下文和</a:t>
            </a:r>
            <a:r>
              <a:rPr lang="zh-CN" altLang="en-US" sz="2000"/>
              <a:t>状态放在用户程序里面还是操作系统</a:t>
            </a:r>
            <a:r>
              <a:rPr lang="zh-CN" altLang="en-US" sz="2000"/>
              <a:t>里面？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上下文切换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一个实际的中断上下文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SYM_CODE_START(entry_SYSCALL_64)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 sz="2000"/>
              <a:t>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PUSH_AND_CLEAR_REGS		rax=$-ENOSYS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cs typeface="+mn-lt"/>
              </a:rPr>
              <a:t>	movq				%rsp, %rdi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cs typeface="+mn-lt"/>
              </a:rPr>
              <a:t>	movslq				%eax, %rsi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cs typeface="+mn-lt"/>
              </a:rPr>
              <a:t>	call				</a:t>
            </a:r>
            <a:r>
              <a:rPr lang="zh-CN" altLang="en-US" sz="2000" b="1">
                <a:solidFill>
                  <a:srgbClr val="9C0B15"/>
                </a:solidFill>
              </a:rPr>
              <a:t>do_syscall_64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cs typeface="+mn-lt"/>
              </a:rPr>
              <a:t>	POP_REGS			pop_rdi=0 skip_r11rcx=1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cs typeface="+mn-lt"/>
              </a:rPr>
              <a:t>	movq				%rsp, %rdi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cs typeface="+mn-lt"/>
              </a:rPr>
              <a:t>	SWITCH_TO_USER_CR3_STACK	scratch_reg=%rdi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cs typeface="+mn-lt"/>
              </a:rPr>
              <a:t>	popq				%rdi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cs typeface="+mn-lt"/>
              </a:rPr>
              <a:t>	popq				%rsp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cs typeface="+mn-lt"/>
              </a:rPr>
              <a:t>	sysretq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SYM_CODE_END(entry_SYSCALL_64)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</a:t>
            </a:r>
            <a:r>
              <a:rPr lang="zh-CN" altLang="en-US" sz="2000"/>
              <a:t>看起来通用寄存器仅仅是放在内核栈上，没有拷贝到</a:t>
            </a:r>
            <a:r>
              <a:rPr lang="en-US" altLang="zh-CN" sz="2000"/>
              <a:t>TCB</a:t>
            </a:r>
            <a:r>
              <a:rPr lang="zh-CN" altLang="en-US" sz="2000"/>
              <a:t>里面。那样，一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/>
              <a:t>旦线程切换，内核栈上的数值就更改了，原有线程的上下文怎么办？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上下文切换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线程与内核栈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r>
              <a:rPr lang="zh-CN" altLang="en-US" sz="2000" b="1">
                <a:solidFill>
                  <a:srgbClr val="9C0B15"/>
                </a:solidFill>
              </a:rPr>
              <a:t>解决方案</a:t>
            </a:r>
            <a:r>
              <a:rPr lang="en-US" altLang="zh-CN" sz="2000"/>
              <a:t>	</a:t>
            </a:r>
            <a:r>
              <a:rPr lang="zh-CN" altLang="en-US" sz="2000"/>
              <a:t>只要给每个线程准备一个</a:t>
            </a:r>
            <a:r>
              <a:rPr lang="zh-CN" altLang="en-US" sz="2000">
                <a:solidFill>
                  <a:srgbClr val="9C0B15"/>
                </a:solidFill>
              </a:rPr>
              <a:t>独立的内核栈</a:t>
            </a:r>
            <a:r>
              <a:rPr lang="zh-CN" altLang="en-US" sz="2000"/>
              <a:t>就好了。每个线程的上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下文</a:t>
            </a:r>
            <a:r>
              <a:rPr lang="zh-CN" altLang="en-US" sz="2000">
                <a:solidFill>
                  <a:srgbClr val="9C0B15"/>
                </a:solidFill>
              </a:rPr>
              <a:t>直接保存在内核栈里面</a:t>
            </a:r>
            <a:r>
              <a:rPr lang="zh-CN" altLang="en-US" sz="2000"/>
              <a:t>，</a:t>
            </a:r>
            <a:r>
              <a:rPr lang="zh-CN" altLang="en-US" sz="2000">
                <a:solidFill>
                  <a:srgbClr val="9C0B15"/>
                </a:solidFill>
              </a:rPr>
              <a:t>切换线程时同时切换内核栈</a:t>
            </a:r>
            <a:r>
              <a:rPr lang="zh-CN" altLang="en-US" sz="2000"/>
              <a:t>。</a:t>
            </a:r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r>
              <a:rPr lang="en-US" altLang="zh-CN" sz="2000">
                <a:sym typeface="+mn-ea"/>
              </a:rPr>
              <a:t>		 </a:t>
            </a:r>
            <a:r>
              <a:rPr lang="zh-CN" altLang="en-US" sz="2000">
                <a:solidFill>
                  <a:srgbClr val="9C0B15"/>
                </a:solidFill>
              </a:rPr>
              <a:t>多个线程共用一个内核栈</a:t>
            </a:r>
            <a:r>
              <a:rPr lang="en-US" altLang="zh-CN" sz="2000"/>
              <a:t>	        </a:t>
            </a:r>
            <a:r>
              <a:rPr lang="zh-CN" altLang="en-US" sz="2000">
                <a:solidFill>
                  <a:srgbClr val="9C0B15"/>
                </a:solidFill>
              </a:rPr>
              <a:t>每个线程独立的内核栈</a:t>
            </a:r>
            <a:endParaRPr lang="zh-CN" altLang="en-US" sz="2000"/>
          </a:p>
          <a:p>
            <a:endParaRPr lang="zh-CN" altLang="en-US" sz="2000" b="1">
              <a:solidFill>
                <a:srgbClr val="9C0B15"/>
              </a:solidFill>
            </a:endParaRPr>
          </a:p>
          <a:p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altLang="en-US" sz="2000"/>
              <a:t>前面课上介绍的显然是第一种，所有</a:t>
            </a:r>
            <a:r>
              <a:rPr lang="zh-CN" altLang="en-US" sz="2000">
                <a:solidFill>
                  <a:srgbClr val="9C0B15"/>
                </a:solidFill>
              </a:rPr>
              <a:t>线程共享一个内核栈</a:t>
            </a:r>
            <a:r>
              <a:rPr lang="zh-CN" altLang="en-US" sz="2000"/>
              <a:t>。但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是，这里</a:t>
            </a:r>
            <a:r>
              <a:rPr lang="en-US" altLang="zh-CN" sz="2000"/>
              <a:t>Linux</a:t>
            </a:r>
            <a:r>
              <a:rPr lang="zh-CN" altLang="en-US" sz="2000"/>
              <a:t>却采用了第二种，</a:t>
            </a:r>
            <a:r>
              <a:rPr lang="zh-CN" altLang="en-US" sz="2000">
                <a:solidFill>
                  <a:srgbClr val="9C0B15"/>
                </a:solidFill>
              </a:rPr>
              <a:t>将通用寄存器上下文保存在内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核栈里面</a:t>
            </a:r>
            <a:r>
              <a:rPr lang="zh-CN" altLang="en-US" sz="2000"/>
              <a:t>。这两种各有什么特点呢？为何</a:t>
            </a:r>
            <a:r>
              <a:rPr lang="en-US" altLang="zh-CN" sz="2000"/>
              <a:t>Linux</a:t>
            </a:r>
            <a:r>
              <a:rPr lang="zh-CN" altLang="en-US" sz="2000"/>
              <a:t>要这么做呢？</a:t>
            </a:r>
            <a:endParaRPr lang="zh-CN" altLang="en-US" sz="2000"/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440940" y="1491615"/>
            <a:ext cx="1183640" cy="546735"/>
          </a:xfrm>
          <a:prstGeom prst="rect">
            <a:avLst/>
          </a:prstGeom>
          <a:solidFill>
            <a:srgbClr val="C00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线程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2" name="矩形 1"/>
          <p:cNvSpPr/>
          <p:nvPr>
            <p:custDataLst>
              <p:tags r:id="rId3"/>
            </p:custDataLst>
          </p:nvPr>
        </p:nvSpPr>
        <p:spPr>
          <a:xfrm>
            <a:off x="3862705" y="1491615"/>
            <a:ext cx="1183640" cy="547370"/>
          </a:xfrm>
          <a:prstGeom prst="rect">
            <a:avLst/>
          </a:prstGeom>
          <a:solidFill>
            <a:srgbClr val="C00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线程</a:t>
            </a:r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4" name="矩形 3"/>
          <p:cNvSpPr/>
          <p:nvPr>
            <p:custDataLst>
              <p:tags r:id="rId4"/>
            </p:custDataLst>
          </p:nvPr>
        </p:nvSpPr>
        <p:spPr>
          <a:xfrm>
            <a:off x="2436495" y="4283075"/>
            <a:ext cx="2609850" cy="741045"/>
          </a:xfrm>
          <a:prstGeom prst="rect">
            <a:avLst/>
          </a:prstGeom>
          <a:solidFill>
            <a:srgbClr val="7030A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/>
              <a:t>内核栈</a:t>
            </a:r>
            <a:endParaRPr lang="zh-CN"/>
          </a:p>
        </p:txBody>
      </p:sp>
      <p:sp>
        <p:nvSpPr>
          <p:cNvPr id="5" name="矩形 4"/>
          <p:cNvSpPr/>
          <p:nvPr>
            <p:custDataLst>
              <p:tags r:id="rId5"/>
            </p:custDataLst>
          </p:nvPr>
        </p:nvSpPr>
        <p:spPr>
          <a:xfrm>
            <a:off x="6374130" y="1491615"/>
            <a:ext cx="1183640" cy="547370"/>
          </a:xfrm>
          <a:prstGeom prst="rect">
            <a:avLst/>
          </a:prstGeom>
          <a:solidFill>
            <a:srgbClr val="C00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线程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7795895" y="1491615"/>
            <a:ext cx="1183640" cy="547370"/>
          </a:xfrm>
          <a:prstGeom prst="rect">
            <a:avLst/>
          </a:prstGeom>
          <a:solidFill>
            <a:srgbClr val="C00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线程</a:t>
            </a:r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8" name="矩形 7"/>
          <p:cNvSpPr/>
          <p:nvPr>
            <p:custDataLst>
              <p:tags r:id="rId7"/>
            </p:custDataLst>
          </p:nvPr>
        </p:nvSpPr>
        <p:spPr>
          <a:xfrm>
            <a:off x="6360795" y="3868420"/>
            <a:ext cx="1188085" cy="1155700"/>
          </a:xfrm>
          <a:prstGeom prst="rect">
            <a:avLst/>
          </a:prstGeom>
          <a:solidFill>
            <a:srgbClr val="7030A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zh-CN"/>
              <a:t>内核栈</a:t>
            </a:r>
            <a:endParaRPr lang="zh-CN"/>
          </a:p>
        </p:txBody>
      </p:sp>
      <p:sp>
        <p:nvSpPr>
          <p:cNvPr id="9" name="矩形 8"/>
          <p:cNvSpPr/>
          <p:nvPr>
            <p:custDataLst>
              <p:tags r:id="rId8"/>
            </p:custDataLst>
          </p:nvPr>
        </p:nvSpPr>
        <p:spPr>
          <a:xfrm>
            <a:off x="7787005" y="3868420"/>
            <a:ext cx="1188085" cy="1155065"/>
          </a:xfrm>
          <a:prstGeom prst="rect">
            <a:avLst/>
          </a:prstGeom>
          <a:solidFill>
            <a:srgbClr val="7030A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zh-CN"/>
              <a:t>内核栈</a:t>
            </a:r>
            <a:endParaRPr lang="zh-CN"/>
          </a:p>
        </p:txBody>
      </p:sp>
      <p:sp>
        <p:nvSpPr>
          <p:cNvPr id="15" name="矩形 14"/>
          <p:cNvSpPr/>
          <p:nvPr>
            <p:custDataLst>
              <p:tags r:id="rId9"/>
            </p:custDataLst>
          </p:nvPr>
        </p:nvSpPr>
        <p:spPr>
          <a:xfrm>
            <a:off x="2436495" y="2945130"/>
            <a:ext cx="1183640" cy="1163320"/>
          </a:xfrm>
          <a:prstGeom prst="rect">
            <a:avLst/>
          </a:prstGeom>
          <a:solidFill>
            <a:srgbClr val="00B0F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en-US" altLang="zh-CN"/>
              <a:t>TCB1</a:t>
            </a:r>
            <a:endParaRPr lang="en-US" altLang="zh-CN"/>
          </a:p>
        </p:txBody>
      </p:sp>
      <p:sp>
        <p:nvSpPr>
          <p:cNvPr id="17" name="矩形 16"/>
          <p:cNvSpPr/>
          <p:nvPr>
            <p:custDataLst>
              <p:tags r:id="rId10"/>
            </p:custDataLst>
          </p:nvPr>
        </p:nvSpPr>
        <p:spPr>
          <a:xfrm>
            <a:off x="3862705" y="2945130"/>
            <a:ext cx="1183640" cy="1163320"/>
          </a:xfrm>
          <a:prstGeom prst="rect">
            <a:avLst/>
          </a:prstGeom>
          <a:solidFill>
            <a:srgbClr val="00B0F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en-US" altLang="zh-CN"/>
              <a:t>TCB2</a:t>
            </a:r>
            <a:endParaRPr lang="en-US" altLang="zh-CN"/>
          </a:p>
        </p:txBody>
      </p:sp>
      <p:sp>
        <p:nvSpPr>
          <p:cNvPr id="25" name="矩形 24"/>
          <p:cNvSpPr/>
          <p:nvPr>
            <p:custDataLst>
              <p:tags r:id="rId11"/>
            </p:custDataLst>
          </p:nvPr>
        </p:nvSpPr>
        <p:spPr>
          <a:xfrm>
            <a:off x="6365240" y="2945130"/>
            <a:ext cx="1183640" cy="741045"/>
          </a:xfrm>
          <a:prstGeom prst="rect">
            <a:avLst/>
          </a:prstGeom>
          <a:solidFill>
            <a:srgbClr val="00B0F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TCB1</a:t>
            </a:r>
            <a:endParaRPr lang="en-US" altLang="zh-CN"/>
          </a:p>
        </p:txBody>
      </p:sp>
      <p:sp>
        <p:nvSpPr>
          <p:cNvPr id="26" name="矩形 25"/>
          <p:cNvSpPr/>
          <p:nvPr>
            <p:custDataLst>
              <p:tags r:id="rId12"/>
            </p:custDataLst>
          </p:nvPr>
        </p:nvSpPr>
        <p:spPr>
          <a:xfrm>
            <a:off x="7791450" y="2945130"/>
            <a:ext cx="1183640" cy="741045"/>
          </a:xfrm>
          <a:prstGeom prst="rect">
            <a:avLst/>
          </a:prstGeom>
          <a:solidFill>
            <a:srgbClr val="00B0F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TCB2</a:t>
            </a:r>
            <a:endParaRPr lang="en-US" altLang="zh-CN"/>
          </a:p>
        </p:txBody>
      </p:sp>
      <p:sp>
        <p:nvSpPr>
          <p:cNvPr id="28" name="矩形 27"/>
          <p:cNvSpPr/>
          <p:nvPr>
            <p:custDataLst>
              <p:tags r:id="rId13"/>
            </p:custDataLst>
          </p:nvPr>
        </p:nvSpPr>
        <p:spPr>
          <a:xfrm>
            <a:off x="2561590" y="3338830"/>
            <a:ext cx="934085" cy="60579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zh-CN" altLang="en-US"/>
              <a:t>上下文</a:t>
            </a:r>
            <a:endParaRPr lang="zh-CN" altLang="en-US"/>
          </a:p>
        </p:txBody>
      </p:sp>
      <p:sp>
        <p:nvSpPr>
          <p:cNvPr id="60" name="矩形 59"/>
          <p:cNvSpPr/>
          <p:nvPr>
            <p:custDataLst>
              <p:tags r:id="rId14"/>
            </p:custDataLst>
          </p:nvPr>
        </p:nvSpPr>
        <p:spPr>
          <a:xfrm>
            <a:off x="3982720" y="3338830"/>
            <a:ext cx="934085" cy="60579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zh-CN" altLang="en-US"/>
              <a:t>上下文</a:t>
            </a:r>
            <a:endParaRPr lang="zh-CN" altLang="en-US"/>
          </a:p>
        </p:txBody>
      </p:sp>
      <p:sp>
        <p:nvSpPr>
          <p:cNvPr id="61" name="矩形 60"/>
          <p:cNvSpPr/>
          <p:nvPr>
            <p:custDataLst>
              <p:tags r:id="rId15"/>
            </p:custDataLst>
          </p:nvPr>
        </p:nvSpPr>
        <p:spPr>
          <a:xfrm>
            <a:off x="6516370" y="4283075"/>
            <a:ext cx="934085" cy="60579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zh-CN" altLang="en-US"/>
              <a:t>上下文</a:t>
            </a:r>
            <a:endParaRPr lang="zh-CN" altLang="en-US"/>
          </a:p>
        </p:txBody>
      </p:sp>
      <p:sp>
        <p:nvSpPr>
          <p:cNvPr id="62" name="矩形 61"/>
          <p:cNvSpPr/>
          <p:nvPr>
            <p:custDataLst>
              <p:tags r:id="rId16"/>
            </p:custDataLst>
          </p:nvPr>
        </p:nvSpPr>
        <p:spPr>
          <a:xfrm>
            <a:off x="7937500" y="4283075"/>
            <a:ext cx="934085" cy="60579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zh-CN" altLang="en-US"/>
              <a:t>上下文</a:t>
            </a:r>
            <a:endParaRPr lang="zh-CN" altLang="en-US"/>
          </a:p>
        </p:txBody>
      </p:sp>
      <p:cxnSp>
        <p:nvCxnSpPr>
          <p:cNvPr id="63" name="直接连接符 62"/>
          <p:cNvCxnSpPr/>
          <p:nvPr>
            <p:custDataLst>
              <p:tags r:id="rId17"/>
            </p:custDataLst>
          </p:nvPr>
        </p:nvCxnSpPr>
        <p:spPr>
          <a:xfrm flipV="1">
            <a:off x="2395220" y="2730500"/>
            <a:ext cx="6611620" cy="11430"/>
          </a:xfrm>
          <a:prstGeom prst="line">
            <a:avLst/>
          </a:prstGeom>
          <a:ln w="28575" cmpd="sng">
            <a:solidFill>
              <a:srgbClr val="9C0B1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右箭头标注 63"/>
          <p:cNvSpPr/>
          <p:nvPr/>
        </p:nvSpPr>
        <p:spPr>
          <a:xfrm>
            <a:off x="497205" y="1580515"/>
            <a:ext cx="1070610" cy="914400"/>
          </a:xfrm>
          <a:prstGeom prst="rightArrowCallou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用户空间</a:t>
            </a:r>
            <a:endParaRPr lang="zh-CN" altLang="en-US"/>
          </a:p>
        </p:txBody>
      </p:sp>
      <p:sp>
        <p:nvSpPr>
          <p:cNvPr id="65" name="右箭头标注 64"/>
          <p:cNvSpPr/>
          <p:nvPr>
            <p:custDataLst>
              <p:tags r:id="rId18"/>
            </p:custDataLst>
          </p:nvPr>
        </p:nvSpPr>
        <p:spPr>
          <a:xfrm>
            <a:off x="497205" y="3453130"/>
            <a:ext cx="1070610" cy="914400"/>
          </a:xfrm>
          <a:prstGeom prst="rightArrowCallou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内核空间</a:t>
            </a:r>
            <a:endParaRPr lang="zh-CN" altLang="en-US"/>
          </a:p>
        </p:txBody>
      </p:sp>
      <p:sp>
        <p:nvSpPr>
          <p:cNvPr id="68" name="矩形 67"/>
          <p:cNvSpPr/>
          <p:nvPr>
            <p:custDataLst>
              <p:tags r:id="rId19"/>
            </p:custDataLst>
          </p:nvPr>
        </p:nvSpPr>
        <p:spPr>
          <a:xfrm>
            <a:off x="2436495" y="2228215"/>
            <a:ext cx="1183640" cy="374015"/>
          </a:xfrm>
          <a:prstGeom prst="rect">
            <a:avLst/>
          </a:prstGeom>
          <a:solidFill>
            <a:srgbClr val="C00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用户栈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69" name="矩形 68"/>
          <p:cNvSpPr/>
          <p:nvPr>
            <p:custDataLst>
              <p:tags r:id="rId20"/>
            </p:custDataLst>
          </p:nvPr>
        </p:nvSpPr>
        <p:spPr>
          <a:xfrm>
            <a:off x="3862705" y="2228215"/>
            <a:ext cx="1183640" cy="374015"/>
          </a:xfrm>
          <a:prstGeom prst="rect">
            <a:avLst/>
          </a:prstGeom>
          <a:solidFill>
            <a:srgbClr val="C00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用户栈</a:t>
            </a:r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70" name="矩形 69"/>
          <p:cNvSpPr/>
          <p:nvPr>
            <p:custDataLst>
              <p:tags r:id="rId21"/>
            </p:custDataLst>
          </p:nvPr>
        </p:nvSpPr>
        <p:spPr>
          <a:xfrm>
            <a:off x="6360795" y="2228215"/>
            <a:ext cx="1183640" cy="374015"/>
          </a:xfrm>
          <a:prstGeom prst="rect">
            <a:avLst/>
          </a:prstGeom>
          <a:solidFill>
            <a:srgbClr val="C00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用户栈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71" name="矩形 70"/>
          <p:cNvSpPr/>
          <p:nvPr>
            <p:custDataLst>
              <p:tags r:id="rId22"/>
            </p:custDataLst>
          </p:nvPr>
        </p:nvSpPr>
        <p:spPr>
          <a:xfrm>
            <a:off x="7787005" y="2228215"/>
            <a:ext cx="1183640" cy="374015"/>
          </a:xfrm>
          <a:prstGeom prst="rect">
            <a:avLst/>
          </a:prstGeom>
          <a:solidFill>
            <a:srgbClr val="C00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用户栈</a:t>
            </a:r>
            <a:r>
              <a:rPr lang="en-US" altLang="zh-CN"/>
              <a:t>2</a:t>
            </a:r>
            <a:endParaRPr lang="en-US" altLang="zh-CN"/>
          </a:p>
        </p:txBody>
      </p:sp>
    </p:spTree>
    <p:custDataLst>
      <p:tags r:id="rId23"/>
    </p:custData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上下文切换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线程切换流程</a:t>
            </a:r>
            <a:endParaRPr lang="zh-CN" altLang="en-US" sz="2000"/>
          </a:p>
        </p:txBody>
      </p:sp>
      <p:sp>
        <p:nvSpPr>
          <p:cNvPr id="69" name="流程图: 终止 68"/>
          <p:cNvSpPr/>
          <p:nvPr/>
        </p:nvSpPr>
        <p:spPr>
          <a:xfrm>
            <a:off x="770890" y="805180"/>
            <a:ext cx="3373755" cy="347980"/>
          </a:xfrm>
          <a:prstGeom prst="flowChartTerminator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收到中断</a:t>
            </a:r>
            <a:endParaRPr lang="zh-CN" altLang="en-US"/>
          </a:p>
        </p:txBody>
      </p:sp>
      <p:sp>
        <p:nvSpPr>
          <p:cNvPr id="71" name="流程图: 过程 70"/>
          <p:cNvSpPr/>
          <p:nvPr/>
        </p:nvSpPr>
        <p:spPr>
          <a:xfrm>
            <a:off x="770890" y="1484630"/>
            <a:ext cx="3373755" cy="347980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硬件压栈</a:t>
            </a:r>
            <a:r>
              <a:rPr lang="en-US" altLang="zh-CN"/>
              <a:t>SP/IP/FLAGS</a:t>
            </a:r>
            <a:endParaRPr lang="en-US" altLang="zh-CN"/>
          </a:p>
        </p:txBody>
      </p:sp>
      <p:sp>
        <p:nvSpPr>
          <p:cNvPr id="72" name="流程图: 过程 71"/>
          <p:cNvSpPr/>
          <p:nvPr>
            <p:custDataLst>
              <p:tags r:id="rId2"/>
            </p:custDataLst>
          </p:nvPr>
        </p:nvSpPr>
        <p:spPr>
          <a:xfrm>
            <a:off x="770890" y="2164080"/>
            <a:ext cx="3375660" cy="348615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软件压栈其它寄存器</a:t>
            </a:r>
            <a:endParaRPr lang="zh-CN" altLang="en-US"/>
          </a:p>
        </p:txBody>
      </p:sp>
      <p:sp>
        <p:nvSpPr>
          <p:cNvPr id="73" name="流程图: 过程 72"/>
          <p:cNvSpPr/>
          <p:nvPr>
            <p:custDataLst>
              <p:tags r:id="rId3"/>
            </p:custDataLst>
          </p:nvPr>
        </p:nvSpPr>
        <p:spPr>
          <a:xfrm>
            <a:off x="770255" y="4884420"/>
            <a:ext cx="3375025" cy="348615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软件弹栈其它寄存器</a:t>
            </a:r>
            <a:endParaRPr lang="zh-CN" altLang="en-US"/>
          </a:p>
        </p:txBody>
      </p:sp>
      <p:sp>
        <p:nvSpPr>
          <p:cNvPr id="74" name="流程图: 过程 73"/>
          <p:cNvSpPr/>
          <p:nvPr>
            <p:custDataLst>
              <p:tags r:id="rId4"/>
            </p:custDataLst>
          </p:nvPr>
        </p:nvSpPr>
        <p:spPr>
          <a:xfrm>
            <a:off x="770255" y="5564505"/>
            <a:ext cx="3375660" cy="347980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硬件弹栈</a:t>
            </a:r>
            <a:r>
              <a:rPr lang="en-US" altLang="zh-CN"/>
              <a:t>SP/IP/FLAGS</a:t>
            </a:r>
            <a:endParaRPr lang="en-US" altLang="zh-CN"/>
          </a:p>
        </p:txBody>
      </p:sp>
      <p:sp>
        <p:nvSpPr>
          <p:cNvPr id="75" name="流程图: 终止 74"/>
          <p:cNvSpPr/>
          <p:nvPr>
            <p:custDataLst>
              <p:tags r:id="rId5"/>
            </p:custDataLst>
          </p:nvPr>
        </p:nvSpPr>
        <p:spPr>
          <a:xfrm>
            <a:off x="770255" y="6243955"/>
            <a:ext cx="3376295" cy="347980"/>
          </a:xfrm>
          <a:prstGeom prst="flowChartTerminator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结束</a:t>
            </a:r>
            <a:endParaRPr lang="zh-CN" altLang="en-US"/>
          </a:p>
        </p:txBody>
      </p:sp>
      <p:sp>
        <p:nvSpPr>
          <p:cNvPr id="76" name="流程图: 过程 75"/>
          <p:cNvSpPr/>
          <p:nvPr>
            <p:custDataLst>
              <p:tags r:id="rId6"/>
            </p:custDataLst>
          </p:nvPr>
        </p:nvSpPr>
        <p:spPr>
          <a:xfrm>
            <a:off x="770890" y="2844165"/>
            <a:ext cx="3374390" cy="348615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运行调度器选择新线程</a:t>
            </a:r>
            <a:endParaRPr lang="zh-CN" altLang="en-US"/>
          </a:p>
        </p:txBody>
      </p:sp>
      <p:sp>
        <p:nvSpPr>
          <p:cNvPr id="77" name="流程图: 过程 76"/>
          <p:cNvSpPr/>
          <p:nvPr>
            <p:custDataLst>
              <p:tags r:id="rId7"/>
            </p:custDataLst>
          </p:nvPr>
        </p:nvSpPr>
        <p:spPr>
          <a:xfrm>
            <a:off x="770890" y="3524250"/>
            <a:ext cx="3374390" cy="348615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拷贝压栈寄存器到当前线程</a:t>
            </a:r>
            <a:r>
              <a:rPr lang="en-US" altLang="zh-CN"/>
              <a:t>TCB</a:t>
            </a:r>
            <a:endParaRPr lang="en-US" altLang="zh-CN"/>
          </a:p>
        </p:txBody>
      </p:sp>
      <p:sp>
        <p:nvSpPr>
          <p:cNvPr id="78" name="流程图: 过程 77"/>
          <p:cNvSpPr/>
          <p:nvPr>
            <p:custDataLst>
              <p:tags r:id="rId8"/>
            </p:custDataLst>
          </p:nvPr>
        </p:nvSpPr>
        <p:spPr>
          <a:xfrm>
            <a:off x="770890" y="4204335"/>
            <a:ext cx="3375025" cy="348615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/>
              <a:t>从新线程</a:t>
            </a:r>
            <a:r>
              <a:rPr lang="en-US" altLang="zh-CN"/>
              <a:t>TCB</a:t>
            </a:r>
            <a:r>
              <a:rPr lang="zh-CN"/>
              <a:t>拷贝寄存器到栈上</a:t>
            </a:r>
            <a:endParaRPr lang="zh-CN"/>
          </a:p>
        </p:txBody>
      </p:sp>
      <p:sp>
        <p:nvSpPr>
          <p:cNvPr id="79" name="流程图: 终止 78"/>
          <p:cNvSpPr/>
          <p:nvPr>
            <p:custDataLst>
              <p:tags r:id="rId9"/>
            </p:custDataLst>
          </p:nvPr>
        </p:nvSpPr>
        <p:spPr>
          <a:xfrm>
            <a:off x="5305425" y="805180"/>
            <a:ext cx="3373755" cy="347980"/>
          </a:xfrm>
          <a:prstGeom prst="flowChartTerminator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收到中断</a:t>
            </a:r>
            <a:endParaRPr lang="zh-CN" altLang="en-US"/>
          </a:p>
        </p:txBody>
      </p:sp>
      <p:sp>
        <p:nvSpPr>
          <p:cNvPr id="80" name="流程图: 过程 79"/>
          <p:cNvSpPr/>
          <p:nvPr>
            <p:custDataLst>
              <p:tags r:id="rId10"/>
            </p:custDataLst>
          </p:nvPr>
        </p:nvSpPr>
        <p:spPr>
          <a:xfrm>
            <a:off x="5305425" y="1484630"/>
            <a:ext cx="3373755" cy="347980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硬件压栈</a:t>
            </a:r>
            <a:r>
              <a:rPr lang="en-US" altLang="zh-CN"/>
              <a:t>SP/IP/FLAGS</a:t>
            </a:r>
            <a:endParaRPr lang="en-US" altLang="zh-CN"/>
          </a:p>
        </p:txBody>
      </p:sp>
      <p:sp>
        <p:nvSpPr>
          <p:cNvPr id="81" name="流程图: 过程 80"/>
          <p:cNvSpPr/>
          <p:nvPr>
            <p:custDataLst>
              <p:tags r:id="rId11"/>
            </p:custDataLst>
          </p:nvPr>
        </p:nvSpPr>
        <p:spPr>
          <a:xfrm>
            <a:off x="5305425" y="2164080"/>
            <a:ext cx="3375660" cy="348615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软件压栈其它寄存器</a:t>
            </a:r>
            <a:endParaRPr lang="zh-CN" altLang="en-US"/>
          </a:p>
        </p:txBody>
      </p:sp>
      <p:sp>
        <p:nvSpPr>
          <p:cNvPr id="82" name="流程图: 过程 81"/>
          <p:cNvSpPr/>
          <p:nvPr>
            <p:custDataLst>
              <p:tags r:id="rId12"/>
            </p:custDataLst>
          </p:nvPr>
        </p:nvSpPr>
        <p:spPr>
          <a:xfrm>
            <a:off x="5304790" y="4884420"/>
            <a:ext cx="3375025" cy="348615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软件弹栈其它寄存器</a:t>
            </a:r>
            <a:endParaRPr lang="zh-CN" altLang="en-US"/>
          </a:p>
        </p:txBody>
      </p:sp>
      <p:sp>
        <p:nvSpPr>
          <p:cNvPr id="83" name="流程图: 过程 82"/>
          <p:cNvSpPr/>
          <p:nvPr>
            <p:custDataLst>
              <p:tags r:id="rId13"/>
            </p:custDataLst>
          </p:nvPr>
        </p:nvSpPr>
        <p:spPr>
          <a:xfrm>
            <a:off x="5304790" y="5564505"/>
            <a:ext cx="3375660" cy="347980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硬件弹栈</a:t>
            </a:r>
            <a:r>
              <a:rPr lang="en-US" altLang="zh-CN"/>
              <a:t>SP/IP/FLAGS</a:t>
            </a:r>
            <a:endParaRPr lang="en-US" altLang="zh-CN"/>
          </a:p>
        </p:txBody>
      </p:sp>
      <p:sp>
        <p:nvSpPr>
          <p:cNvPr id="84" name="流程图: 终止 83"/>
          <p:cNvSpPr/>
          <p:nvPr>
            <p:custDataLst>
              <p:tags r:id="rId14"/>
            </p:custDataLst>
          </p:nvPr>
        </p:nvSpPr>
        <p:spPr>
          <a:xfrm>
            <a:off x="5304790" y="6243955"/>
            <a:ext cx="3376295" cy="347980"/>
          </a:xfrm>
          <a:prstGeom prst="flowChartTerminator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结束</a:t>
            </a:r>
            <a:endParaRPr lang="zh-CN" altLang="en-US"/>
          </a:p>
        </p:txBody>
      </p:sp>
      <p:sp>
        <p:nvSpPr>
          <p:cNvPr id="85" name="流程图: 过程 84"/>
          <p:cNvSpPr/>
          <p:nvPr>
            <p:custDataLst>
              <p:tags r:id="rId15"/>
            </p:custDataLst>
          </p:nvPr>
        </p:nvSpPr>
        <p:spPr>
          <a:xfrm>
            <a:off x="5305425" y="2844165"/>
            <a:ext cx="3374390" cy="348615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运行调度器选择新线程</a:t>
            </a:r>
            <a:endParaRPr lang="zh-CN" altLang="en-US"/>
          </a:p>
        </p:txBody>
      </p:sp>
      <p:sp>
        <p:nvSpPr>
          <p:cNvPr id="86" name="流程图: 过程 85"/>
          <p:cNvSpPr/>
          <p:nvPr>
            <p:custDataLst>
              <p:tags r:id="rId16"/>
            </p:custDataLst>
          </p:nvPr>
        </p:nvSpPr>
        <p:spPr>
          <a:xfrm>
            <a:off x="5305425" y="3524250"/>
            <a:ext cx="3374390" cy="348615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/>
              <a:t>将内核上下文保存在当前栈上</a:t>
            </a:r>
            <a:endParaRPr lang="zh-CN"/>
          </a:p>
        </p:txBody>
      </p:sp>
      <p:sp>
        <p:nvSpPr>
          <p:cNvPr id="87" name="流程图: 过程 86"/>
          <p:cNvSpPr/>
          <p:nvPr>
            <p:custDataLst>
              <p:tags r:id="rId17"/>
            </p:custDataLst>
          </p:nvPr>
        </p:nvSpPr>
        <p:spPr>
          <a:xfrm>
            <a:off x="5305425" y="4204335"/>
            <a:ext cx="3375025" cy="348615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/>
              <a:t>从新栈中恢复内核上下文</a:t>
            </a:r>
            <a:endParaRPr lang="zh-CN"/>
          </a:p>
        </p:txBody>
      </p:sp>
      <p:cxnSp>
        <p:nvCxnSpPr>
          <p:cNvPr id="88" name="直接箭头连接符 87"/>
          <p:cNvCxnSpPr>
            <a:stCxn id="69" idx="2"/>
          </p:cNvCxnSpPr>
          <p:nvPr>
            <p:custDataLst>
              <p:tags r:id="rId18"/>
            </p:custDataLst>
          </p:nvPr>
        </p:nvCxnSpPr>
        <p:spPr>
          <a:xfrm flipH="1">
            <a:off x="2449195" y="1153160"/>
            <a:ext cx="8890" cy="335915"/>
          </a:xfrm>
          <a:prstGeom prst="straightConnector1">
            <a:avLst/>
          </a:prstGeom>
          <a:ln w="76200">
            <a:solidFill>
              <a:srgbClr val="D02F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/>
          <p:cNvCxnSpPr/>
          <p:nvPr>
            <p:custDataLst>
              <p:tags r:id="rId19"/>
            </p:custDataLst>
          </p:nvPr>
        </p:nvCxnSpPr>
        <p:spPr>
          <a:xfrm flipH="1">
            <a:off x="2449195" y="1828165"/>
            <a:ext cx="8890" cy="335915"/>
          </a:xfrm>
          <a:prstGeom prst="straightConnector1">
            <a:avLst/>
          </a:prstGeom>
          <a:ln w="76200">
            <a:solidFill>
              <a:srgbClr val="D02F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/>
          <p:cNvCxnSpPr/>
          <p:nvPr>
            <p:custDataLst>
              <p:tags r:id="rId20"/>
            </p:custDataLst>
          </p:nvPr>
        </p:nvCxnSpPr>
        <p:spPr>
          <a:xfrm flipH="1">
            <a:off x="2449195" y="2508250"/>
            <a:ext cx="8890" cy="335915"/>
          </a:xfrm>
          <a:prstGeom prst="straightConnector1">
            <a:avLst/>
          </a:prstGeom>
          <a:ln w="76200">
            <a:solidFill>
              <a:srgbClr val="D02F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/>
          <p:cNvCxnSpPr/>
          <p:nvPr>
            <p:custDataLst>
              <p:tags r:id="rId21"/>
            </p:custDataLst>
          </p:nvPr>
        </p:nvCxnSpPr>
        <p:spPr>
          <a:xfrm flipH="1">
            <a:off x="2440305" y="3192780"/>
            <a:ext cx="8890" cy="335915"/>
          </a:xfrm>
          <a:prstGeom prst="straightConnector1">
            <a:avLst/>
          </a:prstGeom>
          <a:ln w="76200">
            <a:solidFill>
              <a:srgbClr val="D02F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/>
          <p:nvPr>
            <p:custDataLst>
              <p:tags r:id="rId22"/>
            </p:custDataLst>
          </p:nvPr>
        </p:nvCxnSpPr>
        <p:spPr>
          <a:xfrm flipH="1">
            <a:off x="2431415" y="3872865"/>
            <a:ext cx="8890" cy="335915"/>
          </a:xfrm>
          <a:prstGeom prst="straightConnector1">
            <a:avLst/>
          </a:prstGeom>
          <a:ln w="76200">
            <a:solidFill>
              <a:srgbClr val="D02F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/>
          <p:cNvCxnSpPr/>
          <p:nvPr>
            <p:custDataLst>
              <p:tags r:id="rId23"/>
            </p:custDataLst>
          </p:nvPr>
        </p:nvCxnSpPr>
        <p:spPr>
          <a:xfrm flipH="1">
            <a:off x="2431415" y="4552950"/>
            <a:ext cx="8890" cy="335915"/>
          </a:xfrm>
          <a:prstGeom prst="straightConnector1">
            <a:avLst/>
          </a:prstGeom>
          <a:ln w="76200">
            <a:solidFill>
              <a:srgbClr val="D02F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/>
          <p:cNvCxnSpPr/>
          <p:nvPr>
            <p:custDataLst>
              <p:tags r:id="rId24"/>
            </p:custDataLst>
          </p:nvPr>
        </p:nvCxnSpPr>
        <p:spPr>
          <a:xfrm flipH="1">
            <a:off x="2431415" y="5233035"/>
            <a:ext cx="8890" cy="335915"/>
          </a:xfrm>
          <a:prstGeom prst="straightConnector1">
            <a:avLst/>
          </a:prstGeom>
          <a:ln w="76200">
            <a:solidFill>
              <a:srgbClr val="D02F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/>
          <p:cNvCxnSpPr/>
          <p:nvPr>
            <p:custDataLst>
              <p:tags r:id="rId25"/>
            </p:custDataLst>
          </p:nvPr>
        </p:nvCxnSpPr>
        <p:spPr>
          <a:xfrm flipH="1">
            <a:off x="2431415" y="5908040"/>
            <a:ext cx="8890" cy="335915"/>
          </a:xfrm>
          <a:prstGeom prst="straightConnector1">
            <a:avLst/>
          </a:prstGeom>
          <a:ln w="76200">
            <a:solidFill>
              <a:srgbClr val="D02F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/>
          <p:cNvCxnSpPr/>
          <p:nvPr>
            <p:custDataLst>
              <p:tags r:id="rId26"/>
            </p:custDataLst>
          </p:nvPr>
        </p:nvCxnSpPr>
        <p:spPr>
          <a:xfrm flipH="1">
            <a:off x="6988810" y="1153160"/>
            <a:ext cx="8890" cy="335915"/>
          </a:xfrm>
          <a:prstGeom prst="straightConnector1">
            <a:avLst/>
          </a:prstGeom>
          <a:ln w="76200">
            <a:solidFill>
              <a:srgbClr val="D02F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箭头连接符 96"/>
          <p:cNvCxnSpPr/>
          <p:nvPr>
            <p:custDataLst>
              <p:tags r:id="rId27"/>
            </p:custDataLst>
          </p:nvPr>
        </p:nvCxnSpPr>
        <p:spPr>
          <a:xfrm flipH="1">
            <a:off x="6988810" y="1828165"/>
            <a:ext cx="8890" cy="335915"/>
          </a:xfrm>
          <a:prstGeom prst="straightConnector1">
            <a:avLst/>
          </a:prstGeom>
          <a:ln w="76200">
            <a:solidFill>
              <a:srgbClr val="D02F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/>
          <p:cNvCxnSpPr/>
          <p:nvPr>
            <p:custDataLst>
              <p:tags r:id="rId28"/>
            </p:custDataLst>
          </p:nvPr>
        </p:nvCxnSpPr>
        <p:spPr>
          <a:xfrm flipH="1">
            <a:off x="6988810" y="2508250"/>
            <a:ext cx="8890" cy="335915"/>
          </a:xfrm>
          <a:prstGeom prst="straightConnector1">
            <a:avLst/>
          </a:prstGeom>
          <a:ln w="76200">
            <a:solidFill>
              <a:srgbClr val="D02F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/>
          <p:cNvCxnSpPr/>
          <p:nvPr>
            <p:custDataLst>
              <p:tags r:id="rId29"/>
            </p:custDataLst>
          </p:nvPr>
        </p:nvCxnSpPr>
        <p:spPr>
          <a:xfrm flipH="1">
            <a:off x="6979920" y="3192780"/>
            <a:ext cx="8890" cy="335915"/>
          </a:xfrm>
          <a:prstGeom prst="straightConnector1">
            <a:avLst/>
          </a:prstGeom>
          <a:ln w="76200">
            <a:solidFill>
              <a:srgbClr val="D02F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/>
          <p:cNvCxnSpPr/>
          <p:nvPr>
            <p:custDataLst>
              <p:tags r:id="rId30"/>
            </p:custDataLst>
          </p:nvPr>
        </p:nvCxnSpPr>
        <p:spPr>
          <a:xfrm flipH="1">
            <a:off x="6971030" y="3872865"/>
            <a:ext cx="8890" cy="335915"/>
          </a:xfrm>
          <a:prstGeom prst="straightConnector1">
            <a:avLst/>
          </a:prstGeom>
          <a:ln w="76200">
            <a:solidFill>
              <a:srgbClr val="D02F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/>
          <p:cNvCxnSpPr/>
          <p:nvPr>
            <p:custDataLst>
              <p:tags r:id="rId31"/>
            </p:custDataLst>
          </p:nvPr>
        </p:nvCxnSpPr>
        <p:spPr>
          <a:xfrm flipH="1">
            <a:off x="6971030" y="4552950"/>
            <a:ext cx="8890" cy="335915"/>
          </a:xfrm>
          <a:prstGeom prst="straightConnector1">
            <a:avLst/>
          </a:prstGeom>
          <a:ln w="76200">
            <a:solidFill>
              <a:srgbClr val="D02F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/>
          <p:cNvCxnSpPr/>
          <p:nvPr>
            <p:custDataLst>
              <p:tags r:id="rId32"/>
            </p:custDataLst>
          </p:nvPr>
        </p:nvCxnSpPr>
        <p:spPr>
          <a:xfrm flipH="1">
            <a:off x="6971030" y="5233035"/>
            <a:ext cx="8890" cy="335915"/>
          </a:xfrm>
          <a:prstGeom prst="straightConnector1">
            <a:avLst/>
          </a:prstGeom>
          <a:ln w="76200">
            <a:solidFill>
              <a:srgbClr val="D02F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/>
          <p:nvPr>
            <p:custDataLst>
              <p:tags r:id="rId33"/>
            </p:custDataLst>
          </p:nvPr>
        </p:nvCxnSpPr>
        <p:spPr>
          <a:xfrm flipH="1">
            <a:off x="6971030" y="5908040"/>
            <a:ext cx="8890" cy="335915"/>
          </a:xfrm>
          <a:prstGeom prst="straightConnector1">
            <a:avLst/>
          </a:prstGeom>
          <a:ln w="76200">
            <a:solidFill>
              <a:srgbClr val="D02F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矩形 103"/>
          <p:cNvSpPr/>
          <p:nvPr/>
        </p:nvSpPr>
        <p:spPr>
          <a:xfrm>
            <a:off x="379095" y="2675255"/>
            <a:ext cx="8691245" cy="2033270"/>
          </a:xfrm>
          <a:prstGeom prst="rect">
            <a:avLst/>
          </a:prstGeom>
          <a:solidFill>
            <a:schemeClr val="bg1">
              <a:alpha val="0"/>
            </a:schemeClr>
          </a:solidFill>
          <a:ln w="38100" cmpd="sng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rgbClr val="C00000"/>
                </a:solidFill>
              </a:rPr>
              <a:t>线程</a:t>
            </a:r>
            <a:endParaRPr lang="zh-CN" altLang="en-US" sz="2400" b="1">
              <a:solidFill>
                <a:srgbClr val="C00000"/>
              </a:solidFill>
            </a:endParaRPr>
          </a:p>
          <a:p>
            <a:pPr algn="ctr"/>
            <a:r>
              <a:rPr lang="zh-CN" altLang="en-US" sz="2400" b="1">
                <a:solidFill>
                  <a:srgbClr val="C00000"/>
                </a:solidFill>
              </a:rPr>
              <a:t>切换</a:t>
            </a:r>
            <a:endParaRPr lang="zh-CN" altLang="en-US" sz="2400" b="1">
              <a:solidFill>
                <a:srgbClr val="C00000"/>
              </a:solidFill>
            </a:endParaRPr>
          </a:p>
          <a:p>
            <a:pPr algn="ctr"/>
            <a:r>
              <a:rPr lang="zh-CN" altLang="en-US" sz="2400" b="1">
                <a:solidFill>
                  <a:srgbClr val="C00000"/>
                </a:solidFill>
              </a:rPr>
              <a:t>代价</a:t>
            </a:r>
            <a:endParaRPr lang="zh-CN" altLang="en-US" sz="2400" b="1">
              <a:solidFill>
                <a:srgbClr val="C00000"/>
              </a:solidFill>
            </a:endParaRPr>
          </a:p>
        </p:txBody>
      </p:sp>
    </p:spTree>
    <p:custDataLst>
      <p:tags r:id="rId34"/>
    </p:custData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上下文切换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线程切换流程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对比两个流程</a:t>
            </a:r>
            <a:r>
              <a:rPr lang="en-US" altLang="zh-CN" sz="2000"/>
              <a:t>	</a:t>
            </a:r>
            <a:r>
              <a:rPr lang="zh-CN" altLang="en-US" sz="2000"/>
              <a:t>多个线程共用一个内核栈的实现中，多了一个</a:t>
            </a:r>
            <a:r>
              <a:rPr lang="zh-CN" altLang="en-US" sz="2000">
                <a:solidFill>
                  <a:srgbClr val="9C0B15"/>
                </a:solidFill>
              </a:rPr>
              <a:t>栈上寄存器与TCB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的数据交换过程</a:t>
            </a:r>
            <a:r>
              <a:rPr lang="zh-CN" altLang="en-US" sz="2000"/>
              <a:t>，但每个线程独立内核栈的实现中，每个线程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都拥有独立的内核上下文，</a:t>
            </a:r>
            <a:r>
              <a:rPr lang="zh-CN" altLang="en-US" sz="2000">
                <a:solidFill>
                  <a:srgbClr val="9C0B15"/>
                </a:solidFill>
              </a:rPr>
              <a:t>切换线程也需要切换内核上下文和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内核栈</a:t>
            </a:r>
            <a:r>
              <a:rPr lang="zh-CN" altLang="en-US" sz="2000"/>
              <a:t>。因此这里似乎并不能节约出多少性能。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altLang="en-US" sz="2000"/>
              <a:t>两个方法的区别在哪里？</a:t>
            </a:r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提示：宏内核的复杂性；共用一个线程栈，则内核上下文也只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有一个，因此</a:t>
            </a:r>
            <a:r>
              <a:rPr lang="zh-CN" altLang="en-US" sz="2000">
                <a:solidFill>
                  <a:srgbClr val="9C0B15"/>
                </a:solidFill>
              </a:rPr>
              <a:t>内核执行完某一个线程前不能响应其它事务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可抢占内核</a:t>
            </a:r>
            <a:r>
              <a:rPr lang="en-US" altLang="zh-CN" sz="2000"/>
              <a:t>	</a:t>
            </a:r>
            <a:r>
              <a:rPr lang="zh-CN" altLang="en-US" sz="2000"/>
              <a:t>系统调用等操作</a:t>
            </a:r>
            <a:r>
              <a:rPr lang="zh-CN" altLang="en-US" sz="2000">
                <a:solidFill>
                  <a:srgbClr val="9C0B15"/>
                </a:solidFill>
              </a:rPr>
              <a:t>系统事务的执行可以被中途打断</a:t>
            </a:r>
            <a:r>
              <a:rPr lang="zh-CN" altLang="en-US" sz="2000"/>
              <a:t>，转去执行其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它更</a:t>
            </a:r>
            <a:r>
              <a:rPr lang="zh-CN" altLang="en-US" sz="2000">
                <a:solidFill>
                  <a:srgbClr val="9C0B15"/>
                </a:solidFill>
              </a:rPr>
              <a:t>紧急的（系统）事务</a:t>
            </a:r>
            <a:r>
              <a:rPr lang="zh-CN" altLang="en-US" sz="2000"/>
              <a:t>，并在合适的时候恢复系统调用的执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行。这对缩短系统的最坏响应时间大有裨益。它要求</a:t>
            </a:r>
            <a:r>
              <a:rPr lang="zh-CN" sz="2000"/>
              <a:t>在打断系</a:t>
            </a:r>
            <a:r>
              <a:rPr lang="en-US" altLang="zh-CN" sz="2000">
                <a:sym typeface="+mn-ea"/>
              </a:rPr>
              <a:t>		</a:t>
            </a:r>
            <a:r>
              <a:rPr lang="zh-CN" sz="2000"/>
              <a:t>统执行时</a:t>
            </a:r>
            <a:r>
              <a:rPr lang="zh-CN" altLang="en-US" sz="2000">
                <a:solidFill>
                  <a:srgbClr val="9C0B15"/>
                </a:solidFill>
              </a:rPr>
              <a:t>保存内核的上下文</a:t>
            </a:r>
            <a:r>
              <a:rPr lang="zh-CN" sz="2000"/>
              <a:t>，因此</a:t>
            </a:r>
            <a:r>
              <a:rPr lang="zh-CN" altLang="en-US" sz="2000">
                <a:solidFill>
                  <a:srgbClr val="9C0B15"/>
                </a:solidFill>
              </a:rPr>
              <a:t>每个线程都需要一个内核栈</a:t>
            </a:r>
            <a:r>
              <a:rPr lang="zh-CN" sz="2000"/>
              <a:t>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概念辨析</a:t>
            </a:r>
            <a:r>
              <a:rPr lang="en-US" altLang="zh-CN" sz="2000"/>
              <a:t>	</a:t>
            </a:r>
            <a:r>
              <a:rPr lang="zh-CN" altLang="en-US" sz="2000"/>
              <a:t>不要把可抢占内核与抢占式调度搞混了。前者指的是</a:t>
            </a:r>
            <a:r>
              <a:rPr lang="zh-CN" altLang="en-US" sz="2000">
                <a:solidFill>
                  <a:srgbClr val="9C0B15"/>
                </a:solidFill>
              </a:rPr>
              <a:t>内核的执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行可以被打断</a:t>
            </a:r>
            <a:r>
              <a:rPr lang="zh-CN" altLang="en-US" sz="2000"/>
              <a:t>，后者则是指</a:t>
            </a:r>
            <a:r>
              <a:rPr lang="zh-CN" altLang="en-US" sz="2000">
                <a:solidFill>
                  <a:srgbClr val="9C0B15"/>
                </a:solidFill>
              </a:rPr>
              <a:t>应用程序的执行可以被打断</a:t>
            </a:r>
            <a:r>
              <a:rPr lang="zh-CN" altLang="en-US" sz="2000"/>
              <a:t>。一个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支持应用程序抢占式调度的内核，自身完全可以是不可抢占的。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altLang="en-US" sz="2000"/>
              <a:t>为何部分现代微内核反而设计成</a:t>
            </a:r>
            <a:r>
              <a:rPr lang="zh-CN" altLang="en-US" sz="2000">
                <a:solidFill>
                  <a:srgbClr val="9C0B15"/>
                </a:solidFill>
              </a:rPr>
              <a:t>不可抢占</a:t>
            </a:r>
            <a:r>
              <a:rPr lang="zh-CN" altLang="en-US" sz="2000"/>
              <a:t>？这不是一个倒退吗？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上下文切换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线程切换流程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（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Linux 6.3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）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https://elixir.bootlin.com/linux/v6.3-rc3/source/arch/x86/entry/entry_64.S#L237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SYM_FUNC_START(__switch_to_asm)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sz="2000"/>
              <a:t>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pushq	</a:t>
            </a:r>
            <a:r>
              <a:rPr lang="en-US" altLang="zh-CN" sz="2000" b="1">
                <a:solidFill>
                  <a:srgbClr val="00B0F0"/>
                </a:solidFill>
                <a:cs typeface="+mn-lt"/>
              </a:rPr>
              <a:t>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%rbp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cs typeface="+mn-lt"/>
              </a:rPr>
              <a:t>	pushq	</a:t>
            </a:r>
            <a:r>
              <a:rPr lang="en-US" altLang="zh-CN" sz="2000" b="1">
                <a:solidFill>
                  <a:srgbClr val="00B0F0"/>
                </a:solidFill>
                <a:cs typeface="+mn-lt"/>
              </a:rPr>
              <a:t>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%rbx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cs typeface="+mn-lt"/>
              </a:rPr>
              <a:t>	pushq	</a:t>
            </a:r>
            <a:r>
              <a:rPr lang="en-US" altLang="zh-CN" sz="2000" b="1">
                <a:solidFill>
                  <a:srgbClr val="00B0F0"/>
                </a:solidFill>
                <a:cs typeface="+mn-lt"/>
              </a:rPr>
              <a:t>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%r12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cs typeface="+mn-lt"/>
              </a:rPr>
              <a:t>	pushq	</a:t>
            </a:r>
            <a:r>
              <a:rPr lang="en-US" altLang="zh-CN" sz="2000" b="1">
                <a:solidFill>
                  <a:srgbClr val="00B0F0"/>
                </a:solidFill>
                <a:cs typeface="+mn-lt"/>
              </a:rPr>
              <a:t>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%r13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cs typeface="+mn-lt"/>
              </a:rPr>
              <a:t>	pushq	</a:t>
            </a:r>
            <a:r>
              <a:rPr lang="en-US" altLang="zh-CN" sz="2000" b="1">
                <a:solidFill>
                  <a:srgbClr val="00B0F0"/>
                </a:solidFill>
                <a:cs typeface="+mn-lt"/>
              </a:rPr>
              <a:t>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%r14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cs typeface="+mn-lt"/>
              </a:rPr>
              <a:t>	pushq	</a:t>
            </a:r>
            <a:r>
              <a:rPr lang="en-US" altLang="zh-CN" sz="2000" b="1">
                <a:solidFill>
                  <a:srgbClr val="00B0F0"/>
                </a:solidFill>
                <a:cs typeface="+mn-lt"/>
              </a:rPr>
              <a:t>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%r15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cs typeface="+mn-lt"/>
              </a:rPr>
              <a:t>	movq	</a:t>
            </a:r>
            <a:r>
              <a:rPr lang="en-US" altLang="zh-CN" sz="2000" b="1">
                <a:solidFill>
                  <a:srgbClr val="00B0F0"/>
                </a:solidFill>
                <a:cs typeface="+mn-lt"/>
              </a:rPr>
              <a:t>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%rsp, 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TASK_threadsp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(%rdi)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cs typeface="+mn-lt"/>
              </a:rPr>
              <a:t>	movq	</a:t>
            </a:r>
            <a:r>
              <a:rPr lang="en-US" altLang="zh-CN" sz="2000" b="1">
                <a:solidFill>
                  <a:srgbClr val="00B0F0"/>
                </a:solidFill>
                <a:cs typeface="+mn-lt"/>
              </a:rPr>
              <a:t>		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TASK_threadsp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(%rsi), %rsp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cs typeface="+mn-lt"/>
              </a:rPr>
              <a:t>	popq	</a:t>
            </a:r>
            <a:r>
              <a:rPr lang="en-US" altLang="zh-CN" sz="2000" b="1">
                <a:solidFill>
                  <a:srgbClr val="00B0F0"/>
                </a:solidFill>
                <a:cs typeface="+mn-lt"/>
              </a:rPr>
              <a:t>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%r15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cs typeface="+mn-lt"/>
              </a:rPr>
              <a:t>	popq	</a:t>
            </a:r>
            <a:r>
              <a:rPr lang="en-US" altLang="zh-CN" sz="2000" b="1">
                <a:solidFill>
                  <a:srgbClr val="00B0F0"/>
                </a:solidFill>
                <a:cs typeface="+mn-lt"/>
              </a:rPr>
              <a:t>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%r14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cs typeface="+mn-lt"/>
              </a:rPr>
              <a:t>	popq	</a:t>
            </a:r>
            <a:r>
              <a:rPr lang="en-US" altLang="zh-CN" sz="2000" b="1">
                <a:solidFill>
                  <a:srgbClr val="00B0F0"/>
                </a:solidFill>
                <a:cs typeface="+mn-lt"/>
              </a:rPr>
              <a:t>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%r13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cs typeface="+mn-lt"/>
              </a:rPr>
              <a:t>	popq	</a:t>
            </a:r>
            <a:r>
              <a:rPr lang="en-US" altLang="zh-CN" sz="2000" b="1">
                <a:solidFill>
                  <a:srgbClr val="00B0F0"/>
                </a:solidFill>
                <a:cs typeface="+mn-lt"/>
              </a:rPr>
              <a:t>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%r12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cs typeface="+mn-lt"/>
              </a:rPr>
              <a:t>	popq	</a:t>
            </a:r>
            <a:r>
              <a:rPr lang="en-US" altLang="zh-CN" sz="2000" b="1">
                <a:solidFill>
                  <a:srgbClr val="00B0F0"/>
                </a:solidFill>
                <a:cs typeface="+mn-lt"/>
              </a:rPr>
              <a:t>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%rbx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cs typeface="+mn-lt"/>
              </a:rPr>
              <a:t>	popq	</a:t>
            </a:r>
            <a:r>
              <a:rPr lang="en-US" altLang="zh-CN" sz="2000" b="1">
                <a:solidFill>
                  <a:srgbClr val="00B0F0"/>
                </a:solidFill>
                <a:cs typeface="+mn-lt"/>
              </a:rPr>
              <a:t>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%rbp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SYM_FUNC_END(__switch_to_asm)</a:t>
            </a:r>
            <a:endParaRPr lang="zh-CN" altLang="en-US" sz="2000" b="1">
              <a:solidFill>
                <a:srgbClr val="9C0B15"/>
              </a:solidFill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Linux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Linux</a:t>
            </a:r>
            <a:r>
              <a:rPr lang="zh-CN" altLang="en-US" sz="2000" b="1">
                <a:solidFill>
                  <a:srgbClr val="9C0B15"/>
                </a:solidFill>
              </a:rPr>
              <a:t>调度器的历史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单队列调度器</a:t>
            </a:r>
            <a:r>
              <a:rPr lang="en-US" altLang="zh-CN" sz="2000"/>
              <a:t>	</a:t>
            </a:r>
            <a:r>
              <a:rPr lang="zh-CN" altLang="en-US" sz="2000"/>
              <a:t>整个系统只有一个运行队列，每次调度时遍历这个队列找到下</a:t>
            </a:r>
            <a:endParaRPr lang="zh-CN" altLang="en-US" sz="2000"/>
          </a:p>
          <a:p>
            <a:pPr algn="l"/>
            <a:r>
              <a:rPr lang="en-US" altLang="zh-CN" sz="2000"/>
              <a:t>V0.1</a:t>
            </a:r>
            <a:r>
              <a:rPr lang="zh-CN" altLang="en-US" sz="2000"/>
              <a:t>，</a:t>
            </a:r>
            <a:r>
              <a:rPr lang="en-US" altLang="zh-CN" sz="2000"/>
              <a:t>1991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/>
              <a:t>一个要运行的线程。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多队列调度器</a:t>
            </a:r>
            <a:r>
              <a:rPr lang="en-US" altLang="zh-CN" sz="2000"/>
              <a:t>	</a:t>
            </a:r>
            <a:r>
              <a:rPr lang="zh-CN" altLang="en-US" sz="2000"/>
              <a:t>引入了</a:t>
            </a:r>
            <a:r>
              <a:rPr lang="en-US" altLang="zh-CN" sz="2000"/>
              <a:t>SCHED_RR</a:t>
            </a:r>
            <a:r>
              <a:rPr lang="zh-CN" altLang="en-US" sz="2000"/>
              <a:t>和</a:t>
            </a:r>
            <a:r>
              <a:rPr lang="en-US" altLang="zh-CN" sz="2000"/>
              <a:t>SCHED_FIFO</a:t>
            </a:r>
            <a:r>
              <a:rPr lang="zh-CN" altLang="en-US" sz="2000"/>
              <a:t>，将</a:t>
            </a:r>
            <a:r>
              <a:rPr lang="zh-CN" altLang="en-US" sz="2000">
                <a:solidFill>
                  <a:srgbClr val="9C0B15"/>
                </a:solidFill>
              </a:rPr>
              <a:t>实时线程与非实时线程</a:t>
            </a:r>
            <a:r>
              <a:rPr lang="zh-CN" altLang="en-US" sz="2000"/>
              <a:t>区别</a:t>
            </a:r>
            <a:endParaRPr lang="zh-CN" altLang="en-US" sz="2000"/>
          </a:p>
          <a:p>
            <a:pPr algn="l"/>
            <a:r>
              <a:rPr lang="en-US" altLang="zh-CN" sz="2000"/>
              <a:t>V2.2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ym typeface="+mn-ea"/>
              </a:rPr>
              <a:t>1999	</a:t>
            </a:r>
            <a:r>
              <a:rPr lang="zh-CN" altLang="en-US" sz="2000"/>
              <a:t>开来了。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O(n)调度器</a:t>
            </a:r>
            <a:r>
              <a:rPr lang="en-US" altLang="zh-CN" sz="2000"/>
              <a:t>	</a:t>
            </a:r>
            <a:r>
              <a:rPr lang="zh-CN" altLang="en-US" sz="2000"/>
              <a:t>一个简单的</a:t>
            </a:r>
            <a:r>
              <a:rPr lang="zh-CN" altLang="en-US" sz="2000">
                <a:solidFill>
                  <a:srgbClr val="9C0B15"/>
                </a:solidFill>
              </a:rPr>
              <a:t>基于时间片轮转</a:t>
            </a:r>
            <a:r>
              <a:rPr lang="zh-CN" altLang="en-US" sz="2000"/>
              <a:t>的调度器，每次执行一个线程都会</a:t>
            </a:r>
            <a:endParaRPr lang="zh-CN" altLang="en-US" sz="2000"/>
          </a:p>
          <a:p>
            <a:pPr algn="l"/>
            <a:r>
              <a:rPr lang="en-US" altLang="zh-CN" sz="2000"/>
              <a:t>V2.4</a:t>
            </a:r>
            <a:r>
              <a:rPr lang="zh-CN" altLang="en-US" sz="2000"/>
              <a:t>，</a:t>
            </a:r>
            <a:r>
              <a:rPr lang="en-US" altLang="zh-CN" sz="2000"/>
              <a:t>2001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/>
              <a:t>维护其时间片，如果用完就重新填充并遍历队列找下一个线程。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O(1)调度器</a:t>
            </a:r>
            <a:r>
              <a:rPr lang="en-US" altLang="zh-CN" sz="2000"/>
              <a:t>	</a:t>
            </a:r>
            <a:r>
              <a:rPr lang="zh-CN" altLang="en-US" sz="2000"/>
              <a:t>一个多链表位图调度器，</a:t>
            </a:r>
            <a:r>
              <a:rPr lang="zh-CN" altLang="en-US" sz="2000">
                <a:solidFill>
                  <a:srgbClr val="9C0B15"/>
                </a:solidFill>
              </a:rPr>
              <a:t>无需遍历队列</a:t>
            </a:r>
            <a:r>
              <a:rPr lang="zh-CN" altLang="en-US" sz="2000"/>
              <a:t>就能找到下一个要运行</a:t>
            </a:r>
            <a:r>
              <a:rPr lang="en-US" altLang="zh-CN" sz="2000"/>
              <a:t>V2.6.0</a:t>
            </a:r>
            <a:r>
              <a:rPr lang="zh-CN" altLang="en-US" sz="2000"/>
              <a:t>，</a:t>
            </a:r>
            <a:r>
              <a:rPr lang="en-US" altLang="zh-CN" sz="2000"/>
              <a:t>2003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/>
              <a:t>的线程，时间复杂度降低。</a:t>
            </a:r>
            <a:endParaRPr lang="zh-CN" altLang="en-US" sz="2000"/>
          </a:p>
          <a:p>
            <a:pPr algn="l"/>
            <a:endParaRPr lang="en-US" altLang="zh-CN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CFS调度器</a:t>
            </a:r>
            <a:r>
              <a:rPr lang="en-US" altLang="zh-CN" sz="2000"/>
              <a:t>	</a:t>
            </a:r>
            <a:r>
              <a:rPr lang="zh-CN" altLang="en-US" sz="2000"/>
              <a:t>一个更公平的调度器，但数据结构和算法设计稍稍复杂，其时</a:t>
            </a:r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V2.6.23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ym typeface="+mn-ea"/>
              </a:rPr>
              <a:t>2007	</a:t>
            </a:r>
            <a:r>
              <a:rPr lang="zh-CN" altLang="en-US" sz="2000"/>
              <a:t>间复杂度实际上是</a:t>
            </a:r>
            <a:r>
              <a:rPr lang="en-US" altLang="zh-CN" sz="2000">
                <a:solidFill>
                  <a:srgbClr val="9C0B15"/>
                </a:solidFill>
              </a:rPr>
              <a:t>O(logn)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截止期调度器	</a:t>
            </a:r>
            <a:r>
              <a:rPr lang="zh-CN" altLang="en-US" sz="2000"/>
              <a:t>在系统中添加了新的调度器</a:t>
            </a:r>
            <a:r>
              <a:rPr lang="en-US" altLang="zh-CN" sz="2000"/>
              <a:t>SCHED_DEADLINE</a:t>
            </a:r>
            <a:r>
              <a:rPr lang="zh-CN" altLang="en-US" sz="2000"/>
              <a:t>，允许更有效地调</a:t>
            </a:r>
            <a:endParaRPr lang="zh-CN" altLang="en-US" sz="2000"/>
          </a:p>
          <a:p>
            <a:pPr algn="l"/>
            <a:r>
              <a:rPr lang="en-US" altLang="zh-CN" sz="2000"/>
              <a:t>V3.14</a:t>
            </a:r>
            <a:r>
              <a:rPr lang="zh-CN" altLang="en-US" sz="2000"/>
              <a:t>，</a:t>
            </a:r>
            <a:r>
              <a:rPr lang="en-US" altLang="zh-CN" sz="2000"/>
              <a:t>2014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/>
              <a:t>度那些有</a:t>
            </a:r>
            <a:r>
              <a:rPr lang="zh-CN" altLang="en-US" sz="2000">
                <a:solidFill>
                  <a:srgbClr val="9C0B15"/>
                </a:solidFill>
              </a:rPr>
              <a:t>固定截止期限</a:t>
            </a:r>
            <a:r>
              <a:rPr lang="zh-CN" altLang="en-US" sz="2000"/>
              <a:t>的任务。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现在</a:t>
            </a:r>
            <a:r>
              <a:rPr lang="en-US" altLang="zh-CN" sz="2000"/>
              <a:t>		</a:t>
            </a:r>
            <a:r>
              <a:rPr lang="zh-CN" altLang="en-US" sz="2000"/>
              <a:t>能量感知调度、算力感知调度，等等。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Linux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操作系统的线程调度：</a:t>
            </a:r>
            <a:r>
              <a:rPr lang="en-US" altLang="zh-CN" sz="2000" b="1">
                <a:solidFill>
                  <a:srgbClr val="9C0B15"/>
                </a:solidFill>
              </a:rPr>
              <a:t>Linux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调度队列类别</a:t>
            </a:r>
            <a:r>
              <a:rPr lang="en-US" altLang="zh-CN" sz="2000"/>
              <a:t>	Linux</a:t>
            </a:r>
            <a:r>
              <a:rPr lang="zh-CN" altLang="en-US" sz="2000"/>
              <a:t>具备如下几个队列，其队列的优先度从高到低分别为：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其中</a:t>
            </a:r>
            <a:r>
              <a:rPr lang="en-US" altLang="zh-CN" sz="2000"/>
              <a:t>		</a:t>
            </a:r>
            <a:r>
              <a:rPr lang="zh-CN" altLang="en-US" sz="2000" b="1">
                <a:solidFill>
                  <a:srgbClr val="9C0B15"/>
                </a:solidFill>
              </a:rPr>
              <a:t>SCHED_DEADLINE</a:t>
            </a:r>
            <a:r>
              <a:rPr lang="zh-CN" altLang="en-US" sz="2000"/>
              <a:t>使用最早截止时间</a:t>
            </a: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Earliest Deadline First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ym typeface="+mn-ea"/>
              </a:rPr>
              <a:t>EDF</a:t>
            </a:r>
            <a:r>
              <a:rPr lang="zh-CN" altLang="en-US" sz="2000">
                <a:sym typeface="+mn-ea"/>
              </a:rPr>
              <a:t>）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调度</a:t>
            </a:r>
            <a:r>
              <a:rPr lang="zh-CN" altLang="en-US" sz="2000"/>
              <a:t>策略执行那些</a:t>
            </a:r>
            <a:r>
              <a:rPr lang="zh-CN" altLang="en-US" sz="2000">
                <a:solidFill>
                  <a:srgbClr val="9C0B15"/>
                </a:solidFill>
              </a:rPr>
              <a:t>最紧急的任务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 b="1">
                <a:solidFill>
                  <a:srgbClr val="9C0B15"/>
                </a:solidFill>
              </a:rPr>
              <a:t>SCHED_RR</a:t>
            </a:r>
            <a:r>
              <a:rPr lang="zh-CN" altLang="en-US" sz="2000"/>
              <a:t>和</a:t>
            </a:r>
            <a:r>
              <a:rPr lang="zh-CN" altLang="en-US" sz="2000" b="1">
                <a:solidFill>
                  <a:srgbClr val="9C0B15"/>
                </a:solidFill>
              </a:rPr>
              <a:t>SCHED_FIFO</a:t>
            </a:r>
            <a:r>
              <a:rPr lang="zh-CN" altLang="en-US" sz="2000"/>
              <a:t>分别使用固定优先级时间片轮转法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（</a:t>
            </a:r>
            <a:r>
              <a:rPr lang="en-US" altLang="zh-CN" sz="2000"/>
              <a:t>FPRR</a:t>
            </a:r>
            <a:r>
              <a:rPr lang="zh-CN" altLang="en-US" sz="2000"/>
              <a:t>）和先到先服务法（</a:t>
            </a:r>
            <a:r>
              <a:rPr lang="en-US" altLang="zh-CN" sz="2000"/>
              <a:t>FCFS</a:t>
            </a:r>
            <a:r>
              <a:rPr lang="zh-CN" altLang="en-US" sz="2000"/>
              <a:t>）调度那些</a:t>
            </a:r>
            <a:r>
              <a:rPr lang="zh-CN" altLang="en-US" sz="2000">
                <a:solidFill>
                  <a:srgbClr val="9C0B15"/>
                </a:solidFill>
              </a:rPr>
              <a:t>实时任务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 b="1">
                <a:solidFill>
                  <a:srgbClr val="9C0B15"/>
                </a:solidFill>
              </a:rPr>
              <a:t>SCHED_NORMAL</a:t>
            </a:r>
            <a:r>
              <a:rPr lang="zh-CN" altLang="en-US" sz="2000"/>
              <a:t>、</a:t>
            </a:r>
            <a:r>
              <a:rPr lang="zh-CN" altLang="en-US" sz="2000" b="1">
                <a:solidFill>
                  <a:srgbClr val="9C0B15"/>
                </a:solidFill>
              </a:rPr>
              <a:t>SCHED_BATCH</a:t>
            </a:r>
            <a:r>
              <a:rPr lang="zh-CN" altLang="en-US" sz="2000">
                <a:sym typeface="+mn-ea"/>
              </a:rPr>
              <a:t>和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SCHED_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IDLE</a:t>
            </a:r>
            <a:r>
              <a:rPr lang="zh-CN" altLang="en-US" sz="2000"/>
              <a:t>使用</a:t>
            </a:r>
            <a:r>
              <a:rPr lang="zh-CN" altLang="en-US" sz="2000">
                <a:solidFill>
                  <a:srgbClr val="9C0B15"/>
                </a:solidFill>
              </a:rPr>
              <a:t>完全公平调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度</a:t>
            </a:r>
            <a:r>
              <a:rPr lang="zh-CN" altLang="en-US" sz="2000" b="1">
                <a:solidFill>
                  <a:srgbClr val="9C0B15"/>
                </a:solidFill>
              </a:rPr>
              <a:t>（Completely Fair Scheduler，CFS）</a:t>
            </a:r>
            <a:r>
              <a:rPr lang="zh-CN" altLang="en-US" sz="2000"/>
              <a:t>策略调度那些常规任务。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本课程重点讲</a:t>
            </a:r>
            <a:r>
              <a:rPr lang="en-US" altLang="zh-CN" sz="2000"/>
              <a:t>CFS</a:t>
            </a:r>
            <a:r>
              <a:rPr lang="zh-CN" altLang="en-US" sz="2000"/>
              <a:t>。</a:t>
            </a:r>
            <a:r>
              <a:rPr lang="en-US" altLang="zh-CN" sz="2000"/>
              <a:t>EDF</a:t>
            </a:r>
            <a:r>
              <a:rPr lang="zh-CN" altLang="en-US" sz="2000"/>
              <a:t>和</a:t>
            </a:r>
            <a:r>
              <a:rPr lang="en-US" altLang="zh-CN" sz="2000"/>
              <a:t>FPRR</a:t>
            </a:r>
            <a:r>
              <a:rPr lang="zh-CN" altLang="en-US" sz="2000"/>
              <a:t>的实现留到后面实时系统再讲。</a:t>
            </a:r>
            <a:endParaRPr lang="zh-CN" altLang="en-US" sz="2000"/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640840" y="1397000"/>
            <a:ext cx="6504940" cy="401955"/>
          </a:xfrm>
          <a:prstGeom prst="rect">
            <a:avLst/>
          </a:prstGeom>
          <a:solidFill>
            <a:srgbClr val="FF000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b="1">
                <a:sym typeface="+mn-ea"/>
              </a:rPr>
              <a:t>SCHED_DEADLINE</a:t>
            </a:r>
            <a:r>
              <a:rPr lang="zh-CN" altLang="en-US" b="1">
                <a:sym typeface="+mn-ea"/>
              </a:rPr>
              <a:t>：有死时限的任务</a:t>
            </a:r>
            <a:endParaRPr lang="zh-CN" altLang="en-US" b="1"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1645920" y="2176780"/>
            <a:ext cx="6504940" cy="40195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b="1">
                <a:sym typeface="+mn-ea"/>
              </a:rPr>
              <a:t>SCHED_RR/</a:t>
            </a:r>
            <a:r>
              <a:rPr lang="en-US" altLang="zh-CN" b="1">
                <a:sym typeface="+mn-ea"/>
              </a:rPr>
              <a:t>SCHED_FIFO</a:t>
            </a:r>
            <a:r>
              <a:rPr lang="zh-CN" altLang="en-US" b="1">
                <a:sym typeface="+mn-ea"/>
              </a:rPr>
              <a:t>：实时任务</a:t>
            </a:r>
            <a:endParaRPr lang="zh-CN" altLang="en-US" b="1"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1642110" y="2961640"/>
            <a:ext cx="6504940" cy="40195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b="1">
                <a:sym typeface="+mn-ea"/>
              </a:rPr>
              <a:t>SCHED_NORMAL/SCHED_BATCH</a:t>
            </a:r>
            <a:r>
              <a:rPr lang="zh-CN" altLang="en-US" b="1">
                <a:sym typeface="+mn-ea"/>
              </a:rPr>
              <a:t>：常规任务</a:t>
            </a:r>
            <a:endParaRPr lang="zh-CN" altLang="en-US" b="1"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1644650" y="3725545"/>
            <a:ext cx="6504940" cy="40195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b="1">
                <a:sym typeface="+mn-ea"/>
              </a:rPr>
              <a:t>SCHED_IDLE</a:t>
            </a:r>
            <a:r>
              <a:rPr lang="zh-CN" altLang="en-US" b="1">
                <a:sym typeface="+mn-ea"/>
              </a:rPr>
              <a:t>：空闲任务和背景任务</a:t>
            </a:r>
            <a:endParaRPr lang="en-US" altLang="zh-CN" b="1">
              <a:sym typeface="+mn-ea"/>
            </a:endParaRPr>
          </a:p>
        </p:txBody>
      </p:sp>
      <p:sp>
        <p:nvSpPr>
          <p:cNvPr id="8" name="右箭头 7"/>
          <p:cNvSpPr/>
          <p:nvPr>
            <p:custDataLst>
              <p:tags r:id="rId6"/>
            </p:custDataLst>
          </p:nvPr>
        </p:nvSpPr>
        <p:spPr>
          <a:xfrm>
            <a:off x="661670" y="1413510"/>
            <a:ext cx="979170" cy="385445"/>
          </a:xfrm>
          <a:prstGeom prst="rightArrow">
            <a:avLst/>
          </a:prstGeom>
          <a:solidFill>
            <a:srgbClr val="FF000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右箭头 8"/>
          <p:cNvSpPr/>
          <p:nvPr>
            <p:custDataLst>
              <p:tags r:id="rId7"/>
            </p:custDataLst>
          </p:nvPr>
        </p:nvSpPr>
        <p:spPr>
          <a:xfrm>
            <a:off x="8147050" y="1413510"/>
            <a:ext cx="979170" cy="385445"/>
          </a:xfrm>
          <a:prstGeom prst="rightArrow">
            <a:avLst/>
          </a:prstGeom>
          <a:solidFill>
            <a:srgbClr val="FF000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右箭头 14"/>
          <p:cNvSpPr/>
          <p:nvPr>
            <p:custDataLst>
              <p:tags r:id="rId8"/>
            </p:custDataLst>
          </p:nvPr>
        </p:nvSpPr>
        <p:spPr>
          <a:xfrm>
            <a:off x="665480" y="2193290"/>
            <a:ext cx="979170" cy="385445"/>
          </a:xfrm>
          <a:prstGeom prst="rightArrow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右箭头 16"/>
          <p:cNvSpPr/>
          <p:nvPr>
            <p:custDataLst>
              <p:tags r:id="rId9"/>
            </p:custDataLst>
          </p:nvPr>
        </p:nvSpPr>
        <p:spPr>
          <a:xfrm>
            <a:off x="661670" y="2978150"/>
            <a:ext cx="979170" cy="385445"/>
          </a:xfrm>
          <a:prstGeom prst="rightArrow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右箭头 24"/>
          <p:cNvSpPr/>
          <p:nvPr>
            <p:custDataLst>
              <p:tags r:id="rId10"/>
            </p:custDataLst>
          </p:nvPr>
        </p:nvSpPr>
        <p:spPr>
          <a:xfrm>
            <a:off x="666750" y="3742055"/>
            <a:ext cx="979170" cy="385445"/>
          </a:xfrm>
          <a:prstGeom prst="rightArrow">
            <a:avLst/>
          </a:prstGeom>
          <a:solidFill>
            <a:srgbClr val="0070C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右箭头 25"/>
          <p:cNvSpPr/>
          <p:nvPr>
            <p:custDataLst>
              <p:tags r:id="rId11"/>
            </p:custDataLst>
          </p:nvPr>
        </p:nvSpPr>
        <p:spPr>
          <a:xfrm>
            <a:off x="8150860" y="2193290"/>
            <a:ext cx="979170" cy="385445"/>
          </a:xfrm>
          <a:prstGeom prst="rightArrow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右箭头 27"/>
          <p:cNvSpPr/>
          <p:nvPr>
            <p:custDataLst>
              <p:tags r:id="rId12"/>
            </p:custDataLst>
          </p:nvPr>
        </p:nvSpPr>
        <p:spPr>
          <a:xfrm>
            <a:off x="8145780" y="2961640"/>
            <a:ext cx="979170" cy="385445"/>
          </a:xfrm>
          <a:prstGeom prst="rightArrow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右箭头 59"/>
          <p:cNvSpPr/>
          <p:nvPr>
            <p:custDataLst>
              <p:tags r:id="rId13"/>
            </p:custDataLst>
          </p:nvPr>
        </p:nvSpPr>
        <p:spPr>
          <a:xfrm>
            <a:off x="8150860" y="3742055"/>
            <a:ext cx="979170" cy="385445"/>
          </a:xfrm>
          <a:prstGeom prst="rightArrow">
            <a:avLst/>
          </a:prstGeom>
          <a:solidFill>
            <a:srgbClr val="0070C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5" name="直接箭头连接符 64"/>
          <p:cNvCxnSpPr>
            <a:stCxn id="6" idx="2"/>
            <a:endCxn id="4" idx="0"/>
          </p:cNvCxnSpPr>
          <p:nvPr>
            <p:custDataLst>
              <p:tags r:id="rId14"/>
            </p:custDataLst>
          </p:nvPr>
        </p:nvCxnSpPr>
        <p:spPr>
          <a:xfrm>
            <a:off x="4893310" y="1798955"/>
            <a:ext cx="5080" cy="377825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>
            <a:endCxn id="5" idx="0"/>
          </p:cNvCxnSpPr>
          <p:nvPr>
            <p:custDataLst>
              <p:tags r:id="rId15"/>
            </p:custDataLst>
          </p:nvPr>
        </p:nvCxnSpPr>
        <p:spPr>
          <a:xfrm flipH="1">
            <a:off x="4894580" y="2578735"/>
            <a:ext cx="3810" cy="382905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>
            <p:custDataLst>
              <p:tags r:id="rId16"/>
            </p:custDataLst>
          </p:nvPr>
        </p:nvCxnSpPr>
        <p:spPr>
          <a:xfrm flipH="1">
            <a:off x="4889500" y="3363595"/>
            <a:ext cx="3810" cy="382905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7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Linux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CFS</a:t>
            </a:r>
            <a:r>
              <a:rPr lang="zh-CN" altLang="en-US" sz="2000" b="1">
                <a:solidFill>
                  <a:srgbClr val="9C0B15"/>
                </a:solidFill>
              </a:rPr>
              <a:t>调度器的设计思想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/>
          </a:p>
          <a:p>
            <a:pPr algn="ctr"/>
            <a:r>
              <a:rPr lang="zh-CN" altLang="en-US" sz="2000"/>
              <a:t>保证每个线程对</a:t>
            </a:r>
            <a:r>
              <a:rPr lang="en-US" altLang="zh-CN" sz="2000"/>
              <a:t>CPU</a:t>
            </a:r>
            <a:r>
              <a:rPr lang="zh-CN" altLang="en-US" sz="2000"/>
              <a:t>有相同、公平的占有能力。</a:t>
            </a:r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r>
              <a:rPr lang="zh-CN" altLang="en-US" sz="2000"/>
              <a:t>在最大化</a:t>
            </a:r>
            <a:r>
              <a:rPr lang="en-US" altLang="zh-CN" sz="2000"/>
              <a:t>CPU</a:t>
            </a:r>
            <a:r>
              <a:rPr lang="zh-CN" altLang="en-US" sz="2000"/>
              <a:t>利用率的同时，提高交互使用体验。</a:t>
            </a:r>
            <a:endParaRPr lang="zh-CN" altLang="en-US" sz="2000"/>
          </a:p>
        </p:txBody>
      </p:sp>
      <p:grpSp>
        <p:nvGrpSpPr>
          <p:cNvPr id="6" name="组合 5"/>
          <p:cNvGrpSpPr/>
          <p:nvPr/>
        </p:nvGrpSpPr>
        <p:grpSpPr>
          <a:xfrm>
            <a:off x="1259840" y="1394460"/>
            <a:ext cx="7268210" cy="4569460"/>
            <a:chOff x="1984" y="2343"/>
            <a:chExt cx="11446" cy="7196"/>
          </a:xfrm>
        </p:grpSpPr>
        <p:pic>
          <p:nvPicPr>
            <p:cNvPr id="2" name="图片 1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8351" y="9057"/>
              <a:ext cx="1002" cy="335"/>
            </a:xfrm>
            <a:prstGeom prst="rect">
              <a:avLst/>
            </a:prstGeom>
          </p:spPr>
        </p:pic>
        <p:grpSp>
          <p:nvGrpSpPr>
            <p:cNvPr id="4" name="组合 3"/>
            <p:cNvGrpSpPr/>
            <p:nvPr/>
          </p:nvGrpSpPr>
          <p:grpSpPr>
            <a:xfrm>
              <a:off x="1984" y="2343"/>
              <a:ext cx="11447" cy="7196"/>
              <a:chOff x="2307" y="2716"/>
              <a:chExt cx="10800" cy="6450"/>
            </a:xfrm>
          </p:grpSpPr>
          <p:pic>
            <p:nvPicPr>
              <p:cNvPr id="101" name="图片 100"/>
              <p:cNvPicPr/>
              <p:nvPr>
                <p:custDataLst>
                  <p:tags r:id="rId4"/>
                </p:custDataLst>
              </p:nvPr>
            </p:nvPicPr>
            <p:blipFill>
              <a:blip r:embed="rId5"/>
              <a:stretch>
                <a:fillRect/>
              </a:stretch>
            </p:blipFill>
            <p:spPr>
              <a:xfrm>
                <a:off x="2307" y="2716"/>
                <a:ext cx="10800" cy="645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5" name="图片 4"/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3"/>
              <a:stretch>
                <a:fillRect/>
              </a:stretch>
            </p:blipFill>
            <p:spPr>
              <a:xfrm>
                <a:off x="8314" y="8734"/>
                <a:ext cx="945" cy="300"/>
              </a:xfrm>
              <a:prstGeom prst="rect">
                <a:avLst/>
              </a:prstGeom>
            </p:spPr>
          </p:pic>
        </p:grpSp>
      </p:grpSp>
    </p:spTree>
    <p:custDataLst>
      <p:tags r:id="rId7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矩形 103"/>
          <p:cNvSpPr/>
          <p:nvPr>
            <p:custDataLst>
              <p:tags r:id="rId1"/>
            </p:custDataLst>
          </p:nvPr>
        </p:nvSpPr>
        <p:spPr>
          <a:xfrm>
            <a:off x="211455" y="5415915"/>
            <a:ext cx="9317990" cy="1127760"/>
          </a:xfrm>
          <a:prstGeom prst="rect">
            <a:avLst/>
          </a:prstGeom>
          <a:solidFill>
            <a:schemeClr val="bg1">
              <a:alpha val="0"/>
            </a:schemeClr>
          </a:solidFill>
          <a:ln w="38100" cmpd="sng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 b="1">
              <a:solidFill>
                <a:srgbClr val="C00000"/>
              </a:solidFill>
            </a:endParaRPr>
          </a:p>
        </p:txBody>
      </p:sp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2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Linux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CFS</a:t>
            </a:r>
            <a:r>
              <a:rPr lang="zh-CN" altLang="en-US" sz="2000" b="1">
                <a:solidFill>
                  <a:srgbClr val="9C0B15"/>
                </a:solidFill>
              </a:rPr>
              <a:t>调度器的设计思想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虚拟CPU切分</a:t>
            </a:r>
            <a:r>
              <a:rPr lang="en-US" altLang="zh-CN" sz="2000"/>
              <a:t>	</a:t>
            </a:r>
            <a:r>
              <a:rPr lang="zh-CN" altLang="en-US" sz="2000"/>
              <a:t>每个线程都有一个虚拟</a:t>
            </a:r>
            <a:r>
              <a:rPr lang="en-US" altLang="zh-CN" sz="2000"/>
              <a:t>CPU</a:t>
            </a:r>
            <a:r>
              <a:rPr lang="zh-CN" altLang="en-US" sz="2000"/>
              <a:t>，它</a:t>
            </a:r>
            <a:r>
              <a:rPr lang="zh-CN" altLang="en-US" sz="2000">
                <a:solidFill>
                  <a:srgbClr val="9C0B15"/>
                </a:solidFill>
              </a:rPr>
              <a:t>完全占有一个CPU</a:t>
            </a:r>
            <a:r>
              <a:rPr lang="zh-CN" altLang="en-US" sz="2000"/>
              <a:t>。</a:t>
            </a:r>
            <a:r>
              <a:rPr lang="en-US" altLang="zh-CN" sz="2000"/>
              <a:t>CFS</a:t>
            </a:r>
            <a:r>
              <a:rPr lang="zh-CN" altLang="en-US" sz="2000"/>
              <a:t>的核心思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想就是将物理</a:t>
            </a:r>
            <a:r>
              <a:rPr lang="en-US" altLang="zh-CN" sz="2000"/>
              <a:t>CPU</a:t>
            </a:r>
            <a:r>
              <a:rPr lang="zh-CN" altLang="en-US" sz="2000">
                <a:solidFill>
                  <a:srgbClr val="9C0B15"/>
                </a:solidFill>
              </a:rPr>
              <a:t>切割</a:t>
            </a:r>
            <a:r>
              <a:rPr lang="zh-CN" altLang="en-US" sz="2000"/>
              <a:t>为这些虚拟</a:t>
            </a:r>
            <a:r>
              <a:rPr lang="en-US" altLang="zh-CN" sz="2000"/>
              <a:t>CPU</a:t>
            </a:r>
            <a:r>
              <a:rPr lang="zh-CN" altLang="en-US" sz="2000"/>
              <a:t>，并且保证这些虚拟</a:t>
            </a:r>
            <a:r>
              <a:rPr lang="en-US" altLang="zh-CN" sz="2000"/>
              <a:t>CPU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以最精确的粒度</a:t>
            </a:r>
            <a:r>
              <a:rPr lang="zh-CN" altLang="en-US" sz="2000">
                <a:solidFill>
                  <a:srgbClr val="9C0B15"/>
                </a:solidFill>
              </a:rPr>
              <a:t>齐头并进</a:t>
            </a:r>
            <a:r>
              <a:rPr lang="zh-CN" altLang="en-US" sz="2000"/>
              <a:t>，好像一个</a:t>
            </a:r>
            <a:r>
              <a:rPr lang="zh-CN" altLang="en-US" sz="2000">
                <a:solidFill>
                  <a:srgbClr val="9C0B15"/>
                </a:solidFill>
              </a:rPr>
              <a:t>主频为kN的CPU被切分为k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个主频为N的CPU，并且每个CPU分别运行一个线程</a:t>
            </a:r>
            <a:r>
              <a:rPr lang="zh-CN" altLang="en-US" sz="2000"/>
              <a:t>那样。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理想运行时间</a:t>
            </a:r>
            <a:r>
              <a:rPr lang="en-US" altLang="zh-CN" sz="2000"/>
              <a:t>	</a:t>
            </a:r>
            <a:r>
              <a:rPr lang="zh-CN" altLang="en-US" sz="2000"/>
              <a:t>基于虚拟</a:t>
            </a:r>
            <a:r>
              <a:rPr lang="en-US" altLang="zh-CN" sz="2000"/>
              <a:t>CPU</a:t>
            </a:r>
            <a:r>
              <a:rPr lang="zh-CN" altLang="en-US" sz="2000"/>
              <a:t>切分的思想，我们为每个线程准备一个理想运行时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间（</a:t>
            </a:r>
            <a:r>
              <a:rPr lang="en-US" altLang="zh-CN" sz="2000"/>
              <a:t>R</a:t>
            </a:r>
            <a:r>
              <a:rPr lang="en-US" altLang="zh-CN" sz="2000" baseline="-25000"/>
              <a:t>i</a:t>
            </a:r>
            <a:r>
              <a:rPr lang="zh-CN" altLang="en-US" sz="2000"/>
              <a:t>）变量。随着实际时间（</a:t>
            </a:r>
            <a:r>
              <a:rPr lang="en-US" altLang="zh-CN" sz="2000"/>
              <a:t>wall clock time</a:t>
            </a:r>
            <a:r>
              <a:rPr lang="zh-CN" altLang="en-US" sz="2000"/>
              <a:t>）的增长，</a:t>
            </a:r>
            <a:r>
              <a:rPr lang="en-US" sz="2000">
                <a:sym typeface="+mn-ea"/>
              </a:rPr>
              <a:t>R</a:t>
            </a:r>
            <a:r>
              <a:rPr lang="en-US" sz="2000" baseline="-25000">
                <a:sym typeface="+mn-ea"/>
              </a:rPr>
              <a:t>i</a:t>
            </a:r>
            <a:r>
              <a:rPr lang="zh-CN" altLang="en-US" sz="2000"/>
              <a:t>也自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动</a:t>
            </a:r>
            <a:r>
              <a:rPr lang="zh-CN" altLang="en-US" sz="2000">
                <a:solidFill>
                  <a:srgbClr val="9C0B15"/>
                </a:solidFill>
              </a:rPr>
              <a:t>按比例增长</a:t>
            </a:r>
            <a:r>
              <a:rPr lang="zh-CN" altLang="en-US" sz="2000"/>
              <a:t>。假设系统中有</a:t>
            </a:r>
            <a:r>
              <a:rPr lang="en-US" altLang="zh-CN" sz="2000"/>
              <a:t>10</a:t>
            </a:r>
            <a:r>
              <a:rPr lang="zh-CN" altLang="en-US" sz="2000"/>
              <a:t>个任务，且在现实中已经过去</a:t>
            </a:r>
            <a:r>
              <a:rPr lang="en-US" altLang="zh-CN" sz="2000">
                <a:sym typeface="+mn-ea"/>
              </a:rPr>
              <a:t>		</a:t>
            </a:r>
            <a:r>
              <a:rPr lang="en-US" altLang="zh-CN" sz="2000"/>
              <a:t>10</a:t>
            </a:r>
            <a:r>
              <a:rPr lang="zh-CN" altLang="en-US" sz="2000"/>
              <a:t>秒，则每个任务应得的</a:t>
            </a:r>
            <a:r>
              <a:rPr lang="en-US" altLang="zh-CN" sz="2000">
                <a:sym typeface="+mn-ea"/>
              </a:rPr>
              <a:t>R</a:t>
            </a:r>
            <a:r>
              <a:rPr lang="en-US" altLang="zh-CN" sz="2000" baseline="-25000">
                <a:sym typeface="+mn-ea"/>
              </a:rPr>
              <a:t>i</a:t>
            </a:r>
            <a:r>
              <a:rPr lang="zh-CN" altLang="en-US" sz="2000"/>
              <a:t>都各增加</a:t>
            </a:r>
            <a:r>
              <a:rPr lang="en-US" altLang="zh-CN" sz="2000"/>
              <a:t>1</a:t>
            </a:r>
            <a:r>
              <a:rPr lang="zh-CN" altLang="en-US" sz="2000"/>
              <a:t>秒。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虚拟运行时间</a:t>
            </a:r>
            <a:r>
              <a:rPr lang="en-US" altLang="zh-CN" sz="2000"/>
              <a:t>	</a:t>
            </a:r>
            <a:r>
              <a:rPr lang="zh-CN" altLang="en-US" sz="2000"/>
              <a:t>同时，我们为每个线程维护一个</a:t>
            </a:r>
            <a:r>
              <a:rPr lang="zh-CN" altLang="en-US" sz="2000">
                <a:solidFill>
                  <a:srgbClr val="9C0B15"/>
                </a:solidFill>
              </a:rPr>
              <a:t>虚拟运行时间（</a:t>
            </a:r>
            <a:r>
              <a:rPr lang="en-US" altLang="zh-CN" sz="2000">
                <a:solidFill>
                  <a:srgbClr val="9C0B15"/>
                </a:solidFill>
              </a:rPr>
              <a:t>R</a:t>
            </a:r>
            <a:r>
              <a:rPr lang="en-US" altLang="zh-CN" sz="2000" baseline="-25000">
                <a:solidFill>
                  <a:srgbClr val="9C0B15"/>
                </a:solidFill>
              </a:rPr>
              <a:t>v</a:t>
            </a:r>
            <a:r>
              <a:rPr lang="zh-CN" altLang="en-US" sz="2000">
                <a:solidFill>
                  <a:srgbClr val="9C0B15"/>
                </a:solidFill>
              </a:rPr>
              <a:t>）</a:t>
            </a:r>
            <a:r>
              <a:rPr lang="zh-CN" altLang="en-US" sz="2000"/>
              <a:t>变量。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该变量记载线程实际上得到了多少</a:t>
            </a:r>
            <a:r>
              <a:rPr lang="en-US" altLang="zh-CN" sz="2000"/>
              <a:t>CPU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运行时间差值</a:t>
            </a:r>
            <a:r>
              <a:rPr lang="en-US" altLang="zh-CN" sz="2000"/>
              <a:t>	</a:t>
            </a:r>
            <a:r>
              <a:rPr lang="zh-CN" altLang="en-US" sz="2000"/>
              <a:t>定义</a:t>
            </a:r>
            <a:r>
              <a:rPr lang="zh-CN" altLang="en-US" sz="2000">
                <a:solidFill>
                  <a:srgbClr val="9C0B15"/>
                </a:solidFill>
              </a:rPr>
              <a:t>运行时间差值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R</a:t>
            </a:r>
            <a:r>
              <a:rPr lang="zh-CN" altLang="en-US" sz="2000" baseline="-25000">
                <a:solidFill>
                  <a:srgbClr val="9C0B15"/>
                </a:solidFill>
                <a:sym typeface="+mn-ea"/>
              </a:rPr>
              <a:t>d</a:t>
            </a:r>
            <a:r>
              <a:rPr lang="zh-CN" altLang="en-US" sz="2000">
                <a:solidFill>
                  <a:srgbClr val="9C0B15"/>
                </a:solidFill>
              </a:rPr>
              <a:t>=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R</a:t>
            </a:r>
            <a:r>
              <a:rPr lang="zh-CN" altLang="en-US" sz="2000" baseline="-25000">
                <a:solidFill>
                  <a:srgbClr val="9C0B15"/>
                </a:solidFill>
                <a:sym typeface="+mn-ea"/>
              </a:rPr>
              <a:t>i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-R</a:t>
            </a:r>
            <a:r>
              <a:rPr lang="zh-CN" altLang="en-US" sz="2000" baseline="-25000">
                <a:solidFill>
                  <a:srgbClr val="9C0B15"/>
                </a:solidFill>
                <a:sym typeface="+mn-ea"/>
              </a:rPr>
              <a:t>v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调度决定</a:t>
            </a:r>
            <a:r>
              <a:rPr lang="en-US" altLang="zh-CN" sz="2000"/>
              <a:t>	</a:t>
            </a:r>
            <a:r>
              <a:rPr lang="zh-CN" altLang="en-US" sz="2000"/>
              <a:t>基于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R</a:t>
            </a:r>
            <a:r>
              <a:rPr lang="zh-CN" altLang="en-US" sz="2000" baseline="-25000">
                <a:solidFill>
                  <a:srgbClr val="9C0B15"/>
                </a:solidFill>
                <a:sym typeface="+mn-ea"/>
              </a:rPr>
              <a:t>d</a:t>
            </a:r>
            <a:r>
              <a:rPr lang="zh-CN" altLang="en-US" sz="2000">
                <a:sym typeface="+mn-ea"/>
              </a:rPr>
              <a:t>，</a:t>
            </a:r>
            <a:r>
              <a:rPr lang="zh-CN" altLang="en-US" sz="2000"/>
              <a:t>在每次调度时都</a:t>
            </a:r>
            <a:r>
              <a:rPr lang="zh-CN" sz="2000"/>
              <a:t>调度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R</a:t>
            </a:r>
            <a:r>
              <a:rPr lang="zh-CN" altLang="en-US" sz="2000" baseline="-25000">
                <a:solidFill>
                  <a:srgbClr val="9C0B15"/>
                </a:solidFill>
                <a:sym typeface="+mn-ea"/>
              </a:rPr>
              <a:t>d</a:t>
            </a:r>
            <a:r>
              <a:rPr lang="zh-CN" altLang="en-US" sz="2000">
                <a:sym typeface="+mn-ea"/>
              </a:rPr>
              <a:t>最大的那个线程</a:t>
            </a:r>
            <a:r>
              <a:rPr lang="zh-CN" altLang="en-US" sz="2000">
                <a:sym typeface="+mn-ea"/>
              </a:rPr>
              <a:t>并给予它一定的</a:t>
            </a:r>
            <a:r>
              <a:rPr lang="en-US" altLang="zh-CN" sz="2000">
                <a:sym typeface="+mn-ea"/>
              </a:rPr>
              <a:t>		CPU</a:t>
            </a:r>
            <a:r>
              <a:rPr lang="zh-CN" altLang="en-US" sz="2000">
                <a:sym typeface="+mn-ea"/>
              </a:rPr>
              <a:t>运行期</a:t>
            </a:r>
            <a:r>
              <a:rPr lang="zh-CN" altLang="en-US" sz="2000"/>
              <a:t>。这样就保证了当前</a:t>
            </a:r>
            <a:r>
              <a:rPr lang="zh-CN" altLang="en-US" sz="2000">
                <a:solidFill>
                  <a:srgbClr val="9C0B15"/>
                </a:solidFill>
              </a:rPr>
              <a:t>最饥饿的那个线程</a:t>
            </a:r>
            <a:r>
              <a:rPr lang="zh-CN" altLang="en-US" sz="2000"/>
              <a:t>总是被先调度。</a:t>
            </a:r>
            <a:endParaRPr lang="zh-CN" altLang="en-US" sz="2000"/>
          </a:p>
        </p:txBody>
      </p:sp>
    </p:spTree>
    <p:custDataLst>
      <p:tags r:id="rId3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Linux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2000" b="1">
                <a:solidFill>
                  <a:srgbClr val="9C0B15"/>
                </a:solidFill>
              </a:rPr>
              <a:t>算法优化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查找最小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R</a:t>
            </a:r>
            <a:r>
              <a:rPr lang="zh-CN" altLang="en-US" sz="2000" b="1" baseline="-25000">
                <a:solidFill>
                  <a:srgbClr val="9C0B15"/>
                </a:solidFill>
                <a:sym typeface="+mn-ea"/>
              </a:rPr>
              <a:t>v</a:t>
            </a:r>
            <a:r>
              <a:rPr lang="en-US" altLang="zh-CN" sz="2000"/>
              <a:t>	</a:t>
            </a:r>
            <a:r>
              <a:rPr lang="zh-CN" altLang="en-US" sz="2000"/>
              <a:t>如果每个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R</a:t>
            </a:r>
            <a:r>
              <a:rPr lang="en-US" altLang="zh-CN" sz="2000" baseline="-25000">
                <a:solidFill>
                  <a:srgbClr val="9C0B15"/>
                </a:solidFill>
                <a:sym typeface="+mn-ea"/>
              </a:rPr>
              <a:t>i</a:t>
            </a:r>
            <a:r>
              <a:rPr lang="zh-CN" altLang="en-US" sz="2000">
                <a:sym typeface="+mn-ea"/>
              </a:rPr>
              <a:t>都是按比例增长的，那么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找最大的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R</a:t>
            </a:r>
            <a:r>
              <a:rPr lang="zh-CN" altLang="en-US" sz="2000" baseline="-25000">
                <a:solidFill>
                  <a:srgbClr val="9C0B15"/>
                </a:solidFill>
                <a:sym typeface="+mn-ea"/>
              </a:rPr>
              <a:t>d</a:t>
            </a:r>
            <a:r>
              <a:rPr lang="zh-CN" altLang="en-US" sz="2000">
                <a:solidFill>
                  <a:srgbClr val="9C0B15"/>
                </a:solidFill>
              </a:rPr>
              <a:t>就等价于找最小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的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R</a:t>
            </a:r>
            <a:r>
              <a:rPr lang="en-US" altLang="zh-CN" sz="2000" baseline="-25000">
                <a:solidFill>
                  <a:srgbClr val="9C0B15"/>
                </a:solidFill>
                <a:sym typeface="+mn-ea"/>
              </a:rPr>
              <a:t>v</a:t>
            </a:r>
            <a:r>
              <a:rPr lang="zh-CN" altLang="en-US" sz="2000">
                <a:sym typeface="+mn-ea"/>
              </a:rPr>
              <a:t>。因此，我们只要每次调度选择那个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R</a:t>
            </a:r>
            <a:r>
              <a:rPr lang="en-US" altLang="zh-CN" sz="2000" baseline="-25000">
                <a:solidFill>
                  <a:srgbClr val="9C0B15"/>
                </a:solidFill>
                <a:sym typeface="+mn-ea"/>
              </a:rPr>
              <a:t>v</a:t>
            </a:r>
            <a:r>
              <a:rPr lang="zh-CN" altLang="en-US" sz="2000">
                <a:sym typeface="+mn-ea"/>
              </a:rPr>
              <a:t>最小的线程，它肯定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是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R</a:t>
            </a:r>
            <a:r>
              <a:rPr lang="zh-CN" altLang="en-US" sz="2000" baseline="-25000">
                <a:solidFill>
                  <a:srgbClr val="9C0B15"/>
                </a:solidFill>
                <a:sym typeface="+mn-ea"/>
              </a:rPr>
              <a:t>d</a:t>
            </a:r>
            <a:r>
              <a:rPr lang="zh-CN" altLang="en-US" sz="2000">
                <a:sym typeface="+mn-ea"/>
              </a:rPr>
              <a:t>最大的最饥饿线程，这样可以省去一次减法计算。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R</a:t>
            </a:r>
            <a:r>
              <a:rPr lang="en-US" altLang="zh-CN" sz="2000" b="1" baseline="-25000">
                <a:solidFill>
                  <a:srgbClr val="9C0B15"/>
                </a:solidFill>
              </a:rPr>
              <a:t>v</a:t>
            </a:r>
            <a:r>
              <a:rPr lang="zh-CN" altLang="en-US" sz="2000" b="1">
                <a:solidFill>
                  <a:srgbClr val="9C0B15"/>
                </a:solidFill>
              </a:rPr>
              <a:t>的数据结构</a:t>
            </a:r>
            <a:r>
              <a:rPr lang="en-US" altLang="zh-CN" sz="2000"/>
              <a:t>	</a:t>
            </a:r>
            <a:r>
              <a:rPr lang="zh-CN" altLang="en-US" sz="2000"/>
              <a:t>做调度决定时，我们需要</a:t>
            </a:r>
            <a:r>
              <a:rPr lang="zh-CN" sz="2000"/>
              <a:t>查询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R</a:t>
            </a:r>
            <a:r>
              <a:rPr lang="en-US" altLang="zh-CN" sz="2000" baseline="-25000">
                <a:solidFill>
                  <a:srgbClr val="9C0B15"/>
                </a:solidFill>
                <a:sym typeface="+mn-ea"/>
              </a:rPr>
              <a:t>v</a:t>
            </a:r>
            <a:r>
              <a:rPr lang="zh-CN" sz="2000">
                <a:sym typeface="+mn-ea"/>
              </a:rPr>
              <a:t>最小的那个线程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线程就绪、阻塞或</a:t>
            </a:r>
            <a:r>
              <a:rPr lang="zh-CN" altLang="en-US" sz="2000">
                <a:solidFill>
                  <a:srgbClr val="9C0B15"/>
                </a:solidFill>
              </a:rPr>
              <a:t>更新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R</a:t>
            </a:r>
            <a:r>
              <a:rPr lang="en-US" altLang="zh-CN" sz="2000" baseline="-25000">
                <a:solidFill>
                  <a:srgbClr val="9C0B15"/>
                </a:solidFill>
                <a:sym typeface="+mn-ea"/>
              </a:rPr>
              <a:t>v</a:t>
            </a:r>
            <a:r>
              <a:rPr lang="zh-CN" altLang="en-US" sz="2000"/>
              <a:t>时，我们需要在添加或除去线程。</a:t>
            </a:r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</a:t>
            </a:r>
            <a:r>
              <a:rPr lang="zh-CN" altLang="en-US" sz="2000"/>
              <a:t>使用什么数据结构来组织</a:t>
            </a:r>
            <a:r>
              <a:rPr lang="en-US" altLang="zh-CN" sz="2000">
                <a:solidFill>
                  <a:srgbClr val="9C0B15"/>
                </a:solidFill>
              </a:rPr>
              <a:t>R</a:t>
            </a:r>
            <a:r>
              <a:rPr lang="en-US" altLang="zh-CN" sz="2000" baseline="-25000">
                <a:solidFill>
                  <a:srgbClr val="9C0B15"/>
                </a:solidFill>
              </a:rPr>
              <a:t>v</a:t>
            </a:r>
            <a:r>
              <a:rPr lang="zh-CN" altLang="en-US" sz="2000"/>
              <a:t>以及线程的</a:t>
            </a:r>
            <a:r>
              <a:rPr lang="en-US" altLang="zh-CN" sz="2000"/>
              <a:t>TCB</a:t>
            </a:r>
            <a:r>
              <a:rPr lang="zh-CN" altLang="en-US" sz="2000"/>
              <a:t>？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备选项</a:t>
            </a:r>
            <a:r>
              <a:rPr lang="en-US" altLang="zh-CN" sz="2000"/>
              <a:t>		</a:t>
            </a:r>
            <a:r>
              <a:rPr lang="zh-CN" altLang="en-US" sz="2000" b="1">
                <a:solidFill>
                  <a:srgbClr val="9C0B15"/>
                </a:solidFill>
              </a:rPr>
              <a:t>未排序线性表</a:t>
            </a:r>
            <a:r>
              <a:rPr lang="en-US" altLang="zh-CN" sz="2000"/>
              <a:t>	</a:t>
            </a:r>
            <a:r>
              <a:rPr lang="zh-CN" altLang="en-US" sz="2000"/>
              <a:t>插入和删除是</a:t>
            </a:r>
            <a:r>
              <a:rPr lang="en-US" altLang="zh-CN" sz="2000"/>
              <a:t>O(1)</a:t>
            </a:r>
            <a:r>
              <a:rPr lang="zh-CN" altLang="en-US" sz="2000"/>
              <a:t>，但是查找就是</a:t>
            </a:r>
            <a:r>
              <a:rPr lang="en-US" altLang="zh-CN" sz="2000"/>
              <a:t>O(n)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 b="1">
                <a:solidFill>
                  <a:srgbClr val="9C0B15"/>
                </a:solidFill>
              </a:rPr>
              <a:t>预排序线性表</a:t>
            </a:r>
            <a:r>
              <a:rPr lang="en-US" altLang="zh-CN" sz="2000"/>
              <a:t>	</a:t>
            </a:r>
            <a:r>
              <a:rPr lang="zh-CN" altLang="en-US" sz="2000"/>
              <a:t>插入和删除是</a:t>
            </a:r>
            <a:r>
              <a:rPr lang="en-US" altLang="zh-CN" sz="2000"/>
              <a:t>O(logn)</a:t>
            </a:r>
            <a:r>
              <a:rPr lang="zh-CN" altLang="en-US" sz="2000"/>
              <a:t>，查找是</a:t>
            </a:r>
            <a:r>
              <a:rPr lang="en-US" altLang="zh-CN" sz="2000"/>
              <a:t>O(1)</a:t>
            </a:r>
            <a:r>
              <a:rPr lang="zh-CN" altLang="en-US" sz="2000"/>
              <a:t>，但是要求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（数组堆）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/>
              <a:t>连续的存储空间。线程是动态创建的，</a:t>
            </a:r>
            <a:r>
              <a:rPr lang="zh-CN" altLang="en-US" sz="2000">
                <a:solidFill>
                  <a:srgbClr val="9C0B15"/>
                </a:solidFill>
              </a:rPr>
              <a:t>我们不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		</a:t>
            </a:r>
            <a:r>
              <a:rPr lang="zh-CN" altLang="en-US" sz="2000">
                <a:solidFill>
                  <a:srgbClr val="9C0B15"/>
                </a:solidFill>
              </a:rPr>
              <a:t>知道该预留多少空间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常规二叉</a:t>
            </a:r>
            <a:r>
              <a:rPr lang="zh-CN" altLang="en-US" sz="2000" b="1">
                <a:solidFill>
                  <a:srgbClr val="9C0B15"/>
                </a:solidFill>
              </a:rPr>
              <a:t>树</a:t>
            </a:r>
            <a:r>
              <a:rPr lang="en-US" altLang="zh-CN" sz="2000"/>
              <a:t>	</a:t>
            </a:r>
            <a:r>
              <a:rPr lang="zh-CN" altLang="en-US" sz="2000"/>
              <a:t>插入和删除的</a:t>
            </a:r>
            <a:r>
              <a:rPr lang="zh-CN" altLang="en-US" sz="2000">
                <a:solidFill>
                  <a:srgbClr val="9C0B15"/>
                </a:solidFill>
              </a:rPr>
              <a:t>平均都是O(logn)</a:t>
            </a:r>
            <a:r>
              <a:rPr lang="zh-CN" altLang="en-US" sz="2000">
                <a:sym typeface="+mn-ea"/>
              </a:rPr>
              <a:t>，查找最小是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		</a:t>
            </a:r>
            <a:r>
              <a:rPr lang="en-US" altLang="zh-CN" sz="2000">
                <a:sym typeface="+mn-ea"/>
              </a:rPr>
              <a:t>O(1)</a:t>
            </a:r>
            <a:r>
              <a:rPr lang="zh-CN" altLang="en-US" sz="2000"/>
              <a:t>。但</a:t>
            </a:r>
            <a:r>
              <a:rPr lang="zh-CN" altLang="en-US" sz="2000">
                <a:solidFill>
                  <a:srgbClr val="9C0B15"/>
                </a:solidFill>
              </a:rPr>
              <a:t>最坏情况</a:t>
            </a:r>
            <a:r>
              <a:rPr lang="zh-CN" altLang="en-US" sz="2000"/>
              <a:t>呢？为什么要关注最坏情况？</a:t>
            </a:r>
            <a:endParaRPr lang="zh-CN" altLang="en-US" sz="2000"/>
          </a:p>
          <a:p>
            <a:pPr algn="l"/>
            <a:endParaRPr lang="en-US" altLang="zh-CN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 b="1">
                <a:solidFill>
                  <a:srgbClr val="9C0B15"/>
                </a:solidFill>
              </a:rPr>
              <a:t>平衡二叉树</a:t>
            </a:r>
            <a:r>
              <a:rPr lang="en-US" altLang="zh-CN" sz="2000"/>
              <a:t>	</a:t>
            </a:r>
            <a:r>
              <a:rPr lang="zh-CN" altLang="en-US" sz="2000"/>
              <a:t>保证增删最坏都是</a:t>
            </a:r>
            <a:r>
              <a:rPr lang="en-US" altLang="zh-CN" sz="2000">
                <a:sym typeface="+mn-ea"/>
              </a:rPr>
              <a:t>O(logn)</a:t>
            </a:r>
            <a:r>
              <a:rPr lang="zh-CN" altLang="en-US" sz="2000">
                <a:sym typeface="+mn-ea"/>
              </a:rPr>
              <a:t>。具体地，</a:t>
            </a:r>
            <a:r>
              <a:rPr lang="en-US" altLang="zh-CN" sz="2000">
                <a:sym typeface="+mn-ea"/>
              </a:rPr>
              <a:t>CFS</a:t>
            </a:r>
            <a:r>
              <a:rPr lang="zh-CN" altLang="en-US" sz="2000">
                <a:sym typeface="+mn-ea"/>
              </a:rPr>
              <a:t>使用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红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				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黑树（RB-Tree）</a:t>
            </a:r>
            <a:r>
              <a:rPr lang="zh-CN" altLang="en-US" sz="2000">
                <a:sym typeface="+mn-ea"/>
              </a:rPr>
              <a:t>来存储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R</a:t>
            </a:r>
            <a:r>
              <a:rPr lang="en-US" altLang="zh-CN" sz="2000" baseline="-25000">
                <a:solidFill>
                  <a:srgbClr val="9C0B15"/>
                </a:solidFill>
                <a:sym typeface="+mn-ea"/>
              </a:rPr>
              <a:t>v</a:t>
            </a:r>
            <a:r>
              <a:rPr lang="zh-CN" altLang="en-US" sz="2000">
                <a:sym typeface="+mn-ea"/>
              </a:rPr>
              <a:t>。为什么是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红黑树</a:t>
            </a:r>
            <a:r>
              <a:rPr lang="zh-CN" altLang="en-US" sz="2000">
                <a:sym typeface="+mn-ea"/>
              </a:rPr>
              <a:t>？</a:t>
            </a:r>
            <a:endParaRPr lang="en-US" altLang="zh-CN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Linux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红黑树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设计目标</a:t>
            </a:r>
            <a:r>
              <a:rPr lang="en-US" altLang="zh-CN" sz="2000"/>
              <a:t>	</a:t>
            </a:r>
            <a:r>
              <a:rPr lang="zh-CN" sz="2000"/>
              <a:t>一种自平衡二叉查找树</a:t>
            </a:r>
            <a:r>
              <a:rPr lang="zh-CN" altLang="en-US" sz="2000">
                <a:sym typeface="+mn-ea"/>
              </a:rPr>
              <a:t>。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不需要是严格意义上的平衡树</a:t>
            </a:r>
            <a:r>
              <a:rPr lang="zh-CN" altLang="en-US" sz="2000">
                <a:sym typeface="+mn-ea"/>
              </a:rPr>
              <a:t>，但增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删的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最坏情况必须不恶化到O(n)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sz="2000"/>
          </a:p>
          <a:p>
            <a:pPr algn="l">
              <a:buClrTx/>
              <a:buSzTx/>
              <a:buFontTx/>
            </a:pPr>
            <a:r>
              <a:rPr lang="zh-CN" sz="2000">
                <a:sym typeface="+mn-ea"/>
              </a:rPr>
              <a:t>	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 b="1">
                <a:solidFill>
                  <a:srgbClr val="9C0B15"/>
                </a:solidFill>
              </a:rPr>
              <a:t>规则1</a:t>
            </a:r>
            <a:r>
              <a:rPr lang="zh-CN" sz="2000"/>
              <a:t>		所有的</a:t>
            </a:r>
            <a:r>
              <a:rPr lang="zh-CN" sz="2000">
                <a:sym typeface="+mn-ea"/>
              </a:rPr>
              <a:t>结</a:t>
            </a:r>
            <a:r>
              <a:rPr lang="zh-CN" sz="2000"/>
              <a:t>点颜色都是黑色或红色。</a:t>
            </a:r>
            <a:endParaRPr lang="zh-CN" sz="2000"/>
          </a:p>
          <a:p>
            <a:pPr algn="l">
              <a:buClrTx/>
              <a:buSzTx/>
              <a:buFontTx/>
            </a:pPr>
            <a:r>
              <a:rPr lang="zh-CN" sz="2000">
                <a:sym typeface="+mn-ea"/>
              </a:rPr>
              <a:t>	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规则</a:t>
            </a:r>
            <a:r>
              <a:rPr lang="zh-CN" altLang="en-US" sz="2000" b="1">
                <a:solidFill>
                  <a:srgbClr val="9C0B15"/>
                </a:solidFill>
              </a:rPr>
              <a:t>2</a:t>
            </a:r>
            <a:r>
              <a:rPr lang="zh-CN" sz="2000"/>
              <a:t>		根</a:t>
            </a:r>
            <a:r>
              <a:rPr lang="zh-CN" sz="2000">
                <a:sym typeface="+mn-ea"/>
              </a:rPr>
              <a:t>结</a:t>
            </a:r>
            <a:r>
              <a:rPr lang="zh-CN" sz="2000"/>
              <a:t>点和</a:t>
            </a:r>
            <a:r>
              <a:rPr lang="zh-CN" sz="2000">
                <a:sym typeface="+mn-ea"/>
              </a:rPr>
              <a:t>所有的叶子</a:t>
            </a:r>
            <a:r>
              <a:rPr lang="zh-CN" sz="2000">
                <a:sym typeface="+mn-ea"/>
              </a:rPr>
              <a:t>结</a:t>
            </a:r>
            <a:r>
              <a:rPr lang="zh-CN" sz="2000">
                <a:sym typeface="+mn-ea"/>
              </a:rPr>
              <a:t>点都</a:t>
            </a:r>
            <a:r>
              <a:rPr lang="zh-CN" sz="2000"/>
              <a:t>是黑色。</a:t>
            </a:r>
            <a:endParaRPr lang="zh-CN" sz="2000"/>
          </a:p>
          <a:p>
            <a:pPr algn="l">
              <a:buClrTx/>
              <a:buSzTx/>
              <a:buFontTx/>
            </a:pPr>
            <a:r>
              <a:rPr lang="zh-CN" sz="2000">
                <a:sym typeface="+mn-ea"/>
              </a:rPr>
              <a:t>	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规则</a:t>
            </a:r>
            <a:r>
              <a:rPr lang="zh-CN" altLang="en-US" sz="2000" b="1">
                <a:solidFill>
                  <a:srgbClr val="9C0B15"/>
                </a:solidFill>
              </a:rPr>
              <a:t>3</a:t>
            </a:r>
            <a:r>
              <a:rPr lang="zh-CN" sz="2000"/>
              <a:t>		每个红色结点的两个子结点一定都是黑色。</a:t>
            </a:r>
            <a:endParaRPr lang="zh-CN" sz="2000"/>
          </a:p>
          <a:p>
            <a:pPr algn="l">
              <a:buClrTx/>
              <a:buSzTx/>
              <a:buFontTx/>
            </a:pPr>
            <a:r>
              <a:rPr lang="zh-CN" sz="2000">
                <a:sym typeface="+mn-ea"/>
              </a:rPr>
              <a:t>	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规则</a:t>
            </a:r>
            <a:r>
              <a:rPr lang="zh-CN" altLang="en-US" sz="2000" b="1">
                <a:solidFill>
                  <a:srgbClr val="9C0B15"/>
                </a:solidFill>
              </a:rPr>
              <a:t>4</a:t>
            </a:r>
            <a:r>
              <a:rPr lang="zh-CN" sz="2000"/>
              <a:t>		任意结点到其叶子结点的路径都包含同样数目</a:t>
            </a:r>
            <a:r>
              <a:rPr lang="zh-CN" sz="2000">
                <a:sym typeface="+mn-ea"/>
              </a:rPr>
              <a:t>				的</a:t>
            </a:r>
            <a:r>
              <a:rPr lang="zh-CN" sz="2000"/>
              <a:t>黑结点。</a:t>
            </a:r>
            <a:endParaRPr lang="zh-CN" sz="2000"/>
          </a:p>
          <a:p>
            <a:pPr algn="l">
              <a:buClrTx/>
              <a:buSzTx/>
              <a:buFontTx/>
            </a:pPr>
            <a:endParaRPr lang="zh-CN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性质</a:t>
            </a:r>
            <a:r>
              <a:rPr lang="en-US" altLang="zh-CN" sz="2000"/>
              <a:t>		</a:t>
            </a:r>
            <a:r>
              <a:rPr lang="zh-CN" altLang="en-US" sz="2000"/>
              <a:t>从根</a:t>
            </a:r>
            <a:r>
              <a:rPr lang="zh-CN" altLang="en-US" sz="2000">
                <a:sym typeface="+mn-ea"/>
              </a:rPr>
              <a:t>结</a:t>
            </a:r>
            <a:r>
              <a:rPr lang="zh-CN" altLang="en-US" sz="2000"/>
              <a:t>点出发到任何叶子结点的路上的长度</a:t>
            </a:r>
            <a:r>
              <a:rPr lang="zh-CN" altLang="en-US" sz="2000">
                <a:solidFill>
                  <a:srgbClr val="9C0B15"/>
                </a:solidFill>
              </a:rPr>
              <a:t>最多不超过2倍</a:t>
            </a:r>
            <a:r>
              <a:rPr lang="zh-CN" altLang="en-US" sz="2000"/>
              <a:t>。最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短的情况，路径上</a:t>
            </a:r>
            <a:r>
              <a:rPr lang="zh-CN" altLang="en-US" sz="2000">
                <a:solidFill>
                  <a:srgbClr val="9C0B15"/>
                </a:solidFill>
              </a:rPr>
              <a:t>均是黑色结点</a:t>
            </a:r>
            <a:r>
              <a:rPr lang="zh-CN" altLang="en-US" sz="2000"/>
              <a:t>；最长的情况，</a:t>
            </a:r>
            <a:r>
              <a:rPr lang="zh-CN" altLang="en-US" sz="2000">
                <a:solidFill>
                  <a:srgbClr val="9C0B15"/>
                </a:solidFill>
              </a:rPr>
              <a:t>均是黑红交替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这样就同时保证了调度器的</a:t>
            </a:r>
            <a:r>
              <a:rPr lang="zh-CN" altLang="en-US" sz="2000">
                <a:solidFill>
                  <a:srgbClr val="9C0B15"/>
                </a:solidFill>
              </a:rPr>
              <a:t>平均性能和最坏性能</a:t>
            </a:r>
            <a:r>
              <a:rPr lang="zh-CN" altLang="en-US" sz="2000"/>
              <a:t>。</a:t>
            </a:r>
            <a:endParaRPr lang="zh-CN" altLang="en-US" sz="2000"/>
          </a:p>
        </p:txBody>
      </p:sp>
      <p:sp>
        <p:nvSpPr>
          <p:cNvPr id="2" name="椭圆 1"/>
          <p:cNvSpPr/>
          <p:nvPr/>
        </p:nvSpPr>
        <p:spPr>
          <a:xfrm>
            <a:off x="7105650" y="4251960"/>
            <a:ext cx="568325" cy="5683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>
            <p:custDataLst>
              <p:tags r:id="rId2"/>
            </p:custDataLst>
          </p:nvPr>
        </p:nvSpPr>
        <p:spPr>
          <a:xfrm>
            <a:off x="5823585" y="4899025"/>
            <a:ext cx="568325" cy="568325"/>
          </a:xfrm>
          <a:prstGeom prst="ellipse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8485505" y="4899025"/>
            <a:ext cx="568325" cy="5683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>
            <p:custDataLst>
              <p:tags r:id="rId4"/>
            </p:custDataLst>
          </p:nvPr>
        </p:nvSpPr>
        <p:spPr>
          <a:xfrm>
            <a:off x="4542155" y="5467350"/>
            <a:ext cx="568325" cy="5683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>
            <p:custDataLst>
              <p:tags r:id="rId5"/>
            </p:custDataLst>
          </p:nvPr>
        </p:nvSpPr>
        <p:spPr>
          <a:xfrm>
            <a:off x="7105650" y="5467350"/>
            <a:ext cx="568325" cy="5683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8" name="直接箭头连接符 87"/>
          <p:cNvCxnSpPr/>
          <p:nvPr>
            <p:custDataLst>
              <p:tags r:id="rId6"/>
            </p:custDataLst>
          </p:nvPr>
        </p:nvCxnSpPr>
        <p:spPr>
          <a:xfrm flipH="1">
            <a:off x="5126355" y="5223510"/>
            <a:ext cx="850265" cy="414020"/>
          </a:xfrm>
          <a:prstGeom prst="straightConnector1">
            <a:avLst/>
          </a:prstGeom>
          <a:ln w="76200">
            <a:solidFill>
              <a:srgbClr val="D02F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>
            <p:custDataLst>
              <p:tags r:id="rId7"/>
            </p:custDataLst>
          </p:nvPr>
        </p:nvCxnSpPr>
        <p:spPr>
          <a:xfrm flipH="1">
            <a:off x="6412865" y="4653280"/>
            <a:ext cx="738505" cy="40259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>
            <p:custDataLst>
              <p:tags r:id="rId8"/>
            </p:custDataLst>
          </p:nvPr>
        </p:nvCxnSpPr>
        <p:spPr>
          <a:xfrm>
            <a:off x="6133465" y="5223510"/>
            <a:ext cx="950595" cy="403225"/>
          </a:xfrm>
          <a:prstGeom prst="straightConnector1">
            <a:avLst/>
          </a:prstGeom>
          <a:ln w="76200">
            <a:solidFill>
              <a:srgbClr val="D02F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>
            <p:custDataLst>
              <p:tags r:id="rId9"/>
            </p:custDataLst>
          </p:nvPr>
        </p:nvCxnSpPr>
        <p:spPr>
          <a:xfrm>
            <a:off x="7688580" y="4653280"/>
            <a:ext cx="760730" cy="41402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右箭头标注 60"/>
          <p:cNvSpPr/>
          <p:nvPr/>
        </p:nvSpPr>
        <p:spPr>
          <a:xfrm>
            <a:off x="238760" y="4394835"/>
            <a:ext cx="4430395" cy="157607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6780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红黑树在内核的其它功能如文件系统和驱动程序中使用也十分普遍，因此</a:t>
            </a:r>
            <a:r>
              <a:rPr lang="en-US" altLang="zh-CN"/>
              <a:t>CFS</a:t>
            </a:r>
            <a:r>
              <a:rPr lang="zh-CN" altLang="en-US"/>
              <a:t>调度器并未增加新的数据结构，只是复用了在内核中久经验证的同一套代码，不增加编程和调试工作量。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Linux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CFS</a:t>
            </a:r>
            <a:r>
              <a:rPr lang="zh-CN" altLang="en-US" sz="2000" b="1">
                <a:solidFill>
                  <a:srgbClr val="9C0B15"/>
                </a:solidFill>
              </a:rPr>
              <a:t>的额外优化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按比例增长的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R</a:t>
            </a:r>
            <a:r>
              <a:rPr lang="zh-CN" altLang="en-US" sz="2000" b="1" baseline="-25000">
                <a:solidFill>
                  <a:srgbClr val="9C0B15"/>
                </a:solidFill>
                <a:sym typeface="+mn-ea"/>
              </a:rPr>
              <a:t>v</a:t>
            </a:r>
            <a:r>
              <a:rPr lang="en-US" altLang="zh-CN" sz="2000"/>
              <a:t>	</a:t>
            </a:r>
            <a:r>
              <a:rPr lang="zh-CN" sz="2000"/>
              <a:t>实际上，并非每个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R</a:t>
            </a:r>
            <a:r>
              <a:rPr lang="en-US" altLang="zh-CN" sz="2000" baseline="-25000">
                <a:solidFill>
                  <a:srgbClr val="9C0B15"/>
                </a:solidFill>
                <a:sym typeface="+mn-ea"/>
              </a:rPr>
              <a:t>v</a:t>
            </a:r>
            <a:r>
              <a:rPr lang="zh-CN" altLang="en-US" sz="2000">
                <a:sym typeface="+mn-ea"/>
              </a:rPr>
              <a:t>都是同步增长的。</a:t>
            </a:r>
            <a:r>
              <a:rPr lang="en-US" altLang="zh-CN" sz="2000">
                <a:sym typeface="+mn-ea"/>
              </a:rPr>
              <a:t>Linux</a:t>
            </a:r>
            <a:r>
              <a:rPr lang="zh-CN" altLang="en-US" sz="2000">
                <a:sym typeface="+mn-ea"/>
              </a:rPr>
              <a:t>调度器会给每个线程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不同的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R</a:t>
            </a:r>
            <a:r>
              <a:rPr lang="en-US" altLang="zh-CN" sz="2000" baseline="-25000">
                <a:solidFill>
                  <a:srgbClr val="9C0B15"/>
                </a:solidFill>
                <a:sym typeface="+mn-ea"/>
              </a:rPr>
              <a:t>v</a:t>
            </a:r>
            <a:r>
              <a:rPr lang="zh-CN" altLang="en-US" sz="2000">
                <a:sym typeface="+mn-ea"/>
              </a:rPr>
              <a:t>比例。对于那些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被偏爱的线程</a:t>
            </a:r>
            <a:r>
              <a:rPr lang="zh-CN" altLang="en-US" sz="2000">
                <a:sym typeface="+mn-ea"/>
              </a:rPr>
              <a:t>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其R</a:t>
            </a:r>
            <a:r>
              <a:rPr lang="zh-CN" altLang="en-US" sz="2000" baseline="-25000">
                <a:solidFill>
                  <a:srgbClr val="9C0B15"/>
                </a:solidFill>
                <a:sym typeface="+mn-ea"/>
              </a:rPr>
              <a:t>v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值在记载时会乘上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一个较小的系数</a:t>
            </a:r>
            <a:r>
              <a:rPr lang="zh-CN" altLang="en-US" sz="2000">
                <a:sym typeface="+mn-ea"/>
              </a:rPr>
              <a:t>，这样它运行的时间就被往少算了，分配时间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时就会更倾向它。</a:t>
            </a:r>
            <a:endParaRPr lang="zh-CN" altLang="en-US" sz="2000">
              <a:sym typeface="+mn-ea"/>
            </a:endParaRPr>
          </a:p>
          <a:p>
            <a:pPr algn="l"/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关于这个比例由何参数以何逻辑确定，请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参见课后习题题目一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r>
              <a:rPr lang="zh-CN" altLang="en-US" sz="2000" b="1">
                <a:solidFill>
                  <a:srgbClr val="9C0B15"/>
                </a:solidFill>
                <a:sym typeface="+mn-ea"/>
              </a:rPr>
              <a:t>进程组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按照某些规则将某些进程分成一组，其中的线程使用的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总时间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被限制</a:t>
            </a:r>
            <a:r>
              <a:rPr lang="zh-CN" altLang="en-US" sz="2000">
                <a:sym typeface="+mn-ea"/>
              </a:rPr>
              <a:t>。这样，就可以限制某些用户或者用途的程序占用的</a:t>
            </a:r>
            <a:r>
              <a:rPr lang="en-US" altLang="zh-CN" sz="2000">
                <a:sym typeface="+mn-ea"/>
              </a:rPr>
              <a:t>CPU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时间，防止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集体作弊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有关这个问题，我们在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容器与虚拟化章节</a:t>
            </a:r>
            <a:r>
              <a:rPr lang="zh-CN" altLang="en-US" sz="2000">
                <a:sym typeface="+mn-ea"/>
              </a:rPr>
              <a:t>继续讨论。</a:t>
            </a:r>
            <a:endParaRPr lang="en-US" altLang="zh-CN" sz="2000">
              <a:sym typeface="+mn-ea"/>
            </a:endParaRPr>
          </a:p>
          <a:p>
            <a:pPr algn="l"/>
            <a:endParaRPr lang="en-US" altLang="zh-CN" sz="2000">
              <a:sym typeface="+mn-ea"/>
            </a:endParaRPr>
          </a:p>
          <a:p>
            <a:pPr algn="l"/>
            <a:r>
              <a:rPr lang="zh-CN" altLang="en-US" sz="2000" b="1">
                <a:solidFill>
                  <a:srgbClr val="9C0B15"/>
                </a:solidFill>
                <a:sym typeface="+mn-ea"/>
              </a:rPr>
              <a:t>占用限额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允许对某些线程设置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占用率的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上下限额</a:t>
            </a:r>
            <a:r>
              <a:rPr lang="zh-CN" altLang="en-US" sz="2000">
                <a:sym typeface="+mn-ea"/>
              </a:rPr>
              <a:t>。即便该线程在公平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规则下被分配的限额多于或少于这个限额，它实际分配到的</a:t>
            </a:r>
            <a:r>
              <a:rPr lang="en-US" altLang="zh-CN" sz="2000">
                <a:sym typeface="+mn-ea"/>
              </a:rPr>
              <a:t>CPU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也会被限额限制，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最多不能多于上限，最少不得少于下限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有关这个问题，我们在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实时与混合关键度系统章节</a:t>
            </a:r>
            <a:r>
              <a:rPr lang="zh-CN" altLang="en-US" sz="2000">
                <a:sym typeface="+mn-ea"/>
              </a:rPr>
              <a:t>继续讨论。</a:t>
            </a:r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r>
              <a:rPr lang="zh-CN" altLang="en-US" sz="2000" b="1">
                <a:solidFill>
                  <a:srgbClr val="9C0B15"/>
                </a:solidFill>
                <a:sym typeface="+mn-ea"/>
              </a:rPr>
              <a:t>CPU亲和性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在多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环境中，某些线程的数据在某些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核的缓存上已经缓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存好了。如果要调度它到其他核，就要重新预热缓存，这会浪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费时间。有关这个问题，我们在内存管理章节继续讨论。</a:t>
            </a:r>
            <a:endParaRPr lang="zh-CN" altLang="en-US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Linux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Windows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操作系统的线程调度：</a:t>
            </a:r>
            <a:r>
              <a:rPr lang="en-US" altLang="zh-CN" sz="2000" b="1">
                <a:solidFill>
                  <a:srgbClr val="9C0B15"/>
                </a:solidFill>
              </a:rPr>
              <a:t>Windows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调度队列类别</a:t>
            </a:r>
            <a:r>
              <a:rPr lang="en-US" altLang="zh-CN" sz="2000"/>
              <a:t>	Windows</a:t>
            </a:r>
            <a:r>
              <a:rPr lang="zh-CN" altLang="en-US" sz="2000"/>
              <a:t>具备如下几个队列，其队列的优先度从高到低分别为：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>
                <a:solidFill>
                  <a:srgbClr val="9C0B15"/>
                </a:solidFill>
              </a:rPr>
              <a:t>Windows的优先级数字越大，优先级越高</a:t>
            </a:r>
            <a:r>
              <a:rPr lang="zh-CN" altLang="en-US" sz="2000"/>
              <a:t>。实时线程的优先级为</a:t>
            </a:r>
            <a:r>
              <a:rPr lang="en-US" altLang="zh-CN" sz="2000">
                <a:sym typeface="+mn-ea"/>
              </a:rPr>
              <a:t>31-16</a:t>
            </a:r>
            <a:r>
              <a:rPr lang="zh-CN" altLang="en-US" sz="2000">
                <a:sym typeface="+mn-ea"/>
              </a:rPr>
              <a:t>，它们</a:t>
            </a:r>
            <a:r>
              <a:rPr lang="zh-CN" altLang="en-US" sz="2000"/>
              <a:t>采用固定优先级法调度，常规应用程序的优先级可变，在</a:t>
            </a:r>
            <a:r>
              <a:rPr lang="en-US" altLang="zh-CN" sz="2000"/>
              <a:t>15-1</a:t>
            </a:r>
            <a:r>
              <a:rPr lang="zh-CN" altLang="en-US" sz="2000"/>
              <a:t>。</a:t>
            </a:r>
            <a:endParaRPr lang="zh-CN" altLang="en-US" sz="2000"/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640840" y="1397000"/>
            <a:ext cx="6504940" cy="401955"/>
          </a:xfrm>
          <a:prstGeom prst="rect">
            <a:avLst/>
          </a:prstGeom>
          <a:solidFill>
            <a:srgbClr val="FF000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b="1">
                <a:sym typeface="+mn-ea"/>
              </a:rPr>
              <a:t>实时：实时任务</a:t>
            </a:r>
            <a:endParaRPr lang="zh-CN" altLang="en-US" b="1"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1645920" y="2176780"/>
            <a:ext cx="6504940" cy="40195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b="1">
                <a:sym typeface="+mn-ea"/>
              </a:rPr>
              <a:t>高：较紧迫的任务</a:t>
            </a:r>
            <a:endParaRPr lang="zh-CN" altLang="en-US" b="1"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1642110" y="2961640"/>
            <a:ext cx="6504940" cy="401955"/>
          </a:xfrm>
          <a:prstGeom prst="rect">
            <a:avLst/>
          </a:prstGeom>
          <a:solidFill>
            <a:srgbClr val="FFC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b="1">
                <a:sym typeface="+mn-ea"/>
              </a:rPr>
              <a:t>高于一般：较紧迫的常规任务</a:t>
            </a:r>
            <a:endParaRPr lang="zh-CN" altLang="en-US" b="1"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1644650" y="3725545"/>
            <a:ext cx="6504940" cy="40195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b="1">
                <a:sym typeface="+mn-ea"/>
              </a:rPr>
              <a:t>一般：常规应用程序默认</a:t>
            </a:r>
            <a:endParaRPr lang="en-US" altLang="zh-CN" b="1">
              <a:sym typeface="+mn-ea"/>
            </a:endParaRPr>
          </a:p>
        </p:txBody>
      </p:sp>
      <p:sp>
        <p:nvSpPr>
          <p:cNvPr id="8" name="右箭头 7"/>
          <p:cNvSpPr/>
          <p:nvPr>
            <p:custDataLst>
              <p:tags r:id="rId6"/>
            </p:custDataLst>
          </p:nvPr>
        </p:nvSpPr>
        <p:spPr>
          <a:xfrm>
            <a:off x="661670" y="1413510"/>
            <a:ext cx="979170" cy="385445"/>
          </a:xfrm>
          <a:prstGeom prst="rightArrow">
            <a:avLst/>
          </a:prstGeom>
          <a:solidFill>
            <a:srgbClr val="FF000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右箭头 8"/>
          <p:cNvSpPr/>
          <p:nvPr>
            <p:custDataLst>
              <p:tags r:id="rId7"/>
            </p:custDataLst>
          </p:nvPr>
        </p:nvSpPr>
        <p:spPr>
          <a:xfrm>
            <a:off x="8147050" y="1413510"/>
            <a:ext cx="979170" cy="385445"/>
          </a:xfrm>
          <a:prstGeom prst="rightArrow">
            <a:avLst/>
          </a:prstGeom>
          <a:solidFill>
            <a:srgbClr val="FF000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右箭头 14"/>
          <p:cNvSpPr/>
          <p:nvPr>
            <p:custDataLst>
              <p:tags r:id="rId8"/>
            </p:custDataLst>
          </p:nvPr>
        </p:nvSpPr>
        <p:spPr>
          <a:xfrm>
            <a:off x="665480" y="2193290"/>
            <a:ext cx="979170" cy="385445"/>
          </a:xfrm>
          <a:prstGeom prst="rightArrow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右箭头 16"/>
          <p:cNvSpPr/>
          <p:nvPr>
            <p:custDataLst>
              <p:tags r:id="rId9"/>
            </p:custDataLst>
          </p:nvPr>
        </p:nvSpPr>
        <p:spPr>
          <a:xfrm>
            <a:off x="661670" y="2978150"/>
            <a:ext cx="979170" cy="385445"/>
          </a:xfrm>
          <a:prstGeom prst="rightArrow">
            <a:avLst/>
          </a:prstGeom>
          <a:solidFill>
            <a:srgbClr val="FFC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右箭头 24"/>
          <p:cNvSpPr/>
          <p:nvPr>
            <p:custDataLst>
              <p:tags r:id="rId10"/>
            </p:custDataLst>
          </p:nvPr>
        </p:nvSpPr>
        <p:spPr>
          <a:xfrm>
            <a:off x="666750" y="3742055"/>
            <a:ext cx="979170" cy="385445"/>
          </a:xfrm>
          <a:prstGeom prst="rightArrow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右箭头 25"/>
          <p:cNvSpPr/>
          <p:nvPr>
            <p:custDataLst>
              <p:tags r:id="rId11"/>
            </p:custDataLst>
          </p:nvPr>
        </p:nvSpPr>
        <p:spPr>
          <a:xfrm>
            <a:off x="8150860" y="2193290"/>
            <a:ext cx="979170" cy="385445"/>
          </a:xfrm>
          <a:prstGeom prst="rightArrow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右箭头 27"/>
          <p:cNvSpPr/>
          <p:nvPr>
            <p:custDataLst>
              <p:tags r:id="rId12"/>
            </p:custDataLst>
          </p:nvPr>
        </p:nvSpPr>
        <p:spPr>
          <a:xfrm>
            <a:off x="8145780" y="2961640"/>
            <a:ext cx="979170" cy="385445"/>
          </a:xfrm>
          <a:prstGeom prst="rightArrow">
            <a:avLst/>
          </a:prstGeom>
          <a:solidFill>
            <a:srgbClr val="FFC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右箭头 59"/>
          <p:cNvSpPr/>
          <p:nvPr>
            <p:custDataLst>
              <p:tags r:id="rId13"/>
            </p:custDataLst>
          </p:nvPr>
        </p:nvSpPr>
        <p:spPr>
          <a:xfrm>
            <a:off x="8150860" y="3742055"/>
            <a:ext cx="979170" cy="385445"/>
          </a:xfrm>
          <a:prstGeom prst="rightArrow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5" name="直接箭头连接符 64"/>
          <p:cNvCxnSpPr>
            <a:stCxn id="6" idx="2"/>
            <a:endCxn id="4" idx="0"/>
          </p:cNvCxnSpPr>
          <p:nvPr>
            <p:custDataLst>
              <p:tags r:id="rId14"/>
            </p:custDataLst>
          </p:nvPr>
        </p:nvCxnSpPr>
        <p:spPr>
          <a:xfrm>
            <a:off x="4893310" y="1798955"/>
            <a:ext cx="5080" cy="377825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>
            <a:endCxn id="5" idx="0"/>
          </p:cNvCxnSpPr>
          <p:nvPr>
            <p:custDataLst>
              <p:tags r:id="rId15"/>
            </p:custDataLst>
          </p:nvPr>
        </p:nvCxnSpPr>
        <p:spPr>
          <a:xfrm flipH="1">
            <a:off x="4894580" y="2578735"/>
            <a:ext cx="3810" cy="382905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>
            <p:custDataLst>
              <p:tags r:id="rId16"/>
            </p:custDataLst>
          </p:nvPr>
        </p:nvCxnSpPr>
        <p:spPr>
          <a:xfrm flipH="1">
            <a:off x="4889500" y="3363595"/>
            <a:ext cx="3810" cy="382905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>
            <p:custDataLst>
              <p:tags r:id="rId17"/>
            </p:custDataLst>
          </p:nvPr>
        </p:nvSpPr>
        <p:spPr>
          <a:xfrm>
            <a:off x="1640840" y="4486910"/>
            <a:ext cx="6504940" cy="40195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b="1">
                <a:sym typeface="+mn-ea"/>
              </a:rPr>
              <a:t>低于一般：不紧迫的批处理任务</a:t>
            </a:r>
            <a:endParaRPr lang="en-US" altLang="zh-CN" b="1">
              <a:sym typeface="+mn-ea"/>
            </a:endParaRPr>
          </a:p>
        </p:txBody>
      </p:sp>
      <p:sp>
        <p:nvSpPr>
          <p:cNvPr id="61" name="右箭头 60"/>
          <p:cNvSpPr/>
          <p:nvPr>
            <p:custDataLst>
              <p:tags r:id="rId18"/>
            </p:custDataLst>
          </p:nvPr>
        </p:nvSpPr>
        <p:spPr>
          <a:xfrm>
            <a:off x="662940" y="4503420"/>
            <a:ext cx="979170" cy="385445"/>
          </a:xfrm>
          <a:prstGeom prst="rightArrow">
            <a:avLst/>
          </a:prstGeom>
          <a:solidFill>
            <a:srgbClr val="0070C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右箭头 63"/>
          <p:cNvSpPr/>
          <p:nvPr>
            <p:custDataLst>
              <p:tags r:id="rId19"/>
            </p:custDataLst>
          </p:nvPr>
        </p:nvSpPr>
        <p:spPr>
          <a:xfrm>
            <a:off x="8147050" y="4503420"/>
            <a:ext cx="979170" cy="385445"/>
          </a:xfrm>
          <a:prstGeom prst="rightArrow">
            <a:avLst/>
          </a:prstGeom>
          <a:solidFill>
            <a:srgbClr val="0070C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6" name="直接箭头连接符 65"/>
          <p:cNvCxnSpPr/>
          <p:nvPr>
            <p:custDataLst>
              <p:tags r:id="rId20"/>
            </p:custDataLst>
          </p:nvPr>
        </p:nvCxnSpPr>
        <p:spPr>
          <a:xfrm flipH="1">
            <a:off x="4885690" y="4124960"/>
            <a:ext cx="3810" cy="382905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>
            <p:custDataLst>
              <p:tags r:id="rId21"/>
            </p:custDataLst>
          </p:nvPr>
        </p:nvSpPr>
        <p:spPr>
          <a:xfrm>
            <a:off x="1645920" y="5249545"/>
            <a:ext cx="6504940" cy="401955"/>
          </a:xfrm>
          <a:prstGeom prst="rect">
            <a:avLst/>
          </a:prstGeom>
          <a:solidFill>
            <a:srgbClr val="7030A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b="1">
                <a:sym typeface="+mn-ea"/>
              </a:rPr>
              <a:t>空闲：空闲任务和背景任务</a:t>
            </a:r>
            <a:endParaRPr lang="en-US" altLang="zh-CN" b="1">
              <a:sym typeface="+mn-ea"/>
            </a:endParaRPr>
          </a:p>
        </p:txBody>
      </p:sp>
      <p:sp>
        <p:nvSpPr>
          <p:cNvPr id="68" name="右箭头 67"/>
          <p:cNvSpPr/>
          <p:nvPr>
            <p:custDataLst>
              <p:tags r:id="rId22"/>
            </p:custDataLst>
          </p:nvPr>
        </p:nvSpPr>
        <p:spPr>
          <a:xfrm>
            <a:off x="668020" y="5266055"/>
            <a:ext cx="979170" cy="385445"/>
          </a:xfrm>
          <a:prstGeom prst="rightArrow">
            <a:avLst/>
          </a:prstGeom>
          <a:solidFill>
            <a:srgbClr val="7030A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右箭头 68"/>
          <p:cNvSpPr/>
          <p:nvPr>
            <p:custDataLst>
              <p:tags r:id="rId23"/>
            </p:custDataLst>
          </p:nvPr>
        </p:nvSpPr>
        <p:spPr>
          <a:xfrm>
            <a:off x="8152130" y="5266055"/>
            <a:ext cx="979170" cy="385445"/>
          </a:xfrm>
          <a:prstGeom prst="rightArrow">
            <a:avLst/>
          </a:prstGeom>
          <a:solidFill>
            <a:srgbClr val="7030A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0" name="直接箭头连接符 69"/>
          <p:cNvCxnSpPr/>
          <p:nvPr>
            <p:custDataLst>
              <p:tags r:id="rId24"/>
            </p:custDataLst>
          </p:nvPr>
        </p:nvCxnSpPr>
        <p:spPr>
          <a:xfrm flipH="1">
            <a:off x="4890770" y="4887595"/>
            <a:ext cx="3810" cy="382905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5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矩形 103"/>
          <p:cNvSpPr/>
          <p:nvPr/>
        </p:nvSpPr>
        <p:spPr>
          <a:xfrm>
            <a:off x="333375" y="2171700"/>
            <a:ext cx="9317990" cy="2257425"/>
          </a:xfrm>
          <a:prstGeom prst="rect">
            <a:avLst/>
          </a:prstGeom>
          <a:solidFill>
            <a:schemeClr val="bg1">
              <a:alpha val="0"/>
            </a:schemeClr>
          </a:solidFill>
          <a:ln w="76200" cmpd="sng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 b="1">
              <a:solidFill>
                <a:srgbClr val="C00000"/>
              </a:solidFill>
            </a:endParaRPr>
          </a:p>
        </p:txBody>
      </p:sp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Linux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操作系统的线程调度：</a:t>
            </a:r>
            <a:r>
              <a:rPr lang="en-US" altLang="zh-CN" sz="2000" b="1">
                <a:solidFill>
                  <a:srgbClr val="9C0B15"/>
                </a:solidFill>
              </a:rPr>
              <a:t>MacOS</a:t>
            </a:r>
            <a:endParaRPr lang="zh-CN" altLang="en-US" sz="2000"/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637030" y="782955"/>
            <a:ext cx="6504940" cy="401955"/>
          </a:xfrm>
          <a:prstGeom prst="rect">
            <a:avLst/>
          </a:prstGeom>
          <a:solidFill>
            <a:srgbClr val="FF000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b="1">
                <a:sym typeface="+mn-ea"/>
              </a:rPr>
              <a:t>127-96</a:t>
            </a:r>
            <a:r>
              <a:rPr lang="zh-CN" altLang="en-US" b="1">
                <a:sym typeface="+mn-ea"/>
              </a:rPr>
              <a:t>：实时任务</a:t>
            </a:r>
            <a:endParaRPr lang="zh-CN" altLang="en-US" b="1"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1642110" y="1562735"/>
            <a:ext cx="6504940" cy="40195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b="1">
                <a:sym typeface="+mn-ea"/>
              </a:rPr>
              <a:t>95-80</a:t>
            </a:r>
            <a:r>
              <a:rPr lang="zh-CN" altLang="en-US" b="1">
                <a:sym typeface="+mn-ea"/>
              </a:rPr>
              <a:t>：内核专用优先级</a:t>
            </a:r>
            <a:endParaRPr lang="zh-CN" altLang="en-US" b="1"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1638300" y="2347595"/>
            <a:ext cx="6504940" cy="401955"/>
          </a:xfrm>
          <a:prstGeom prst="rect">
            <a:avLst/>
          </a:prstGeom>
          <a:solidFill>
            <a:srgbClr val="FFC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b="1">
                <a:sym typeface="+mn-ea"/>
              </a:rPr>
              <a:t>79-64</a:t>
            </a:r>
            <a:r>
              <a:rPr lang="zh-CN" altLang="en-US" b="1">
                <a:sym typeface="+mn-ea"/>
              </a:rPr>
              <a:t>：系统服务优先级</a:t>
            </a:r>
            <a:endParaRPr lang="zh-CN" altLang="en-US" b="1"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1640840" y="3111500"/>
            <a:ext cx="6504940" cy="401955"/>
          </a:xfrm>
          <a:prstGeom prst="rect">
            <a:avLst/>
          </a:prstGeom>
          <a:solidFill>
            <a:srgbClr val="92D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b="1">
                <a:sym typeface="+mn-ea"/>
              </a:rPr>
              <a:t>63-52</a:t>
            </a:r>
            <a:r>
              <a:rPr lang="zh-CN" altLang="en-US" b="1">
                <a:sym typeface="+mn-ea"/>
              </a:rPr>
              <a:t>：高优先级的常规任务（前台）</a:t>
            </a:r>
            <a:endParaRPr lang="en-US" altLang="zh-CN" b="1">
              <a:sym typeface="+mn-ea"/>
            </a:endParaRPr>
          </a:p>
        </p:txBody>
      </p:sp>
      <p:sp>
        <p:nvSpPr>
          <p:cNvPr id="8" name="右箭头 7"/>
          <p:cNvSpPr/>
          <p:nvPr>
            <p:custDataLst>
              <p:tags r:id="rId6"/>
            </p:custDataLst>
          </p:nvPr>
        </p:nvSpPr>
        <p:spPr>
          <a:xfrm>
            <a:off x="657860" y="799465"/>
            <a:ext cx="979170" cy="385445"/>
          </a:xfrm>
          <a:prstGeom prst="rightArrow">
            <a:avLst/>
          </a:prstGeom>
          <a:solidFill>
            <a:srgbClr val="FF000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右箭头 8"/>
          <p:cNvSpPr/>
          <p:nvPr>
            <p:custDataLst>
              <p:tags r:id="rId7"/>
            </p:custDataLst>
          </p:nvPr>
        </p:nvSpPr>
        <p:spPr>
          <a:xfrm>
            <a:off x="8143240" y="799465"/>
            <a:ext cx="979170" cy="385445"/>
          </a:xfrm>
          <a:prstGeom prst="rightArrow">
            <a:avLst/>
          </a:prstGeom>
          <a:solidFill>
            <a:srgbClr val="FF000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右箭头 14"/>
          <p:cNvSpPr/>
          <p:nvPr>
            <p:custDataLst>
              <p:tags r:id="rId8"/>
            </p:custDataLst>
          </p:nvPr>
        </p:nvSpPr>
        <p:spPr>
          <a:xfrm>
            <a:off x="661670" y="1579245"/>
            <a:ext cx="979170" cy="385445"/>
          </a:xfrm>
          <a:prstGeom prst="rightArrow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右箭头 16"/>
          <p:cNvSpPr/>
          <p:nvPr>
            <p:custDataLst>
              <p:tags r:id="rId9"/>
            </p:custDataLst>
          </p:nvPr>
        </p:nvSpPr>
        <p:spPr>
          <a:xfrm>
            <a:off x="657860" y="2364105"/>
            <a:ext cx="979170" cy="385445"/>
          </a:xfrm>
          <a:prstGeom prst="rightArrow">
            <a:avLst/>
          </a:prstGeom>
          <a:solidFill>
            <a:srgbClr val="FFC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右箭头 24"/>
          <p:cNvSpPr/>
          <p:nvPr>
            <p:custDataLst>
              <p:tags r:id="rId10"/>
            </p:custDataLst>
          </p:nvPr>
        </p:nvSpPr>
        <p:spPr>
          <a:xfrm>
            <a:off x="662940" y="3128010"/>
            <a:ext cx="979170" cy="385445"/>
          </a:xfrm>
          <a:prstGeom prst="rightArrow">
            <a:avLst/>
          </a:prstGeom>
          <a:solidFill>
            <a:srgbClr val="92D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右箭头 25"/>
          <p:cNvSpPr/>
          <p:nvPr>
            <p:custDataLst>
              <p:tags r:id="rId11"/>
            </p:custDataLst>
          </p:nvPr>
        </p:nvSpPr>
        <p:spPr>
          <a:xfrm>
            <a:off x="8147050" y="1579245"/>
            <a:ext cx="979170" cy="385445"/>
          </a:xfrm>
          <a:prstGeom prst="rightArrow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右箭头 27"/>
          <p:cNvSpPr/>
          <p:nvPr>
            <p:custDataLst>
              <p:tags r:id="rId12"/>
            </p:custDataLst>
          </p:nvPr>
        </p:nvSpPr>
        <p:spPr>
          <a:xfrm>
            <a:off x="8141970" y="2347595"/>
            <a:ext cx="979170" cy="385445"/>
          </a:xfrm>
          <a:prstGeom prst="rightArrow">
            <a:avLst/>
          </a:prstGeom>
          <a:solidFill>
            <a:srgbClr val="FFC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右箭头 59"/>
          <p:cNvSpPr/>
          <p:nvPr>
            <p:custDataLst>
              <p:tags r:id="rId13"/>
            </p:custDataLst>
          </p:nvPr>
        </p:nvSpPr>
        <p:spPr>
          <a:xfrm>
            <a:off x="8147050" y="3128010"/>
            <a:ext cx="979170" cy="385445"/>
          </a:xfrm>
          <a:prstGeom prst="rightArrow">
            <a:avLst/>
          </a:prstGeom>
          <a:solidFill>
            <a:srgbClr val="92D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5" name="直接箭头连接符 64"/>
          <p:cNvCxnSpPr>
            <a:stCxn id="6" idx="2"/>
            <a:endCxn id="4" idx="0"/>
          </p:cNvCxnSpPr>
          <p:nvPr>
            <p:custDataLst>
              <p:tags r:id="rId14"/>
            </p:custDataLst>
          </p:nvPr>
        </p:nvCxnSpPr>
        <p:spPr>
          <a:xfrm>
            <a:off x="4889500" y="1184910"/>
            <a:ext cx="5080" cy="377825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>
            <a:endCxn id="5" idx="0"/>
          </p:cNvCxnSpPr>
          <p:nvPr>
            <p:custDataLst>
              <p:tags r:id="rId15"/>
            </p:custDataLst>
          </p:nvPr>
        </p:nvCxnSpPr>
        <p:spPr>
          <a:xfrm flipH="1">
            <a:off x="4890770" y="1964690"/>
            <a:ext cx="3810" cy="382905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>
            <p:custDataLst>
              <p:tags r:id="rId16"/>
            </p:custDataLst>
          </p:nvPr>
        </p:nvCxnSpPr>
        <p:spPr>
          <a:xfrm flipH="1">
            <a:off x="4885690" y="2749550"/>
            <a:ext cx="3810" cy="382905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>
            <p:custDataLst>
              <p:tags r:id="rId17"/>
            </p:custDataLst>
          </p:nvPr>
        </p:nvSpPr>
        <p:spPr>
          <a:xfrm>
            <a:off x="1637030" y="3872865"/>
            <a:ext cx="6504940" cy="40195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b="1">
                <a:sym typeface="+mn-ea"/>
              </a:rPr>
              <a:t>51-32</a:t>
            </a:r>
            <a:r>
              <a:rPr lang="zh-CN" altLang="en-US" b="1">
                <a:sym typeface="+mn-ea"/>
              </a:rPr>
              <a:t>：高优先级的常规任务（后台）</a:t>
            </a:r>
            <a:endParaRPr lang="en-US" altLang="zh-CN" b="1">
              <a:sym typeface="+mn-ea"/>
            </a:endParaRPr>
          </a:p>
        </p:txBody>
      </p:sp>
      <p:sp>
        <p:nvSpPr>
          <p:cNvPr id="61" name="右箭头 60"/>
          <p:cNvSpPr/>
          <p:nvPr>
            <p:custDataLst>
              <p:tags r:id="rId18"/>
            </p:custDataLst>
          </p:nvPr>
        </p:nvSpPr>
        <p:spPr>
          <a:xfrm>
            <a:off x="659130" y="3889375"/>
            <a:ext cx="979170" cy="385445"/>
          </a:xfrm>
          <a:prstGeom prst="rightArrow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右箭头 63"/>
          <p:cNvSpPr/>
          <p:nvPr>
            <p:custDataLst>
              <p:tags r:id="rId19"/>
            </p:custDataLst>
          </p:nvPr>
        </p:nvSpPr>
        <p:spPr>
          <a:xfrm>
            <a:off x="8143240" y="3889375"/>
            <a:ext cx="979170" cy="385445"/>
          </a:xfrm>
          <a:prstGeom prst="rightArrow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6" name="直接箭头连接符 65"/>
          <p:cNvCxnSpPr/>
          <p:nvPr>
            <p:custDataLst>
              <p:tags r:id="rId20"/>
            </p:custDataLst>
          </p:nvPr>
        </p:nvCxnSpPr>
        <p:spPr>
          <a:xfrm flipH="1">
            <a:off x="4881880" y="3510915"/>
            <a:ext cx="3810" cy="382905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>
            <p:custDataLst>
              <p:tags r:id="rId21"/>
            </p:custDataLst>
          </p:nvPr>
        </p:nvSpPr>
        <p:spPr>
          <a:xfrm>
            <a:off x="1642110" y="4635500"/>
            <a:ext cx="6504940" cy="401955"/>
          </a:xfrm>
          <a:prstGeom prst="rect">
            <a:avLst/>
          </a:prstGeom>
          <a:solidFill>
            <a:srgbClr val="00B0F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b="1">
                <a:sym typeface="+mn-ea"/>
              </a:rPr>
              <a:t>31</a:t>
            </a:r>
            <a:r>
              <a:rPr lang="zh-CN" altLang="en-US" b="1">
                <a:sym typeface="+mn-ea"/>
              </a:rPr>
              <a:t>：常规任务的优先级</a:t>
            </a:r>
            <a:endParaRPr lang="en-US" altLang="zh-CN" b="1">
              <a:sym typeface="+mn-ea"/>
            </a:endParaRPr>
          </a:p>
        </p:txBody>
      </p:sp>
      <p:sp>
        <p:nvSpPr>
          <p:cNvPr id="68" name="右箭头 67"/>
          <p:cNvSpPr/>
          <p:nvPr>
            <p:custDataLst>
              <p:tags r:id="rId22"/>
            </p:custDataLst>
          </p:nvPr>
        </p:nvSpPr>
        <p:spPr>
          <a:xfrm>
            <a:off x="664210" y="4652010"/>
            <a:ext cx="979170" cy="385445"/>
          </a:xfrm>
          <a:prstGeom prst="rightArrow">
            <a:avLst/>
          </a:prstGeom>
          <a:solidFill>
            <a:srgbClr val="00B0F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右箭头 68"/>
          <p:cNvSpPr/>
          <p:nvPr>
            <p:custDataLst>
              <p:tags r:id="rId23"/>
            </p:custDataLst>
          </p:nvPr>
        </p:nvSpPr>
        <p:spPr>
          <a:xfrm>
            <a:off x="8148320" y="4652010"/>
            <a:ext cx="979170" cy="385445"/>
          </a:xfrm>
          <a:prstGeom prst="rightArrow">
            <a:avLst/>
          </a:prstGeom>
          <a:solidFill>
            <a:srgbClr val="00B0F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0" name="直接箭头连接符 69"/>
          <p:cNvCxnSpPr/>
          <p:nvPr>
            <p:custDataLst>
              <p:tags r:id="rId24"/>
            </p:custDataLst>
          </p:nvPr>
        </p:nvCxnSpPr>
        <p:spPr>
          <a:xfrm flipH="1">
            <a:off x="4886960" y="4273550"/>
            <a:ext cx="3810" cy="382905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70"/>
          <p:cNvSpPr/>
          <p:nvPr>
            <p:custDataLst>
              <p:tags r:id="rId25"/>
            </p:custDataLst>
          </p:nvPr>
        </p:nvSpPr>
        <p:spPr>
          <a:xfrm>
            <a:off x="1637030" y="5367020"/>
            <a:ext cx="6504940" cy="401955"/>
          </a:xfrm>
          <a:prstGeom prst="rect">
            <a:avLst/>
          </a:prstGeom>
          <a:solidFill>
            <a:schemeClr val="accent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b="1">
                <a:sym typeface="+mn-ea"/>
              </a:rPr>
              <a:t>30-11</a:t>
            </a:r>
            <a:r>
              <a:rPr lang="zh-CN" altLang="en-US" b="1">
                <a:sym typeface="+mn-ea"/>
              </a:rPr>
              <a:t>：低优先级的常规任务</a:t>
            </a:r>
            <a:endParaRPr lang="en-US" altLang="zh-CN" b="1">
              <a:sym typeface="+mn-ea"/>
            </a:endParaRPr>
          </a:p>
        </p:txBody>
      </p:sp>
      <p:sp>
        <p:nvSpPr>
          <p:cNvPr id="72" name="右箭头 71"/>
          <p:cNvSpPr/>
          <p:nvPr>
            <p:custDataLst>
              <p:tags r:id="rId26"/>
            </p:custDataLst>
          </p:nvPr>
        </p:nvSpPr>
        <p:spPr>
          <a:xfrm>
            <a:off x="659130" y="5383530"/>
            <a:ext cx="979170" cy="385445"/>
          </a:xfrm>
          <a:prstGeom prst="rightArrow">
            <a:avLst/>
          </a:prstGeom>
          <a:solidFill>
            <a:schemeClr val="accent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右箭头 72"/>
          <p:cNvSpPr/>
          <p:nvPr>
            <p:custDataLst>
              <p:tags r:id="rId27"/>
            </p:custDataLst>
          </p:nvPr>
        </p:nvSpPr>
        <p:spPr>
          <a:xfrm>
            <a:off x="8143240" y="5383530"/>
            <a:ext cx="979170" cy="385445"/>
          </a:xfrm>
          <a:prstGeom prst="rightArrow">
            <a:avLst/>
          </a:prstGeom>
          <a:solidFill>
            <a:schemeClr val="accent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4" name="直接箭头连接符 73"/>
          <p:cNvCxnSpPr/>
          <p:nvPr>
            <p:custDataLst>
              <p:tags r:id="rId28"/>
            </p:custDataLst>
          </p:nvPr>
        </p:nvCxnSpPr>
        <p:spPr>
          <a:xfrm flipH="1">
            <a:off x="4881880" y="5005070"/>
            <a:ext cx="3810" cy="382905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/>
          <p:cNvSpPr/>
          <p:nvPr>
            <p:custDataLst>
              <p:tags r:id="rId29"/>
            </p:custDataLst>
          </p:nvPr>
        </p:nvSpPr>
        <p:spPr>
          <a:xfrm>
            <a:off x="1637030" y="6113780"/>
            <a:ext cx="6504940" cy="401955"/>
          </a:xfrm>
          <a:prstGeom prst="rect">
            <a:avLst/>
          </a:prstGeom>
          <a:solidFill>
            <a:srgbClr val="7030A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b="1">
                <a:sym typeface="+mn-ea"/>
              </a:rPr>
              <a:t>10-0</a:t>
            </a:r>
            <a:r>
              <a:rPr lang="zh-CN" altLang="en-US" b="1">
                <a:sym typeface="+mn-ea"/>
              </a:rPr>
              <a:t>：空闲任务</a:t>
            </a:r>
            <a:endParaRPr lang="en-US" altLang="zh-CN" b="1">
              <a:sym typeface="+mn-ea"/>
            </a:endParaRPr>
          </a:p>
        </p:txBody>
      </p:sp>
      <p:sp>
        <p:nvSpPr>
          <p:cNvPr id="76" name="右箭头 75"/>
          <p:cNvSpPr/>
          <p:nvPr>
            <p:custDataLst>
              <p:tags r:id="rId30"/>
            </p:custDataLst>
          </p:nvPr>
        </p:nvSpPr>
        <p:spPr>
          <a:xfrm>
            <a:off x="659130" y="6130290"/>
            <a:ext cx="979170" cy="385445"/>
          </a:xfrm>
          <a:prstGeom prst="rightArrow">
            <a:avLst/>
          </a:prstGeom>
          <a:solidFill>
            <a:srgbClr val="7030A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右箭头 76"/>
          <p:cNvSpPr/>
          <p:nvPr>
            <p:custDataLst>
              <p:tags r:id="rId31"/>
            </p:custDataLst>
          </p:nvPr>
        </p:nvSpPr>
        <p:spPr>
          <a:xfrm>
            <a:off x="8143240" y="6130290"/>
            <a:ext cx="979170" cy="385445"/>
          </a:xfrm>
          <a:prstGeom prst="rightArrow">
            <a:avLst/>
          </a:prstGeom>
          <a:solidFill>
            <a:srgbClr val="7030A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8" name="直接箭头连接符 77"/>
          <p:cNvCxnSpPr/>
          <p:nvPr>
            <p:custDataLst>
              <p:tags r:id="rId32"/>
            </p:custDataLst>
          </p:nvPr>
        </p:nvCxnSpPr>
        <p:spPr>
          <a:xfrm flipH="1">
            <a:off x="4881880" y="5751830"/>
            <a:ext cx="3810" cy="382905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左箭头标注 78"/>
          <p:cNvSpPr/>
          <p:nvPr/>
        </p:nvSpPr>
        <p:spPr>
          <a:xfrm>
            <a:off x="8293735" y="1827530"/>
            <a:ext cx="3752850" cy="3039745"/>
          </a:xfrm>
          <a:prstGeom prst="leftArrowCallout">
            <a:avLst>
              <a:gd name="adj1" fmla="val 11703"/>
              <a:gd name="adj2" fmla="val 16658"/>
              <a:gd name="adj3" fmla="val 15880"/>
              <a:gd name="adj4" fmla="val 84601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/>
              <a:t>注意这里：</a:t>
            </a:r>
            <a:r>
              <a:rPr lang="en-US" altLang="zh-CN" sz="2400" b="1"/>
              <a:t>MacOS</a:t>
            </a:r>
            <a:r>
              <a:rPr lang="zh-CN" altLang="en-US" sz="2400" b="1"/>
              <a:t>和</a:t>
            </a:r>
            <a:r>
              <a:rPr lang="en-US" altLang="zh-CN" sz="2400" b="1"/>
              <a:t>iOS</a:t>
            </a:r>
            <a:r>
              <a:rPr lang="zh-CN" altLang="en-US" sz="2400" b="1"/>
              <a:t>特别强调交互性，专门给那些前台和交互系统开了窗口。苹果系统对流畅度的追求可见一斑。苹果系统的优先级也是数值越大越高。</a:t>
            </a:r>
            <a:endParaRPr lang="zh-CN" altLang="en-US" sz="2400" b="1"/>
          </a:p>
        </p:txBody>
      </p:sp>
    </p:spTree>
    <p:custDataLst>
      <p:tags r:id="rId33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bldLvl="0" animBg="1"/>
      <p:bldP spid="104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Linux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线程的基本操作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线程的基本操作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创建	Create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创建一个线程。这包括它的线程控制块等内核数据结构。该操作还会返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回线程的句柄（</a:t>
            </a:r>
            <a:r>
              <a:rPr lang="en-US" altLang="zh-CN" sz="2000">
                <a:sym typeface="+mn-ea"/>
              </a:rPr>
              <a:t>Handle</a:t>
            </a:r>
            <a:r>
              <a:rPr lang="zh-CN" altLang="en-US" sz="2000">
                <a:sym typeface="+mn-ea"/>
              </a:rPr>
              <a:t>），这一般是它的线程号（</a:t>
            </a:r>
            <a:r>
              <a:rPr lang="en-US" altLang="zh-CN" sz="2000">
                <a:sym typeface="+mn-ea"/>
              </a:rPr>
              <a:t>Thread ID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ym typeface="+mn-ea"/>
              </a:rPr>
              <a:t>TID</a:t>
            </a:r>
            <a:r>
              <a:rPr lang="zh-CN" altLang="en-US" sz="2000">
                <a:sym typeface="+mn-ea"/>
              </a:rPr>
              <a:t>）。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出让	Yield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通知操作系统当前线程不需要更多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时间，自愿放弃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终止	Terminate/Exit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线程自愿停止自己的执行并退出，可以返回一个返回值。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同步	Join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/Wait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使一个线程等待另一个线程终止，并获取它的返回值。需要给出被等待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线程的</a:t>
            </a:r>
            <a:r>
              <a:rPr lang="en-US" altLang="zh-CN" sz="2000">
                <a:sym typeface="+mn-ea"/>
              </a:rPr>
              <a:t>TID</a:t>
            </a:r>
            <a:r>
              <a:rPr lang="zh-CN" altLang="en-US" sz="2000">
                <a:sym typeface="+mn-ea"/>
              </a:rPr>
              <a:t>。很多时候，这个操作也会导致线程销毁，因为终止的线程除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了交还它的返回值以外没有任何意义。同步操作等待的对象必须是由发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起者创建的，且对象不能脱离（</a:t>
            </a:r>
            <a:r>
              <a:rPr lang="en-US" altLang="zh-CN" sz="2000">
                <a:sym typeface="+mn-ea"/>
              </a:rPr>
              <a:t>Detach</a:t>
            </a:r>
            <a:r>
              <a:rPr lang="zh-CN" altLang="en-US" sz="2000">
                <a:sym typeface="+mn-ea"/>
              </a:rPr>
              <a:t>）发起者。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销毁	Destroy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/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Delete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销毁一个同步完成的线程。是创建的逆操作。给出线程的</a:t>
            </a:r>
            <a:r>
              <a:rPr lang="en-US" altLang="zh-CN" sz="2000">
                <a:sym typeface="+mn-ea"/>
              </a:rPr>
              <a:t>TID</a:t>
            </a:r>
            <a:r>
              <a:rPr lang="zh-CN" altLang="en-US" sz="2000">
                <a:sym typeface="+mn-ea"/>
              </a:rPr>
              <a:t>，该操作将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销毁它。</a:t>
            </a:r>
            <a:endParaRPr lang="zh-CN" altLang="en-US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Linux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线程的基本操作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5939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线程的其它操作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设置优先级	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几乎所有</a:t>
            </a:r>
            <a:r>
              <a:rPr lang="zh-CN" sz="2000">
                <a:sym typeface="+mn-ea"/>
              </a:rPr>
              <a:t>操作系统都允许用户修改线程的优先级。好处是显而易见的：</a:t>
            </a:r>
            <a:r>
              <a:rPr lang="en-US" altLang="zh-CN" sz="2000">
                <a:sym typeface="+mn-ea"/>
              </a:rPr>
              <a:t>	</a:t>
            </a:r>
            <a:r>
              <a:rPr lang="zh-CN" sz="2000">
                <a:sym typeface="+mn-ea"/>
              </a:rPr>
              <a:t>用户可以将希望得到较好响应性的应用程序的线程设置得较高。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设置调度策略	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zh-CN" sz="2000">
                <a:sym typeface="+mn-ea"/>
              </a:rPr>
              <a:t>部分操作系统允许用户给线程指定甚至亲自提供一个调度策略。</a:t>
            </a:r>
            <a:r>
              <a:rPr lang="zh-CN" altLang="en-US" sz="2000">
                <a:sym typeface="+mn-ea"/>
              </a:rPr>
              <a:t>有时候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用户比操作系统更清楚什么策略适合自己的线程</a:t>
            </a:r>
            <a:r>
              <a:rPr lang="zh-CN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设置处理器亲和性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通知操作系统当前线程只能在哪（些）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上调度。这对于提高数据的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局部性很有益处，能增进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的效率。在那些异构架构（如</a:t>
            </a:r>
            <a:r>
              <a:rPr lang="en-US" altLang="zh-CN" sz="2000">
                <a:sym typeface="+mn-ea"/>
              </a:rPr>
              <a:t>Intel</a:t>
            </a:r>
            <a:r>
              <a:rPr lang="zh-CN" altLang="en-US" sz="2000">
                <a:sym typeface="+mn-ea"/>
              </a:rPr>
              <a:t>大小核）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上，还可以指定哪些线程使用大核、哪些线程使用小核，从而最大化体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系性能。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设置线程栈大小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在创建线程时通知操作系统给它分配更大的用户模式运行栈。某些线程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中可能使用递归算法，这使得它们对栈的消耗量偏高。</a:t>
            </a:r>
            <a:endParaRPr lang="zh-CN" altLang="en-US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Linux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线程接口实例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线程接口实例：</a:t>
            </a:r>
            <a:r>
              <a:rPr lang="en-US" altLang="zh-CN" sz="2000" b="1">
                <a:solidFill>
                  <a:srgbClr val="9C0B15"/>
                </a:solidFill>
              </a:rPr>
              <a:t>pthreads</a:t>
            </a:r>
            <a:r>
              <a:rPr lang="zh-CN" altLang="en-US" sz="2000" b="1">
                <a:solidFill>
                  <a:srgbClr val="9C0B15"/>
                </a:solidFill>
              </a:rPr>
              <a:t>运行时库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pthreads</a:t>
            </a:r>
            <a:r>
              <a:rPr lang="en-US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一个</a:t>
            </a:r>
            <a:r>
              <a:rPr lang="en-US" altLang="zh-CN" sz="2000">
                <a:sym typeface="+mn-ea"/>
              </a:rPr>
              <a:t>POSIX</a:t>
            </a:r>
            <a:r>
              <a:rPr lang="zh-CN" altLang="en-US" sz="2000">
                <a:sym typeface="+mn-ea"/>
              </a:rPr>
              <a:t>标准的运行时库，实现了线程的所有常用功能。它并</a:t>
            </a:r>
            <a:r>
              <a:rPr lang="en-US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非操作系统的原生接口，而是调用操作系统的接口来完成自己</a:t>
            </a:r>
            <a:r>
              <a:rPr lang="en-US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的功能。当然，也可以自行调用操作系统的原生接口来操作线</a:t>
            </a:r>
            <a:r>
              <a:rPr lang="en-US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程，但不如使用</a:t>
            </a:r>
            <a:r>
              <a:rPr lang="en-US" altLang="zh-CN" sz="2000">
                <a:sym typeface="+mn-ea"/>
              </a:rPr>
              <a:t>pthreads</a:t>
            </a:r>
            <a:r>
              <a:rPr lang="zh-CN" altLang="en-US" sz="2000">
                <a:sym typeface="+mn-ea"/>
              </a:rPr>
              <a:t>库来得好移植。</a:t>
            </a:r>
            <a:endParaRPr lang="zh-CN" altLang="en-US" sz="2000">
              <a:sym typeface="+mn-ea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333375" y="2058670"/>
          <a:ext cx="9228455" cy="441896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18055"/>
                <a:gridCol w="2135505"/>
                <a:gridCol w="2783840"/>
                <a:gridCol w="2091055"/>
              </a:tblGrid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+mn-ea"/>
                          <a:cs typeface="+mn-ea"/>
                        </a:rPr>
                        <a:t>pthreads</a:t>
                      </a:r>
                      <a:r>
                        <a:rPr lang="zh-CN" altLang="en-US" sz="1800">
                          <a:latin typeface="+mn-ea"/>
                          <a:cs typeface="+mn-ea"/>
                        </a:rPr>
                        <a:t>接口</a:t>
                      </a:r>
                      <a:endParaRPr lang="zh-CN" altLang="en-US" sz="1800">
                        <a:latin typeface="+mn-ea"/>
                        <a:cs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+mn-ea"/>
                          <a:cs typeface="+mn-ea"/>
                        </a:rPr>
                        <a:t>Linux</a:t>
                      </a:r>
                      <a:r>
                        <a:rPr lang="zh-CN" altLang="en-US" sz="1800">
                          <a:latin typeface="+mn-ea"/>
                          <a:cs typeface="+mn-ea"/>
                        </a:rPr>
                        <a:t>原生接口</a:t>
                      </a:r>
                      <a:endParaRPr lang="zh-CN" altLang="en-US" sz="1800">
                        <a:latin typeface="+mn-ea"/>
                        <a:cs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+mn-ea"/>
                          <a:cs typeface="+mn-ea"/>
                          <a:sym typeface="+mn-ea"/>
                        </a:rPr>
                        <a:t>Windows</a:t>
                      </a:r>
                      <a:r>
                        <a:rPr lang="zh-CN" altLang="en-US" sz="1800">
                          <a:latin typeface="+mn-ea"/>
                          <a:cs typeface="+mn-ea"/>
                          <a:sym typeface="+mn-ea"/>
                        </a:rPr>
                        <a:t>原生接口</a:t>
                      </a:r>
                      <a:endParaRPr lang="zh-CN" altLang="en-US" sz="1800">
                        <a:latin typeface="+mn-ea"/>
                        <a:cs typeface="+mn-ea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latin typeface="+mn-ea"/>
                        </a:rPr>
                        <a:t>功能</a:t>
                      </a:r>
                      <a:endParaRPr lang="zh-CN" altLang="en-US" sz="1800">
                        <a:latin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</a:rPr>
                        <a:t>pthread_create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fork/clone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</a:rPr>
                        <a:t>CreateThread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sz="1800">
                          <a:latin typeface="+mn-ea"/>
                          <a:cs typeface="思源黑体 CN Regular" panose="020B0500000000000000" charset="-122"/>
                        </a:rPr>
                        <a:t>创建线程</a:t>
                      </a:r>
                      <a:endParaRPr 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pthread_yield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</a:rPr>
                        <a:t>sched_yield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  <a:sym typeface="+mn-ea"/>
                        </a:rPr>
                        <a:t>SwitchToThread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</a:rPr>
                        <a:t>出让处理器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0830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  <a:sym typeface="+mn-ea"/>
                        </a:rPr>
                        <a:t>pthread_join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</a:rPr>
                        <a:t>waitpid</a:t>
                      </a: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/wait4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  <a:sym typeface="+mn-ea"/>
                        </a:rPr>
                        <a:t>WaitForSingleObject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sz="1800">
                          <a:latin typeface="+mn-ea"/>
                          <a:cs typeface="思源黑体 CN Regular" panose="020B0500000000000000" charset="-122"/>
                        </a:rPr>
                        <a:t>同步线程</a:t>
                      </a:r>
                      <a:endParaRPr 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0830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  <a:sym typeface="+mn-ea"/>
                        </a:rPr>
                        <a:t>pthread_cancel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tkill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TerminateThread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  <a:sym typeface="+mn-ea"/>
                        </a:rPr>
                        <a:t>删除线程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0830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>
                          <a:latin typeface="+mn-ea"/>
                          <a:cs typeface="思源黑体 CN Regular" panose="020B0500000000000000" charset="-122"/>
                        </a:rPr>
                        <a:t>pthread_exit</a:t>
                      </a:r>
                      <a:endParaRPr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  <a:sym typeface="+mn-ea"/>
                        </a:rPr>
                        <a:t>exit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ExitThread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</a:rPr>
                        <a:t>退出当前线程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0830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</a:rPr>
                        <a:t>pthread_self 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gettid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GetThreadId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</a:rPr>
                        <a:t>查询自己的句柄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0830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pthread_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setschedparam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sched_setparam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SetThreadPriority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</a:rPr>
                        <a:t>设置调度器，包括策略和优先级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  <a:sym typeface="+mn-ea"/>
                        </a:rPr>
                        <a:t>pthread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  <a:sym typeface="+mn-ea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  <a:sym typeface="+mn-ea"/>
                        </a:rPr>
                        <a:t>_setaffinity_np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sched_setaffinity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SetThreadAffinityMask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</a:rPr>
                        <a:t>设置处理器亲和性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0830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</a:rPr>
                        <a:t>pthread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</a:rPr>
                        <a:t>_attr_setstacksize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setrlimit 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CreateThread</a:t>
                      </a: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</a:rPr>
                        <a:t>中携带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  <a:sym typeface="+mn-ea"/>
                        </a:rPr>
                        <a:t>设置线程栈大小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Linux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线程接口实例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线程接口实例：语言运行时环境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Runnable</a:t>
            </a:r>
            <a:r>
              <a:rPr lang="en-US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在</a:t>
            </a:r>
            <a:r>
              <a:rPr lang="en-US" altLang="zh-CN" sz="2000">
                <a:sym typeface="+mn-ea"/>
              </a:rPr>
              <a:t>Java</a:t>
            </a:r>
            <a:r>
              <a:rPr lang="zh-CN" altLang="en-US" sz="2000">
                <a:sym typeface="+mn-ea"/>
              </a:rPr>
              <a:t>等托管代码（</a:t>
            </a:r>
            <a:r>
              <a:rPr lang="en-US" altLang="zh-CN" sz="2000">
                <a:sym typeface="+mn-ea"/>
              </a:rPr>
              <a:t>Managed Code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ym typeface="+mn-ea"/>
              </a:rPr>
              <a:t>Managed Language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ym typeface="+mn-ea"/>
              </a:rPr>
              <a:t>VM </a:t>
            </a:r>
            <a:r>
              <a:rPr lang="en-US" sz="2000">
                <a:sym typeface="+mn-ea"/>
              </a:rPr>
              <a:t>		</a:t>
            </a:r>
            <a:r>
              <a:rPr lang="en-US" altLang="zh-CN" sz="2000">
                <a:sym typeface="+mn-ea"/>
              </a:rPr>
              <a:t>Language</a:t>
            </a:r>
            <a:r>
              <a:rPr lang="zh-CN" altLang="en-US" sz="2000">
                <a:sym typeface="+mn-ea"/>
              </a:rPr>
              <a:t>）语言中，往往会提供比</a:t>
            </a:r>
            <a:r>
              <a:rPr lang="en-US" altLang="zh-CN" sz="2000">
                <a:sym typeface="+mn-ea"/>
              </a:rPr>
              <a:t>C</a:t>
            </a:r>
            <a:r>
              <a:rPr lang="zh-CN" altLang="en-US" sz="2000">
                <a:sym typeface="+mn-ea"/>
              </a:rPr>
              <a:t>语言更易用的线程接口。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这些接口的底层也对接到系统调用，但比起</a:t>
            </a:r>
            <a:r>
              <a:rPr lang="zh-CN" sz="2000">
                <a:sym typeface="+mn-ea"/>
              </a:rPr>
              <a:t>编译型语言</a:t>
            </a:r>
            <a:r>
              <a:rPr lang="zh-CN" altLang="en-US" sz="2000">
                <a:sym typeface="+mn-ea"/>
              </a:rPr>
              <a:t>而言</a:t>
            </a:r>
            <a:r>
              <a:rPr lang="en-US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实现了一次编译到处执行，即便移植到不同的操作系统上也不</a:t>
            </a:r>
            <a:r>
              <a:rPr lang="en-US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需要重新编译和链接应用程序。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对于</a:t>
            </a:r>
            <a:r>
              <a:rPr lang="en-US" altLang="zh-CN" sz="2000">
                <a:sym typeface="+mn-ea"/>
              </a:rPr>
              <a:t>Java</a:t>
            </a:r>
            <a:r>
              <a:rPr lang="zh-CN" altLang="en-US" sz="2000">
                <a:sym typeface="+mn-ea"/>
              </a:rPr>
              <a:t>语言，这个接口是</a:t>
            </a:r>
            <a:r>
              <a:rPr lang="en-US" altLang="zh-CN" sz="2000">
                <a:sym typeface="+mn-ea"/>
              </a:rPr>
              <a:t>Runnable</a:t>
            </a:r>
            <a:r>
              <a:rPr lang="zh-CN" altLang="en-US" sz="2000">
                <a:sym typeface="+mn-ea"/>
              </a:rPr>
              <a:t>类，只要继承它并编写</a:t>
            </a:r>
            <a:r>
              <a:rPr lang="en-US" altLang="zh-CN" sz="2000">
                <a:sym typeface="+mn-ea"/>
              </a:rPr>
              <a:t>Run()</a:t>
            </a:r>
            <a:r>
              <a:rPr lang="en-US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方法</a:t>
            </a:r>
            <a:r>
              <a:rPr lang="zh-CN" altLang="en-US" sz="2000">
                <a:sym typeface="+mn-ea"/>
              </a:rPr>
              <a:t>就可以实现多线程功能。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Thread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这是</a:t>
            </a:r>
            <a:r>
              <a:rPr lang="en-US" altLang="zh-CN" sz="2000">
                <a:sym typeface="+mn-ea"/>
              </a:rPr>
              <a:t>C#</a:t>
            </a:r>
            <a:r>
              <a:rPr lang="zh-CN" altLang="en-US" sz="2000">
                <a:sym typeface="+mn-ea"/>
              </a:rPr>
              <a:t>和</a:t>
            </a:r>
            <a:r>
              <a:rPr lang="en-US" altLang="zh-CN" sz="2000">
                <a:sym typeface="+mn-ea"/>
              </a:rPr>
              <a:t>PHP</a:t>
            </a:r>
            <a:r>
              <a:rPr lang="zh-CN" altLang="en-US" sz="2000">
                <a:sym typeface="+mn-ea"/>
              </a:rPr>
              <a:t>等语言提供的线程类。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Worker	</a:t>
            </a:r>
            <a:r>
              <a:rPr lang="en-US" altLang="zh-CN" sz="2000">
                <a:sym typeface="+mn-ea"/>
              </a:rPr>
              <a:t>	Javascript</a:t>
            </a:r>
            <a:r>
              <a:rPr lang="zh-CN" altLang="en-US" sz="2000">
                <a:sym typeface="+mn-ea"/>
              </a:rPr>
              <a:t>语言常用的线程类。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threading</a:t>
            </a:r>
            <a:r>
              <a:rPr lang="en-US" altLang="zh-CN" sz="2000">
                <a:sym typeface="+mn-ea"/>
              </a:rPr>
              <a:t>	Python</a:t>
            </a:r>
            <a:r>
              <a:rPr lang="zh-CN" altLang="en-US" sz="2000">
                <a:sym typeface="+mn-ea"/>
              </a:rPr>
              <a:t>语言提供的线程类。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Goroutine</a:t>
            </a:r>
            <a:r>
              <a:rPr lang="en-US" altLang="zh-CN" sz="2000">
                <a:sym typeface="+mn-ea"/>
              </a:rPr>
              <a:t>	Go</a:t>
            </a:r>
            <a:r>
              <a:rPr lang="zh-CN" altLang="en-US" sz="2000">
                <a:sym typeface="+mn-ea"/>
              </a:rPr>
              <a:t>语言提供的协程类，比线程更轻量级。当然，</a:t>
            </a:r>
            <a:r>
              <a:rPr lang="en-US" altLang="zh-CN" sz="2000">
                <a:sym typeface="+mn-ea"/>
              </a:rPr>
              <a:t>Go</a:t>
            </a:r>
            <a:r>
              <a:rPr lang="zh-CN" altLang="en-US" sz="2000">
                <a:sym typeface="+mn-ea"/>
              </a:rPr>
              <a:t>语言也提供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全功能的</a:t>
            </a:r>
            <a:r>
              <a:rPr lang="en-US" altLang="zh-CN" sz="2000">
                <a:sym typeface="+mn-ea"/>
              </a:rPr>
              <a:t>Thread</a:t>
            </a:r>
            <a:r>
              <a:rPr lang="zh-CN" altLang="en-US" sz="2000">
                <a:sym typeface="+mn-ea"/>
              </a:rPr>
              <a:t>类。</a:t>
            </a:r>
            <a:endParaRPr lang="zh-CN" altLang="en-US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Linux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线程接口实例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Text Box 2"/>
          <p:cNvSpPr txBox="1"/>
          <p:nvPr/>
        </p:nvSpPr>
        <p:spPr>
          <a:xfrm>
            <a:off x="428625" y="140335"/>
            <a:ext cx="8930640" cy="655447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anchorCtr="0">
            <a:spAutoFit/>
          </a:bodyPr>
          <a:p>
            <a:pPr algn="ctr">
              <a:spcBef>
                <a:spcPct val="20000"/>
              </a:spcBef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6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号作业：第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5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周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题目一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 </a:t>
            </a:r>
            <a:r>
              <a:rPr lang="zh-CN" sz="2000">
                <a:sym typeface="+mn-ea"/>
              </a:rPr>
              <a:t>查询资料，说明Linux中线程的nice值的含义，以及用什么命令来查看和设置nice值。为什么</a:t>
            </a:r>
            <a:r>
              <a:rPr lang="en-US" altLang="zh-CN" sz="2000">
                <a:sym typeface="+mn-ea"/>
              </a:rPr>
              <a:t>Linux</a:t>
            </a:r>
            <a:r>
              <a:rPr lang="zh-CN" altLang="en-US" sz="2000">
                <a:sym typeface="+mn-ea"/>
              </a:rPr>
              <a:t>仅允许超级用户将</a:t>
            </a:r>
            <a:r>
              <a:rPr lang="en-US" altLang="zh-CN" sz="2000">
                <a:sym typeface="+mn-ea"/>
              </a:rPr>
              <a:t>nice</a:t>
            </a:r>
            <a:r>
              <a:rPr lang="zh-CN" altLang="en-US" sz="2000">
                <a:sym typeface="+mn-ea"/>
              </a:rPr>
              <a:t>值设置到小于</a:t>
            </a:r>
            <a:r>
              <a:rPr lang="en-US" altLang="zh-CN" sz="2000">
                <a:sym typeface="+mn-ea"/>
              </a:rPr>
              <a:t>0</a:t>
            </a:r>
            <a:r>
              <a:rPr lang="zh-CN" altLang="en-US" sz="2000">
                <a:sym typeface="+mn-ea"/>
              </a:rPr>
              <a:t>，而普通用户</a:t>
            </a:r>
            <a:r>
              <a:rPr lang="zh-CN" sz="2000">
                <a:sym typeface="+mn-ea"/>
              </a:rPr>
              <a:t>不允许这样做？</a:t>
            </a:r>
            <a:endParaRPr lang="zh-CN" sz="2000"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题目二</a:t>
            </a:r>
            <a:r>
              <a:rPr lang="zh-CN" sz="2000">
                <a:sym typeface="+mn-ea"/>
              </a:rPr>
              <a:t> 当存在一个外设产生大量频繁的I/O请求时，请说明I/O设备响应时间和CPU利用率之间为何存在矛盾。提示：线程调度和上下文切换都不是免费的。</a:t>
            </a:r>
            <a:endParaRPr lang="zh-CN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题目三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说明平均周转时间和最大等待时间在什么情况下存在矛盾、调度策略兼顾它们有什么困难。提示：平均值和极端值描述的区别，系统中一般存在一系列小任务和少数长任务。</a:t>
            </a: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en-US" altLang="zh-CN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题目四</a:t>
            </a:r>
            <a:r>
              <a:rPr lang="en-US" altLang="zh-CN" sz="2000">
                <a:sym typeface="+mn-ea"/>
              </a:rPr>
              <a:t> Linux</a:t>
            </a:r>
            <a:r>
              <a:rPr lang="zh-CN" altLang="en-US" sz="2000">
                <a:sym typeface="+mn-ea"/>
              </a:rPr>
              <a:t>的</a:t>
            </a:r>
            <a:r>
              <a:rPr lang="en-US" altLang="zh-CN" sz="2000">
                <a:sym typeface="+mn-ea"/>
              </a:rPr>
              <a:t>CFS</a:t>
            </a:r>
            <a:r>
              <a:rPr lang="zh-CN" altLang="en-US" sz="2000">
                <a:sym typeface="+mn-ea"/>
              </a:rPr>
              <a:t>调度器是否可能产生饥饿？为什么？提示：考虑新加入系统中的线程的</a:t>
            </a:r>
            <a:r>
              <a:rPr lang="en-US" altLang="zh-CN" sz="2000">
                <a:sym typeface="+mn-ea"/>
              </a:rPr>
              <a:t>R</a:t>
            </a:r>
            <a:r>
              <a:rPr lang="en-US" altLang="zh-CN" sz="2000" baseline="-25000">
                <a:sym typeface="+mn-ea"/>
              </a:rPr>
              <a:t>v</a:t>
            </a:r>
            <a:r>
              <a:rPr lang="zh-CN" altLang="en-US" sz="2000">
                <a:sym typeface="+mn-ea"/>
              </a:rPr>
              <a:t>的</a:t>
            </a:r>
            <a:r>
              <a:rPr lang="zh-CN" altLang="en-US" sz="2000">
                <a:sym typeface="+mn-ea"/>
              </a:rPr>
              <a:t>设置；自行查找资料，说明</a:t>
            </a:r>
            <a:r>
              <a:rPr lang="en-US" altLang="zh-CN" sz="2000">
                <a:sym typeface="+mn-ea"/>
              </a:rPr>
              <a:t>min_runtime</a:t>
            </a:r>
            <a:r>
              <a:rPr lang="zh-CN" altLang="en-US" sz="2000">
                <a:sym typeface="+mn-ea"/>
              </a:rPr>
              <a:t>的维护及其用途。</a:t>
            </a: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题目五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阅读</a:t>
            </a:r>
            <a:r>
              <a:rPr lang="en-US" altLang="zh-CN" sz="2000">
                <a:sym typeface="+mn-ea"/>
              </a:rPr>
              <a:t>RTAS</a:t>
            </a:r>
            <a:r>
              <a:rPr lang="zh-CN" altLang="en-US" sz="2000">
                <a:sym typeface="+mn-ea"/>
              </a:rPr>
              <a:t>文献Slite: OS Support for Near Zero-Cost, Configurable Scheduling，请简要描述该文献如何实现在用户模式下调度内核级线程，以及这样做有什么优越效果。</a:t>
            </a:r>
            <a:endParaRPr lang="zh-CN" altLang="en-US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TIMING" val="|0.3|0.8|0.7|0.7|1.2|1.3"/>
</p:tagLst>
</file>

<file path=ppt/tags/tag2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TIMING" val="|0.6|0.8|1.2|0.9|0.6|1.1|0.7|0.6|0.8|0.4|1"/>
</p:tagLst>
</file>

<file path=ppt/tags/tag8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TIMING" val="|0.6|0.8|1.2|0.9|0.6|1.1|0.7|0.6|0.8|0.4|1"/>
</p:tagLst>
</file>

<file path=ppt/tags/tag14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TIMING" val="|0.6|0.8|1.2|0.9|0.6|1.1|0.7|0.6|0.8|0.4|1"/>
</p:tagLst>
</file>

<file path=ppt/tags/tag20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TIMING" val="|0.6|0.8|1.2|0.9|0.6|1.1|0.7|0.6|0.8|0.4|1"/>
</p:tagLst>
</file>

<file path=ppt/tags/tag26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TIMING" val="|0.6|0.8|1.2|0.9|0.6|1.1|0.7|0.6|0.8|0.4|1"/>
</p:tagLst>
</file>

<file path=ppt/tags/tag32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TIMING" val="|0.6|0.8|1.2|0.9|0.6|1.1|0.7|0.6|0.8|0.4|1"/>
</p:tagLst>
</file>

<file path=ppt/tags/tag36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TIMING" val="|0.6|0.8|1.2|0.9|0.6|1.1|0.7|0.6|0.8|0.4|1"/>
</p:tagLst>
</file>

<file path=ppt/tags/tag39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40.xml><?xml version="1.0" encoding="utf-8"?>
<p:tagLst xmlns:p="http://schemas.openxmlformats.org/presentationml/2006/main">
  <p:tag name="KSO_WM_UNIT_TABLE_BEAUTIFY" val="smartTable{a8b21506-2bba-49b1-9e39-8012d08ce0ce}"/>
  <p:tag name="TABLE_ENDDRAG_ORIGIN_RECT" val="726*263"/>
  <p:tag name="TABLE_ENDDRAG_RECT" val="26*125*726*263"/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TIMING" val="|0.6|0.8|1.2|0.9|0.6|1.1|0.7|0.6|0.8|0.4|1"/>
</p:tagLst>
</file>

<file path=ppt/tags/tag43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TIMING" val="|0.6|0.8|1.2|0.9|0.6|1.1|0.7|0.6|0.8|0.4|1"/>
</p:tagLst>
</file>

<file path=ppt/tags/tag55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56.xml><?xml version="1.0" encoding="utf-8"?>
<p:tagLst xmlns:p="http://schemas.openxmlformats.org/presentationml/2006/main">
  <p:tag name="TIMING" val="|0.6|0.8|1.2|0.9|0.6|1.1|0.7|0.6|0.8|0.4|1"/>
</p:tagLst>
</file>

<file path=ppt/tags/tag57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58.xml><?xml version="1.0" encoding="utf-8"?>
<p:tagLst xmlns:p="http://schemas.openxmlformats.org/presentationml/2006/main">
  <p:tag name="TIMING" val="|0.6|0.8|1.2|0.9|0.6|1.1|0.7|0.6|0.8|0.4|1"/>
</p:tagLst>
</file>

<file path=ppt/tags/tag59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60.xml><?xml version="1.0" encoding="utf-8"?>
<p:tagLst xmlns:p="http://schemas.openxmlformats.org/presentationml/2006/main">
  <p:tag name="TIMING" val="|0.6|0.8|1.2|0.9|0.6|1.1|0.7|0.6|0.8|0.4|1"/>
</p:tagLst>
</file>

<file path=ppt/tags/tag61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62.xml><?xml version="1.0" encoding="utf-8"?>
<p:tagLst xmlns:p="http://schemas.openxmlformats.org/presentationml/2006/main">
  <p:tag name="TIMING" val="|0.6|0.8|1.2|0.9|0.6|1.1|0.7|0.6|0.8|0.4|1"/>
</p:tagLst>
</file>

<file path=ppt/tags/tag63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64.xml><?xml version="1.0" encoding="utf-8"?>
<p:tagLst xmlns:p="http://schemas.openxmlformats.org/presentationml/2006/main">
  <p:tag name="TIMING" val="|0.6|0.8|1.2|0.9|0.6|1.1|0.7|0.6|0.8|0.4|1"/>
</p:tagLst>
</file>

<file path=ppt/tags/tag65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TIMING" val="|0.6|0.8|1.2|0.9|0.6|1.1|0.7|0.6|0.8|0.4|1"/>
</p:tagLst>
</file>

<file path=ppt/tags/tag88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TIMING" val="|0.6|0.8|1.2|0.9|0.6|1.1|0.7|0.6|0.8|0.4|1"/>
</p:tagLst>
</file>

<file path=ppt/tags/tag122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23.xml><?xml version="1.0" encoding="utf-8"?>
<p:tagLst xmlns:p="http://schemas.openxmlformats.org/presentationml/2006/main">
  <p:tag name="TIMING" val="|0.6|0.8|1.2|0.9|0.6|1.1|0.7|0.6|0.8|0.4|1"/>
</p:tagLst>
</file>

<file path=ppt/tags/tag124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25.xml><?xml version="1.0" encoding="utf-8"?>
<p:tagLst xmlns:p="http://schemas.openxmlformats.org/presentationml/2006/main">
  <p:tag name="TIMING" val="|0.6|0.8|1.2|0.9|0.6|1.1|0.7|0.6|0.8|0.4|1"/>
</p:tagLst>
</file>

<file path=ppt/tags/tag126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27.xml><?xml version="1.0" encoding="utf-8"?>
<p:tagLst xmlns:p="http://schemas.openxmlformats.org/presentationml/2006/main">
  <p:tag name="TIMING" val="|0.6|0.8|1.2|0.9|0.6|1.1|0.7|0.6|0.8|0.4|1"/>
</p:tagLst>
</file>

<file path=ppt/tags/tag128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TIMING" val="|0.6|0.8|1.2|0.9|0.6|1.1|0.7|0.6|0.8|0.4|1"/>
</p:tagLst>
</file>

<file path=ppt/tags/tag145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TIMING" val="|0.6|0.8|1.2|0.9|0.6|1.1|0.7|0.6|0.8|0.4|1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52.xml><?xml version="1.0" encoding="utf-8"?>
<p:tagLst xmlns:p="http://schemas.openxmlformats.org/presentationml/2006/main">
  <p:tag name="TIMING" val="|0.6|0.8|1.2|0.9|0.6|1.1|0.7|0.6|0.8|0.4|1"/>
</p:tagLst>
</file>

<file path=ppt/tags/tag153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54.xml><?xml version="1.0" encoding="utf-8"?>
<p:tagLst xmlns:p="http://schemas.openxmlformats.org/presentationml/2006/main">
  <p:tag name="TIMING" val="|0.6|0.8|1.2|0.9|0.6|1.1|0.7|0.6|0.8|0.4|1"/>
</p:tagLst>
</file>

<file path=ppt/tags/tag155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TIMING" val="|0.6|0.8|1.2|0.9|0.6|1.1|0.7|0.6|0.8|0.4|1"/>
</p:tagLst>
</file>

<file path=ppt/tags/tag165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66.xml><?xml version="1.0" encoding="utf-8"?>
<p:tagLst xmlns:p="http://schemas.openxmlformats.org/presentationml/2006/main">
  <p:tag name="TIMING" val="|0.6|0.8|1.2|0.9|0.6|1.1|0.7|0.6|0.8|0.4|1"/>
</p:tagLst>
</file>

<file path=ppt/tags/tag167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TIMING" val="|0.6|0.8|1.2|0.9|0.6|1.1|0.7|0.6|0.8|0.4|1"/>
</p:tagLst>
</file>

<file path=ppt/tags/tag192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TIMING" val="|0.6|0.8|1.2|0.9|0.6|1.1|0.7|0.6|0.8|0.4|1"/>
</p:tagLst>
</file>

<file path=ppt/tags/tag225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26.xml><?xml version="1.0" encoding="utf-8"?>
<p:tagLst xmlns:p="http://schemas.openxmlformats.org/presentationml/2006/main">
  <p:tag name="TIMING" val="|0.6|0.8|1.2|0.9|0.6|1.1|0.7|0.6|0.8|0.4|1"/>
</p:tagLst>
</file>

<file path=ppt/tags/tag227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28.xml><?xml version="1.0" encoding="utf-8"?>
<p:tagLst xmlns:p="http://schemas.openxmlformats.org/presentationml/2006/main">
  <p:tag name="TIMING" val="|0.6|0.8|1.2|0.9|0.6|1.1|0.7|0.6|0.8|0.4|1"/>
</p:tagLst>
</file>

<file path=ppt/tags/tag229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30.xml><?xml version="1.0" encoding="utf-8"?>
<p:tagLst xmlns:p="http://schemas.openxmlformats.org/presentationml/2006/main">
  <p:tag name="KSO_WM_UNIT_TABLE_BEAUTIFY" val="smartTable{a8b21506-2bba-49b1-9e39-8012d08ce0ce}"/>
  <p:tag name="TABLE_ENDDRAG_ORIGIN_RECT" val="726*263"/>
  <p:tag name="TABLE_ENDDRAG_RECT" val="26*125*726*263"/>
  <p:tag name="KSO_WM_BEAUTIFY_FLAG" val=""/>
</p:tagLst>
</file>

<file path=ppt/tags/tag231.xml><?xml version="1.0" encoding="utf-8"?>
<p:tagLst xmlns:p="http://schemas.openxmlformats.org/presentationml/2006/main">
  <p:tag name="TIMING" val="|0.6|0.8|1.2|0.9|0.6|1.1|0.7|0.6|0.8|0.4|1"/>
</p:tagLst>
</file>

<file path=ppt/tags/tag232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33.xml><?xml version="1.0" encoding="utf-8"?>
<p:tagLst xmlns:p="http://schemas.openxmlformats.org/presentationml/2006/main">
  <p:tag name="TIMING" val="|0.6|0.8|1.2|0.9|0.6|1.1|0.7|0.6|0.8|0.4|1"/>
</p:tagLst>
</file>

<file path=ppt/tags/tag234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35.xml><?xml version="1.0" encoding="utf-8"?>
<p:tagLst xmlns:p="http://schemas.openxmlformats.org/presentationml/2006/main">
  <p:tag name="TIMING" val="|0.6|0.8|1.2|0.9|0.6|1.1|0.7|0.6|0.8|0.4|1"/>
</p:tagLst>
</file>

<file path=ppt/tags/tag236.xml><?xml version="1.0" encoding="utf-8"?>
<p:tagLst xmlns:p="http://schemas.openxmlformats.org/presentationml/2006/main">
  <p:tag name="COMMONDATA" val="eyJoZGlkIjoiYWEwMGE1NWI5YzQ1ZTYxZmY0OTNkMmVjYzk0YWI1NTEifQ=="/>
  <p:tag name="KSO_WPP_MARK_KEY" val="b648bd06-0c48-48d1-88e9-75114c59f56c"/>
  <p:tag name="commondata" val="eyJoZGlkIjoiNGY1OTNlYzdlMWQ2NDQ3ODU2NzFhYmIzMTgyYzM0ZGM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D02F35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14220</Words>
  <Application>WPS 演示</Application>
  <PresentationFormat>宽屏</PresentationFormat>
  <Paragraphs>1696</Paragraphs>
  <Slides>33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5" baseType="lpstr">
      <vt:lpstr>Arial</vt:lpstr>
      <vt:lpstr>宋体</vt:lpstr>
      <vt:lpstr>Wingdings</vt:lpstr>
      <vt:lpstr>Calibri</vt:lpstr>
      <vt:lpstr>等线</vt:lpstr>
      <vt:lpstr>华文楷体</vt:lpstr>
      <vt:lpstr>思源黑体 CN Regular</vt:lpstr>
      <vt:lpstr>纤黑体</vt:lpstr>
      <vt:lpstr>黑体</vt:lpstr>
      <vt:lpstr>微软雅黑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Think</dc:creator>
  <cp:lastModifiedBy>风暴鸟</cp:lastModifiedBy>
  <cp:revision>1741</cp:revision>
  <dcterms:created xsi:type="dcterms:W3CDTF">2020-07-23T10:11:00Z</dcterms:created>
  <dcterms:modified xsi:type="dcterms:W3CDTF">2026-03-30T12:16:43Z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5A1EE12111F04212A09581045797DBEA</vt:lpwstr>
  </property>
</Properties>
</file>