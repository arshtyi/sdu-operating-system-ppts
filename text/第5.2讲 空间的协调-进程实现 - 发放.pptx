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62"/>
  </p:handoutMasterIdLst>
  <p:sldIdLst>
    <p:sldId id="256" r:id="rId3"/>
    <p:sldId id="4869" r:id="rId5"/>
    <p:sldId id="4870" r:id="rId6"/>
    <p:sldId id="4871" r:id="rId7"/>
    <p:sldId id="4875" r:id="rId8"/>
    <p:sldId id="4876" r:id="rId9"/>
    <p:sldId id="4877" r:id="rId10"/>
    <p:sldId id="4927" r:id="rId11"/>
    <p:sldId id="4928" r:id="rId12"/>
    <p:sldId id="4880" r:id="rId13"/>
    <p:sldId id="4883" r:id="rId14"/>
    <p:sldId id="4884" r:id="rId15"/>
    <p:sldId id="4878" r:id="rId16"/>
    <p:sldId id="4885" r:id="rId17"/>
    <p:sldId id="4879" r:id="rId18"/>
    <p:sldId id="4888" r:id="rId19"/>
    <p:sldId id="4881" r:id="rId20"/>
    <p:sldId id="4886" r:id="rId21"/>
    <p:sldId id="4887" r:id="rId22"/>
    <p:sldId id="4890" r:id="rId23"/>
    <p:sldId id="4891" r:id="rId24"/>
    <p:sldId id="4892" r:id="rId25"/>
    <p:sldId id="4893" r:id="rId26"/>
    <p:sldId id="4895" r:id="rId27"/>
    <p:sldId id="4896" r:id="rId28"/>
    <p:sldId id="4897" r:id="rId29"/>
    <p:sldId id="4898" r:id="rId30"/>
    <p:sldId id="4900" r:id="rId31"/>
    <p:sldId id="4901" r:id="rId32"/>
    <p:sldId id="4902" r:id="rId33"/>
    <p:sldId id="4903" r:id="rId34"/>
    <p:sldId id="4906" r:id="rId35"/>
    <p:sldId id="4908" r:id="rId36"/>
    <p:sldId id="4909" r:id="rId37"/>
    <p:sldId id="4907" r:id="rId38"/>
    <p:sldId id="4911" r:id="rId39"/>
    <p:sldId id="4913" r:id="rId40"/>
    <p:sldId id="4914" r:id="rId41"/>
    <p:sldId id="4915" r:id="rId42"/>
    <p:sldId id="4919" r:id="rId43"/>
    <p:sldId id="4929" r:id="rId44"/>
    <p:sldId id="4916" r:id="rId45"/>
    <p:sldId id="4912" r:id="rId46"/>
    <p:sldId id="4918" r:id="rId47"/>
    <p:sldId id="4930" r:id="rId48"/>
    <p:sldId id="4932" r:id="rId49"/>
    <p:sldId id="4933" r:id="rId50"/>
    <p:sldId id="4935" r:id="rId51"/>
    <p:sldId id="4931" r:id="rId52"/>
    <p:sldId id="4936" r:id="rId53"/>
    <p:sldId id="4939" r:id="rId54"/>
    <p:sldId id="4940" r:id="rId55"/>
    <p:sldId id="4937" r:id="rId56"/>
    <p:sldId id="4938" r:id="rId57"/>
    <p:sldId id="4941" r:id="rId58"/>
    <p:sldId id="4944" r:id="rId59"/>
    <p:sldId id="4910" r:id="rId60"/>
    <p:sldId id="4942" r:id="rId61"/>
  </p:sldIdLst>
  <p:sldSz cx="12192000" cy="6858000"/>
  <p:notesSz cx="6858000" cy="9144000"/>
  <p:custDataLst>
    <p:tags r:id="rId6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379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王妍洁" initials="王妍洁" lastIdx="3" clrIdx="0"/>
  <p:cmAuthor id="2" name="Administrator" initials="A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C0B15"/>
    <a:srgbClr val="D02F35"/>
    <a:srgbClr val="CD858A"/>
    <a:srgbClr val="8BA8DB"/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77" d="100"/>
          <a:sy n="77" d="100"/>
        </p:scale>
        <p:origin x="108" y="36"/>
      </p:cViewPr>
      <p:guideLst>
        <p:guide orient="horz" pos="2136"/>
        <p:guide pos="379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7" Type="http://schemas.openxmlformats.org/officeDocument/2006/relationships/tags" Target="tags/tag402.xml"/><Relationship Id="rId66" Type="http://schemas.openxmlformats.org/officeDocument/2006/relationships/commentAuthors" Target="commentAuthors.xml"/><Relationship Id="rId65" Type="http://schemas.openxmlformats.org/officeDocument/2006/relationships/tableStyles" Target="tableStyles.xml"/><Relationship Id="rId64" Type="http://schemas.openxmlformats.org/officeDocument/2006/relationships/viewProps" Target="viewProps.xml"/><Relationship Id="rId63" Type="http://schemas.openxmlformats.org/officeDocument/2006/relationships/presProps" Target="presProps.xml"/><Relationship Id="rId62" Type="http://schemas.openxmlformats.org/officeDocument/2006/relationships/handoutMaster" Target="handoutMasters/handoutMaster1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这门课的目的</a:t>
            </a:r>
            <a:r>
              <a:rPr lang="zh-CN" altLang="en-US"/>
              <a:t>是什么？</a:t>
            </a:r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这门课的目的</a:t>
            </a:r>
            <a:r>
              <a:rPr lang="zh-CN" altLang="en-US"/>
              <a:t>是什么？</a:t>
            </a:r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这门课的目的</a:t>
            </a:r>
            <a:r>
              <a:rPr lang="zh-CN" altLang="en-US"/>
              <a:t>是什么？</a:t>
            </a:r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这门课的目的</a:t>
            </a:r>
            <a:r>
              <a:rPr lang="zh-CN" altLang="en-US"/>
              <a:t>是什么？</a:t>
            </a:r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这门课的目的</a:t>
            </a:r>
            <a:r>
              <a:rPr lang="zh-CN" altLang="en-US"/>
              <a:t>是什么？</a:t>
            </a:r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这门课的目的</a:t>
            </a:r>
            <a:r>
              <a:rPr lang="zh-CN" altLang="en-US"/>
              <a:t>是什么？</a:t>
            </a:r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这门课的目的</a:t>
            </a:r>
            <a:r>
              <a:rPr lang="zh-CN" altLang="en-US"/>
              <a:t>是什么？</a:t>
            </a:r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这门课的目的</a:t>
            </a:r>
            <a:r>
              <a:rPr lang="zh-CN" altLang="en-US"/>
              <a:t>是什么？</a:t>
            </a:r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这门课的目的</a:t>
            </a:r>
            <a:r>
              <a:rPr lang="zh-CN" altLang="en-US"/>
              <a:t>是什么？</a:t>
            </a:r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这门课的目的</a:t>
            </a:r>
            <a:r>
              <a:rPr lang="zh-CN" altLang="en-US"/>
              <a:t>是什么？</a:t>
            </a:r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这门课的目的</a:t>
            </a:r>
            <a:r>
              <a:rPr lang="zh-CN" altLang="en-US"/>
              <a:t>是什么？</a:t>
            </a:r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这门课的目的</a:t>
            </a:r>
            <a:r>
              <a:rPr lang="zh-CN" altLang="en-US"/>
              <a:t>是什么？</a:t>
            </a:r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这门课的目的</a:t>
            </a:r>
            <a:r>
              <a:rPr lang="zh-CN" altLang="en-US"/>
              <a:t>是什么？</a:t>
            </a:r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这门课的目的</a:t>
            </a:r>
            <a:r>
              <a:rPr lang="zh-CN" altLang="en-US"/>
              <a:t>是什么？</a:t>
            </a:r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这门课的目的</a:t>
            </a:r>
            <a:r>
              <a:rPr lang="zh-CN" altLang="en-US"/>
              <a:t>是什么？</a:t>
            </a:r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这门课的目的</a:t>
            </a:r>
            <a:r>
              <a:rPr lang="zh-CN" altLang="en-US"/>
              <a:t>是什么？</a:t>
            </a:r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这门课的目的</a:t>
            </a:r>
            <a:r>
              <a:rPr lang="zh-CN" altLang="en-US"/>
              <a:t>是什么？</a:t>
            </a:r>
            <a:endParaRPr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</a:t>
            </a:r>
            <a:endParaRPr lang="zh-CN" alt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12" name="圆: 空心 11"/>
          <p:cNvSpPr/>
          <p:nvPr userDrawn="1"/>
        </p:nvSpPr>
        <p:spPr>
          <a:xfrm>
            <a:off x="11604170" y="6385918"/>
            <a:ext cx="1248229" cy="1248229"/>
          </a:xfrm>
          <a:prstGeom prst="donut">
            <a:avLst>
              <a:gd name="adj" fmla="val 21798"/>
            </a:avLst>
          </a:prstGeom>
          <a:solidFill>
            <a:srgbClr val="9C0B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  <a:endParaRPr lang="en-US" strike="noStrike" noProof="1"/>
          </a:p>
          <a:p>
            <a:pPr lvl="1" fontAlgn="base"/>
            <a:r>
              <a:rPr lang="en-US" strike="noStrike" noProof="1"/>
              <a:t>Second level</a:t>
            </a:r>
            <a:endParaRPr lang="en-US" strike="noStrike" noProof="1"/>
          </a:p>
          <a:p>
            <a:pPr lvl="2" fontAlgn="base"/>
            <a:r>
              <a:rPr lang="en-US" strike="noStrike" noProof="1"/>
              <a:t>Third level</a:t>
            </a:r>
            <a:endParaRPr lang="en-US" strike="noStrike" noProof="1"/>
          </a:p>
          <a:p>
            <a:pPr lvl="3" fontAlgn="base"/>
            <a:r>
              <a:rPr lang="en-US" strike="noStrike" noProof="1"/>
              <a:t>Fourth level</a:t>
            </a:r>
            <a:endParaRPr lang="en-US" strike="noStrike" noProof="1"/>
          </a:p>
          <a:p>
            <a:pPr lvl="4" fontAlgn="base"/>
            <a:r>
              <a:rPr lang="en-US" strike="noStrike" noProof="1"/>
              <a:t>Fifth level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  <a:endParaRPr lang="en-US" strike="noStrike" noProof="1"/>
          </a:p>
          <a:p>
            <a:pPr lvl="1" fontAlgn="base"/>
            <a:r>
              <a:rPr lang="en-US" strike="noStrike" noProof="1"/>
              <a:t>Second level</a:t>
            </a:r>
            <a:endParaRPr lang="en-US" strike="noStrike" noProof="1"/>
          </a:p>
          <a:p>
            <a:pPr lvl="2" fontAlgn="base"/>
            <a:r>
              <a:rPr lang="en-US" strike="noStrike" noProof="1"/>
              <a:t>Third level</a:t>
            </a:r>
            <a:endParaRPr lang="en-US" strike="noStrike" noProof="1"/>
          </a:p>
          <a:p>
            <a:pPr lvl="3" fontAlgn="base"/>
            <a:r>
              <a:rPr lang="en-US" strike="noStrike" noProof="1"/>
              <a:t>Fourth level</a:t>
            </a:r>
            <a:endParaRPr lang="en-US" strike="noStrike" noProof="1"/>
          </a:p>
          <a:p>
            <a:pPr lvl="4" fontAlgn="base"/>
            <a:r>
              <a:rPr lang="en-US" strike="noStrike" noProof="1"/>
              <a:t>Fifth level</a:t>
            </a:r>
            <a:endParaRPr lang="en-US" strike="noStrike" noProof="1"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2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p>
            <a:pPr algn="r" eaLnBrk="1" fontAlgn="base" hangingPunct="1">
              <a:buNone/>
            </a:pPr>
            <a:fld id="{9A0DB2DC-4C9A-4742-B13C-FB6460FD3503}" type="slidenum">
              <a:rPr lang="en-US" altLang="zh-CN" strike="noStrike" noProof="1">
                <a:latin typeface="Calibri" panose="020F0502020204030204" charset="0"/>
                <a:ea typeface="等线" panose="02010600030101010101" charset="-122"/>
                <a:cs typeface="+mn-cs"/>
              </a:rPr>
            </a:fld>
            <a:endParaRPr lang="en-US" altLang="zh-CN" strike="noStrike" noProof="1">
              <a:ea typeface="等线" panose="02010600030101010101" charset="-122"/>
            </a:endParaRPr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med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5.xml"/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tags" Target="../tags/tag6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2.xml"/><Relationship Id="rId4" Type="http://schemas.openxmlformats.org/officeDocument/2006/relationships/image" Target="../media/image2.png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tags" Target="../tags/tag9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6" Type="http://schemas.openxmlformats.org/officeDocument/2006/relationships/notesSlide" Target="../notesSlides/notesSlide5.xml"/><Relationship Id="rId15" Type="http://schemas.openxmlformats.org/officeDocument/2006/relationships/slideLayout" Target="../slideLayouts/slideLayout2.xml"/><Relationship Id="rId14" Type="http://schemas.openxmlformats.org/officeDocument/2006/relationships/tags" Target="../tags/tag26.xml"/><Relationship Id="rId13" Type="http://schemas.openxmlformats.org/officeDocument/2006/relationships/tags" Target="../tags/tag25.xml"/><Relationship Id="rId12" Type="http://schemas.openxmlformats.org/officeDocument/2006/relationships/tags" Target="../tags/tag24.xml"/><Relationship Id="rId11" Type="http://schemas.openxmlformats.org/officeDocument/2006/relationships/tags" Target="../tags/tag23.xml"/><Relationship Id="rId10" Type="http://schemas.openxmlformats.org/officeDocument/2006/relationships/tags" Target="../tags/tag22.xml"/><Relationship Id="rId1" Type="http://schemas.openxmlformats.org/officeDocument/2006/relationships/tags" Target="../tags/tag13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8.xml"/><Relationship Id="rId1" Type="http://schemas.openxmlformats.org/officeDocument/2006/relationships/tags" Target="../tags/tag27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0.xml"/><Relationship Id="rId1" Type="http://schemas.openxmlformats.org/officeDocument/2006/relationships/tags" Target="../tags/tag29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39.xml"/><Relationship Id="rId8" Type="http://schemas.openxmlformats.org/officeDocument/2006/relationships/tags" Target="../tags/tag38.xml"/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2" Type="http://schemas.openxmlformats.org/officeDocument/2006/relationships/notesSlide" Target="../notesSlides/notesSlide8.xml"/><Relationship Id="rId11" Type="http://schemas.openxmlformats.org/officeDocument/2006/relationships/slideLayout" Target="../slideLayouts/slideLayout2.xml"/><Relationship Id="rId10" Type="http://schemas.openxmlformats.org/officeDocument/2006/relationships/tags" Target="../tags/tag40.xml"/><Relationship Id="rId1" Type="http://schemas.openxmlformats.org/officeDocument/2006/relationships/tags" Target="../tags/tag31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49.xml"/><Relationship Id="rId8" Type="http://schemas.openxmlformats.org/officeDocument/2006/relationships/tags" Target="../tags/tag48.xml"/><Relationship Id="rId7" Type="http://schemas.openxmlformats.org/officeDocument/2006/relationships/tags" Target="../tags/tag47.xml"/><Relationship Id="rId6" Type="http://schemas.openxmlformats.org/officeDocument/2006/relationships/tags" Target="../tags/tag46.xml"/><Relationship Id="rId5" Type="http://schemas.openxmlformats.org/officeDocument/2006/relationships/tags" Target="../tags/tag45.xml"/><Relationship Id="rId4" Type="http://schemas.openxmlformats.org/officeDocument/2006/relationships/tags" Target="../tags/tag44.xml"/><Relationship Id="rId3" Type="http://schemas.openxmlformats.org/officeDocument/2006/relationships/tags" Target="../tags/tag43.xml"/><Relationship Id="rId21" Type="http://schemas.openxmlformats.org/officeDocument/2006/relationships/notesSlide" Target="../notesSlides/notesSlide9.xml"/><Relationship Id="rId20" Type="http://schemas.openxmlformats.org/officeDocument/2006/relationships/slideLayout" Target="../slideLayouts/slideLayout2.xml"/><Relationship Id="rId2" Type="http://schemas.openxmlformats.org/officeDocument/2006/relationships/tags" Target="../tags/tag42.xml"/><Relationship Id="rId19" Type="http://schemas.openxmlformats.org/officeDocument/2006/relationships/tags" Target="../tags/tag59.xml"/><Relationship Id="rId18" Type="http://schemas.openxmlformats.org/officeDocument/2006/relationships/tags" Target="../tags/tag58.xml"/><Relationship Id="rId17" Type="http://schemas.openxmlformats.org/officeDocument/2006/relationships/tags" Target="../tags/tag57.xml"/><Relationship Id="rId16" Type="http://schemas.openxmlformats.org/officeDocument/2006/relationships/tags" Target="../tags/tag56.xml"/><Relationship Id="rId15" Type="http://schemas.openxmlformats.org/officeDocument/2006/relationships/tags" Target="../tags/tag55.xml"/><Relationship Id="rId14" Type="http://schemas.openxmlformats.org/officeDocument/2006/relationships/tags" Target="../tags/tag54.xml"/><Relationship Id="rId13" Type="http://schemas.openxmlformats.org/officeDocument/2006/relationships/tags" Target="../tags/tag53.xml"/><Relationship Id="rId12" Type="http://schemas.openxmlformats.org/officeDocument/2006/relationships/tags" Target="../tags/tag52.xml"/><Relationship Id="rId11" Type="http://schemas.openxmlformats.org/officeDocument/2006/relationships/tags" Target="../tags/tag51.xml"/><Relationship Id="rId10" Type="http://schemas.openxmlformats.org/officeDocument/2006/relationships/tags" Target="../tags/tag50.xml"/><Relationship Id="rId1" Type="http://schemas.openxmlformats.org/officeDocument/2006/relationships/tags" Target="../tags/tag41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61.xml"/><Relationship Id="rId1" Type="http://schemas.openxmlformats.org/officeDocument/2006/relationships/tags" Target="../tags/tag60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63.xml"/><Relationship Id="rId1" Type="http://schemas.openxmlformats.org/officeDocument/2006/relationships/tags" Target="../tags/tag62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65.xml"/><Relationship Id="rId1" Type="http://schemas.openxmlformats.org/officeDocument/2006/relationships/tags" Target="../tags/tag64.xml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67.xml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tags" Target="../tags/tag66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69.xml"/><Relationship Id="rId1" Type="http://schemas.openxmlformats.org/officeDocument/2006/relationships/tags" Target="../tags/tag68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71.xml"/><Relationship Id="rId1" Type="http://schemas.openxmlformats.org/officeDocument/2006/relationships/tags" Target="../tags/tag70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6.xml"/><Relationship Id="rId7" Type="http://schemas.openxmlformats.org/officeDocument/2006/relationships/slideLayout" Target="../slideLayouts/slideLayout2.xml"/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7.xml"/><Relationship Id="rId8" Type="http://schemas.openxmlformats.org/officeDocument/2006/relationships/slideLayout" Target="../slideLayouts/slideLayout2.xml"/><Relationship Id="rId7" Type="http://schemas.openxmlformats.org/officeDocument/2006/relationships/tags" Target="../tags/tag82.xml"/><Relationship Id="rId6" Type="http://schemas.openxmlformats.org/officeDocument/2006/relationships/image" Target="../media/image6.png"/><Relationship Id="rId5" Type="http://schemas.openxmlformats.org/officeDocument/2006/relationships/tags" Target="../tags/tag81.xml"/><Relationship Id="rId4" Type="http://schemas.openxmlformats.org/officeDocument/2006/relationships/image" Target="../media/image5.png"/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" Type="http://schemas.openxmlformats.org/officeDocument/2006/relationships/tags" Target="../tags/tag78.xml"/></Relationships>
</file>

<file path=ppt/slides/_rels/slide1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8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86.xml"/><Relationship Id="rId4" Type="http://schemas.openxmlformats.org/officeDocument/2006/relationships/image" Target="../media/image7.png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tags" Target="../tags/tag83.xml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9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90.xml"/><Relationship Id="rId3" Type="http://schemas.openxmlformats.org/officeDocument/2006/relationships/tags" Target="../tags/tag89.xml"/><Relationship Id="rId2" Type="http://schemas.openxmlformats.org/officeDocument/2006/relationships/tags" Target="../tags/tag88.xml"/><Relationship Id="rId1" Type="http://schemas.openxmlformats.org/officeDocument/2006/relationships/tags" Target="../tags/tag87.xml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tags" Target="../tags/tag91.xml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96.xml"/><Relationship Id="rId2" Type="http://schemas.openxmlformats.org/officeDocument/2006/relationships/tags" Target="../tags/tag95.xml"/><Relationship Id="rId1" Type="http://schemas.openxmlformats.org/officeDocument/2006/relationships/tags" Target="../tags/tag94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98.xml"/><Relationship Id="rId1" Type="http://schemas.openxmlformats.org/officeDocument/2006/relationships/tags" Target="../tags/tag97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0.xml"/><Relationship Id="rId1" Type="http://schemas.openxmlformats.org/officeDocument/2006/relationships/tags" Target="../tags/tag99.xml"/></Relationships>
</file>

<file path=ppt/slides/_rels/slide2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4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4.xml"/><Relationship Id="rId3" Type="http://schemas.openxmlformats.org/officeDocument/2006/relationships/tags" Target="../tags/tag103.xml"/><Relationship Id="rId2" Type="http://schemas.openxmlformats.org/officeDocument/2006/relationships/tags" Target="../tags/tag102.xml"/><Relationship Id="rId1" Type="http://schemas.openxmlformats.org/officeDocument/2006/relationships/tags" Target="../tags/tag101.xml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tags" Target="../tags/tag113.xml"/><Relationship Id="rId8" Type="http://schemas.openxmlformats.org/officeDocument/2006/relationships/tags" Target="../tags/tag112.xml"/><Relationship Id="rId7" Type="http://schemas.openxmlformats.org/officeDocument/2006/relationships/tags" Target="../tags/tag111.xml"/><Relationship Id="rId6" Type="http://schemas.openxmlformats.org/officeDocument/2006/relationships/tags" Target="../tags/tag110.xml"/><Relationship Id="rId5" Type="http://schemas.openxmlformats.org/officeDocument/2006/relationships/tags" Target="../tags/tag109.xml"/><Relationship Id="rId4" Type="http://schemas.openxmlformats.org/officeDocument/2006/relationships/tags" Target="../tags/tag108.xml"/><Relationship Id="rId3" Type="http://schemas.openxmlformats.org/officeDocument/2006/relationships/tags" Target="../tags/tag107.xml"/><Relationship Id="rId2" Type="http://schemas.openxmlformats.org/officeDocument/2006/relationships/tags" Target="../tags/tag106.xml"/><Relationship Id="rId12" Type="http://schemas.openxmlformats.org/officeDocument/2006/relationships/notesSlide" Target="../notesSlides/notesSlide25.xml"/><Relationship Id="rId11" Type="http://schemas.openxmlformats.org/officeDocument/2006/relationships/slideLayout" Target="../slideLayouts/slideLayout2.xml"/><Relationship Id="rId10" Type="http://schemas.openxmlformats.org/officeDocument/2006/relationships/tags" Target="../tags/tag114.xml"/><Relationship Id="rId1" Type="http://schemas.openxmlformats.org/officeDocument/2006/relationships/tags" Target="../tags/tag105.xml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tags" Target="../tags/tag123.xml"/><Relationship Id="rId8" Type="http://schemas.openxmlformats.org/officeDocument/2006/relationships/tags" Target="../tags/tag122.xml"/><Relationship Id="rId7" Type="http://schemas.openxmlformats.org/officeDocument/2006/relationships/tags" Target="../tags/tag121.xml"/><Relationship Id="rId6" Type="http://schemas.openxmlformats.org/officeDocument/2006/relationships/tags" Target="../tags/tag120.xml"/><Relationship Id="rId5" Type="http://schemas.openxmlformats.org/officeDocument/2006/relationships/tags" Target="../tags/tag119.xml"/><Relationship Id="rId4" Type="http://schemas.openxmlformats.org/officeDocument/2006/relationships/tags" Target="../tags/tag118.xml"/><Relationship Id="rId3" Type="http://schemas.openxmlformats.org/officeDocument/2006/relationships/tags" Target="../tags/tag117.xml"/><Relationship Id="rId24" Type="http://schemas.openxmlformats.org/officeDocument/2006/relationships/notesSlide" Target="../notesSlides/notesSlide26.xml"/><Relationship Id="rId23" Type="http://schemas.openxmlformats.org/officeDocument/2006/relationships/slideLayout" Target="../slideLayouts/slideLayout2.xml"/><Relationship Id="rId22" Type="http://schemas.openxmlformats.org/officeDocument/2006/relationships/tags" Target="../tags/tag136.xml"/><Relationship Id="rId21" Type="http://schemas.openxmlformats.org/officeDocument/2006/relationships/tags" Target="../tags/tag135.xml"/><Relationship Id="rId20" Type="http://schemas.openxmlformats.org/officeDocument/2006/relationships/tags" Target="../tags/tag134.xml"/><Relationship Id="rId2" Type="http://schemas.openxmlformats.org/officeDocument/2006/relationships/tags" Target="../tags/tag116.xml"/><Relationship Id="rId19" Type="http://schemas.openxmlformats.org/officeDocument/2006/relationships/tags" Target="../tags/tag133.xml"/><Relationship Id="rId18" Type="http://schemas.openxmlformats.org/officeDocument/2006/relationships/tags" Target="../tags/tag132.xml"/><Relationship Id="rId17" Type="http://schemas.openxmlformats.org/officeDocument/2006/relationships/tags" Target="../tags/tag131.xml"/><Relationship Id="rId16" Type="http://schemas.openxmlformats.org/officeDocument/2006/relationships/tags" Target="../tags/tag130.xml"/><Relationship Id="rId15" Type="http://schemas.openxmlformats.org/officeDocument/2006/relationships/tags" Target="../tags/tag129.xml"/><Relationship Id="rId14" Type="http://schemas.openxmlformats.org/officeDocument/2006/relationships/tags" Target="../tags/tag128.xml"/><Relationship Id="rId13" Type="http://schemas.openxmlformats.org/officeDocument/2006/relationships/tags" Target="../tags/tag127.xml"/><Relationship Id="rId12" Type="http://schemas.openxmlformats.org/officeDocument/2006/relationships/tags" Target="../tags/tag126.xml"/><Relationship Id="rId11" Type="http://schemas.openxmlformats.org/officeDocument/2006/relationships/tags" Target="../tags/tag125.xml"/><Relationship Id="rId10" Type="http://schemas.openxmlformats.org/officeDocument/2006/relationships/tags" Target="../tags/tag124.xml"/><Relationship Id="rId1" Type="http://schemas.openxmlformats.org/officeDocument/2006/relationships/tags" Target="../tags/tag115.xml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7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8.xml"/><Relationship Id="rId1" Type="http://schemas.openxmlformats.org/officeDocument/2006/relationships/tags" Target="../tags/tag137.xml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8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40.xml"/><Relationship Id="rId2" Type="http://schemas.openxmlformats.org/officeDocument/2006/relationships/image" Target="../media/image8.jpeg"/><Relationship Id="rId1" Type="http://schemas.openxmlformats.org/officeDocument/2006/relationships/tags" Target="../tags/tag139.xml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tags" Target="../tags/tag149.xml"/><Relationship Id="rId8" Type="http://schemas.openxmlformats.org/officeDocument/2006/relationships/tags" Target="../tags/tag148.xml"/><Relationship Id="rId7" Type="http://schemas.openxmlformats.org/officeDocument/2006/relationships/tags" Target="../tags/tag147.xml"/><Relationship Id="rId6" Type="http://schemas.openxmlformats.org/officeDocument/2006/relationships/tags" Target="../tags/tag146.xml"/><Relationship Id="rId5" Type="http://schemas.openxmlformats.org/officeDocument/2006/relationships/tags" Target="../tags/tag145.xml"/><Relationship Id="rId4" Type="http://schemas.openxmlformats.org/officeDocument/2006/relationships/tags" Target="../tags/tag144.xml"/><Relationship Id="rId31" Type="http://schemas.openxmlformats.org/officeDocument/2006/relationships/notesSlide" Target="../notesSlides/notesSlide29.xml"/><Relationship Id="rId30" Type="http://schemas.openxmlformats.org/officeDocument/2006/relationships/slideLayout" Target="../slideLayouts/slideLayout2.xml"/><Relationship Id="rId3" Type="http://schemas.openxmlformats.org/officeDocument/2006/relationships/tags" Target="../tags/tag143.xml"/><Relationship Id="rId29" Type="http://schemas.openxmlformats.org/officeDocument/2006/relationships/tags" Target="../tags/tag169.xml"/><Relationship Id="rId28" Type="http://schemas.openxmlformats.org/officeDocument/2006/relationships/tags" Target="../tags/tag168.xml"/><Relationship Id="rId27" Type="http://schemas.openxmlformats.org/officeDocument/2006/relationships/tags" Target="../tags/tag167.xml"/><Relationship Id="rId26" Type="http://schemas.openxmlformats.org/officeDocument/2006/relationships/tags" Target="../tags/tag166.xml"/><Relationship Id="rId25" Type="http://schemas.openxmlformats.org/officeDocument/2006/relationships/tags" Target="../tags/tag165.xml"/><Relationship Id="rId24" Type="http://schemas.openxmlformats.org/officeDocument/2006/relationships/tags" Target="../tags/tag164.xml"/><Relationship Id="rId23" Type="http://schemas.openxmlformats.org/officeDocument/2006/relationships/tags" Target="../tags/tag163.xml"/><Relationship Id="rId22" Type="http://schemas.openxmlformats.org/officeDocument/2006/relationships/tags" Target="../tags/tag162.xml"/><Relationship Id="rId21" Type="http://schemas.openxmlformats.org/officeDocument/2006/relationships/tags" Target="../tags/tag161.xml"/><Relationship Id="rId20" Type="http://schemas.openxmlformats.org/officeDocument/2006/relationships/tags" Target="../tags/tag160.xml"/><Relationship Id="rId2" Type="http://schemas.openxmlformats.org/officeDocument/2006/relationships/tags" Target="../tags/tag142.xml"/><Relationship Id="rId19" Type="http://schemas.openxmlformats.org/officeDocument/2006/relationships/tags" Target="../tags/tag159.xml"/><Relationship Id="rId18" Type="http://schemas.openxmlformats.org/officeDocument/2006/relationships/tags" Target="../tags/tag158.xml"/><Relationship Id="rId17" Type="http://schemas.openxmlformats.org/officeDocument/2006/relationships/tags" Target="../tags/tag157.xml"/><Relationship Id="rId16" Type="http://schemas.openxmlformats.org/officeDocument/2006/relationships/tags" Target="../tags/tag156.xml"/><Relationship Id="rId15" Type="http://schemas.openxmlformats.org/officeDocument/2006/relationships/tags" Target="../tags/tag155.xml"/><Relationship Id="rId14" Type="http://schemas.openxmlformats.org/officeDocument/2006/relationships/tags" Target="../tags/tag154.xml"/><Relationship Id="rId13" Type="http://schemas.openxmlformats.org/officeDocument/2006/relationships/tags" Target="../tags/tag153.xml"/><Relationship Id="rId12" Type="http://schemas.openxmlformats.org/officeDocument/2006/relationships/tags" Target="../tags/tag152.xml"/><Relationship Id="rId11" Type="http://schemas.openxmlformats.org/officeDocument/2006/relationships/tags" Target="../tags/tag151.xml"/><Relationship Id="rId10" Type="http://schemas.openxmlformats.org/officeDocument/2006/relationships/tags" Target="../tags/tag150.xml"/><Relationship Id="rId1" Type="http://schemas.openxmlformats.org/officeDocument/2006/relationships/tags" Target="../tags/tag141.xml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tags" Target="../tags/tag178.xml"/><Relationship Id="rId8" Type="http://schemas.openxmlformats.org/officeDocument/2006/relationships/tags" Target="../tags/tag177.xml"/><Relationship Id="rId7" Type="http://schemas.openxmlformats.org/officeDocument/2006/relationships/tags" Target="../tags/tag176.xml"/><Relationship Id="rId6" Type="http://schemas.openxmlformats.org/officeDocument/2006/relationships/tags" Target="../tags/tag175.xml"/><Relationship Id="rId5" Type="http://schemas.openxmlformats.org/officeDocument/2006/relationships/tags" Target="../tags/tag174.xml"/><Relationship Id="rId4" Type="http://schemas.openxmlformats.org/officeDocument/2006/relationships/tags" Target="../tags/tag173.xml"/><Relationship Id="rId37" Type="http://schemas.openxmlformats.org/officeDocument/2006/relationships/notesSlide" Target="../notesSlides/notesSlide30.xml"/><Relationship Id="rId36" Type="http://schemas.openxmlformats.org/officeDocument/2006/relationships/slideLayout" Target="../slideLayouts/slideLayout2.xml"/><Relationship Id="rId35" Type="http://schemas.openxmlformats.org/officeDocument/2006/relationships/tags" Target="../tags/tag204.xml"/><Relationship Id="rId34" Type="http://schemas.openxmlformats.org/officeDocument/2006/relationships/tags" Target="../tags/tag203.xml"/><Relationship Id="rId33" Type="http://schemas.openxmlformats.org/officeDocument/2006/relationships/tags" Target="../tags/tag202.xml"/><Relationship Id="rId32" Type="http://schemas.openxmlformats.org/officeDocument/2006/relationships/tags" Target="../tags/tag201.xml"/><Relationship Id="rId31" Type="http://schemas.openxmlformats.org/officeDocument/2006/relationships/tags" Target="../tags/tag200.xml"/><Relationship Id="rId30" Type="http://schemas.openxmlformats.org/officeDocument/2006/relationships/tags" Target="../tags/tag199.xml"/><Relationship Id="rId3" Type="http://schemas.openxmlformats.org/officeDocument/2006/relationships/tags" Target="../tags/tag172.xml"/><Relationship Id="rId29" Type="http://schemas.openxmlformats.org/officeDocument/2006/relationships/tags" Target="../tags/tag198.xml"/><Relationship Id="rId28" Type="http://schemas.openxmlformats.org/officeDocument/2006/relationships/tags" Target="../tags/tag197.xml"/><Relationship Id="rId27" Type="http://schemas.openxmlformats.org/officeDocument/2006/relationships/tags" Target="../tags/tag196.xml"/><Relationship Id="rId26" Type="http://schemas.openxmlformats.org/officeDocument/2006/relationships/tags" Target="../tags/tag195.xml"/><Relationship Id="rId25" Type="http://schemas.openxmlformats.org/officeDocument/2006/relationships/tags" Target="../tags/tag194.xml"/><Relationship Id="rId24" Type="http://schemas.openxmlformats.org/officeDocument/2006/relationships/tags" Target="../tags/tag193.xml"/><Relationship Id="rId23" Type="http://schemas.openxmlformats.org/officeDocument/2006/relationships/tags" Target="../tags/tag192.xml"/><Relationship Id="rId22" Type="http://schemas.openxmlformats.org/officeDocument/2006/relationships/tags" Target="../tags/tag191.xml"/><Relationship Id="rId21" Type="http://schemas.openxmlformats.org/officeDocument/2006/relationships/tags" Target="../tags/tag190.xml"/><Relationship Id="rId20" Type="http://schemas.openxmlformats.org/officeDocument/2006/relationships/tags" Target="../tags/tag189.xml"/><Relationship Id="rId2" Type="http://schemas.openxmlformats.org/officeDocument/2006/relationships/tags" Target="../tags/tag171.xml"/><Relationship Id="rId19" Type="http://schemas.openxmlformats.org/officeDocument/2006/relationships/tags" Target="../tags/tag188.xml"/><Relationship Id="rId18" Type="http://schemas.openxmlformats.org/officeDocument/2006/relationships/tags" Target="../tags/tag187.xml"/><Relationship Id="rId17" Type="http://schemas.openxmlformats.org/officeDocument/2006/relationships/tags" Target="../tags/tag186.xml"/><Relationship Id="rId16" Type="http://schemas.openxmlformats.org/officeDocument/2006/relationships/tags" Target="../tags/tag185.xml"/><Relationship Id="rId15" Type="http://schemas.openxmlformats.org/officeDocument/2006/relationships/tags" Target="../tags/tag184.xml"/><Relationship Id="rId14" Type="http://schemas.openxmlformats.org/officeDocument/2006/relationships/tags" Target="../tags/tag183.xml"/><Relationship Id="rId13" Type="http://schemas.openxmlformats.org/officeDocument/2006/relationships/tags" Target="../tags/tag182.xml"/><Relationship Id="rId12" Type="http://schemas.openxmlformats.org/officeDocument/2006/relationships/tags" Target="../tags/tag181.xml"/><Relationship Id="rId11" Type="http://schemas.openxmlformats.org/officeDocument/2006/relationships/tags" Target="../tags/tag180.xml"/><Relationship Id="rId10" Type="http://schemas.openxmlformats.org/officeDocument/2006/relationships/tags" Target="../tags/tag179.xml"/><Relationship Id="rId1" Type="http://schemas.openxmlformats.org/officeDocument/2006/relationships/tags" Target="../tags/tag170.xml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tags" Target="../tags/tag213.xml"/><Relationship Id="rId8" Type="http://schemas.openxmlformats.org/officeDocument/2006/relationships/tags" Target="../tags/tag212.xml"/><Relationship Id="rId7" Type="http://schemas.openxmlformats.org/officeDocument/2006/relationships/tags" Target="../tags/tag211.xml"/><Relationship Id="rId6" Type="http://schemas.openxmlformats.org/officeDocument/2006/relationships/tags" Target="../tags/tag210.xml"/><Relationship Id="rId5" Type="http://schemas.openxmlformats.org/officeDocument/2006/relationships/tags" Target="../tags/tag209.xml"/><Relationship Id="rId4" Type="http://schemas.openxmlformats.org/officeDocument/2006/relationships/tags" Target="../tags/tag208.xml"/><Relationship Id="rId37" Type="http://schemas.openxmlformats.org/officeDocument/2006/relationships/notesSlide" Target="../notesSlides/notesSlide31.xml"/><Relationship Id="rId36" Type="http://schemas.openxmlformats.org/officeDocument/2006/relationships/slideLayout" Target="../slideLayouts/slideLayout2.xml"/><Relationship Id="rId35" Type="http://schemas.openxmlformats.org/officeDocument/2006/relationships/tags" Target="../tags/tag239.xml"/><Relationship Id="rId34" Type="http://schemas.openxmlformats.org/officeDocument/2006/relationships/tags" Target="../tags/tag238.xml"/><Relationship Id="rId33" Type="http://schemas.openxmlformats.org/officeDocument/2006/relationships/tags" Target="../tags/tag237.xml"/><Relationship Id="rId32" Type="http://schemas.openxmlformats.org/officeDocument/2006/relationships/tags" Target="../tags/tag236.xml"/><Relationship Id="rId31" Type="http://schemas.openxmlformats.org/officeDocument/2006/relationships/tags" Target="../tags/tag235.xml"/><Relationship Id="rId30" Type="http://schemas.openxmlformats.org/officeDocument/2006/relationships/tags" Target="../tags/tag234.xml"/><Relationship Id="rId3" Type="http://schemas.openxmlformats.org/officeDocument/2006/relationships/tags" Target="../tags/tag207.xml"/><Relationship Id="rId29" Type="http://schemas.openxmlformats.org/officeDocument/2006/relationships/tags" Target="../tags/tag233.xml"/><Relationship Id="rId28" Type="http://schemas.openxmlformats.org/officeDocument/2006/relationships/tags" Target="../tags/tag232.xml"/><Relationship Id="rId27" Type="http://schemas.openxmlformats.org/officeDocument/2006/relationships/tags" Target="../tags/tag231.xml"/><Relationship Id="rId26" Type="http://schemas.openxmlformats.org/officeDocument/2006/relationships/tags" Target="../tags/tag230.xml"/><Relationship Id="rId25" Type="http://schemas.openxmlformats.org/officeDocument/2006/relationships/tags" Target="../tags/tag229.xml"/><Relationship Id="rId24" Type="http://schemas.openxmlformats.org/officeDocument/2006/relationships/tags" Target="../tags/tag228.xml"/><Relationship Id="rId23" Type="http://schemas.openxmlformats.org/officeDocument/2006/relationships/tags" Target="../tags/tag227.xml"/><Relationship Id="rId22" Type="http://schemas.openxmlformats.org/officeDocument/2006/relationships/tags" Target="../tags/tag226.xml"/><Relationship Id="rId21" Type="http://schemas.openxmlformats.org/officeDocument/2006/relationships/tags" Target="../tags/tag225.xml"/><Relationship Id="rId20" Type="http://schemas.openxmlformats.org/officeDocument/2006/relationships/tags" Target="../tags/tag224.xml"/><Relationship Id="rId2" Type="http://schemas.openxmlformats.org/officeDocument/2006/relationships/tags" Target="../tags/tag206.xml"/><Relationship Id="rId19" Type="http://schemas.openxmlformats.org/officeDocument/2006/relationships/tags" Target="../tags/tag223.xml"/><Relationship Id="rId18" Type="http://schemas.openxmlformats.org/officeDocument/2006/relationships/tags" Target="../tags/tag222.xml"/><Relationship Id="rId17" Type="http://schemas.openxmlformats.org/officeDocument/2006/relationships/tags" Target="../tags/tag221.xml"/><Relationship Id="rId16" Type="http://schemas.openxmlformats.org/officeDocument/2006/relationships/tags" Target="../tags/tag220.xml"/><Relationship Id="rId15" Type="http://schemas.openxmlformats.org/officeDocument/2006/relationships/tags" Target="../tags/tag219.xml"/><Relationship Id="rId14" Type="http://schemas.openxmlformats.org/officeDocument/2006/relationships/tags" Target="../tags/tag218.xml"/><Relationship Id="rId13" Type="http://schemas.openxmlformats.org/officeDocument/2006/relationships/tags" Target="../tags/tag217.xml"/><Relationship Id="rId12" Type="http://schemas.openxmlformats.org/officeDocument/2006/relationships/tags" Target="../tags/tag216.xml"/><Relationship Id="rId11" Type="http://schemas.openxmlformats.org/officeDocument/2006/relationships/tags" Target="../tags/tag215.xml"/><Relationship Id="rId10" Type="http://schemas.openxmlformats.org/officeDocument/2006/relationships/tags" Target="../tags/tag214.xml"/><Relationship Id="rId1" Type="http://schemas.openxmlformats.org/officeDocument/2006/relationships/tags" Target="../tags/tag205.xml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2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41.xml"/><Relationship Id="rId1" Type="http://schemas.openxmlformats.org/officeDocument/2006/relationships/tags" Target="../tags/tag240.xml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3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43.xml"/><Relationship Id="rId1" Type="http://schemas.openxmlformats.org/officeDocument/2006/relationships/tags" Target="../tags/tag242.xml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251.xml"/><Relationship Id="rId7" Type="http://schemas.openxmlformats.org/officeDocument/2006/relationships/tags" Target="../tags/tag250.xml"/><Relationship Id="rId6" Type="http://schemas.openxmlformats.org/officeDocument/2006/relationships/tags" Target="../tags/tag249.xml"/><Relationship Id="rId5" Type="http://schemas.openxmlformats.org/officeDocument/2006/relationships/tags" Target="../tags/tag248.xml"/><Relationship Id="rId4" Type="http://schemas.openxmlformats.org/officeDocument/2006/relationships/tags" Target="../tags/tag247.xml"/><Relationship Id="rId3" Type="http://schemas.openxmlformats.org/officeDocument/2006/relationships/tags" Target="../tags/tag246.xml"/><Relationship Id="rId2" Type="http://schemas.openxmlformats.org/officeDocument/2006/relationships/tags" Target="../tags/tag245.xml"/><Relationship Id="rId10" Type="http://schemas.openxmlformats.org/officeDocument/2006/relationships/notesSlide" Target="../notesSlides/notesSlide34.xml"/><Relationship Id="rId1" Type="http://schemas.openxmlformats.org/officeDocument/2006/relationships/tags" Target="../tags/tag244.xml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53.xml"/><Relationship Id="rId1" Type="http://schemas.openxmlformats.org/officeDocument/2006/relationships/tags" Target="../tags/tag252.xml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6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55.xml"/><Relationship Id="rId1" Type="http://schemas.openxmlformats.org/officeDocument/2006/relationships/tags" Target="../tags/tag254.xml"/></Relationships>
</file>

<file path=ppt/slides/_rels/slide3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7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58.xml"/><Relationship Id="rId3" Type="http://schemas.openxmlformats.org/officeDocument/2006/relationships/image" Target="../media/image9.png"/><Relationship Id="rId2" Type="http://schemas.openxmlformats.org/officeDocument/2006/relationships/tags" Target="../tags/tag257.xml"/><Relationship Id="rId1" Type="http://schemas.openxmlformats.org/officeDocument/2006/relationships/tags" Target="../tags/tag256.xml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8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60.xml"/><Relationship Id="rId1" Type="http://schemas.openxmlformats.org/officeDocument/2006/relationships/tags" Target="../tags/tag259.xml"/></Relationships>
</file>

<file path=ppt/slides/_rels/slide3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9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63.xml"/><Relationship Id="rId3" Type="http://schemas.openxmlformats.org/officeDocument/2006/relationships/image" Target="../media/image10.png"/><Relationship Id="rId2" Type="http://schemas.openxmlformats.org/officeDocument/2006/relationships/tags" Target="../tags/tag262.xml"/><Relationship Id="rId1" Type="http://schemas.openxmlformats.org/officeDocument/2006/relationships/tags" Target="../tags/tag261.xml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0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65.xml"/><Relationship Id="rId1" Type="http://schemas.openxmlformats.org/officeDocument/2006/relationships/tags" Target="../tags/tag264.xml"/></Relationships>
</file>

<file path=ppt/slides/_rels/slide41.xml.rels><?xml version="1.0" encoding="UTF-8" standalone="yes"?>
<Relationships xmlns="http://schemas.openxmlformats.org/package/2006/relationships"><Relationship Id="rId9" Type="http://schemas.openxmlformats.org/officeDocument/2006/relationships/tags" Target="../tags/tag274.xml"/><Relationship Id="rId8" Type="http://schemas.openxmlformats.org/officeDocument/2006/relationships/tags" Target="../tags/tag273.xml"/><Relationship Id="rId7" Type="http://schemas.openxmlformats.org/officeDocument/2006/relationships/tags" Target="../tags/tag272.xml"/><Relationship Id="rId6" Type="http://schemas.openxmlformats.org/officeDocument/2006/relationships/tags" Target="../tags/tag271.xml"/><Relationship Id="rId5" Type="http://schemas.openxmlformats.org/officeDocument/2006/relationships/tags" Target="../tags/tag270.xml"/><Relationship Id="rId4" Type="http://schemas.openxmlformats.org/officeDocument/2006/relationships/tags" Target="../tags/tag269.xml"/><Relationship Id="rId3" Type="http://schemas.openxmlformats.org/officeDocument/2006/relationships/tags" Target="../tags/tag268.xml"/><Relationship Id="rId2" Type="http://schemas.openxmlformats.org/officeDocument/2006/relationships/tags" Target="../tags/tag267.xml"/><Relationship Id="rId14" Type="http://schemas.openxmlformats.org/officeDocument/2006/relationships/notesSlide" Target="../notesSlides/notesSlide41.xml"/><Relationship Id="rId13" Type="http://schemas.openxmlformats.org/officeDocument/2006/relationships/slideLayout" Target="../slideLayouts/slideLayout2.xml"/><Relationship Id="rId12" Type="http://schemas.openxmlformats.org/officeDocument/2006/relationships/tags" Target="../tags/tag277.xml"/><Relationship Id="rId11" Type="http://schemas.openxmlformats.org/officeDocument/2006/relationships/tags" Target="../tags/tag276.xml"/><Relationship Id="rId10" Type="http://schemas.openxmlformats.org/officeDocument/2006/relationships/tags" Target="../tags/tag275.xml"/><Relationship Id="rId1" Type="http://schemas.openxmlformats.org/officeDocument/2006/relationships/tags" Target="../tags/tag266.xml"/></Relationships>
</file>

<file path=ppt/slides/_rels/slide42.xml.rels><?xml version="1.0" encoding="UTF-8" standalone="yes"?>
<Relationships xmlns="http://schemas.openxmlformats.org/package/2006/relationships"><Relationship Id="rId9" Type="http://schemas.openxmlformats.org/officeDocument/2006/relationships/tags" Target="../tags/tag286.xml"/><Relationship Id="rId8" Type="http://schemas.openxmlformats.org/officeDocument/2006/relationships/tags" Target="../tags/tag285.xml"/><Relationship Id="rId7" Type="http://schemas.openxmlformats.org/officeDocument/2006/relationships/tags" Target="../tags/tag284.xml"/><Relationship Id="rId6" Type="http://schemas.openxmlformats.org/officeDocument/2006/relationships/tags" Target="../tags/tag283.xml"/><Relationship Id="rId5" Type="http://schemas.openxmlformats.org/officeDocument/2006/relationships/tags" Target="../tags/tag282.xml"/><Relationship Id="rId4" Type="http://schemas.openxmlformats.org/officeDocument/2006/relationships/tags" Target="../tags/tag281.xml"/><Relationship Id="rId3" Type="http://schemas.openxmlformats.org/officeDocument/2006/relationships/tags" Target="../tags/tag280.xml"/><Relationship Id="rId21" Type="http://schemas.openxmlformats.org/officeDocument/2006/relationships/notesSlide" Target="../notesSlides/notesSlide42.xml"/><Relationship Id="rId20" Type="http://schemas.openxmlformats.org/officeDocument/2006/relationships/slideLayout" Target="../slideLayouts/slideLayout2.xml"/><Relationship Id="rId2" Type="http://schemas.openxmlformats.org/officeDocument/2006/relationships/tags" Target="../tags/tag279.xml"/><Relationship Id="rId19" Type="http://schemas.openxmlformats.org/officeDocument/2006/relationships/tags" Target="../tags/tag296.xml"/><Relationship Id="rId18" Type="http://schemas.openxmlformats.org/officeDocument/2006/relationships/tags" Target="../tags/tag295.xml"/><Relationship Id="rId17" Type="http://schemas.openxmlformats.org/officeDocument/2006/relationships/tags" Target="../tags/tag294.xml"/><Relationship Id="rId16" Type="http://schemas.openxmlformats.org/officeDocument/2006/relationships/tags" Target="../tags/tag293.xml"/><Relationship Id="rId15" Type="http://schemas.openxmlformats.org/officeDocument/2006/relationships/tags" Target="../tags/tag292.xml"/><Relationship Id="rId14" Type="http://schemas.openxmlformats.org/officeDocument/2006/relationships/tags" Target="../tags/tag291.xml"/><Relationship Id="rId13" Type="http://schemas.openxmlformats.org/officeDocument/2006/relationships/tags" Target="../tags/tag290.xml"/><Relationship Id="rId12" Type="http://schemas.openxmlformats.org/officeDocument/2006/relationships/tags" Target="../tags/tag289.xml"/><Relationship Id="rId11" Type="http://schemas.openxmlformats.org/officeDocument/2006/relationships/tags" Target="../tags/tag288.xml"/><Relationship Id="rId10" Type="http://schemas.openxmlformats.org/officeDocument/2006/relationships/tags" Target="../tags/tag287.xml"/><Relationship Id="rId1" Type="http://schemas.openxmlformats.org/officeDocument/2006/relationships/tags" Target="../tags/tag278.xml"/></Relationships>
</file>

<file path=ppt/slides/_rels/slide4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3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300.xml"/><Relationship Id="rId4" Type="http://schemas.openxmlformats.org/officeDocument/2006/relationships/tags" Target="../tags/tag299.xml"/><Relationship Id="rId3" Type="http://schemas.openxmlformats.org/officeDocument/2006/relationships/image" Target="../media/image10.png"/><Relationship Id="rId2" Type="http://schemas.openxmlformats.org/officeDocument/2006/relationships/tags" Target="../tags/tag298.xml"/><Relationship Id="rId1" Type="http://schemas.openxmlformats.org/officeDocument/2006/relationships/tags" Target="../tags/tag297.xml"/></Relationships>
</file>

<file path=ppt/slides/_rels/slide4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4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02.xml"/><Relationship Id="rId1" Type="http://schemas.openxmlformats.org/officeDocument/2006/relationships/tags" Target="../tags/tag301.xml"/></Relationships>
</file>

<file path=ppt/slides/_rels/slide4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04.xml"/><Relationship Id="rId1" Type="http://schemas.openxmlformats.org/officeDocument/2006/relationships/tags" Target="../tags/tag303.xml"/></Relationships>
</file>

<file path=ppt/slides/_rels/slide4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6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309.xml"/><Relationship Id="rId4" Type="http://schemas.openxmlformats.org/officeDocument/2006/relationships/tags" Target="../tags/tag308.xml"/><Relationship Id="rId3" Type="http://schemas.openxmlformats.org/officeDocument/2006/relationships/tags" Target="../tags/tag307.xml"/><Relationship Id="rId2" Type="http://schemas.openxmlformats.org/officeDocument/2006/relationships/tags" Target="../tags/tag306.xml"/><Relationship Id="rId1" Type="http://schemas.openxmlformats.org/officeDocument/2006/relationships/tags" Target="../tags/tag305.xml"/></Relationships>
</file>

<file path=ppt/slides/_rels/slide47.xml.rels><?xml version="1.0" encoding="UTF-8" standalone="yes"?>
<Relationships xmlns="http://schemas.openxmlformats.org/package/2006/relationships"><Relationship Id="rId9" Type="http://schemas.openxmlformats.org/officeDocument/2006/relationships/tags" Target="../tags/tag318.xml"/><Relationship Id="rId8" Type="http://schemas.openxmlformats.org/officeDocument/2006/relationships/tags" Target="../tags/tag317.xml"/><Relationship Id="rId7" Type="http://schemas.openxmlformats.org/officeDocument/2006/relationships/tags" Target="../tags/tag316.xml"/><Relationship Id="rId6" Type="http://schemas.openxmlformats.org/officeDocument/2006/relationships/tags" Target="../tags/tag315.xml"/><Relationship Id="rId5" Type="http://schemas.openxmlformats.org/officeDocument/2006/relationships/tags" Target="../tags/tag314.xml"/><Relationship Id="rId4" Type="http://schemas.openxmlformats.org/officeDocument/2006/relationships/tags" Target="../tags/tag313.xml"/><Relationship Id="rId3" Type="http://schemas.openxmlformats.org/officeDocument/2006/relationships/tags" Target="../tags/tag312.xml"/><Relationship Id="rId21" Type="http://schemas.openxmlformats.org/officeDocument/2006/relationships/notesSlide" Target="../notesSlides/notesSlide47.xml"/><Relationship Id="rId20" Type="http://schemas.openxmlformats.org/officeDocument/2006/relationships/slideLayout" Target="../slideLayouts/slideLayout2.xml"/><Relationship Id="rId2" Type="http://schemas.openxmlformats.org/officeDocument/2006/relationships/tags" Target="../tags/tag311.xml"/><Relationship Id="rId19" Type="http://schemas.openxmlformats.org/officeDocument/2006/relationships/tags" Target="../tags/tag328.xml"/><Relationship Id="rId18" Type="http://schemas.openxmlformats.org/officeDocument/2006/relationships/tags" Target="../tags/tag327.xml"/><Relationship Id="rId17" Type="http://schemas.openxmlformats.org/officeDocument/2006/relationships/tags" Target="../tags/tag326.xml"/><Relationship Id="rId16" Type="http://schemas.openxmlformats.org/officeDocument/2006/relationships/tags" Target="../tags/tag325.xml"/><Relationship Id="rId15" Type="http://schemas.openxmlformats.org/officeDocument/2006/relationships/tags" Target="../tags/tag324.xml"/><Relationship Id="rId14" Type="http://schemas.openxmlformats.org/officeDocument/2006/relationships/tags" Target="../tags/tag323.xml"/><Relationship Id="rId13" Type="http://schemas.openxmlformats.org/officeDocument/2006/relationships/tags" Target="../tags/tag322.xml"/><Relationship Id="rId12" Type="http://schemas.openxmlformats.org/officeDocument/2006/relationships/tags" Target="../tags/tag321.xml"/><Relationship Id="rId11" Type="http://schemas.openxmlformats.org/officeDocument/2006/relationships/tags" Target="../tags/tag320.xml"/><Relationship Id="rId10" Type="http://schemas.openxmlformats.org/officeDocument/2006/relationships/tags" Target="../tags/tag319.xml"/><Relationship Id="rId1" Type="http://schemas.openxmlformats.org/officeDocument/2006/relationships/tags" Target="../tags/tag310.xml"/></Relationships>
</file>

<file path=ppt/slides/_rels/slide48.xml.rels><?xml version="1.0" encoding="UTF-8" standalone="yes"?>
<Relationships xmlns="http://schemas.openxmlformats.org/package/2006/relationships"><Relationship Id="rId9" Type="http://schemas.openxmlformats.org/officeDocument/2006/relationships/tags" Target="../tags/tag337.xml"/><Relationship Id="rId8" Type="http://schemas.openxmlformats.org/officeDocument/2006/relationships/tags" Target="../tags/tag336.xml"/><Relationship Id="rId7" Type="http://schemas.openxmlformats.org/officeDocument/2006/relationships/tags" Target="../tags/tag335.xml"/><Relationship Id="rId6" Type="http://schemas.openxmlformats.org/officeDocument/2006/relationships/tags" Target="../tags/tag334.xml"/><Relationship Id="rId5" Type="http://schemas.openxmlformats.org/officeDocument/2006/relationships/tags" Target="../tags/tag333.xml"/><Relationship Id="rId4" Type="http://schemas.openxmlformats.org/officeDocument/2006/relationships/tags" Target="../tags/tag332.xml"/><Relationship Id="rId3" Type="http://schemas.openxmlformats.org/officeDocument/2006/relationships/tags" Target="../tags/tag331.xml"/><Relationship Id="rId20" Type="http://schemas.openxmlformats.org/officeDocument/2006/relationships/notesSlide" Target="../notesSlides/notesSlide48.xml"/><Relationship Id="rId2" Type="http://schemas.openxmlformats.org/officeDocument/2006/relationships/tags" Target="../tags/tag330.xml"/><Relationship Id="rId19" Type="http://schemas.openxmlformats.org/officeDocument/2006/relationships/slideLayout" Target="../slideLayouts/slideLayout2.xml"/><Relationship Id="rId18" Type="http://schemas.openxmlformats.org/officeDocument/2006/relationships/tags" Target="../tags/tag346.xml"/><Relationship Id="rId17" Type="http://schemas.openxmlformats.org/officeDocument/2006/relationships/tags" Target="../tags/tag345.xml"/><Relationship Id="rId16" Type="http://schemas.openxmlformats.org/officeDocument/2006/relationships/tags" Target="../tags/tag344.xml"/><Relationship Id="rId15" Type="http://schemas.openxmlformats.org/officeDocument/2006/relationships/tags" Target="../tags/tag343.xml"/><Relationship Id="rId14" Type="http://schemas.openxmlformats.org/officeDocument/2006/relationships/tags" Target="../tags/tag342.xml"/><Relationship Id="rId13" Type="http://schemas.openxmlformats.org/officeDocument/2006/relationships/tags" Target="../tags/tag341.xml"/><Relationship Id="rId12" Type="http://schemas.openxmlformats.org/officeDocument/2006/relationships/tags" Target="../tags/tag340.xml"/><Relationship Id="rId11" Type="http://schemas.openxmlformats.org/officeDocument/2006/relationships/tags" Target="../tags/tag339.xml"/><Relationship Id="rId10" Type="http://schemas.openxmlformats.org/officeDocument/2006/relationships/tags" Target="../tags/tag338.xml"/><Relationship Id="rId1" Type="http://schemas.openxmlformats.org/officeDocument/2006/relationships/tags" Target="../tags/tag329.xml"/></Relationships>
</file>

<file path=ppt/slides/_rels/slide4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9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48.xml"/><Relationship Id="rId1" Type="http://schemas.openxmlformats.org/officeDocument/2006/relationships/tags" Target="../tags/tag347.xml"/></Relationships>
</file>

<file path=ppt/slides/_rels/slide5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0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350.xml"/><Relationship Id="rId2" Type="http://schemas.openxmlformats.org/officeDocument/2006/relationships/image" Target="../media/image11.png"/><Relationship Id="rId1" Type="http://schemas.openxmlformats.org/officeDocument/2006/relationships/tags" Target="../tags/tag349.xml"/></Relationships>
</file>

<file path=ppt/slides/_rels/slide51.xml.rels><?xml version="1.0" encoding="UTF-8" standalone="yes"?>
<Relationships xmlns="http://schemas.openxmlformats.org/package/2006/relationships"><Relationship Id="rId9" Type="http://schemas.openxmlformats.org/officeDocument/2006/relationships/tags" Target="../tags/tag359.xml"/><Relationship Id="rId8" Type="http://schemas.openxmlformats.org/officeDocument/2006/relationships/tags" Target="../tags/tag358.xml"/><Relationship Id="rId7" Type="http://schemas.openxmlformats.org/officeDocument/2006/relationships/tags" Target="../tags/tag357.xml"/><Relationship Id="rId6" Type="http://schemas.openxmlformats.org/officeDocument/2006/relationships/tags" Target="../tags/tag356.xml"/><Relationship Id="rId5" Type="http://schemas.openxmlformats.org/officeDocument/2006/relationships/tags" Target="../tags/tag355.xml"/><Relationship Id="rId4" Type="http://schemas.openxmlformats.org/officeDocument/2006/relationships/tags" Target="../tags/tag354.xml"/><Relationship Id="rId3" Type="http://schemas.openxmlformats.org/officeDocument/2006/relationships/tags" Target="../tags/tag353.xml"/><Relationship Id="rId2" Type="http://schemas.openxmlformats.org/officeDocument/2006/relationships/tags" Target="../tags/tag352.xml"/><Relationship Id="rId18" Type="http://schemas.openxmlformats.org/officeDocument/2006/relationships/notesSlide" Target="../notesSlides/notesSlide51.xml"/><Relationship Id="rId17" Type="http://schemas.openxmlformats.org/officeDocument/2006/relationships/slideLayout" Target="../slideLayouts/slideLayout2.xml"/><Relationship Id="rId16" Type="http://schemas.openxmlformats.org/officeDocument/2006/relationships/tags" Target="../tags/tag366.xml"/><Relationship Id="rId15" Type="http://schemas.openxmlformats.org/officeDocument/2006/relationships/tags" Target="../tags/tag365.xml"/><Relationship Id="rId14" Type="http://schemas.openxmlformats.org/officeDocument/2006/relationships/tags" Target="../tags/tag364.xml"/><Relationship Id="rId13" Type="http://schemas.openxmlformats.org/officeDocument/2006/relationships/tags" Target="../tags/tag363.xml"/><Relationship Id="rId12" Type="http://schemas.openxmlformats.org/officeDocument/2006/relationships/tags" Target="../tags/tag362.xml"/><Relationship Id="rId11" Type="http://schemas.openxmlformats.org/officeDocument/2006/relationships/tags" Target="../tags/tag361.xml"/><Relationship Id="rId10" Type="http://schemas.openxmlformats.org/officeDocument/2006/relationships/tags" Target="../tags/tag360.xml"/><Relationship Id="rId1" Type="http://schemas.openxmlformats.org/officeDocument/2006/relationships/tags" Target="../tags/tag351.xml"/></Relationships>
</file>

<file path=ppt/slides/_rels/slide52.xml.rels><?xml version="1.0" encoding="UTF-8" standalone="yes"?>
<Relationships xmlns="http://schemas.openxmlformats.org/package/2006/relationships"><Relationship Id="rId9" Type="http://schemas.openxmlformats.org/officeDocument/2006/relationships/tags" Target="../tags/tag375.xml"/><Relationship Id="rId8" Type="http://schemas.openxmlformats.org/officeDocument/2006/relationships/tags" Target="../tags/tag374.xml"/><Relationship Id="rId7" Type="http://schemas.openxmlformats.org/officeDocument/2006/relationships/tags" Target="../tags/tag373.xml"/><Relationship Id="rId6" Type="http://schemas.openxmlformats.org/officeDocument/2006/relationships/tags" Target="../tags/tag372.xml"/><Relationship Id="rId5" Type="http://schemas.openxmlformats.org/officeDocument/2006/relationships/tags" Target="../tags/tag371.xml"/><Relationship Id="rId4" Type="http://schemas.openxmlformats.org/officeDocument/2006/relationships/tags" Target="../tags/tag370.xml"/><Relationship Id="rId3" Type="http://schemas.openxmlformats.org/officeDocument/2006/relationships/tags" Target="../tags/tag369.xml"/><Relationship Id="rId24" Type="http://schemas.openxmlformats.org/officeDocument/2006/relationships/notesSlide" Target="../notesSlides/notesSlide52.xml"/><Relationship Id="rId23" Type="http://schemas.openxmlformats.org/officeDocument/2006/relationships/slideLayout" Target="../slideLayouts/slideLayout2.xml"/><Relationship Id="rId22" Type="http://schemas.openxmlformats.org/officeDocument/2006/relationships/tags" Target="../tags/tag388.xml"/><Relationship Id="rId21" Type="http://schemas.openxmlformats.org/officeDocument/2006/relationships/tags" Target="../tags/tag387.xml"/><Relationship Id="rId20" Type="http://schemas.openxmlformats.org/officeDocument/2006/relationships/tags" Target="../tags/tag386.xml"/><Relationship Id="rId2" Type="http://schemas.openxmlformats.org/officeDocument/2006/relationships/tags" Target="../tags/tag368.xml"/><Relationship Id="rId19" Type="http://schemas.openxmlformats.org/officeDocument/2006/relationships/tags" Target="../tags/tag385.xml"/><Relationship Id="rId18" Type="http://schemas.openxmlformats.org/officeDocument/2006/relationships/tags" Target="../tags/tag384.xml"/><Relationship Id="rId17" Type="http://schemas.openxmlformats.org/officeDocument/2006/relationships/tags" Target="../tags/tag383.xml"/><Relationship Id="rId16" Type="http://schemas.openxmlformats.org/officeDocument/2006/relationships/tags" Target="../tags/tag382.xml"/><Relationship Id="rId15" Type="http://schemas.openxmlformats.org/officeDocument/2006/relationships/tags" Target="../tags/tag381.xml"/><Relationship Id="rId14" Type="http://schemas.openxmlformats.org/officeDocument/2006/relationships/tags" Target="../tags/tag380.xml"/><Relationship Id="rId13" Type="http://schemas.openxmlformats.org/officeDocument/2006/relationships/tags" Target="../tags/tag379.xml"/><Relationship Id="rId12" Type="http://schemas.openxmlformats.org/officeDocument/2006/relationships/tags" Target="../tags/tag378.xml"/><Relationship Id="rId11" Type="http://schemas.openxmlformats.org/officeDocument/2006/relationships/tags" Target="../tags/tag377.xml"/><Relationship Id="rId10" Type="http://schemas.openxmlformats.org/officeDocument/2006/relationships/tags" Target="../tags/tag376.xml"/><Relationship Id="rId1" Type="http://schemas.openxmlformats.org/officeDocument/2006/relationships/tags" Target="../tags/tag367.xml"/></Relationships>
</file>

<file path=ppt/slides/_rels/slide5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3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90.xml"/><Relationship Id="rId1" Type="http://schemas.openxmlformats.org/officeDocument/2006/relationships/tags" Target="../tags/tag389.xml"/></Relationships>
</file>

<file path=ppt/slides/_rels/slide5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4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392.xml"/><Relationship Id="rId2" Type="http://schemas.openxmlformats.org/officeDocument/2006/relationships/tags" Target="../tags/tag391.xml"/><Relationship Id="rId1" Type="http://schemas.openxmlformats.org/officeDocument/2006/relationships/image" Target="../media/image12.jpeg"/></Relationships>
</file>

<file path=ppt/slides/_rels/slide5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94.xml"/><Relationship Id="rId1" Type="http://schemas.openxmlformats.org/officeDocument/2006/relationships/tags" Target="../tags/tag393.xml"/></Relationships>
</file>

<file path=ppt/slides/_rels/slide5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6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397.xml"/><Relationship Id="rId2" Type="http://schemas.openxmlformats.org/officeDocument/2006/relationships/tags" Target="../tags/tag396.xml"/><Relationship Id="rId1" Type="http://schemas.openxmlformats.org/officeDocument/2006/relationships/tags" Target="../tags/tag395.xml"/></Relationships>
</file>

<file path=ppt/slides/_rels/slide5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7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99.xml"/><Relationship Id="rId1" Type="http://schemas.openxmlformats.org/officeDocument/2006/relationships/tags" Target="../tags/tag398.xml"/></Relationships>
</file>

<file path=ppt/slides/_rels/slide5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8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401.xml"/><Relationship Id="rId1" Type="http://schemas.openxmlformats.org/officeDocument/2006/relationships/tags" Target="../tags/tag40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/>
        </p:nvSpPr>
        <p:spPr>
          <a:xfrm>
            <a:off x="9712960" y="-2204720"/>
            <a:ext cx="11268075" cy="11268075"/>
          </a:xfrm>
          <a:prstGeom prst="ellipse">
            <a:avLst/>
          </a:prstGeom>
          <a:solidFill>
            <a:srgbClr val="9C0B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圆: 空心 9"/>
          <p:cNvSpPr/>
          <p:nvPr/>
        </p:nvSpPr>
        <p:spPr>
          <a:xfrm>
            <a:off x="571500" y="6216650"/>
            <a:ext cx="1282700" cy="1282700"/>
          </a:xfrm>
          <a:prstGeom prst="donut">
            <a:avLst>
              <a:gd name="adj" fmla="val 17079"/>
            </a:avLst>
          </a:prstGeom>
          <a:solidFill>
            <a:srgbClr val="9C0B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4533368" y="-314812"/>
            <a:ext cx="584775" cy="58477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534036" y="2450322"/>
            <a:ext cx="8754538" cy="1567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4800" b="1" spc="300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操作系统</a:t>
            </a:r>
            <a:endParaRPr lang="zh-CN" altLang="en-US" sz="4800" b="1" spc="300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sz="3200" b="1" spc="300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主存储器分配机制与</a:t>
            </a:r>
            <a:r>
              <a:rPr lang="zh-CN" altLang="en-US" sz="3200" b="1" spc="300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实现（</a:t>
            </a:r>
            <a:r>
              <a:rPr lang="en-US" altLang="zh-CN" sz="3200" b="1" spc="300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2</a:t>
            </a:r>
            <a:r>
              <a:rPr lang="zh-CN" altLang="en-US" sz="3200" b="1" spc="300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学时）</a:t>
            </a:r>
            <a:endParaRPr lang="zh-CN" altLang="en-US" sz="3200" b="1" spc="300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53" name="矩形: 圆角 52"/>
          <p:cNvSpPr/>
          <p:nvPr/>
        </p:nvSpPr>
        <p:spPr>
          <a:xfrm>
            <a:off x="1966595" y="4857750"/>
            <a:ext cx="2438400" cy="405130"/>
          </a:xfrm>
          <a:prstGeom prst="roundRect">
            <a:avLst>
              <a:gd name="adj" fmla="val 50000"/>
            </a:avLst>
          </a:prstGeom>
          <a:solidFill>
            <a:srgbClr val="9C0B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sz="2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主讲人</a:t>
            </a:r>
            <a:r>
              <a:rPr sz="2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：</a:t>
            </a:r>
            <a:r>
              <a:rPr lang="zh-CN" sz="2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潘润宇</a:t>
            </a:r>
            <a:endParaRPr lang="zh-CN" sz="2000" b="1" dirty="0">
              <a:solidFill>
                <a:schemeClr val="bg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56" name="矩形: 圆角 55"/>
          <p:cNvSpPr/>
          <p:nvPr/>
        </p:nvSpPr>
        <p:spPr>
          <a:xfrm>
            <a:off x="4633595" y="4857750"/>
            <a:ext cx="3055620" cy="405130"/>
          </a:xfrm>
          <a:prstGeom prst="roundRect">
            <a:avLst>
              <a:gd name="adj" fmla="val 50000"/>
            </a:avLst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sz="20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时间：</a:t>
            </a:r>
            <a:r>
              <a:rPr sz="20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202</a:t>
            </a:r>
            <a:r>
              <a:rPr lang="en-US" sz="20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6</a:t>
            </a:r>
            <a:r>
              <a:rPr sz="20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年</a:t>
            </a:r>
            <a:r>
              <a:rPr lang="zh-CN" sz="20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春</a:t>
            </a:r>
            <a:r>
              <a:rPr lang="zh-CN" altLang="en-US" sz="20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季</a:t>
            </a:r>
            <a:r>
              <a:rPr lang="zh-CN" altLang="en-US" sz="20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学期</a:t>
            </a:r>
            <a:endParaRPr lang="zh-CN" altLang="en-US" sz="2000" b="1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276860" y="429895"/>
            <a:ext cx="3893820" cy="102870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5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7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1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2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5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6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7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6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8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8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sp>
        <p:nvSpPr>
          <p:cNvPr id="57" name="文本框 56"/>
          <p:cNvSpPr txBox="1"/>
          <p:nvPr/>
        </p:nvSpPr>
        <p:spPr>
          <a:xfrm>
            <a:off x="1367155" y="4196715"/>
            <a:ext cx="666813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b="1">
                <a:solidFill>
                  <a:srgbClr val="9C0B15"/>
                </a:solidFill>
                <a:latin typeface="华文楷体" panose="02010600040101010101" charset="-122"/>
                <a:ea typeface="华文楷体" panose="02010600040101010101" charset="-122"/>
              </a:rPr>
              <a:t>千载文脉凝风骨，根植山大盛芳华</a:t>
            </a:r>
            <a:endParaRPr lang="zh-CN" altLang="en-US" b="1">
              <a:solidFill>
                <a:srgbClr val="9C0B15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l="15454" t="16281" r="18136" b="20815"/>
          <a:stretch>
            <a:fillRect/>
          </a:stretch>
        </p:blipFill>
        <p:spPr>
          <a:xfrm>
            <a:off x="7983855" y="0"/>
            <a:ext cx="1918335" cy="1744345"/>
          </a:xfrm>
          <a:prstGeom prst="ellipse">
            <a:avLst/>
          </a:prstGeom>
        </p:spPr>
      </p:pic>
    </p:spTree>
    <p:custDataLst>
      <p:tags r:id="rId2"/>
    </p:custData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主存储器分配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一、进程的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系统进程总</a:t>
                      </a: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览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进程的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内存分配的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x86-64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管理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 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DLM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进程内分配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Linux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进程间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分配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Linux页面替换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三、系统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.2 进程的基本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操作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3.3 进程接口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系统中的</a:t>
            </a:r>
            <a:r>
              <a:rPr lang="zh-CN" altLang="en-US" sz="2000" b="1">
                <a:solidFill>
                  <a:srgbClr val="9C0B15"/>
                </a:solidFill>
              </a:rPr>
              <a:t>进程总览：按来源划分</a:t>
            </a: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ctr">
              <a:buClrTx/>
              <a:buSzTx/>
              <a:buFontTx/>
            </a:pPr>
            <a:r>
              <a:rPr lang="zh-CN" altLang="en-US" sz="2000">
                <a:sym typeface="+mn-ea"/>
              </a:rPr>
              <a:t>按照操作系统中的</a:t>
            </a:r>
            <a:r>
              <a:rPr lang="zh-CN" altLang="en-US" sz="2000">
                <a:sym typeface="+mn-ea"/>
              </a:rPr>
              <a:t>进程的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来源</a:t>
            </a:r>
            <a:r>
              <a:rPr lang="zh-CN" altLang="en-US" sz="2000">
                <a:sym typeface="+mn-ea"/>
              </a:rPr>
              <a:t>，大致可以将它们分为如下三类。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守护进程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zh-CN" sz="2000">
                <a:sym typeface="+mn-ea"/>
              </a:rPr>
              <a:t>提供一定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背景服务</a:t>
            </a:r>
            <a:r>
              <a:rPr lang="zh-CN" sz="2000">
                <a:sym typeface="+mn-ea"/>
              </a:rPr>
              <a:t>功能的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特殊后台进程</a:t>
            </a:r>
            <a:r>
              <a:rPr lang="zh-CN" sz="2000">
                <a:sym typeface="+mn-ea"/>
              </a:rPr>
              <a:t>。它们一般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无前台界面</a:t>
            </a:r>
            <a:r>
              <a:rPr lang="zh-CN" sz="2000">
                <a:sym typeface="+mn-ea"/>
              </a:rPr>
              <a:t>。</a:t>
            </a: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系统守护进程</a:t>
            </a:r>
            <a:r>
              <a:rPr lang="en-US" altLang="zh-CN" sz="2000" b="1">
                <a:solidFill>
                  <a:srgbClr val="9C0B15"/>
                </a:solidFill>
              </a:rPr>
              <a:t>	</a:t>
            </a:r>
            <a:r>
              <a:rPr lang="zh-CN" sz="2000"/>
              <a:t>操作系统开发商提供的系统服务进程</a:t>
            </a:r>
            <a:r>
              <a:rPr lang="zh-CN" altLang="en-US" sz="2000"/>
              <a:t>。</a:t>
            </a:r>
            <a:r>
              <a:rPr lang="en-US" altLang="zh-CN" sz="2000">
                <a:solidFill>
                  <a:srgbClr val="9C0B15"/>
                </a:solidFill>
              </a:rPr>
              <a:t>不方便放在内核中，但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		</a:t>
            </a:r>
            <a:r>
              <a:rPr lang="en-US" altLang="zh-CN" sz="2000">
                <a:solidFill>
                  <a:srgbClr val="9C0B15"/>
                </a:solidFill>
              </a:rPr>
              <a:t>又非常靠近内核的功能</a:t>
            </a:r>
            <a:r>
              <a:rPr lang="zh-CN" altLang="en-US" sz="2000"/>
              <a:t>都会放在这些进程里。这些进程一旦发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/>
              <a:t>生故障，就等同于内核发生故障；</a:t>
            </a:r>
            <a:r>
              <a:rPr lang="en-US" altLang="zh-CN" sz="2000">
                <a:solidFill>
                  <a:srgbClr val="9C0B15"/>
                </a:solidFill>
              </a:rPr>
              <a:t>甚至可以将它们看作是不在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		</a:t>
            </a:r>
            <a:r>
              <a:rPr lang="en-US" altLang="zh-CN" sz="2000">
                <a:solidFill>
                  <a:srgbClr val="9C0B15"/>
                </a:solidFill>
              </a:rPr>
              <a:t>内核模式运行的内核组件</a:t>
            </a:r>
            <a:r>
              <a:rPr lang="zh-CN" altLang="en-US" sz="2000"/>
              <a:t>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服务守护进程</a:t>
            </a:r>
            <a:r>
              <a:rPr lang="en-US" altLang="zh-CN" sz="2000"/>
              <a:t>	</a:t>
            </a:r>
            <a:r>
              <a:rPr lang="en-US" altLang="zh-CN" sz="2000">
                <a:solidFill>
                  <a:srgbClr val="9C0B15"/>
                </a:solidFill>
              </a:rPr>
              <a:t>应用程序或驱动程序开发商</a:t>
            </a:r>
            <a:r>
              <a:rPr lang="zh-CN" altLang="en-US" sz="2000"/>
              <a:t>提供的功能服务进程。它们一般被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用来运行应用程序或驱动程序中那些</a:t>
            </a:r>
            <a:r>
              <a:rPr lang="en-US" altLang="zh-CN" sz="2000">
                <a:solidFill>
                  <a:srgbClr val="9C0B15"/>
                </a:solidFill>
              </a:rPr>
              <a:t>需要常驻后台的功能</a:t>
            </a:r>
            <a:r>
              <a:rPr lang="zh-CN" altLang="en-US" sz="2000"/>
              <a:t>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应用程序进程</a:t>
            </a:r>
            <a:r>
              <a:rPr lang="en-US" altLang="zh-CN" sz="2000"/>
              <a:t>	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应用程序开发商</a:t>
            </a:r>
            <a:r>
              <a:rPr lang="zh-CN" altLang="en-US" sz="2000">
                <a:sym typeface="+mn-ea"/>
              </a:rPr>
              <a:t>提供的</a:t>
            </a:r>
            <a:r>
              <a:rPr lang="zh-CN" altLang="en-US" sz="2000"/>
              <a:t>一般的应用程序的进程，它们提供应用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程序的主要</a:t>
            </a:r>
            <a:r>
              <a:rPr lang="zh-CN" altLang="en-US" sz="2000"/>
              <a:t>前台功能。</a:t>
            </a:r>
            <a:endParaRPr lang="zh-CN" altLang="en-US" sz="2000"/>
          </a:p>
        </p:txBody>
      </p:sp>
      <p:sp>
        <p:nvSpPr>
          <p:cNvPr id="4" name="圆角矩形 3"/>
          <p:cNvSpPr/>
          <p:nvPr/>
        </p:nvSpPr>
        <p:spPr>
          <a:xfrm>
            <a:off x="2981960" y="2286635"/>
            <a:ext cx="3823335" cy="36830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/>
              <a:t>应用程序</a:t>
            </a:r>
            <a:r>
              <a:rPr lang="zh-CN" altLang="en-US" b="1"/>
              <a:t>进程</a:t>
            </a:r>
            <a:endParaRPr lang="zh-CN" altLang="en-US" b="1"/>
          </a:p>
        </p:txBody>
      </p:sp>
      <p:sp>
        <p:nvSpPr>
          <p:cNvPr id="9" name="圆角矩形 8"/>
          <p:cNvSpPr/>
          <p:nvPr>
            <p:custDataLst>
              <p:tags r:id="rId2"/>
            </p:custDataLst>
          </p:nvPr>
        </p:nvSpPr>
        <p:spPr>
          <a:xfrm>
            <a:off x="2981960" y="1319530"/>
            <a:ext cx="3823335" cy="368300"/>
          </a:xfrm>
          <a:prstGeom prst="roundRect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/>
              <a:t>系统</a:t>
            </a:r>
            <a:r>
              <a:rPr lang="zh-CN" altLang="en-US" b="1"/>
              <a:t>守护进程</a:t>
            </a:r>
            <a:endParaRPr lang="zh-CN" altLang="en-US" b="1"/>
          </a:p>
        </p:txBody>
      </p:sp>
      <p:sp>
        <p:nvSpPr>
          <p:cNvPr id="17" name="圆角矩形 16"/>
          <p:cNvSpPr/>
          <p:nvPr>
            <p:custDataLst>
              <p:tags r:id="rId3"/>
            </p:custDataLst>
          </p:nvPr>
        </p:nvSpPr>
        <p:spPr>
          <a:xfrm>
            <a:off x="2981960" y="1814830"/>
            <a:ext cx="3823335" cy="3683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/>
              <a:t>服务守护</a:t>
            </a:r>
            <a:r>
              <a:rPr lang="zh-CN" altLang="en-US" b="1"/>
              <a:t>进程</a:t>
            </a:r>
            <a:endParaRPr lang="zh-CN" altLang="en-US" b="1"/>
          </a:p>
        </p:txBody>
      </p:sp>
    </p:spTree>
    <p:custDataLst>
      <p:tags r:id="rId4"/>
    </p:custData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主存储器分配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一、进程的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系统进程总</a:t>
                      </a: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览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进程的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内存分配的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x86-64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管理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 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DLM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进程内分配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Linux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进程间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分配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Linux页面替换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三、系统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.2 进程的基本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操作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3.3 进程接口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系统中的</a:t>
            </a:r>
            <a:r>
              <a:rPr lang="zh-CN" altLang="en-US" sz="2000" b="1">
                <a:solidFill>
                  <a:srgbClr val="9C0B15"/>
                </a:solidFill>
              </a:rPr>
              <a:t>进程总览：按特权划分</a:t>
            </a: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ctr">
              <a:buClrTx/>
              <a:buSzTx/>
              <a:buFontTx/>
            </a:pPr>
            <a:r>
              <a:rPr lang="zh-CN" altLang="en-US" sz="2000">
                <a:sym typeface="+mn-ea"/>
              </a:rPr>
              <a:t>按照操作系统中的</a:t>
            </a:r>
            <a:r>
              <a:rPr lang="zh-CN" altLang="en-US" sz="2000">
                <a:sym typeface="+mn-ea"/>
              </a:rPr>
              <a:t>进程的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特权</a:t>
            </a:r>
            <a:r>
              <a:rPr lang="zh-CN" altLang="en-US" sz="2000">
                <a:sym typeface="+mn-ea"/>
              </a:rPr>
              <a:t>，大致可以将它们分为如下两类。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特权进程</a:t>
            </a:r>
            <a:r>
              <a:rPr lang="en-US" altLang="zh-CN" sz="2000" b="1">
                <a:solidFill>
                  <a:srgbClr val="9C0B15"/>
                </a:solidFill>
              </a:rPr>
              <a:t>	</a:t>
            </a:r>
            <a:r>
              <a:rPr lang="zh-CN" sz="2000"/>
              <a:t>拥有一定特权的进程</a:t>
            </a:r>
            <a:r>
              <a:rPr lang="zh-CN" altLang="en-US" sz="2000"/>
              <a:t>。它们虽然运行在用户模式，但却可以</a:t>
            </a:r>
            <a:r>
              <a:rPr lang="en-US" altLang="zh-CN" sz="2000">
                <a:solidFill>
                  <a:srgbClr val="9C0B15"/>
                </a:solidFill>
              </a:rPr>
              <a:t>调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		</a:t>
            </a:r>
            <a:r>
              <a:rPr lang="en-US" altLang="zh-CN" sz="2000">
                <a:solidFill>
                  <a:srgbClr val="9C0B15"/>
                </a:solidFill>
              </a:rPr>
              <a:t>用系统中的特权API，并拥有访问某些敏感资源的特权</a:t>
            </a:r>
            <a:r>
              <a:rPr lang="zh-CN" altLang="en-US" sz="2000"/>
              <a:t>。有时，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/>
              <a:t>它们一方面接收从操作系统来的资源，另一方面还</a:t>
            </a:r>
            <a:r>
              <a:rPr lang="en-US" altLang="zh-CN" sz="2000">
                <a:solidFill>
                  <a:srgbClr val="9C0B15"/>
                </a:solidFill>
              </a:rPr>
              <a:t>作为其它进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		</a:t>
            </a:r>
            <a:r>
              <a:rPr lang="en-US" altLang="zh-CN" sz="2000">
                <a:solidFill>
                  <a:srgbClr val="9C0B15"/>
                </a:solidFill>
              </a:rPr>
              <a:t>程的上级，负责管理其它进程的资源</a:t>
            </a:r>
            <a:r>
              <a:rPr lang="zh-CN" altLang="en-US" sz="2000"/>
              <a:t>。</a:t>
            </a:r>
            <a:endParaRPr lang="zh-CN" altLang="en-US" sz="2000"/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/>
              <a:t>不同特权进程的特权大小亦有区别。在</a:t>
            </a:r>
            <a:r>
              <a:rPr lang="en-US" altLang="zh-CN" sz="2000"/>
              <a:t>Linux</a:t>
            </a:r>
            <a:r>
              <a:rPr lang="zh-CN" altLang="en-US" sz="2000"/>
              <a:t>中，以</a:t>
            </a:r>
            <a:r>
              <a:rPr lang="en-US" altLang="zh-CN" sz="2000">
                <a:solidFill>
                  <a:srgbClr val="9C0B15"/>
                </a:solidFill>
              </a:rPr>
              <a:t>root账户</a:t>
            </a:r>
            <a:r>
              <a:rPr lang="zh-CN" altLang="en-US" sz="2000"/>
              <a:t>启动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/>
              <a:t>的进程即</a:t>
            </a:r>
            <a:r>
              <a:rPr lang="zh-CN" altLang="en-US" sz="2000"/>
              <a:t>具备最高特权。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用户进程</a:t>
            </a:r>
            <a:r>
              <a:rPr lang="en-US" altLang="zh-CN" sz="2000"/>
              <a:t>	</a:t>
            </a:r>
            <a:r>
              <a:rPr lang="zh-CN" altLang="en-US" sz="2000"/>
              <a:t>普通的用户程序的进程。它们</a:t>
            </a:r>
            <a:r>
              <a:rPr lang="en-US" altLang="zh-CN" sz="2000">
                <a:solidFill>
                  <a:srgbClr val="9C0B15"/>
                </a:solidFill>
              </a:rPr>
              <a:t>没有特权</a:t>
            </a:r>
            <a:r>
              <a:rPr lang="zh-CN" altLang="en-US" sz="2000"/>
              <a:t>，默认只能</a:t>
            </a:r>
            <a:r>
              <a:rPr lang="en-US" altLang="zh-CN" sz="2000">
                <a:solidFill>
                  <a:srgbClr val="9C0B15"/>
                </a:solidFill>
              </a:rPr>
              <a:t>访问自己被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		</a:t>
            </a:r>
            <a:r>
              <a:rPr lang="en-US" altLang="zh-CN" sz="2000">
                <a:solidFill>
                  <a:srgbClr val="9C0B15"/>
                </a:solidFill>
              </a:rPr>
              <a:t>分配到的资源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概念辨析</a:t>
            </a:r>
            <a:r>
              <a:rPr lang="en-US" altLang="zh-CN" sz="2000"/>
              <a:t>	</a:t>
            </a:r>
            <a:r>
              <a:rPr lang="zh-CN" altLang="en-US" sz="2000"/>
              <a:t>“特权进程”不要和“内核线程”搞混了。前者中所含的线程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是</a:t>
            </a:r>
            <a:r>
              <a:rPr lang="en-US" altLang="zh-CN" sz="2000">
                <a:solidFill>
                  <a:srgbClr val="9C0B15"/>
                </a:solidFill>
              </a:rPr>
              <a:t>运行在用户模式下</a:t>
            </a:r>
            <a:r>
              <a:rPr lang="zh-CN" altLang="en-US" sz="2000"/>
              <a:t>的，只不过它们拥有调用敏感资源的特权，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而且</a:t>
            </a:r>
            <a:r>
              <a:rPr lang="en-US" altLang="zh-CN" sz="2000">
                <a:solidFill>
                  <a:srgbClr val="9C0B15"/>
                </a:solidFill>
              </a:rPr>
              <a:t>不同特权进程的特权大小可以不同</a:t>
            </a:r>
            <a:r>
              <a:rPr lang="zh-CN" altLang="en-US" sz="2000"/>
              <a:t>；后者则是直接运行在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内核模式下，</a:t>
            </a:r>
            <a:r>
              <a:rPr lang="en-US" altLang="zh-CN" sz="2000">
                <a:solidFill>
                  <a:srgbClr val="9C0B15"/>
                </a:solidFill>
              </a:rPr>
              <a:t>不属于任何一个进程，而且总是具备最大特权</a:t>
            </a:r>
            <a:r>
              <a:rPr lang="zh-CN" altLang="en-US" sz="2000"/>
              <a:t>。</a:t>
            </a:r>
            <a:endParaRPr lang="zh-CN" altLang="en-US" sz="2000"/>
          </a:p>
        </p:txBody>
      </p:sp>
      <p:sp>
        <p:nvSpPr>
          <p:cNvPr id="4" name="圆角矩形 3"/>
          <p:cNvSpPr/>
          <p:nvPr/>
        </p:nvSpPr>
        <p:spPr>
          <a:xfrm>
            <a:off x="2981960" y="1805305"/>
            <a:ext cx="3823335" cy="368300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/>
              <a:t>普通进程</a:t>
            </a:r>
            <a:endParaRPr lang="zh-CN" altLang="en-US" b="1"/>
          </a:p>
        </p:txBody>
      </p:sp>
      <p:sp>
        <p:nvSpPr>
          <p:cNvPr id="9" name="圆角矩形 8"/>
          <p:cNvSpPr/>
          <p:nvPr>
            <p:custDataLst>
              <p:tags r:id="rId2"/>
            </p:custDataLst>
          </p:nvPr>
        </p:nvSpPr>
        <p:spPr>
          <a:xfrm>
            <a:off x="2981960" y="1319530"/>
            <a:ext cx="3823335" cy="368300"/>
          </a:xfrm>
          <a:prstGeom prst="roundRect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/>
              <a:t>特权进程</a:t>
            </a:r>
            <a:endParaRPr lang="zh-CN" altLang="en-US" b="1"/>
          </a:p>
        </p:txBody>
      </p:sp>
    </p:spTree>
    <p:custDataLst>
      <p:tags r:id="rId3"/>
    </p:custData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主存储器分配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一、进程的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系统进程总</a:t>
                      </a: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览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进程的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内存分配的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x86-64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管理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 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DLM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进程内分配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Linux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进程间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分配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Linux页面替换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三、系统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.2 进程的基本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操作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3.3 进程接口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43999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系统中的</a:t>
            </a:r>
            <a:r>
              <a:rPr lang="zh-CN" altLang="en-US" sz="2000" b="1">
                <a:solidFill>
                  <a:srgbClr val="9C0B15"/>
                </a:solidFill>
              </a:rPr>
              <a:t>进程总览：总结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/>
          </a:p>
          <a:p>
            <a:pPr algn="ctr"/>
            <a:endParaRPr lang="zh-CN" altLang="en-US" sz="2000"/>
          </a:p>
          <a:p>
            <a:pPr algn="ctr"/>
            <a:endParaRPr lang="zh-CN" altLang="en-US" sz="2000"/>
          </a:p>
          <a:p>
            <a:pPr algn="ctr"/>
            <a:endParaRPr lang="zh-CN" altLang="en-US" sz="2000"/>
          </a:p>
          <a:p>
            <a:pPr algn="ctr"/>
            <a:endParaRPr lang="zh-CN" altLang="en-US" sz="2000"/>
          </a:p>
          <a:p>
            <a:pPr algn="ctr"/>
            <a:endParaRPr lang="zh-CN" altLang="en-US" sz="2000"/>
          </a:p>
          <a:p>
            <a:pPr algn="ctr"/>
            <a:endParaRPr lang="zh-CN" altLang="en-US" sz="2000"/>
          </a:p>
          <a:p>
            <a:pPr algn="ctr"/>
            <a:endParaRPr lang="zh-CN" altLang="en-US" sz="2000"/>
          </a:p>
          <a:p>
            <a:pPr algn="ctr"/>
            <a:endParaRPr lang="zh-CN" altLang="en-US" sz="2000"/>
          </a:p>
          <a:p>
            <a:pPr algn="l"/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/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/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/>
            <a:endParaRPr lang="zh-CN" altLang="en-US" sz="2000"/>
          </a:p>
        </p:txBody>
      </p:sp>
      <p:graphicFrame>
        <p:nvGraphicFramePr>
          <p:cNvPr id="2" name="表格 1"/>
          <p:cNvGraphicFramePr/>
          <p:nvPr>
            <p:custDataLst>
              <p:tags r:id="rId2"/>
            </p:custDataLst>
          </p:nvPr>
        </p:nvGraphicFramePr>
        <p:xfrm>
          <a:off x="332740" y="676910"/>
          <a:ext cx="9228455" cy="229806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057400"/>
                <a:gridCol w="1731645"/>
                <a:gridCol w="1397635"/>
                <a:gridCol w="2125344"/>
                <a:gridCol w="1916431"/>
              </a:tblGrid>
              <a:tr h="3962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进程的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来源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特权模式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特权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运行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线程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提供方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（内核）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不属于任何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进程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内核模式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极高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输入输出线程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系统服务线程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  <a:sym typeface="+mn-ea"/>
                      </a:endParaRPr>
                    </a:p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空闲线程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（内核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线程）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操作系统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驱动程序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系统守护进程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用户模式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高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输入输出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线程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系统服务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线程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（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用户线程）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操作系统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驱动程序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70104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服务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守护进程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用户模式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中，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低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后台服务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线程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  <a:sym typeface="+mn-ea"/>
                      </a:endParaRPr>
                    </a:p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（用户线程）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驱动程序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应用程序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08305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应用程序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进程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用户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模式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低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前台程序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线程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  <a:sym typeface="+mn-ea"/>
                      </a:endParaRPr>
                    </a:p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（用户线程）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应用程序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r="13843" b="41872"/>
          <a:stretch>
            <a:fillRect/>
          </a:stretch>
        </p:blipFill>
        <p:spPr>
          <a:xfrm>
            <a:off x="333375" y="4924425"/>
            <a:ext cx="9230995" cy="172656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主存储器分配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一、进程的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系统进程总览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进程的实现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内存分配的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x86-64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管理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 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DLM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进程内分配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Linux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进程间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分配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Linux页面替换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三、系统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.2 进程的基本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操作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3.3 进程接口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31692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进程控制块</a:t>
            </a:r>
            <a:endParaRPr lang="zh-CN" altLang="en-US" sz="2000">
              <a:solidFill>
                <a:srgbClr val="9C0B15"/>
              </a:solidFill>
            </a:endParaRPr>
          </a:p>
          <a:p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进程控制块</a:t>
            </a:r>
            <a:r>
              <a:rPr lang="en-US" altLang="zh-CN" sz="2000"/>
              <a:t>	</a:t>
            </a:r>
            <a:r>
              <a:rPr lang="zh-CN" altLang="en-US" sz="2000"/>
              <a:t>操作系统用以描述和管理进程的内核对象，一般至少包含进程</a:t>
            </a:r>
            <a:r>
              <a:rPr lang="en-US" altLang="zh-CN" sz="2000" b="1">
                <a:solidFill>
                  <a:srgbClr val="9C0B15"/>
                </a:solidFill>
              </a:rPr>
              <a:t>Process</a:t>
            </a:r>
            <a:r>
              <a:rPr lang="zh-CN" altLang="en-US" sz="2000">
                <a:sym typeface="+mn-ea"/>
              </a:rPr>
              <a:t>		</a:t>
            </a:r>
            <a:r>
              <a:rPr lang="zh-CN" altLang="en-US" sz="2000"/>
              <a:t>的</a:t>
            </a:r>
            <a:r>
              <a:rPr lang="zh-CN" altLang="en-US" sz="2000">
                <a:solidFill>
                  <a:srgbClr val="9C0B15"/>
                </a:solidFill>
              </a:rPr>
              <a:t>地址空间描述符表及一些其他权限表</a:t>
            </a:r>
            <a:r>
              <a:rPr lang="zh-CN" altLang="en-US" sz="2000"/>
              <a:t>，有时还会包含一些</a:t>
            </a:r>
            <a:r>
              <a:rPr lang="en-US" altLang="zh-CN" sz="2000" b="1">
                <a:solidFill>
                  <a:srgbClr val="9C0B15"/>
                </a:solidFill>
              </a:rPr>
              <a:t>Control</a:t>
            </a:r>
            <a:r>
              <a:rPr lang="zh-CN" altLang="en-US" sz="2000"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身</a:t>
            </a:r>
            <a:r>
              <a:rPr lang="zh-CN" altLang="en-US" sz="2000">
                <a:solidFill>
                  <a:srgbClr val="9C0B15"/>
                </a:solidFill>
              </a:rPr>
              <a:t>份信息</a:t>
            </a:r>
            <a:r>
              <a:rPr lang="zh-CN" altLang="en-US" sz="2000"/>
              <a:t>（如进程名、进程号）、</a:t>
            </a:r>
            <a:r>
              <a:rPr lang="zh-CN" altLang="en-US" sz="2000">
                <a:solidFill>
                  <a:srgbClr val="9C0B15"/>
                </a:solidFill>
              </a:rPr>
              <a:t>统计信息</a:t>
            </a:r>
            <a:r>
              <a:rPr lang="zh-CN" altLang="en-US" sz="2000"/>
              <a:t>（如当前正在运行</a:t>
            </a:r>
            <a:r>
              <a:rPr lang="zh-CN" altLang="en-US" sz="2000" b="1">
                <a:solidFill>
                  <a:srgbClr val="9C0B15"/>
                </a:solidFill>
              </a:rPr>
              <a:t>Block</a:t>
            </a:r>
            <a:r>
              <a:rPr lang="zh-CN" altLang="en-US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的线程数、总计内存大小）、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线程信息</a:t>
            </a:r>
            <a:r>
              <a:rPr lang="zh-CN" altLang="en-US" sz="2000">
                <a:sym typeface="+mn-ea"/>
              </a:rPr>
              <a:t>（当前的线程列表，内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（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P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CB）</a:t>
            </a:r>
            <a:r>
              <a:rPr lang="zh-CN" altLang="en-US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含指向各个</a:t>
            </a:r>
            <a:r>
              <a:rPr lang="en-US" altLang="zh-CN" sz="2000">
                <a:sym typeface="+mn-ea"/>
              </a:rPr>
              <a:t>TCB</a:t>
            </a:r>
            <a:r>
              <a:rPr lang="zh-CN" altLang="en-US" sz="2000">
                <a:sym typeface="+mn-ea"/>
              </a:rPr>
              <a:t>的指针）</a:t>
            </a:r>
            <a:r>
              <a:rPr lang="zh-CN" altLang="en-US" sz="2000"/>
              <a:t>等。</a:t>
            </a:r>
            <a:r>
              <a:rPr lang="zh-CN" altLang="en-US" sz="2000">
                <a:sym typeface="+mn-ea"/>
              </a:rPr>
              <a:t>它在一般是</a:t>
            </a:r>
            <a:r>
              <a:rPr lang="en-US" altLang="zh-CN" sz="2000">
                <a:sym typeface="+mn-ea"/>
              </a:rPr>
              <a:t>C</a:t>
            </a:r>
            <a:r>
              <a:rPr lang="zh-CN" altLang="en-US" sz="2000">
                <a:sym typeface="+mn-ea"/>
              </a:rPr>
              <a:t>语言的一个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结构体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r>
              <a:rPr lang="zh-CN" altLang="en-US" sz="2000">
                <a:sym typeface="+mn-ea"/>
              </a:rPr>
              <a:t>		进</a:t>
            </a:r>
            <a:r>
              <a:rPr lang="zh-CN" altLang="en-US" sz="2000"/>
              <a:t>程控制块总是位于内核空间，只有操作系统可以更改，应用</a:t>
            </a:r>
            <a:r>
              <a:rPr lang="zh-CN" altLang="en-US" sz="2000">
                <a:sym typeface="+mn-ea"/>
              </a:rPr>
              <a:t>		</a:t>
            </a:r>
            <a:r>
              <a:rPr lang="zh-CN" altLang="en-US" sz="2000"/>
              <a:t>程序无法更改。与</a:t>
            </a:r>
            <a:r>
              <a:rPr lang="en-US" altLang="zh-CN" sz="2000"/>
              <a:t>TCB</a:t>
            </a:r>
            <a:r>
              <a:rPr lang="zh-CN" altLang="en-US" sz="2000"/>
              <a:t>不同，</a:t>
            </a:r>
            <a:r>
              <a:rPr lang="zh-CN" altLang="en-US" sz="2000">
                <a:solidFill>
                  <a:srgbClr val="9C0B15"/>
                </a:solidFill>
              </a:rPr>
              <a:t>没有内核模式的CPU不需要也无法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</a:rPr>
              <a:t>（用硬件手段）实现</a:t>
            </a:r>
            <a:r>
              <a:rPr lang="en-US" altLang="zh-CN" sz="2000">
                <a:solidFill>
                  <a:srgbClr val="9C0B15"/>
                </a:solidFill>
              </a:rPr>
              <a:t>PCB</a:t>
            </a:r>
            <a:r>
              <a:rPr lang="zh-CN" altLang="en-US" sz="2000"/>
              <a:t>。</a:t>
            </a:r>
            <a:endParaRPr lang="zh-CN" altLang="en-US" sz="2000"/>
          </a:p>
        </p:txBody>
      </p:sp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2844165" y="3328670"/>
            <a:ext cx="2167890" cy="423545"/>
          </a:xfrm>
          <a:prstGeom prst="rect">
            <a:avLst/>
          </a:prstGeom>
          <a:solidFill>
            <a:srgbClr val="BFBFBF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进程名</a:t>
            </a: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7" name="矩形 6"/>
          <p:cNvSpPr/>
          <p:nvPr>
            <p:custDataLst>
              <p:tags r:id="rId3"/>
            </p:custDataLst>
          </p:nvPr>
        </p:nvSpPr>
        <p:spPr>
          <a:xfrm>
            <a:off x="5012055" y="3328670"/>
            <a:ext cx="2167890" cy="423545"/>
          </a:xfrm>
          <a:prstGeom prst="rect">
            <a:avLst/>
          </a:prstGeom>
          <a:solidFill>
            <a:srgbClr val="D02F35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wechat.exe</a:t>
            </a:r>
            <a:endParaRPr lang="en-US" altLang="zh-CN"/>
          </a:p>
        </p:txBody>
      </p:sp>
      <p:sp>
        <p:nvSpPr>
          <p:cNvPr id="8" name="矩形 7"/>
          <p:cNvSpPr/>
          <p:nvPr>
            <p:custDataLst>
              <p:tags r:id="rId4"/>
            </p:custDataLst>
          </p:nvPr>
        </p:nvSpPr>
        <p:spPr>
          <a:xfrm>
            <a:off x="5012055" y="3752215"/>
            <a:ext cx="2167890" cy="423545"/>
          </a:xfrm>
          <a:prstGeom prst="rect">
            <a:avLst/>
          </a:prstGeom>
          <a:solidFill>
            <a:schemeClr val="accent2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ym typeface="+mn-ea"/>
              </a:rPr>
              <a:t>134</a:t>
            </a:r>
            <a:endParaRPr lang="en-US" altLang="zh-CN">
              <a:sym typeface="+mn-ea"/>
            </a:endParaRPr>
          </a:p>
        </p:txBody>
      </p:sp>
      <p:sp>
        <p:nvSpPr>
          <p:cNvPr id="9" name="矩形 8"/>
          <p:cNvSpPr/>
          <p:nvPr>
            <p:custDataLst>
              <p:tags r:id="rId5"/>
            </p:custDataLst>
          </p:nvPr>
        </p:nvSpPr>
        <p:spPr>
          <a:xfrm>
            <a:off x="5012055" y="5360670"/>
            <a:ext cx="2167890" cy="909320"/>
          </a:xfrm>
          <a:prstGeom prst="rect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ym typeface="+mn-ea"/>
              </a:rPr>
              <a:t>......</a:t>
            </a:r>
            <a:endParaRPr lang="en-US" altLang="zh-CN"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en-US" altLang="zh-CN">
                <a:sym typeface="+mn-ea"/>
              </a:rPr>
              <a:t>.</a:t>
            </a:r>
            <a:r>
              <a:rPr lang="en-US" altLang="zh-CN">
                <a:sym typeface="+mn-ea"/>
              </a:rPr>
              <a:t>......</a:t>
            </a:r>
            <a:endParaRPr lang="en-US" altLang="zh-CN"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en-US" altLang="zh-CN">
                <a:sym typeface="+mn-ea"/>
              </a:rPr>
              <a:t>......</a:t>
            </a:r>
            <a:endParaRPr lang="en-US" altLang="zh-CN">
              <a:sym typeface="+mn-ea"/>
            </a:endParaRPr>
          </a:p>
        </p:txBody>
      </p:sp>
      <p:sp>
        <p:nvSpPr>
          <p:cNvPr id="15" name="矩形 14"/>
          <p:cNvSpPr/>
          <p:nvPr>
            <p:custDataLst>
              <p:tags r:id="rId6"/>
            </p:custDataLst>
          </p:nvPr>
        </p:nvSpPr>
        <p:spPr>
          <a:xfrm>
            <a:off x="2844165" y="3752215"/>
            <a:ext cx="2167890" cy="423545"/>
          </a:xfrm>
          <a:prstGeom prst="rect">
            <a:avLst/>
          </a:prstGeom>
          <a:solidFill>
            <a:srgbClr val="BFBFBF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进程号</a:t>
            </a: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17" name="矩形 16"/>
          <p:cNvSpPr/>
          <p:nvPr>
            <p:custDataLst>
              <p:tags r:id="rId7"/>
            </p:custDataLst>
          </p:nvPr>
        </p:nvSpPr>
        <p:spPr>
          <a:xfrm>
            <a:off x="2844165" y="4175760"/>
            <a:ext cx="2167890" cy="423545"/>
          </a:xfrm>
          <a:prstGeom prst="rect">
            <a:avLst/>
          </a:prstGeom>
          <a:solidFill>
            <a:srgbClr val="BFBFBF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线程数</a:t>
            </a: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26" name="矩形 25"/>
          <p:cNvSpPr/>
          <p:nvPr>
            <p:custDataLst>
              <p:tags r:id="rId8"/>
            </p:custDataLst>
          </p:nvPr>
        </p:nvSpPr>
        <p:spPr>
          <a:xfrm>
            <a:off x="5012055" y="4175760"/>
            <a:ext cx="2167890" cy="423545"/>
          </a:xfrm>
          <a:prstGeom prst="rect">
            <a:avLst/>
          </a:prstGeom>
          <a:solidFill>
            <a:schemeClr val="accent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ym typeface="+mn-ea"/>
              </a:rPr>
              <a:t>5</a:t>
            </a:r>
            <a:endParaRPr lang="en-US" altLang="zh-CN">
              <a:sym typeface="+mn-ea"/>
            </a:endParaRPr>
          </a:p>
        </p:txBody>
      </p:sp>
      <p:sp>
        <p:nvSpPr>
          <p:cNvPr id="28" name="矩形 27"/>
          <p:cNvSpPr/>
          <p:nvPr>
            <p:custDataLst>
              <p:tags r:id="rId9"/>
            </p:custDataLst>
          </p:nvPr>
        </p:nvSpPr>
        <p:spPr>
          <a:xfrm>
            <a:off x="2844165" y="5361305"/>
            <a:ext cx="2167890" cy="909320"/>
          </a:xfrm>
          <a:prstGeom prst="rect">
            <a:avLst/>
          </a:prstGeom>
          <a:solidFill>
            <a:srgbClr val="BFBFBF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地址空间描述符表</a:t>
            </a: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60" name="矩形 59"/>
          <p:cNvSpPr/>
          <p:nvPr>
            <p:custDataLst>
              <p:tags r:id="rId10"/>
            </p:custDataLst>
          </p:nvPr>
        </p:nvSpPr>
        <p:spPr>
          <a:xfrm>
            <a:off x="2844165" y="6270625"/>
            <a:ext cx="2167890" cy="423545"/>
          </a:xfrm>
          <a:prstGeom prst="rect">
            <a:avLst/>
          </a:prstGeom>
          <a:solidFill>
            <a:srgbClr val="BFBFBF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总内存用量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sp>
        <p:nvSpPr>
          <p:cNvPr id="61" name="矩形 60"/>
          <p:cNvSpPr/>
          <p:nvPr>
            <p:custDataLst>
              <p:tags r:id="rId11"/>
            </p:custDataLst>
          </p:nvPr>
        </p:nvSpPr>
        <p:spPr>
          <a:xfrm>
            <a:off x="5012055" y="6270625"/>
            <a:ext cx="2167890" cy="423545"/>
          </a:xfrm>
          <a:prstGeom prst="rect">
            <a:avLst/>
          </a:prstGeom>
          <a:solidFill>
            <a:srgbClr val="7030A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ym typeface="+mn-ea"/>
              </a:rPr>
              <a:t>5653MB</a:t>
            </a:r>
            <a:endParaRPr lang="en-US" altLang="zh-CN">
              <a:sym typeface="+mn-ea"/>
            </a:endParaRPr>
          </a:p>
        </p:txBody>
      </p:sp>
      <p:sp>
        <p:nvSpPr>
          <p:cNvPr id="2" name="矩形 1"/>
          <p:cNvSpPr/>
          <p:nvPr>
            <p:custDataLst>
              <p:tags r:id="rId12"/>
            </p:custDataLst>
          </p:nvPr>
        </p:nvSpPr>
        <p:spPr>
          <a:xfrm>
            <a:off x="5012055" y="4599305"/>
            <a:ext cx="2167890" cy="761365"/>
          </a:xfrm>
          <a:prstGeom prst="rect">
            <a:avLst/>
          </a:prstGeom>
          <a:solidFill>
            <a:srgbClr val="FFC00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ym typeface="+mn-ea"/>
              </a:rPr>
              <a:t>......</a:t>
            </a:r>
            <a:endParaRPr lang="en-US" altLang="zh-CN"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en-US" altLang="zh-CN">
                <a:sym typeface="+mn-ea"/>
              </a:rPr>
              <a:t>......</a:t>
            </a:r>
            <a:endParaRPr lang="en-US" altLang="zh-CN">
              <a:sym typeface="+mn-ea"/>
            </a:endParaRPr>
          </a:p>
        </p:txBody>
      </p:sp>
      <p:sp>
        <p:nvSpPr>
          <p:cNvPr id="5" name="矩形 4"/>
          <p:cNvSpPr/>
          <p:nvPr>
            <p:custDataLst>
              <p:tags r:id="rId13"/>
            </p:custDataLst>
          </p:nvPr>
        </p:nvSpPr>
        <p:spPr>
          <a:xfrm>
            <a:off x="2844165" y="4599940"/>
            <a:ext cx="2167890" cy="761365"/>
          </a:xfrm>
          <a:prstGeom prst="rect">
            <a:avLst/>
          </a:prstGeom>
          <a:solidFill>
            <a:srgbClr val="BFBFBF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内部线程列表</a:t>
            </a: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</p:spTree>
    <p:custDataLst>
      <p:tags r:id="rId14"/>
    </p:custData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主存储器分配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一、进程的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系统进程总览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进程的实现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内存分配的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x86-64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管理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 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DLM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进程内分配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Linux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进程间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分配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Linux页面替换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三、系统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.2 进程的基本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操作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3.3 进程接口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2471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一个实际的进</a:t>
            </a:r>
            <a:r>
              <a:rPr lang="zh-CN" altLang="en-US" sz="2000" b="1">
                <a:solidFill>
                  <a:srgbClr val="9C0B15"/>
                </a:solidFill>
              </a:rPr>
              <a:t>程控制块（</a:t>
            </a:r>
            <a:r>
              <a:rPr lang="en-US" altLang="zh-CN" sz="2000" b="1">
                <a:solidFill>
                  <a:srgbClr val="9C0B15"/>
                </a:solidFill>
              </a:rPr>
              <a:t>Linux 6.3</a:t>
            </a:r>
            <a:r>
              <a:rPr lang="zh-CN" altLang="en-US" sz="2000" b="1">
                <a:solidFill>
                  <a:srgbClr val="9C0B15"/>
                </a:solidFill>
              </a:rPr>
              <a:t>）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https://elixir.bootlin.com/linux/v6.3-rc3/source/include/linux/sched.h#L737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FFC000"/>
                </a:solidFill>
                <a:cs typeface="+mn-lt"/>
              </a:rPr>
              <a:t>struct task_struct</a:t>
            </a:r>
            <a:endParaRPr lang="zh-CN" altLang="en-US" sz="2000" b="1">
              <a:solidFill>
                <a:srgbClr val="FFC00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FFC000"/>
                </a:solidFill>
                <a:cs typeface="+mn-lt"/>
              </a:rPr>
              <a:t>{</a:t>
            </a:r>
            <a:endParaRPr lang="zh-CN" altLang="en-US" sz="2000" b="1">
              <a:solidFill>
                <a:srgbClr val="92D05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2D050"/>
                </a:solidFill>
                <a:cs typeface="+mn-lt"/>
              </a:rPr>
              <a:t>	struct mm_struct	*</a:t>
            </a:r>
            <a:r>
              <a:rPr lang="en-US" altLang="zh-CN" sz="2000" b="1">
                <a:solidFill>
                  <a:srgbClr val="00B0F0"/>
                </a:solidFill>
                <a:cs typeface="+mn-lt"/>
              </a:rPr>
              <a:t>		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mm;</a:t>
            </a:r>
            <a:endParaRPr lang="zh-CN" altLang="en-US" sz="2000" b="1">
              <a:solidFill>
                <a:srgbClr val="00B0F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2D050"/>
                </a:solidFill>
                <a:cs typeface="+mn-lt"/>
              </a:rPr>
              <a:t>	struct mm_struct	*</a:t>
            </a:r>
            <a:r>
              <a:rPr lang="en-US" altLang="zh-CN" sz="2000" b="1">
                <a:solidFill>
                  <a:srgbClr val="00B0F0"/>
                </a:solidFill>
                <a:cs typeface="+mn-lt"/>
              </a:rPr>
              <a:t>		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active_mm;</a:t>
            </a:r>
            <a:endParaRPr lang="zh-CN" altLang="en-US" sz="2000" b="1">
              <a:solidFill>
                <a:srgbClr val="00B0F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2D05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2D050"/>
                </a:solidFill>
                <a:cs typeface="+mn-lt"/>
              </a:rPr>
              <a:t>	pid_t				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pid;</a:t>
            </a:r>
            <a:endParaRPr lang="zh-CN" altLang="en-US" sz="2000" b="1">
              <a:solidFill>
                <a:srgbClr val="00B0F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2D050"/>
                </a:solidFill>
                <a:cs typeface="+mn-lt"/>
              </a:rPr>
              <a:t>	pid_t				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tgid;</a:t>
            </a:r>
            <a:endParaRPr lang="zh-CN" altLang="en-US" sz="2000" b="1">
              <a:solidFill>
                <a:srgbClr val="00B0F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FFC000"/>
                </a:solidFill>
                <a:cs typeface="+mn-lt"/>
              </a:rPr>
              <a:t>};</a:t>
            </a:r>
            <a:endParaRPr lang="zh-CN" altLang="en-US" sz="2000" b="1">
              <a:solidFill>
                <a:srgbClr val="FFC00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FFC00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问题</a:t>
            </a:r>
            <a:r>
              <a:rPr lang="en-US" altLang="zh-CN" sz="2000" b="1">
                <a:solidFill>
                  <a:srgbClr val="9C0B15"/>
                </a:solidFill>
              </a:rPr>
              <a:t>1</a:t>
            </a:r>
            <a:r>
              <a:rPr lang="en-US" altLang="zh-CN" sz="2000" b="1">
                <a:solidFill>
                  <a:srgbClr val="FFC000"/>
                </a:solidFill>
                <a:cs typeface="+mn-lt"/>
              </a:rPr>
              <a:t>	</a:t>
            </a:r>
            <a:r>
              <a:rPr lang="zh-CN" altLang="en-US" sz="2000"/>
              <a:t>上节课才讲过，task_stru</a:t>
            </a:r>
            <a:r>
              <a:rPr lang="en-US" altLang="zh-CN" sz="2000"/>
              <a:t>ct</a:t>
            </a:r>
            <a:r>
              <a:rPr lang="zh-CN" altLang="en-US" sz="2000"/>
              <a:t>不是线程的</a:t>
            </a:r>
            <a:r>
              <a:rPr lang="zh-CN" altLang="en-US" sz="2000"/>
              <a:t>控制块吗？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FFC00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问题2</a:t>
            </a:r>
            <a:r>
              <a:rPr lang="en-US" altLang="zh-CN" sz="2000" b="1">
                <a:solidFill>
                  <a:srgbClr val="FFC000"/>
                </a:solidFill>
                <a:cs typeface="+mn-lt"/>
              </a:rPr>
              <a:t>	</a:t>
            </a:r>
            <a:r>
              <a:rPr lang="en-US" altLang="zh-CN" sz="2000"/>
              <a:t>地址空间描述符表在什么地方？接下来应该查看哪个数据结构？</a:t>
            </a:r>
            <a:endParaRPr lang="en-US" altLang="zh-CN" sz="2000"/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FFC00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问题3</a:t>
            </a:r>
            <a:r>
              <a:rPr lang="en-US" altLang="zh-CN" sz="2000" b="1">
                <a:solidFill>
                  <a:srgbClr val="FFC000"/>
                </a:solidFill>
                <a:cs typeface="+mn-lt"/>
              </a:rPr>
              <a:t>	</a:t>
            </a:r>
            <a:r>
              <a:rPr lang="zh-CN" altLang="en-US" sz="2000"/>
              <a:t>为什么task_struct里面没有进程所属的线程列表？</a:t>
            </a:r>
            <a:endParaRPr lang="zh-CN" altLang="en-US" sz="2000" b="1">
              <a:solidFill>
                <a:srgbClr val="FFC00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FFC00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FFC00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问题</a:t>
            </a:r>
            <a:r>
              <a:rPr lang="en-US" altLang="zh-CN" sz="2000" b="1">
                <a:solidFill>
                  <a:srgbClr val="9C0B15"/>
                </a:solidFill>
              </a:rPr>
              <a:t>4</a:t>
            </a:r>
            <a:r>
              <a:rPr lang="en-US" altLang="zh-CN" sz="2000" b="1">
                <a:solidFill>
                  <a:srgbClr val="FFC000"/>
                </a:solidFill>
                <a:cs typeface="+mn-lt"/>
              </a:rPr>
              <a:t>	</a:t>
            </a:r>
            <a:r>
              <a:rPr lang="en-US" altLang="zh-CN" sz="2000"/>
              <a:t>为什么有两个成员都是</a:t>
            </a:r>
            <a:r>
              <a:rPr lang="en-US" altLang="zh-CN" sz="2000">
                <a:sym typeface="+mn-ea"/>
              </a:rPr>
              <a:t>mm_struct类型</a:t>
            </a:r>
            <a:r>
              <a:rPr lang="en-US" altLang="zh-CN" sz="2000"/>
              <a:t>？</a:t>
            </a:r>
            <a:r>
              <a:rPr lang="zh-CN" altLang="en-US" sz="2000"/>
              <a:t>一个不够吗？</a:t>
            </a:r>
            <a:endParaRPr lang="zh-CN" altLang="en-US" sz="2000"/>
          </a:p>
        </p:txBody>
      </p:sp>
      <p:sp>
        <p:nvSpPr>
          <p:cNvPr id="80" name="左箭头标注 79"/>
          <p:cNvSpPr/>
          <p:nvPr/>
        </p:nvSpPr>
        <p:spPr>
          <a:xfrm>
            <a:off x="6883400" y="1471930"/>
            <a:ext cx="5047615" cy="1717675"/>
          </a:xfrm>
          <a:prstGeom prst="leftArrowCallout">
            <a:avLst>
              <a:gd name="adj1" fmla="val 18254"/>
              <a:gd name="adj2" fmla="val 17117"/>
              <a:gd name="adj3" fmla="val 17732"/>
              <a:gd name="adj4" fmla="val 88312"/>
            </a:avLst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上一个用户模式线程的</a:t>
            </a:r>
            <a:r>
              <a:rPr lang="en-US" altLang="zh-CN"/>
              <a:t>mm</a:t>
            </a:r>
            <a:r>
              <a:rPr lang="zh-CN" altLang="en-US"/>
              <a:t>。内核线程没有自己的</a:t>
            </a:r>
            <a:r>
              <a:rPr lang="en-US" altLang="zh-CN"/>
              <a:t>mm</a:t>
            </a:r>
            <a:r>
              <a:rPr lang="zh-CN" altLang="en-US"/>
              <a:t>（</a:t>
            </a:r>
            <a:r>
              <a:rPr lang="en-US" altLang="zh-CN"/>
              <a:t>NULL</a:t>
            </a:r>
            <a:r>
              <a:rPr lang="zh-CN" altLang="en-US"/>
              <a:t>），因此在这里另设一个指向上一用户线程的</a:t>
            </a:r>
            <a:r>
              <a:rPr lang="en-US" altLang="zh-CN"/>
              <a:t>mm</a:t>
            </a:r>
            <a:r>
              <a:rPr lang="zh-CN" altLang="en-US"/>
              <a:t>。因为每个进程的页表内部，其内核地址空间都是一样的，因此</a:t>
            </a:r>
            <a:r>
              <a:rPr lang="zh-CN" altLang="en-US"/>
              <a:t>无所谓。</a:t>
            </a:r>
            <a:endParaRPr lang="zh-CN" altLang="en-US"/>
          </a:p>
          <a:p>
            <a:pPr algn="ctr"/>
            <a:r>
              <a:rPr lang="zh-CN" altLang="en-US"/>
              <a:t>对于用户线程，</a:t>
            </a:r>
            <a:r>
              <a:rPr lang="en-US" altLang="zh-CN"/>
              <a:t>mm</a:t>
            </a:r>
            <a:r>
              <a:rPr lang="zh-CN" altLang="en-US"/>
              <a:t>和</a:t>
            </a:r>
            <a:r>
              <a:rPr lang="en-US" altLang="zh-CN"/>
              <a:t>active_mm</a:t>
            </a:r>
            <a:r>
              <a:rPr lang="zh-CN" altLang="en-US"/>
              <a:t>是</a:t>
            </a:r>
            <a:r>
              <a:rPr lang="zh-CN" altLang="en-US"/>
              <a:t>一回事。</a:t>
            </a:r>
            <a:endParaRPr lang="zh-CN" altLang="en-US"/>
          </a:p>
        </p:txBody>
      </p:sp>
      <p:sp>
        <p:nvSpPr>
          <p:cNvPr id="2" name="左箭头标注 1"/>
          <p:cNvSpPr/>
          <p:nvPr/>
        </p:nvSpPr>
        <p:spPr>
          <a:xfrm>
            <a:off x="7342505" y="5553710"/>
            <a:ext cx="3361690" cy="1229360"/>
          </a:xfrm>
          <a:prstGeom prst="leftArrowCallout">
            <a:avLst>
              <a:gd name="adj1" fmla="val 18254"/>
              <a:gd name="adj2" fmla="val 17117"/>
              <a:gd name="adj3" fmla="val 17732"/>
              <a:gd name="adj4" fmla="val 87149"/>
            </a:avLst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一个更好的设计是什么？</a:t>
            </a:r>
            <a:endParaRPr lang="zh-CN" altLang="en-US"/>
          </a:p>
          <a:p>
            <a:pPr algn="ctr"/>
            <a:endParaRPr lang="zh-CN" altLang="en-US"/>
          </a:p>
          <a:p>
            <a:pPr algn="ctr"/>
            <a:r>
              <a:rPr lang="zh-CN" altLang="en-US"/>
              <a:t>为什么</a:t>
            </a:r>
            <a:r>
              <a:rPr lang="en-US" altLang="zh-CN"/>
              <a:t>Linux</a:t>
            </a:r>
            <a:r>
              <a:rPr lang="zh-CN" altLang="en-US"/>
              <a:t>不</a:t>
            </a:r>
            <a:r>
              <a:rPr lang="zh-CN" altLang="en-US"/>
              <a:t>那样子设计？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" grpId="0" bldLvl="0" animBg="1"/>
      <p:bldP spid="2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主存储器分配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一、进程的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系统进程总览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进程的实现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内存分配的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x86-64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管理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 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DLM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进程内分配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Linux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进程间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分配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Linux页面替换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三、系统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.2 进程的基本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操作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3.3 进程接口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进程控制块的补充信息（</a:t>
            </a:r>
            <a:r>
              <a:rPr lang="en-US" altLang="zh-CN" sz="2000" b="1">
                <a:solidFill>
                  <a:srgbClr val="9C0B15"/>
                </a:solidFill>
              </a:rPr>
              <a:t>Linux 6.3</a:t>
            </a:r>
            <a:r>
              <a:rPr lang="zh-CN" altLang="en-US" sz="2000" b="1">
                <a:solidFill>
                  <a:srgbClr val="9C0B15"/>
                </a:solidFill>
              </a:rPr>
              <a:t>）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r>
              <a:rPr sz="2000" b="1">
                <a:solidFill>
                  <a:srgbClr val="9C0B15"/>
                </a:solidFill>
              </a:rPr>
              <a:t>https://elixir.bootlin.com/linux/v6.3-rc3/source/include/linux/mm_types.h#L554</a:t>
            </a:r>
            <a:endParaRPr sz="2000" b="1">
              <a:solidFill>
                <a:srgbClr val="9C0B15"/>
              </a:solidFill>
            </a:endParaRPr>
          </a:p>
          <a:p>
            <a:pPr algn="l"/>
            <a:endParaRPr lang="zh-CN" altLang="en-US" sz="2000" b="1">
              <a:solidFill>
                <a:srgbClr val="9C0B15"/>
              </a:solidFill>
              <a:cs typeface="+mn-lt"/>
            </a:endParaRPr>
          </a:p>
          <a:p>
            <a:pPr algn="l"/>
            <a:r>
              <a:rPr lang="zh-CN" altLang="en-US" sz="2000" b="1">
                <a:solidFill>
                  <a:srgbClr val="FFC000"/>
                </a:solidFill>
                <a:cs typeface="+mn-lt"/>
              </a:rPr>
              <a:t>struct mm_struct</a:t>
            </a:r>
            <a:endParaRPr lang="zh-CN" altLang="en-US" sz="2000" b="1">
              <a:solidFill>
                <a:srgbClr val="FFC000"/>
              </a:solidFill>
              <a:cs typeface="+mn-lt"/>
            </a:endParaRPr>
          </a:p>
          <a:p>
            <a:pPr algn="l"/>
            <a:r>
              <a:rPr lang="zh-CN" altLang="en-US" sz="2000" b="1">
                <a:solidFill>
                  <a:srgbClr val="FFC000"/>
                </a:solidFill>
                <a:cs typeface="+mn-lt"/>
              </a:rPr>
              <a:t>{</a:t>
            </a:r>
            <a:endParaRPr lang="zh-CN" altLang="en-US" sz="2000" b="1">
              <a:solidFill>
                <a:srgbClr val="FFC000"/>
              </a:solidFill>
              <a:cs typeface="+mn-lt"/>
            </a:endParaRPr>
          </a:p>
          <a:p>
            <a:pPr algn="l"/>
            <a:r>
              <a:rPr lang="zh-CN" altLang="en-US" sz="2000" b="1">
                <a:solidFill>
                  <a:srgbClr val="92D050"/>
                </a:solidFill>
                <a:cs typeface="+mn-lt"/>
                <a:sym typeface="+mn-ea"/>
              </a:rPr>
              <a:t>	</a:t>
            </a:r>
            <a:r>
              <a:rPr lang="zh-CN" altLang="en-US" sz="2000" b="1">
                <a:solidFill>
                  <a:srgbClr val="92D050"/>
                </a:solidFill>
                <a:cs typeface="+mn-lt"/>
              </a:rPr>
              <a:t>struct maple_tree </a:t>
            </a:r>
            <a:r>
              <a:rPr lang="en-US" altLang="zh-CN" sz="2000" b="1">
                <a:solidFill>
                  <a:srgbClr val="92D050"/>
                </a:solidFill>
                <a:cs typeface="+mn-lt"/>
              </a:rPr>
              <a:t>	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mm_mt;</a:t>
            </a:r>
            <a:r>
              <a:rPr lang="zh-CN" altLang="en-US" sz="2000" b="1">
                <a:solidFill>
                  <a:srgbClr val="92D050"/>
                </a:solidFill>
                <a:cs typeface="+mn-lt"/>
              </a:rPr>
              <a:t>   /* </a:t>
            </a:r>
            <a:r>
              <a:rPr lang="en-US" altLang="zh-CN" sz="2000" b="1">
                <a:solidFill>
                  <a:srgbClr val="92D050"/>
                </a:solidFill>
                <a:cs typeface="+mn-lt"/>
              </a:rPr>
              <a:t>N</a:t>
            </a:r>
            <a:r>
              <a:rPr lang="zh-CN" altLang="en-US" sz="2000" b="1">
                <a:solidFill>
                  <a:srgbClr val="92D050"/>
                </a:solidFill>
                <a:cs typeface="+mn-lt"/>
              </a:rPr>
              <a:t>on-oveerlapping ranges */</a:t>
            </a:r>
            <a:endParaRPr lang="zh-CN" altLang="en-US" sz="2000" b="1">
              <a:solidFill>
                <a:srgbClr val="92D05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2D050"/>
                </a:solidFill>
                <a:cs typeface="+mn-lt"/>
              </a:rPr>
              <a:t>	unsigned long </a:t>
            </a:r>
            <a:r>
              <a:rPr lang="en-US" altLang="zh-CN" sz="2000" b="1">
                <a:solidFill>
                  <a:srgbClr val="92D050"/>
                </a:solidFill>
                <a:cs typeface="+mn-lt"/>
              </a:rPr>
              <a:t>		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task_size;</a:t>
            </a:r>
            <a:endParaRPr lang="zh-CN" altLang="en-US" sz="2000" b="1">
              <a:solidFill>
                <a:srgbClr val="92D05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2D050"/>
                </a:solidFill>
                <a:cs typeface="+mn-lt"/>
              </a:rPr>
              <a:t>	pgd_t*</a:t>
            </a:r>
            <a:r>
              <a:rPr lang="en-US" sz="2000" b="1">
                <a:solidFill>
                  <a:srgbClr val="92D050"/>
                </a:solidFill>
                <a:cs typeface="+mn-lt"/>
              </a:rPr>
              <a:t>			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pgd;</a:t>
            </a:r>
            <a:endParaRPr lang="zh-CN" altLang="en-US" sz="2000" b="1">
              <a:solidFill>
                <a:srgbClr val="92D05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2D05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2D050"/>
                </a:solidFill>
                <a:cs typeface="+mn-lt"/>
              </a:rPr>
              <a:t>	unsigned long</a:t>
            </a:r>
            <a:r>
              <a:rPr lang="en-US" sz="2000" b="1">
                <a:solidFill>
                  <a:srgbClr val="92D050"/>
                </a:solidFill>
                <a:cs typeface="+mn-lt"/>
              </a:rPr>
              <a:t>		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total_vm;</a:t>
            </a:r>
            <a:endParaRPr lang="zh-CN" altLang="en-US" sz="2000" b="1">
              <a:solidFill>
                <a:srgbClr val="00B0F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2D050"/>
                </a:solidFill>
                <a:cs typeface="+mn-lt"/>
              </a:rPr>
              <a:t>	unsigned long</a:t>
            </a:r>
            <a:r>
              <a:rPr lang="en-US" altLang="zh-CN" sz="2000" b="1">
                <a:solidFill>
                  <a:srgbClr val="92D050"/>
                </a:solidFill>
                <a:cs typeface="+mn-lt"/>
              </a:rPr>
              <a:t>		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data_vm;</a:t>
            </a:r>
            <a:endParaRPr lang="zh-CN" altLang="en-US" sz="2000" b="1">
              <a:solidFill>
                <a:srgbClr val="00B0F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2D050"/>
                </a:solidFill>
                <a:cs typeface="+mn-lt"/>
              </a:rPr>
              <a:t>	unsigned long</a:t>
            </a:r>
            <a:r>
              <a:rPr lang="en-US" altLang="zh-CN" sz="2000" b="1">
                <a:solidFill>
                  <a:srgbClr val="92D050"/>
                </a:solidFill>
                <a:cs typeface="+mn-lt"/>
              </a:rPr>
              <a:t>		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exec_vm;</a:t>
            </a:r>
            <a:endParaRPr lang="zh-CN" altLang="en-US" sz="2000" b="1">
              <a:solidFill>
                <a:srgbClr val="00B0F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2D050"/>
                </a:solidFill>
                <a:cs typeface="+mn-lt"/>
              </a:rPr>
              <a:t>	unsigned long</a:t>
            </a:r>
            <a:r>
              <a:rPr lang="en-US" altLang="zh-CN" sz="2000" b="1">
                <a:solidFill>
                  <a:srgbClr val="92D050"/>
                </a:solidFill>
                <a:cs typeface="+mn-lt"/>
              </a:rPr>
              <a:t>		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stack_vm;</a:t>
            </a:r>
            <a:endParaRPr lang="zh-CN" altLang="en-US" sz="2000" b="1">
              <a:solidFill>
                <a:srgbClr val="00B0F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2D05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2D050"/>
                </a:solidFill>
                <a:cs typeface="+mn-lt"/>
              </a:rPr>
              <a:t>	unsigned long</a:t>
            </a:r>
            <a:r>
              <a:rPr lang="en-US" altLang="zh-CN" sz="2000" b="1">
                <a:solidFill>
                  <a:srgbClr val="92D050"/>
                </a:solidFill>
                <a:cs typeface="+mn-lt"/>
              </a:rPr>
              <a:t>		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start_code, end_code, start_data, end_data;</a:t>
            </a:r>
            <a:endParaRPr lang="zh-CN" altLang="en-US" sz="2000" b="1">
              <a:solidFill>
                <a:srgbClr val="00B0F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2D050"/>
                </a:solidFill>
                <a:cs typeface="+mn-lt"/>
              </a:rPr>
              <a:t>	unsigned long</a:t>
            </a:r>
            <a:r>
              <a:rPr lang="en-US" altLang="zh-CN" sz="2000" b="1">
                <a:solidFill>
                  <a:srgbClr val="92D050"/>
                </a:solidFill>
                <a:cs typeface="+mn-lt"/>
              </a:rPr>
              <a:t>		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start_brk, brk, start_stack;</a:t>
            </a:r>
            <a:endParaRPr lang="zh-CN" altLang="en-US" sz="2000" b="1">
              <a:solidFill>
                <a:srgbClr val="00B0F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FFC000"/>
                </a:solidFill>
                <a:cs typeface="+mn-lt"/>
              </a:rPr>
              <a:t>};</a:t>
            </a:r>
            <a:endParaRPr lang="zh-CN" altLang="en-US" sz="2000" b="1">
              <a:solidFill>
                <a:srgbClr val="FFC00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FFC00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问题</a:t>
            </a:r>
            <a:r>
              <a:rPr lang="en-US" altLang="zh-CN" sz="2000" b="1">
                <a:solidFill>
                  <a:srgbClr val="FFC000"/>
                </a:solidFill>
                <a:cs typeface="+mn-lt"/>
              </a:rPr>
              <a:t>	</a:t>
            </a:r>
            <a:r>
              <a:rPr lang="zh-CN" altLang="en-US" sz="2000">
                <a:sym typeface="+mn-ea"/>
              </a:rPr>
              <a:t>各项统计和记录信息大概是什么意思</a:t>
            </a:r>
            <a:r>
              <a:rPr lang="zh-CN" altLang="en-US" sz="2000">
                <a:sym typeface="+mn-ea"/>
              </a:rPr>
              <a:t>？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>
                <a:sym typeface="+mn-ea"/>
              </a:rPr>
              <a:t>	虚拟内存段的描述保存在什么地方？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>
                <a:sym typeface="+mn-ea"/>
              </a:rPr>
              <a:t>	</a:t>
            </a:r>
            <a:r>
              <a:rPr lang="zh-CN" altLang="en-US" sz="2000"/>
              <a:t>页表保存在什么</a:t>
            </a:r>
            <a:r>
              <a:rPr lang="zh-CN" altLang="en-US" sz="2000"/>
              <a:t>地方？</a:t>
            </a:r>
            <a:endParaRPr lang="zh-CN" altLang="en-US" sz="2000"/>
          </a:p>
        </p:txBody>
      </p:sp>
    </p:spTree>
    <p:custDataLst>
      <p:tags r:id="rId2"/>
    </p:custData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主存储器分配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一、进程的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系统进程总览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进程的实现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内存分配的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x86-64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管理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 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DLM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进程内分配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Linux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进程间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分配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Linux页面替换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三、系统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.2 进程的基本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操作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3.3 进程接口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9C0B15"/>
                </a:solidFill>
              </a:rPr>
              <a:t>Linux</a:t>
            </a:r>
            <a:r>
              <a:rPr lang="zh-CN" altLang="en-US" sz="2000" b="1">
                <a:solidFill>
                  <a:srgbClr val="9C0B15"/>
                </a:solidFill>
              </a:rPr>
              <a:t>发展的</a:t>
            </a:r>
            <a:r>
              <a:rPr lang="zh-CN" sz="2000" b="1">
                <a:solidFill>
                  <a:srgbClr val="9C0B15"/>
                </a:solidFill>
              </a:rPr>
              <a:t>历史原因</a:t>
            </a:r>
            <a:endParaRPr sz="2000" b="1">
              <a:solidFill>
                <a:srgbClr val="9C0B15"/>
              </a:solidFill>
            </a:endParaRPr>
          </a:p>
          <a:p>
            <a:pPr algn="l"/>
            <a:endParaRPr sz="2000" b="1">
              <a:solidFill>
                <a:srgbClr val="9C0B15"/>
              </a:solidFill>
            </a:endParaRPr>
          </a:p>
          <a:p>
            <a:pPr algn="l"/>
            <a:endParaRPr lang="zh-CN" altLang="en-US" sz="2000" b="1">
              <a:solidFill>
                <a:srgbClr val="FFC000"/>
              </a:solidFill>
              <a:cs typeface="+mn-lt"/>
            </a:endParaRPr>
          </a:p>
          <a:p>
            <a:pPr algn="l"/>
            <a:endParaRPr lang="zh-CN" altLang="en-US" sz="2000" b="1">
              <a:solidFill>
                <a:srgbClr val="FFC000"/>
              </a:solidFill>
              <a:cs typeface="+mn-lt"/>
            </a:endParaRPr>
          </a:p>
          <a:p>
            <a:pPr algn="l"/>
            <a:endParaRPr lang="zh-CN" altLang="en-US" sz="2000" b="1">
              <a:solidFill>
                <a:srgbClr val="FFC000"/>
              </a:solidFill>
              <a:cs typeface="+mn-lt"/>
            </a:endParaRPr>
          </a:p>
          <a:p>
            <a:pPr algn="l"/>
            <a:endParaRPr lang="zh-CN" altLang="en-US" sz="2000" b="1">
              <a:solidFill>
                <a:srgbClr val="FFC000"/>
              </a:solidFill>
              <a:cs typeface="+mn-lt"/>
            </a:endParaRPr>
          </a:p>
          <a:p>
            <a:pPr algn="l"/>
            <a:endParaRPr lang="zh-CN" altLang="en-US" sz="2000" b="1">
              <a:solidFill>
                <a:srgbClr val="FFC000"/>
              </a:solidFill>
              <a:cs typeface="+mn-lt"/>
            </a:endParaRPr>
          </a:p>
          <a:p>
            <a:pPr algn="l"/>
            <a:endParaRPr lang="zh-CN" altLang="en-US" sz="2000" b="1">
              <a:solidFill>
                <a:srgbClr val="FFC00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en-US" altLang="zh-CN" sz="2000"/>
              <a:t>Linux</a:t>
            </a:r>
            <a:r>
              <a:rPr lang="zh-CN" altLang="en-US" sz="2000"/>
              <a:t>的</a:t>
            </a:r>
            <a:r>
              <a:rPr lang="en-US" altLang="zh-CN" sz="2000"/>
              <a:t>PCB</a:t>
            </a:r>
            <a:r>
              <a:rPr lang="zh-CN" altLang="en-US" sz="2000"/>
              <a:t>和</a:t>
            </a:r>
            <a:r>
              <a:rPr lang="en-US" altLang="zh-CN" sz="2000"/>
              <a:t>TCB</a:t>
            </a:r>
            <a:r>
              <a:rPr lang="zh-CN" altLang="en-US" sz="2000"/>
              <a:t>组织成这样是有</a:t>
            </a:r>
            <a:r>
              <a:rPr lang="zh-CN" altLang="en-US" sz="2000">
                <a:solidFill>
                  <a:srgbClr val="9C0B15"/>
                </a:solidFill>
              </a:rPr>
              <a:t>历史原因</a:t>
            </a:r>
            <a:r>
              <a:rPr lang="zh-CN" altLang="en-US" sz="2000"/>
              <a:t>的。</a:t>
            </a:r>
            <a:r>
              <a:rPr lang="zh-CN" altLang="en-US" sz="2000">
                <a:solidFill>
                  <a:srgbClr val="9C0B15"/>
                </a:solidFill>
              </a:rPr>
              <a:t>在Linux初期，仅支持单线程进程，因此其</a:t>
            </a:r>
            <a:r>
              <a:rPr lang="en-US" altLang="zh-CN" sz="2000">
                <a:solidFill>
                  <a:srgbClr val="9C0B15"/>
                </a:solidFill>
              </a:rPr>
              <a:t>PCB</a:t>
            </a:r>
            <a:r>
              <a:rPr lang="zh-CN" altLang="en-US" sz="2000">
                <a:solidFill>
                  <a:srgbClr val="9C0B15"/>
                </a:solidFill>
              </a:rPr>
              <a:t>和</a:t>
            </a:r>
            <a:r>
              <a:rPr lang="en-US" altLang="zh-CN" sz="2000">
                <a:solidFill>
                  <a:srgbClr val="9C0B15"/>
                </a:solidFill>
              </a:rPr>
              <a:t>TCB</a:t>
            </a:r>
            <a:r>
              <a:rPr lang="zh-CN" altLang="en-US" sz="2000">
                <a:solidFill>
                  <a:srgbClr val="9C0B15"/>
                </a:solidFill>
              </a:rPr>
              <a:t>是同一个task_struct</a:t>
            </a:r>
            <a:r>
              <a:rPr lang="zh-CN" altLang="en-US" sz="2000"/>
              <a:t>，既含有上下文信息，又含有地址空间信息。后来要支持多线程进程时，只能在这个基础上加以修改，只好把地址空间独立成mm_struct，然后让多个共享一个地址空间的task_struct指向同一个</a:t>
            </a:r>
            <a:r>
              <a:rPr lang="zh-CN" altLang="en-US" sz="2000">
                <a:sym typeface="+mn-ea"/>
              </a:rPr>
              <a:t>mm_struct</a:t>
            </a:r>
            <a:r>
              <a:rPr lang="zh-CN" altLang="en-US" sz="2000"/>
              <a:t>；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mm_struct相当于PCB，task_struct相当于TCB；</a:t>
            </a:r>
            <a:r>
              <a:rPr lang="en-US" altLang="zh-CN" sz="2000" b="1">
                <a:solidFill>
                  <a:srgbClr val="9C0B15"/>
                </a:solidFill>
              </a:rPr>
              <a:t>task_struct中的原PID相当于学术意义上的线程号，新加入的TGID（Thread Group ID）才相当于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学术意义上的</a:t>
            </a:r>
            <a:r>
              <a:rPr lang="en-US" altLang="zh-CN" sz="2000" b="1">
                <a:solidFill>
                  <a:srgbClr val="9C0B15"/>
                </a:solidFill>
              </a:rPr>
              <a:t>进程号。每个进程有一个主线程，其PID=进程的TGID，它退出则进程终止，且不支持任何线程迁移。只能根据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task_struct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反查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mm_struct，无法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正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查。</a:t>
            </a:r>
            <a:endParaRPr lang="en-US" altLang="zh-CN"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/>
              <a:t>相当多数操作系统也是这样设计的：</a:t>
            </a:r>
            <a:r>
              <a:rPr lang="zh-CN" altLang="en-US" sz="2000">
                <a:solidFill>
                  <a:srgbClr val="9C0B15"/>
                </a:solidFill>
              </a:rPr>
              <a:t>切换线程时需要判断下一个线程和当前线程是否在同一个进程内，允许根据TCB反查PCB比在PCB中存储所属TCB的指针更加方便。当然，也可以两边都存储指针，这样可以根据</a:t>
            </a:r>
            <a:r>
              <a:rPr lang="en-US" altLang="zh-CN" sz="2000">
                <a:solidFill>
                  <a:srgbClr val="9C0B15"/>
                </a:solidFill>
              </a:rPr>
              <a:t>PCB</a:t>
            </a:r>
            <a:r>
              <a:rPr lang="zh-CN" altLang="en-US" sz="2000">
                <a:solidFill>
                  <a:srgbClr val="9C0B15"/>
                </a:solidFill>
              </a:rPr>
              <a:t>查找</a:t>
            </a:r>
            <a:r>
              <a:rPr lang="en-US" altLang="zh-CN" sz="2000">
                <a:solidFill>
                  <a:srgbClr val="9C0B15"/>
                </a:solidFill>
              </a:rPr>
              <a:t>TCB</a:t>
            </a:r>
            <a:r>
              <a:rPr lang="zh-CN" altLang="en-US" sz="2000">
                <a:solidFill>
                  <a:srgbClr val="9C0B15"/>
                </a:solidFill>
              </a:rPr>
              <a:t>，也可以根据</a:t>
            </a:r>
            <a:r>
              <a:rPr lang="en-US" altLang="zh-CN" sz="2000">
                <a:solidFill>
                  <a:srgbClr val="9C0B15"/>
                </a:solidFill>
              </a:rPr>
              <a:t>TCB</a:t>
            </a:r>
            <a:r>
              <a:rPr lang="zh-CN" altLang="en-US" sz="2000">
                <a:solidFill>
                  <a:srgbClr val="9C0B15"/>
                </a:solidFill>
              </a:rPr>
              <a:t>反查</a:t>
            </a:r>
            <a:r>
              <a:rPr lang="en-US" altLang="zh-CN" sz="2000">
                <a:solidFill>
                  <a:srgbClr val="9C0B15"/>
                </a:solidFill>
              </a:rPr>
              <a:t>PCB</a:t>
            </a:r>
            <a:r>
              <a:rPr lang="zh-CN" altLang="en-US" sz="2000">
                <a:solidFill>
                  <a:srgbClr val="9C0B15"/>
                </a:solidFill>
              </a:rPr>
              <a:t>。</a:t>
            </a:r>
            <a:endParaRPr lang="zh-CN" altLang="en-US" sz="2000">
              <a:solidFill>
                <a:srgbClr val="9C0B15"/>
              </a:solidFill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1894205" y="765175"/>
            <a:ext cx="6000115" cy="1593215"/>
            <a:chOff x="473" y="2686"/>
            <a:chExt cx="7442" cy="2881"/>
          </a:xfrm>
        </p:grpSpPr>
        <p:sp>
          <p:nvSpPr>
            <p:cNvPr id="6" name="矩形 5"/>
            <p:cNvSpPr/>
            <p:nvPr>
              <p:custDataLst>
                <p:tags r:id="rId2"/>
              </p:custDataLst>
            </p:nvPr>
          </p:nvSpPr>
          <p:spPr>
            <a:xfrm>
              <a:off x="473" y="2686"/>
              <a:ext cx="3040" cy="670"/>
            </a:xfrm>
            <a:prstGeom prst="rect">
              <a:avLst/>
            </a:prstGeom>
            <a:solidFill>
              <a:schemeClr val="accent2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2400" b="1"/>
                <a:t>task_struct</a:t>
              </a:r>
              <a:endParaRPr lang="en-US" altLang="zh-CN" sz="2400" b="1"/>
            </a:p>
          </p:txBody>
        </p:sp>
        <p:sp>
          <p:nvSpPr>
            <p:cNvPr id="2" name="矩形 1"/>
            <p:cNvSpPr/>
            <p:nvPr>
              <p:custDataLst>
                <p:tags r:id="rId3"/>
              </p:custDataLst>
            </p:nvPr>
          </p:nvSpPr>
          <p:spPr>
            <a:xfrm>
              <a:off x="473" y="3767"/>
              <a:ext cx="3040" cy="670"/>
            </a:xfrm>
            <a:prstGeom prst="rect">
              <a:avLst/>
            </a:prstGeom>
            <a:solidFill>
              <a:schemeClr val="accent2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2400" b="1"/>
                <a:t>task_struct</a:t>
              </a:r>
              <a:endParaRPr lang="en-US" altLang="zh-CN" sz="2400" b="1"/>
            </a:p>
          </p:txBody>
        </p:sp>
        <p:sp>
          <p:nvSpPr>
            <p:cNvPr id="4" name="矩形 3"/>
            <p:cNvSpPr/>
            <p:nvPr>
              <p:custDataLst>
                <p:tags r:id="rId4"/>
              </p:custDataLst>
            </p:nvPr>
          </p:nvSpPr>
          <p:spPr>
            <a:xfrm>
              <a:off x="473" y="4897"/>
              <a:ext cx="3040" cy="670"/>
            </a:xfrm>
            <a:prstGeom prst="rect">
              <a:avLst/>
            </a:prstGeom>
            <a:solidFill>
              <a:schemeClr val="accent2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2400" b="1"/>
                <a:t>task_struct</a:t>
              </a:r>
              <a:endParaRPr lang="en-US" altLang="zh-CN" sz="2400" b="1"/>
            </a:p>
          </p:txBody>
        </p:sp>
        <p:sp>
          <p:nvSpPr>
            <p:cNvPr id="5" name="矩形 4"/>
            <p:cNvSpPr/>
            <p:nvPr>
              <p:custDataLst>
                <p:tags r:id="rId5"/>
              </p:custDataLst>
            </p:nvPr>
          </p:nvSpPr>
          <p:spPr>
            <a:xfrm>
              <a:off x="4875" y="3189"/>
              <a:ext cx="3040" cy="670"/>
            </a:xfrm>
            <a:prstGeom prst="rect">
              <a:avLst/>
            </a:prstGeom>
            <a:solidFill>
              <a:srgbClr val="00B0F0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2400" b="1"/>
                <a:t>mm_struct</a:t>
              </a:r>
              <a:endParaRPr lang="en-US" altLang="zh-CN" sz="2400" b="1"/>
            </a:p>
          </p:txBody>
        </p:sp>
        <p:sp>
          <p:nvSpPr>
            <p:cNvPr id="7" name="矩形 6"/>
            <p:cNvSpPr/>
            <p:nvPr>
              <p:custDataLst>
                <p:tags r:id="rId6"/>
              </p:custDataLst>
            </p:nvPr>
          </p:nvSpPr>
          <p:spPr>
            <a:xfrm>
              <a:off x="4875" y="4897"/>
              <a:ext cx="3040" cy="670"/>
            </a:xfrm>
            <a:prstGeom prst="rect">
              <a:avLst/>
            </a:prstGeom>
            <a:solidFill>
              <a:srgbClr val="00B0F0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2400" b="1"/>
                <a:t>mm_struct</a:t>
              </a:r>
              <a:endParaRPr lang="en-US" altLang="zh-CN" sz="2400" b="1"/>
            </a:p>
          </p:txBody>
        </p:sp>
        <p:cxnSp>
          <p:nvCxnSpPr>
            <p:cNvPr id="17" name="直接箭头连接符 16"/>
            <p:cNvCxnSpPr>
              <a:stCxn id="6" idx="3"/>
            </p:cNvCxnSpPr>
            <p:nvPr>
              <p:custDataLst>
                <p:tags r:id="rId7"/>
              </p:custDataLst>
            </p:nvPr>
          </p:nvCxnSpPr>
          <p:spPr>
            <a:xfrm>
              <a:off x="3513" y="3021"/>
              <a:ext cx="1326" cy="355"/>
            </a:xfrm>
            <a:prstGeom prst="straightConnector1">
              <a:avLst/>
            </a:prstGeom>
            <a:ln w="63500">
              <a:solidFill>
                <a:srgbClr val="9C0B1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箭头连接符 7"/>
            <p:cNvCxnSpPr>
              <a:stCxn id="2" idx="3"/>
            </p:cNvCxnSpPr>
            <p:nvPr>
              <p:custDataLst>
                <p:tags r:id="rId8"/>
              </p:custDataLst>
            </p:nvPr>
          </p:nvCxnSpPr>
          <p:spPr>
            <a:xfrm flipV="1">
              <a:off x="3513" y="3721"/>
              <a:ext cx="1337" cy="381"/>
            </a:xfrm>
            <a:prstGeom prst="straightConnector1">
              <a:avLst/>
            </a:prstGeom>
            <a:ln w="63500">
              <a:solidFill>
                <a:srgbClr val="9C0B1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箭头连接符 8"/>
            <p:cNvCxnSpPr>
              <a:stCxn id="4" idx="3"/>
              <a:endCxn id="7" idx="1"/>
            </p:cNvCxnSpPr>
            <p:nvPr>
              <p:custDataLst>
                <p:tags r:id="rId9"/>
              </p:custDataLst>
            </p:nvPr>
          </p:nvCxnSpPr>
          <p:spPr>
            <a:xfrm>
              <a:off x="3513" y="5232"/>
              <a:ext cx="1362" cy="0"/>
            </a:xfrm>
            <a:prstGeom prst="straightConnector1">
              <a:avLst/>
            </a:prstGeom>
            <a:ln w="63500">
              <a:solidFill>
                <a:srgbClr val="9C0B1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10"/>
    </p:custData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主存储器分配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一、进程的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系统进程总览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进程的实现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内存分配的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x86-64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管理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 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DLM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进程内分配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Linux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进程间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分配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Linux页面替换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三、系统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.2 进程的基本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操作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3.3 进程接口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266950" y="180340"/>
            <a:ext cx="55295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9C0B15"/>
                </a:solidFill>
              </a:rPr>
              <a:t>Linux</a:t>
            </a:r>
            <a:r>
              <a:rPr lang="zh-CN" altLang="en-US" sz="2000" b="1">
                <a:solidFill>
                  <a:srgbClr val="9C0B15"/>
                </a:solidFill>
              </a:rPr>
              <a:t>在</a:t>
            </a:r>
            <a:r>
              <a:rPr lang="en-US" altLang="zh-CN" sz="2000" b="1">
                <a:solidFill>
                  <a:srgbClr val="9C0B15"/>
                </a:solidFill>
              </a:rPr>
              <a:t>32</a:t>
            </a:r>
            <a:r>
              <a:rPr lang="zh-CN" altLang="en-US" sz="2000" b="1">
                <a:solidFill>
                  <a:srgbClr val="9C0B15"/>
                </a:solidFill>
              </a:rPr>
              <a:t>位</a:t>
            </a:r>
            <a:r>
              <a:rPr lang="en-US" altLang="zh-CN" sz="2000" b="1">
                <a:solidFill>
                  <a:srgbClr val="9C0B15"/>
                </a:solidFill>
              </a:rPr>
              <a:t>x86</a:t>
            </a:r>
            <a:r>
              <a:rPr lang="zh-CN" altLang="en-US" sz="2000" b="1">
                <a:solidFill>
                  <a:srgbClr val="9C0B15"/>
                </a:solidFill>
              </a:rPr>
              <a:t>下进程的默认分段</a:t>
            </a:r>
            <a:endParaRPr lang="en-US" altLang="zh-CN" sz="2000" b="1">
              <a:solidFill>
                <a:srgbClr val="9C0B15"/>
              </a:solidFill>
            </a:endParaRP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4282440" y="5831205"/>
            <a:ext cx="1930400" cy="709295"/>
          </a:xfrm>
          <a:prstGeom prst="rect">
            <a:avLst/>
          </a:prstGeom>
          <a:solidFill>
            <a:srgbClr val="D02F35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.text</a:t>
            </a:r>
            <a:endParaRPr lang="en-US" altLang="zh-CN"/>
          </a:p>
        </p:txBody>
      </p:sp>
      <p:sp>
        <p:nvSpPr>
          <p:cNvPr id="6" name="矩形 5"/>
          <p:cNvSpPr/>
          <p:nvPr>
            <p:custDataLst>
              <p:tags r:id="rId3"/>
            </p:custDataLst>
          </p:nvPr>
        </p:nvSpPr>
        <p:spPr>
          <a:xfrm>
            <a:off x="4282440" y="5405755"/>
            <a:ext cx="1930400" cy="425450"/>
          </a:xfrm>
          <a:prstGeom prst="rect">
            <a:avLst/>
          </a:prstGeom>
          <a:solidFill>
            <a:schemeClr val="accent2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.rodata</a:t>
            </a:r>
            <a:endParaRPr lang="en-US" altLang="zh-CN"/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>
            <a:off x="4282440" y="4487545"/>
            <a:ext cx="1930400" cy="358775"/>
          </a:xfrm>
          <a:prstGeom prst="rect">
            <a:avLst/>
          </a:prstGeom>
          <a:solidFill>
            <a:schemeClr val="accent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.rwdata</a:t>
            </a:r>
            <a:endParaRPr lang="en-US" altLang="zh-CN"/>
          </a:p>
        </p:txBody>
      </p:sp>
      <p:sp>
        <p:nvSpPr>
          <p:cNvPr id="8" name="矩形 7"/>
          <p:cNvSpPr/>
          <p:nvPr>
            <p:custDataLst>
              <p:tags r:id="rId5"/>
            </p:custDataLst>
          </p:nvPr>
        </p:nvSpPr>
        <p:spPr>
          <a:xfrm>
            <a:off x="4282440" y="4137660"/>
            <a:ext cx="1930400" cy="349885"/>
          </a:xfrm>
          <a:prstGeom prst="rect">
            <a:avLst/>
          </a:prstGeom>
          <a:solidFill>
            <a:schemeClr val="accent6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.zidata/.bss</a:t>
            </a:r>
            <a:endParaRPr lang="zh-CN" altLang="en-US"/>
          </a:p>
        </p:txBody>
      </p:sp>
      <p:sp>
        <p:nvSpPr>
          <p:cNvPr id="13" name="矩形 12"/>
          <p:cNvSpPr/>
          <p:nvPr>
            <p:custDataLst>
              <p:tags r:id="rId6"/>
            </p:custDataLst>
          </p:nvPr>
        </p:nvSpPr>
        <p:spPr>
          <a:xfrm>
            <a:off x="4282440" y="2490470"/>
            <a:ext cx="1930400" cy="875030"/>
          </a:xfrm>
          <a:prstGeom prst="rect">
            <a:avLst/>
          </a:prstGeom>
          <a:solidFill>
            <a:srgbClr val="002060">
              <a:alpha val="50000"/>
            </a:srgb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.heap</a:t>
            </a:r>
            <a:endParaRPr lang="en-US" altLang="zh-CN"/>
          </a:p>
        </p:txBody>
      </p:sp>
      <p:sp>
        <p:nvSpPr>
          <p:cNvPr id="15" name="矩形 14"/>
          <p:cNvSpPr/>
          <p:nvPr>
            <p:custDataLst>
              <p:tags r:id="rId7"/>
            </p:custDataLst>
          </p:nvPr>
        </p:nvSpPr>
        <p:spPr>
          <a:xfrm>
            <a:off x="4282440" y="1651000"/>
            <a:ext cx="1930400" cy="627380"/>
          </a:xfrm>
          <a:prstGeom prst="rect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.stack</a:t>
            </a:r>
            <a:endParaRPr lang="en-US" altLang="zh-CN"/>
          </a:p>
        </p:txBody>
      </p:sp>
      <p:sp>
        <p:nvSpPr>
          <p:cNvPr id="60" name="矩形 59"/>
          <p:cNvSpPr/>
          <p:nvPr>
            <p:custDataLst>
              <p:tags r:id="rId8"/>
            </p:custDataLst>
          </p:nvPr>
        </p:nvSpPr>
        <p:spPr>
          <a:xfrm>
            <a:off x="4282440" y="833120"/>
            <a:ext cx="1930400" cy="627380"/>
          </a:xfrm>
          <a:prstGeom prst="rect">
            <a:avLst/>
          </a:prstGeom>
          <a:solidFill>
            <a:srgbClr val="7030A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内核</a:t>
            </a:r>
            <a:r>
              <a:rPr lang="zh-CN" altLang="en-US"/>
              <a:t>本身</a:t>
            </a:r>
            <a:endParaRPr lang="zh-CN" altLang="en-US"/>
          </a:p>
        </p:txBody>
      </p:sp>
      <p:sp>
        <p:nvSpPr>
          <p:cNvPr id="61" name="右箭头标注 60"/>
          <p:cNvSpPr/>
          <p:nvPr/>
        </p:nvSpPr>
        <p:spPr>
          <a:xfrm>
            <a:off x="1894840" y="6332220"/>
            <a:ext cx="1870710" cy="411480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83910"/>
            </a:avLst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start_code</a:t>
            </a:r>
            <a:endParaRPr lang="en-US" altLang="zh-CN"/>
          </a:p>
        </p:txBody>
      </p:sp>
      <p:sp>
        <p:nvSpPr>
          <p:cNvPr id="64" name="右箭头标注 63"/>
          <p:cNvSpPr/>
          <p:nvPr>
            <p:custDataLst>
              <p:tags r:id="rId9"/>
            </p:custDataLst>
          </p:nvPr>
        </p:nvSpPr>
        <p:spPr>
          <a:xfrm>
            <a:off x="1894840" y="5186680"/>
            <a:ext cx="1870710" cy="411480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83910"/>
            </a:avLst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end_code</a:t>
            </a:r>
            <a:endParaRPr lang="en-US" altLang="zh-CN"/>
          </a:p>
        </p:txBody>
      </p:sp>
      <p:sp>
        <p:nvSpPr>
          <p:cNvPr id="67" name="右箭头标注 66"/>
          <p:cNvSpPr/>
          <p:nvPr>
            <p:custDataLst>
              <p:tags r:id="rId10"/>
            </p:custDataLst>
          </p:nvPr>
        </p:nvSpPr>
        <p:spPr>
          <a:xfrm>
            <a:off x="1894840" y="4655185"/>
            <a:ext cx="1870710" cy="411480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83910"/>
            </a:avLst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start_data</a:t>
            </a:r>
            <a:endParaRPr lang="en-US" altLang="zh-CN"/>
          </a:p>
        </p:txBody>
      </p:sp>
      <p:sp>
        <p:nvSpPr>
          <p:cNvPr id="68" name="右箭头标注 67"/>
          <p:cNvSpPr/>
          <p:nvPr>
            <p:custDataLst>
              <p:tags r:id="rId11"/>
            </p:custDataLst>
          </p:nvPr>
        </p:nvSpPr>
        <p:spPr>
          <a:xfrm>
            <a:off x="1894840" y="3915410"/>
            <a:ext cx="1870710" cy="411480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83910"/>
            </a:avLst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end_data</a:t>
            </a:r>
            <a:endParaRPr lang="en-US" altLang="zh-CN"/>
          </a:p>
        </p:txBody>
      </p:sp>
      <p:sp>
        <p:nvSpPr>
          <p:cNvPr id="69" name="右箭头标注 68"/>
          <p:cNvSpPr/>
          <p:nvPr>
            <p:custDataLst>
              <p:tags r:id="rId12"/>
            </p:custDataLst>
          </p:nvPr>
        </p:nvSpPr>
        <p:spPr>
          <a:xfrm>
            <a:off x="1894840" y="3163570"/>
            <a:ext cx="1870710" cy="411480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83910"/>
            </a:avLst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start_brk</a:t>
            </a:r>
            <a:endParaRPr lang="en-US" altLang="zh-CN"/>
          </a:p>
        </p:txBody>
      </p:sp>
      <p:sp>
        <p:nvSpPr>
          <p:cNvPr id="70" name="右箭头标注 69"/>
          <p:cNvSpPr/>
          <p:nvPr>
            <p:custDataLst>
              <p:tags r:id="rId13"/>
            </p:custDataLst>
          </p:nvPr>
        </p:nvSpPr>
        <p:spPr>
          <a:xfrm>
            <a:off x="1894840" y="2532380"/>
            <a:ext cx="1870710" cy="411480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83910"/>
            </a:avLst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end_brk</a:t>
            </a:r>
            <a:endParaRPr lang="en-US" altLang="zh-CN"/>
          </a:p>
        </p:txBody>
      </p:sp>
      <p:sp>
        <p:nvSpPr>
          <p:cNvPr id="71" name="右箭头标注 70"/>
          <p:cNvSpPr/>
          <p:nvPr>
            <p:custDataLst>
              <p:tags r:id="rId14"/>
            </p:custDataLst>
          </p:nvPr>
        </p:nvSpPr>
        <p:spPr>
          <a:xfrm>
            <a:off x="1894840" y="2078990"/>
            <a:ext cx="1870710" cy="411480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83910"/>
            </a:avLst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start_stack</a:t>
            </a:r>
            <a:endParaRPr lang="en-US" altLang="zh-CN"/>
          </a:p>
        </p:txBody>
      </p:sp>
      <p:sp>
        <p:nvSpPr>
          <p:cNvPr id="72" name="右箭头标注 71"/>
          <p:cNvSpPr/>
          <p:nvPr>
            <p:custDataLst>
              <p:tags r:id="rId15"/>
            </p:custDataLst>
          </p:nvPr>
        </p:nvSpPr>
        <p:spPr>
          <a:xfrm>
            <a:off x="1894840" y="1239520"/>
            <a:ext cx="1870710" cy="411480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83910"/>
            </a:avLst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0xC0000000</a:t>
            </a:r>
            <a:endParaRPr lang="en-US" altLang="zh-CN"/>
          </a:p>
        </p:txBody>
      </p:sp>
      <p:sp>
        <p:nvSpPr>
          <p:cNvPr id="73" name="左箭头标注 72"/>
          <p:cNvSpPr/>
          <p:nvPr/>
        </p:nvSpPr>
        <p:spPr>
          <a:xfrm>
            <a:off x="6347460" y="609600"/>
            <a:ext cx="2760345" cy="1100455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85568"/>
            </a:avLst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内核被映射到每个进程的虚拟地址空间的固定高地址，且仅内核模式可以访问。</a:t>
            </a:r>
            <a:endParaRPr lang="zh-CN" altLang="en-US"/>
          </a:p>
        </p:txBody>
      </p:sp>
      <p:cxnSp>
        <p:nvCxnSpPr>
          <p:cNvPr id="77" name="直接箭头连接符 76"/>
          <p:cNvCxnSpPr>
            <a:stCxn id="70" idx="3"/>
          </p:cNvCxnSpPr>
          <p:nvPr>
            <p:custDataLst>
              <p:tags r:id="rId16"/>
            </p:custDataLst>
          </p:nvPr>
        </p:nvCxnSpPr>
        <p:spPr>
          <a:xfrm flipV="1">
            <a:off x="3765550" y="2733675"/>
            <a:ext cx="485775" cy="4445"/>
          </a:xfrm>
          <a:prstGeom prst="straightConnector1">
            <a:avLst/>
          </a:prstGeom>
          <a:ln w="38100">
            <a:solidFill>
              <a:srgbClr val="D02F35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/>
          <p:cNvCxnSpPr/>
          <p:nvPr>
            <p:custDataLst>
              <p:tags r:id="rId17"/>
            </p:custDataLst>
          </p:nvPr>
        </p:nvCxnSpPr>
        <p:spPr>
          <a:xfrm flipV="1">
            <a:off x="685800" y="1572260"/>
            <a:ext cx="5532120" cy="10160"/>
          </a:xfrm>
          <a:prstGeom prst="line">
            <a:avLst/>
          </a:prstGeom>
          <a:ln w="28575" cmpd="sng">
            <a:solidFill>
              <a:srgbClr val="9C0B1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685800" y="728980"/>
            <a:ext cx="64135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内核</a:t>
            </a:r>
            <a:endParaRPr lang="zh-CN" altLang="en-US" b="1"/>
          </a:p>
          <a:p>
            <a:r>
              <a:rPr lang="zh-CN" altLang="en-US" b="1"/>
              <a:t>空间</a:t>
            </a:r>
            <a:endParaRPr lang="zh-CN" altLang="en-US" b="1"/>
          </a:p>
          <a:p>
            <a:r>
              <a:rPr lang="en-US" altLang="zh-CN" b="1"/>
              <a:t>1GiB</a:t>
            </a:r>
            <a:endParaRPr lang="en-US" altLang="zh-CN" b="1"/>
          </a:p>
        </p:txBody>
      </p:sp>
      <p:sp>
        <p:nvSpPr>
          <p:cNvPr id="9" name="文本框 8"/>
          <p:cNvSpPr txBox="1"/>
          <p:nvPr>
            <p:custDataLst>
              <p:tags r:id="rId18"/>
            </p:custDataLst>
          </p:nvPr>
        </p:nvSpPr>
        <p:spPr>
          <a:xfrm>
            <a:off x="685800" y="3660140"/>
            <a:ext cx="64135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用户</a:t>
            </a:r>
            <a:endParaRPr lang="zh-CN" altLang="en-US" b="1"/>
          </a:p>
          <a:p>
            <a:r>
              <a:rPr lang="zh-CN" altLang="en-US" b="1"/>
              <a:t>空间</a:t>
            </a:r>
            <a:endParaRPr lang="zh-CN" altLang="en-US" b="1"/>
          </a:p>
          <a:p>
            <a:r>
              <a:rPr lang="en-US" altLang="zh-CN" b="1"/>
              <a:t>3GiB</a:t>
            </a:r>
            <a:endParaRPr lang="en-US" altLang="zh-CN" b="1"/>
          </a:p>
        </p:txBody>
      </p:sp>
    </p:spTree>
    <p:custDataLst>
      <p:tags r:id="rId19"/>
    </p:custData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主存储器分配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一、进程的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系统进程总览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进程的实现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内存分配的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x86-64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管理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 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DLM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进程内分配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Linux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进程间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分配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Linux页面替换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三、系统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.2 进程的基本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操作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3.3 进程接口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56311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虚拟内存段的</a:t>
            </a:r>
            <a:r>
              <a:rPr lang="zh-CN" altLang="en-US" sz="2000" b="1">
                <a:solidFill>
                  <a:srgbClr val="9C0B15"/>
                </a:solidFill>
              </a:rPr>
              <a:t>描述信息（</a:t>
            </a:r>
            <a:r>
              <a:rPr lang="en-US" altLang="zh-CN" sz="2000" b="1">
                <a:solidFill>
                  <a:srgbClr val="9C0B15"/>
                </a:solidFill>
              </a:rPr>
              <a:t>Linux 6.3</a:t>
            </a:r>
            <a:r>
              <a:rPr lang="zh-CN" altLang="en-US" sz="2000" b="1">
                <a:solidFill>
                  <a:srgbClr val="9C0B15"/>
                </a:solidFill>
              </a:rPr>
              <a:t>）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r>
              <a:rPr sz="2000" b="1">
                <a:solidFill>
                  <a:srgbClr val="9C0B15"/>
                </a:solidFill>
              </a:rPr>
              <a:t>https://elixir.bootlin.com/linux/v6.3-rc3/source/include/linux/mm_types.h#L480</a:t>
            </a:r>
            <a:endParaRPr sz="2000" b="1">
              <a:solidFill>
                <a:srgbClr val="9C0B15"/>
              </a:solidFill>
            </a:endParaRPr>
          </a:p>
          <a:p>
            <a:pPr algn="l"/>
            <a:endParaRPr sz="2000" b="1">
              <a:solidFill>
                <a:srgbClr val="9C0B15"/>
              </a:solidFill>
            </a:endParaRPr>
          </a:p>
          <a:p>
            <a:pPr algn="l"/>
            <a:r>
              <a:rPr lang="zh-CN" altLang="en-US" sz="2000" b="1">
                <a:solidFill>
                  <a:srgbClr val="FFC000"/>
                </a:solidFill>
                <a:cs typeface="+mn-lt"/>
              </a:rPr>
              <a:t>struct vm_area_struct</a:t>
            </a:r>
            <a:endParaRPr lang="zh-CN" altLang="en-US" sz="2000" b="1">
              <a:solidFill>
                <a:srgbClr val="FFC000"/>
              </a:solidFill>
              <a:cs typeface="+mn-lt"/>
            </a:endParaRPr>
          </a:p>
          <a:p>
            <a:pPr algn="l"/>
            <a:r>
              <a:rPr lang="zh-CN" altLang="en-US" sz="2000" b="1">
                <a:solidFill>
                  <a:srgbClr val="FFC000"/>
                </a:solidFill>
                <a:cs typeface="+mn-lt"/>
              </a:rPr>
              <a:t>{</a:t>
            </a:r>
            <a:endParaRPr lang="zh-CN" altLang="en-US" sz="2000" b="1">
              <a:solidFill>
                <a:srgbClr val="FFC00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FFC000"/>
                </a:solidFill>
                <a:cs typeface="+mn-lt"/>
              </a:rPr>
              <a:t>	</a:t>
            </a:r>
            <a:r>
              <a:rPr lang="zh-CN" altLang="en-US" sz="2000" b="1">
                <a:solidFill>
                  <a:srgbClr val="92D050"/>
                </a:solidFill>
                <a:cs typeface="+mn-lt"/>
              </a:rPr>
              <a:t>unsigned long</a:t>
            </a:r>
            <a:r>
              <a:rPr lang="en-US" altLang="zh-CN" sz="2000" b="1">
                <a:solidFill>
                  <a:srgbClr val="92D050"/>
                </a:solidFill>
                <a:cs typeface="+mn-lt"/>
              </a:rPr>
              <a:t>		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vm_start;</a:t>
            </a:r>
            <a:endParaRPr lang="zh-CN" altLang="en-US" sz="2000" b="1">
              <a:solidFill>
                <a:srgbClr val="00B0F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2D050"/>
                </a:solidFill>
                <a:cs typeface="+mn-lt"/>
              </a:rPr>
              <a:t>	unsigned long</a:t>
            </a:r>
            <a:r>
              <a:rPr lang="en-US" altLang="zh-CN" sz="2000" b="1">
                <a:solidFill>
                  <a:srgbClr val="92D050"/>
                </a:solidFill>
                <a:cs typeface="+mn-lt"/>
              </a:rPr>
              <a:t>		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vm_end;</a:t>
            </a:r>
            <a:endParaRPr lang="zh-CN" altLang="en-US" sz="2000" b="1">
              <a:solidFill>
                <a:srgbClr val="00B0F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2D050"/>
                </a:solidFill>
                <a:cs typeface="+mn-lt"/>
              </a:rPr>
              <a:t>	struct mm_struct*</a:t>
            </a:r>
            <a:r>
              <a:rPr lang="en-US" altLang="zh-CN" sz="2000" b="1">
                <a:solidFill>
                  <a:srgbClr val="92D050"/>
                </a:solidFill>
                <a:cs typeface="+mn-lt"/>
              </a:rPr>
              <a:t>	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vm_mm;</a:t>
            </a:r>
            <a:endParaRPr lang="zh-CN" altLang="en-US" sz="2000" b="1">
              <a:solidFill>
                <a:srgbClr val="00B0F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2D05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2D050"/>
                </a:solidFill>
                <a:cs typeface="+mn-lt"/>
              </a:rPr>
              <a:t>	pgprot_t</a:t>
            </a:r>
            <a:r>
              <a:rPr lang="en-US" altLang="zh-CN" sz="2000" b="1">
                <a:solidFill>
                  <a:srgbClr val="92D050"/>
                </a:solidFill>
                <a:cs typeface="+mn-lt"/>
              </a:rPr>
              <a:t>		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vm_page_prot;</a:t>
            </a:r>
            <a:endParaRPr lang="zh-CN" altLang="en-US" sz="2000" b="1">
              <a:solidFill>
                <a:srgbClr val="00B0F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2D05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2D050"/>
                </a:solidFill>
                <a:cs typeface="+mn-lt"/>
              </a:rPr>
              <a:t>	unsigned long</a:t>
            </a:r>
            <a:r>
              <a:rPr lang="en-US" altLang="zh-CN" sz="2000" b="1">
                <a:solidFill>
                  <a:srgbClr val="92D050"/>
                </a:solidFill>
                <a:cs typeface="+mn-lt"/>
              </a:rPr>
              <a:t>		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vm_pgoff;</a:t>
            </a:r>
            <a:endParaRPr lang="zh-CN" altLang="en-US" sz="2000" b="1">
              <a:solidFill>
                <a:srgbClr val="00B0F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2D050"/>
                </a:solidFill>
                <a:cs typeface="+mn-lt"/>
              </a:rPr>
              <a:t>	struct file*</a:t>
            </a:r>
            <a:r>
              <a:rPr lang="en-US" altLang="zh-CN" sz="2000" b="1">
                <a:solidFill>
                  <a:srgbClr val="92D050"/>
                </a:solidFill>
                <a:cs typeface="+mn-lt"/>
              </a:rPr>
              <a:t>		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vm_file;</a:t>
            </a:r>
            <a:endParaRPr lang="zh-CN" altLang="en-US" sz="2000" b="1">
              <a:solidFill>
                <a:srgbClr val="00B0F0"/>
              </a:solidFill>
              <a:cs typeface="+mn-lt"/>
            </a:endParaRPr>
          </a:p>
          <a:p>
            <a:pPr algn="l"/>
            <a:r>
              <a:rPr lang="zh-CN" altLang="en-US" sz="2000" b="1">
                <a:solidFill>
                  <a:srgbClr val="FFC000"/>
                </a:solidFill>
                <a:cs typeface="+mn-lt"/>
              </a:rPr>
              <a:t>}</a:t>
            </a:r>
            <a:endParaRPr lang="zh-CN" altLang="en-US" sz="2000" b="1">
              <a:solidFill>
                <a:srgbClr val="FFC000"/>
              </a:solidFill>
              <a:cs typeface="+mn-lt"/>
            </a:endParaRPr>
          </a:p>
          <a:p>
            <a:pPr algn="l"/>
            <a:endParaRPr lang="zh-CN" altLang="en-US" sz="2000" b="1">
              <a:solidFill>
                <a:srgbClr val="FFC000"/>
              </a:solidFill>
              <a:cs typeface="+mn-lt"/>
            </a:endParaRPr>
          </a:p>
          <a:p>
            <a:pPr algn="l"/>
            <a:endParaRPr lang="zh-CN" altLang="en-US" sz="2000" b="1">
              <a:solidFill>
                <a:srgbClr val="FFC000"/>
              </a:solidFill>
              <a:cs typeface="+mn-lt"/>
            </a:endParaRPr>
          </a:p>
          <a:p>
            <a:pPr algn="l"/>
            <a:endParaRPr lang="zh-CN" altLang="en-US" sz="2000" b="1">
              <a:solidFill>
                <a:srgbClr val="FFC00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问题</a:t>
            </a:r>
            <a:r>
              <a:rPr lang="en-US" altLang="zh-CN" sz="2000" b="1">
                <a:solidFill>
                  <a:srgbClr val="FFC000"/>
                </a:solidFill>
                <a:cs typeface="+mn-lt"/>
              </a:rPr>
              <a:t>	</a:t>
            </a:r>
            <a:r>
              <a:rPr lang="zh-CN" altLang="en-US" sz="2000"/>
              <a:t>这些信息描述了虚拟内存段的哪些属性</a:t>
            </a:r>
            <a:r>
              <a:rPr lang="zh-CN" altLang="en-US" sz="2000">
                <a:sym typeface="+mn-ea"/>
              </a:rPr>
              <a:t>？</a:t>
            </a:r>
            <a:endParaRPr lang="zh-CN" altLang="en-US" sz="2000"/>
          </a:p>
        </p:txBody>
      </p:sp>
    </p:spTree>
    <p:custDataLst>
      <p:tags r:id="rId2"/>
    </p:custData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主存储器分配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一、进程的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系统进程总览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进程的实现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内存分配的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x86-64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管理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 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DLM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进程内分配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Linux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进程间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分配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Linux页面替换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三、系统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.2 进程的基本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操作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3.3 进程接口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53232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切换进程地址</a:t>
            </a:r>
            <a:r>
              <a:rPr lang="zh-CN" altLang="en-US" sz="2000" b="1">
                <a:solidFill>
                  <a:srgbClr val="9C0B15"/>
                </a:solidFill>
              </a:rPr>
              <a:t>空间（</a:t>
            </a:r>
            <a:r>
              <a:rPr lang="en-US" altLang="zh-CN" sz="2000" b="1">
                <a:solidFill>
                  <a:srgbClr val="9C0B15"/>
                </a:solidFill>
              </a:rPr>
              <a:t>Linux 6.3</a:t>
            </a:r>
            <a:r>
              <a:rPr lang="zh-CN" altLang="en-US" sz="2000" b="1">
                <a:solidFill>
                  <a:srgbClr val="9C0B15"/>
                </a:solidFill>
              </a:rPr>
              <a:t>）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r>
              <a:rPr sz="2000" b="1">
                <a:solidFill>
                  <a:srgbClr val="9C0B15"/>
                </a:solidFill>
              </a:rPr>
              <a:t>https://elixir.bootlin.com/linux/v6.3-rc3/source/arch/x86/mm/tlb.c#L277</a:t>
            </a:r>
            <a:endParaRPr sz="2000" b="1">
              <a:solidFill>
                <a:srgbClr val="9C0B15"/>
              </a:solidFill>
            </a:endParaRPr>
          </a:p>
          <a:p>
            <a:pPr algn="ctr"/>
            <a:endParaRPr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r>
              <a:rPr sz="2000" b="1">
                <a:solidFill>
                  <a:srgbClr val="9C0B15"/>
                </a:solidFill>
              </a:rPr>
              <a:t>void switch_mm(struct mm_struct *prev,</a:t>
            </a:r>
            <a:endParaRPr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r>
              <a:rPr sz="2000" b="1">
                <a:solidFill>
                  <a:srgbClr val="9C0B15"/>
                </a:solidFill>
                <a:sym typeface="+mn-ea"/>
              </a:rPr>
              <a:t>		</a:t>
            </a:r>
            <a:r>
              <a:rPr sz="2000" b="1">
                <a:solidFill>
                  <a:srgbClr val="9C0B15"/>
                </a:solidFill>
              </a:rPr>
              <a:t>struct mm_struct *next,</a:t>
            </a:r>
            <a:endParaRPr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r>
              <a:rPr sz="2000" b="1">
                <a:solidFill>
                  <a:srgbClr val="9C0B15"/>
                </a:solidFill>
                <a:sym typeface="+mn-ea"/>
              </a:rPr>
              <a:t>		</a:t>
            </a:r>
            <a:r>
              <a:rPr sz="2000" b="1">
                <a:solidFill>
                  <a:srgbClr val="9C0B15"/>
                </a:solidFill>
              </a:rPr>
              <a:t>struct task_struct *tsk)</a:t>
            </a:r>
            <a:endParaRPr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r>
              <a:rPr sz="2000" b="1">
                <a:solidFill>
                  <a:srgbClr val="9C0B15"/>
                </a:solidFill>
              </a:rPr>
              <a:t>{</a:t>
            </a:r>
            <a:endParaRPr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2D050"/>
                </a:solidFill>
              </a:rPr>
              <a:t>	unsigned long flags;</a:t>
            </a:r>
            <a:endParaRPr lang="zh-CN" altLang="en-US" sz="2000" b="1">
              <a:solidFill>
                <a:srgbClr val="92D050"/>
              </a:solidFill>
            </a:endParaRPr>
          </a:p>
          <a:p>
            <a:pPr algn="l"/>
            <a:endParaRPr lang="zh-CN" altLang="en-US" sz="2000" b="1">
              <a:solidFill>
                <a:srgbClr val="FFC000"/>
              </a:solidFill>
              <a:cs typeface="+mn-lt"/>
            </a:endParaRPr>
          </a:p>
          <a:p>
            <a:pPr algn="l"/>
            <a:r>
              <a:rPr lang="zh-CN" altLang="en-US" sz="2000" b="1">
                <a:solidFill>
                  <a:srgbClr val="FFC000"/>
                </a:solidFill>
                <a:cs typeface="+mn-lt"/>
              </a:rPr>
              <a:t>	</a:t>
            </a:r>
            <a:r>
              <a:rPr sz="2000" b="1">
                <a:solidFill>
                  <a:srgbClr val="9C0B15"/>
                </a:solidFill>
              </a:rPr>
              <a:t>local_irq_save(</a:t>
            </a:r>
            <a:r>
              <a:rPr lang="zh-CN" altLang="en-US" sz="2000" b="1">
                <a:solidFill>
                  <a:srgbClr val="92D050"/>
                </a:solidFill>
              </a:rPr>
              <a:t>flags</a:t>
            </a:r>
            <a:r>
              <a:rPr sz="2000" b="1">
                <a:solidFill>
                  <a:srgbClr val="9C0B15"/>
                </a:solidFill>
              </a:rPr>
              <a:t>);</a:t>
            </a:r>
            <a:endParaRPr lang="zh-CN" altLang="en-US" sz="2000" b="1">
              <a:solidFill>
                <a:srgbClr val="FFC000"/>
              </a:solidFill>
              <a:cs typeface="+mn-lt"/>
            </a:endParaRPr>
          </a:p>
          <a:p>
            <a:pPr algn="l"/>
            <a:r>
              <a:rPr lang="zh-CN" altLang="en-US" sz="2000" b="1">
                <a:solidFill>
                  <a:srgbClr val="FFC000"/>
                </a:solidFill>
                <a:cs typeface="+mn-lt"/>
              </a:rPr>
              <a:t>	</a:t>
            </a:r>
            <a:r>
              <a:rPr sz="2000" b="1">
                <a:solidFill>
                  <a:srgbClr val="9C0B15"/>
                </a:solidFill>
              </a:rPr>
              <a:t>switch_mm_irqs_off(</a:t>
            </a:r>
            <a:r>
              <a:rPr lang="zh-CN" altLang="en-US" sz="2000" b="1">
                <a:solidFill>
                  <a:srgbClr val="92D050"/>
                </a:solidFill>
              </a:rPr>
              <a:t>prev, next, tsk</a:t>
            </a:r>
            <a:r>
              <a:rPr sz="2000" b="1">
                <a:solidFill>
                  <a:srgbClr val="9C0B15"/>
                </a:solidFill>
              </a:rPr>
              <a:t>);</a:t>
            </a:r>
            <a:endParaRPr lang="zh-CN" altLang="en-US" sz="2000" b="1">
              <a:solidFill>
                <a:srgbClr val="FFC00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FFC000"/>
                </a:solidFill>
                <a:cs typeface="+mn-lt"/>
              </a:rPr>
              <a:t>	</a:t>
            </a:r>
            <a:r>
              <a:rPr sz="2000" b="1">
                <a:solidFill>
                  <a:srgbClr val="9C0B15"/>
                </a:solidFill>
              </a:rPr>
              <a:t>local_irq_restore(</a:t>
            </a:r>
            <a:r>
              <a:rPr lang="zh-CN" altLang="en-US" sz="2000" b="1">
                <a:solidFill>
                  <a:srgbClr val="92D050"/>
                </a:solidFill>
              </a:rPr>
              <a:t>flags</a:t>
            </a:r>
            <a:r>
              <a:rPr sz="2000" b="1">
                <a:solidFill>
                  <a:srgbClr val="9C0B15"/>
                </a:solidFill>
              </a:rPr>
              <a:t>);</a:t>
            </a:r>
            <a:endParaRPr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r>
              <a:rPr sz="2000" b="1">
                <a:solidFill>
                  <a:srgbClr val="9C0B15"/>
                </a:solidFill>
              </a:rPr>
              <a:t>}</a:t>
            </a:r>
            <a:endParaRPr sz="2000" b="1">
              <a:solidFill>
                <a:srgbClr val="9C0B15"/>
              </a:solidFill>
            </a:endParaRPr>
          </a:p>
          <a:p>
            <a:pPr algn="l"/>
            <a:endParaRPr lang="zh-CN" altLang="en-US" sz="2000" b="1">
              <a:solidFill>
                <a:srgbClr val="FFC000"/>
              </a:solidFill>
              <a:cs typeface="+mn-lt"/>
            </a:endParaRPr>
          </a:p>
          <a:p>
            <a:pPr algn="l"/>
            <a:endParaRPr lang="zh-CN" altLang="en-US" sz="2000" b="1">
              <a:solidFill>
                <a:srgbClr val="FFC00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问题</a:t>
            </a:r>
            <a:r>
              <a:rPr lang="en-US" altLang="zh-CN" sz="2000" b="1">
                <a:solidFill>
                  <a:srgbClr val="FFC000"/>
                </a:solidFill>
                <a:cs typeface="+mn-lt"/>
              </a:rPr>
              <a:t>	</a:t>
            </a:r>
            <a:r>
              <a:rPr lang="zh-CN" altLang="en-US" sz="2000"/>
              <a:t>看上去是调用了一个</a:t>
            </a:r>
            <a:r>
              <a:rPr lang="zh-CN" altLang="en-US" sz="2000">
                <a:sym typeface="+mn-ea"/>
              </a:rPr>
              <a:t>switch_mm_irqs_off函数，在这里面完成的切换。跟	进去看看。</a:t>
            </a:r>
            <a:endParaRPr lang="zh-CN" altLang="en-US" sz="2000"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主存储器分配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一、进程的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系统进程总览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进程的实现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内存分配的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x86-64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管理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 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DLM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进程内分配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Linux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进程间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分配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Linux页面替换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三、系统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.2 进程的基本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操作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3.3 进程接口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2471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切换进程地址</a:t>
            </a:r>
            <a:r>
              <a:rPr lang="zh-CN" altLang="en-US" sz="2000" b="1">
                <a:solidFill>
                  <a:srgbClr val="9C0B15"/>
                </a:solidFill>
              </a:rPr>
              <a:t>空间（</a:t>
            </a:r>
            <a:r>
              <a:rPr lang="en-US" altLang="zh-CN" sz="2000" b="1">
                <a:solidFill>
                  <a:srgbClr val="9C0B15"/>
                </a:solidFill>
              </a:rPr>
              <a:t>Linux 6.3</a:t>
            </a:r>
            <a:r>
              <a:rPr lang="zh-CN" altLang="en-US" sz="2000" b="1">
                <a:solidFill>
                  <a:srgbClr val="9C0B15"/>
                </a:solidFill>
              </a:rPr>
              <a:t>）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r>
              <a:rPr sz="2000" b="1">
                <a:solidFill>
                  <a:srgbClr val="9C0B15"/>
                </a:solidFill>
              </a:rPr>
              <a:t>https://elixir.bootlin.com/linux/v6.3-rc3/source/arch/x86/mm/tlb.c#L277</a:t>
            </a:r>
            <a:endParaRPr sz="2000" b="1">
              <a:solidFill>
                <a:srgbClr val="9C0B15"/>
              </a:solidFill>
            </a:endParaRPr>
          </a:p>
          <a:p>
            <a:pPr algn="ctr"/>
            <a:endParaRPr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r>
              <a:rPr sz="2000" b="1">
                <a:solidFill>
                  <a:srgbClr val="9C0B15"/>
                </a:solidFill>
              </a:rPr>
              <a:t>void switch_mm_irqs_off(struct mm_struct *prev, struct mm_struct *next,</a:t>
            </a:r>
            <a:endParaRPr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r>
              <a:rPr sz="2000" b="1">
                <a:solidFill>
                  <a:srgbClr val="9C0B15"/>
                </a:solidFill>
              </a:rPr>
              <a:t>			struct task_struct *tsk)</a:t>
            </a:r>
            <a:endParaRPr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r>
              <a:rPr sz="2000" b="1">
                <a:solidFill>
                  <a:srgbClr val="9C0B15"/>
                </a:solidFill>
              </a:rPr>
              <a:t>{</a:t>
            </a:r>
            <a:endParaRPr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r>
              <a:rPr sz="2000" b="1">
                <a:solidFill>
                  <a:srgbClr val="9C0B15"/>
                </a:solidFill>
              </a:rPr>
              <a:t>	</a:t>
            </a:r>
            <a:r>
              <a:rPr lang="zh-CN" altLang="en-US" sz="2000" b="1">
                <a:solidFill>
                  <a:srgbClr val="92D050"/>
                </a:solidFill>
              </a:rPr>
              <a:t>struct mm_struct *real_prev</a:t>
            </a:r>
            <a:r>
              <a:rPr sz="2000" b="1">
                <a:solidFill>
                  <a:srgbClr val="9C0B15"/>
                </a:solidFill>
              </a:rPr>
              <a:t> </a:t>
            </a:r>
            <a:r>
              <a:rPr lang="zh-CN" altLang="en-US" sz="2000" b="1">
                <a:solidFill>
                  <a:srgbClr val="00B0F0"/>
                </a:solidFill>
                <a:cs typeface="+mn-lt"/>
              </a:rPr>
              <a:t>=</a:t>
            </a:r>
            <a:r>
              <a:rPr sz="2000" b="1">
                <a:solidFill>
                  <a:srgbClr val="9C0B15"/>
                </a:solidFill>
              </a:rPr>
              <a:t> this_cpu_read(</a:t>
            </a:r>
            <a:r>
              <a:rPr lang="zh-CN" altLang="en-US" sz="2000" b="1">
                <a:solidFill>
                  <a:srgbClr val="92D050"/>
                </a:solidFill>
              </a:rPr>
              <a:t>cpu_tlbstate.loaded_mm</a:t>
            </a:r>
            <a:r>
              <a:rPr sz="2000" b="1">
                <a:solidFill>
                  <a:srgbClr val="9C0B15"/>
                </a:solidFill>
              </a:rPr>
              <a:t>);</a:t>
            </a:r>
            <a:endParaRPr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endParaRPr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r>
              <a:rPr sz="2000" b="1">
                <a:solidFill>
                  <a:srgbClr val="9C0B15"/>
                </a:solidFill>
              </a:rPr>
              <a:t>	if </a:t>
            </a:r>
            <a:r>
              <a:rPr lang="en-US" altLang="zh-CN" sz="2000" b="1">
                <a:solidFill>
                  <a:srgbClr val="00B0F0"/>
                </a:solidFill>
              </a:rPr>
              <a:t>(</a:t>
            </a:r>
            <a:r>
              <a:rPr lang="zh-CN" altLang="en-US" sz="2000" b="1">
                <a:solidFill>
                  <a:srgbClr val="92D050"/>
                </a:solidFill>
              </a:rPr>
              <a:t>real_prev</a:t>
            </a:r>
            <a:r>
              <a:rPr lang="en-US" altLang="zh-CN" sz="2000" b="1">
                <a:solidFill>
                  <a:srgbClr val="00B0F0"/>
                </a:solidFill>
              </a:rPr>
              <a:t> == </a:t>
            </a:r>
            <a:r>
              <a:rPr lang="zh-CN" altLang="en-US" sz="2000" b="1">
                <a:solidFill>
                  <a:srgbClr val="92D050"/>
                </a:solidFill>
              </a:rPr>
              <a:t>next</a:t>
            </a:r>
            <a:r>
              <a:rPr lang="en-US" altLang="zh-CN" sz="2000" b="1">
                <a:solidFill>
                  <a:srgbClr val="00B0F0"/>
                </a:solidFill>
              </a:rPr>
              <a:t>)</a:t>
            </a:r>
            <a:endParaRPr lang="en-US" altLang="zh-CN" sz="2000" b="1">
              <a:solidFill>
                <a:srgbClr val="00B0F0"/>
              </a:solidFill>
            </a:endParaRPr>
          </a:p>
          <a:p>
            <a:pPr algn="l">
              <a:buClrTx/>
              <a:buSzTx/>
              <a:buFontTx/>
            </a:pPr>
            <a:r>
              <a:rPr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en-US" altLang="zh-CN" sz="2000" b="1">
                <a:solidFill>
                  <a:srgbClr val="7030A0"/>
                </a:solidFill>
              </a:rPr>
              <a:t>return;</a:t>
            </a:r>
            <a:endParaRPr lang="en-US" altLang="zh-CN" sz="2000" b="1">
              <a:solidFill>
                <a:srgbClr val="7030A0"/>
              </a:solidFill>
            </a:endParaRPr>
          </a:p>
          <a:p>
            <a:pPr algn="l">
              <a:buClrTx/>
              <a:buSzTx/>
              <a:buFontTx/>
            </a:pPr>
            <a:endParaRPr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r>
              <a:rPr sz="2000" b="1">
                <a:solidFill>
                  <a:srgbClr val="9C0B15"/>
                </a:solidFill>
              </a:rPr>
              <a:t>	load_new_mm_cr3(</a:t>
            </a:r>
            <a:r>
              <a:rPr lang="zh-CN" altLang="en-US" sz="2000" b="1">
                <a:solidFill>
                  <a:srgbClr val="92D050"/>
                </a:solidFill>
              </a:rPr>
              <a:t>next</a:t>
            </a:r>
            <a:r>
              <a:rPr lang="en-US" altLang="zh-CN" sz="2000" b="1">
                <a:solidFill>
                  <a:srgbClr val="00B0F0"/>
                </a:solidFill>
              </a:rPr>
              <a:t>-&gt;</a:t>
            </a:r>
            <a:r>
              <a:rPr lang="zh-CN" altLang="en-US" sz="2000" b="1">
                <a:solidFill>
                  <a:srgbClr val="92D050"/>
                </a:solidFill>
              </a:rPr>
              <a:t>pgd</a:t>
            </a:r>
            <a:r>
              <a:rPr sz="2000" b="1">
                <a:solidFill>
                  <a:srgbClr val="9C0B15"/>
                </a:solidFill>
              </a:rPr>
              <a:t>);</a:t>
            </a:r>
            <a:endParaRPr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r>
              <a:rPr sz="2000" b="1">
                <a:solidFill>
                  <a:srgbClr val="9C0B15"/>
                </a:solidFill>
              </a:rPr>
              <a:t>}</a:t>
            </a:r>
            <a:endParaRPr sz="2000" b="1">
              <a:solidFill>
                <a:srgbClr val="9C0B15"/>
              </a:solidFill>
            </a:endParaRPr>
          </a:p>
          <a:p>
            <a:pPr algn="l"/>
            <a:endParaRPr lang="zh-CN" altLang="en-US" sz="2000" b="1">
              <a:solidFill>
                <a:srgbClr val="FFC000"/>
              </a:solidFill>
              <a:cs typeface="+mn-lt"/>
            </a:endParaRPr>
          </a:p>
          <a:p>
            <a:pPr algn="l">
              <a:buClrTx/>
              <a:buSzTx/>
              <a:buFontTx/>
            </a:pPr>
            <a:r>
              <a:rPr sz="2000" b="1">
                <a:solidFill>
                  <a:srgbClr val="9C0B15"/>
                </a:solidFill>
              </a:rPr>
              <a:t>static inline void native_write_cr3(unsigned long val)</a:t>
            </a:r>
            <a:endParaRPr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r>
              <a:rPr sz="2000" b="1">
                <a:solidFill>
                  <a:srgbClr val="9C0B15"/>
                </a:solidFill>
              </a:rPr>
              <a:t>{</a:t>
            </a:r>
            <a:endParaRPr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r>
              <a:rPr sz="2000"/>
              <a:t>	</a:t>
            </a:r>
            <a:r>
              <a:rPr lang="en-US" altLang="zh-CN" sz="2000" b="1">
                <a:solidFill>
                  <a:srgbClr val="00B0F0"/>
                </a:solidFill>
              </a:rPr>
              <a:t>asm volatile("mov %0,%%cr3": : "r" (</a:t>
            </a:r>
            <a:r>
              <a:rPr lang="zh-CN" altLang="en-US" sz="2000" b="1">
                <a:solidFill>
                  <a:srgbClr val="92D050"/>
                </a:solidFill>
              </a:rPr>
              <a:t>val</a:t>
            </a:r>
            <a:r>
              <a:rPr lang="en-US" altLang="zh-CN" sz="2000" b="1">
                <a:solidFill>
                  <a:srgbClr val="00B0F0"/>
                </a:solidFill>
              </a:rPr>
              <a:t>) : "memory");</a:t>
            </a:r>
            <a:endParaRPr lang="en-US" altLang="zh-CN" sz="2000" b="1">
              <a:solidFill>
                <a:srgbClr val="00B0F0"/>
              </a:solidFill>
            </a:endParaRPr>
          </a:p>
          <a:p>
            <a:pPr algn="l">
              <a:buClrTx/>
              <a:buSzTx/>
              <a:buFontTx/>
            </a:pPr>
            <a:r>
              <a:rPr sz="2000" b="1">
                <a:solidFill>
                  <a:srgbClr val="9C0B15"/>
                </a:solidFill>
              </a:rPr>
              <a:t>}</a:t>
            </a:r>
            <a:endParaRPr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endParaRPr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r>
              <a:rPr lang="zh-CN" sz="2000" b="1">
                <a:solidFill>
                  <a:srgbClr val="9C0B15"/>
                </a:solidFill>
              </a:rPr>
              <a:t>问题</a:t>
            </a:r>
            <a:r>
              <a:rPr lang="en-US" altLang="zh-CN" sz="2000" b="1">
                <a:solidFill>
                  <a:srgbClr val="9C0B15"/>
                </a:solidFill>
              </a:rPr>
              <a:t>	</a:t>
            </a:r>
            <a:r>
              <a:rPr lang="zh-CN" altLang="en-US" sz="2000"/>
              <a:t>发现最后把pgd（页目录）的地址写进CR3去了。CR3是什么？</a:t>
            </a:r>
            <a:endParaRPr lang="zh-CN" altLang="en-US" sz="2000"/>
          </a:p>
        </p:txBody>
      </p:sp>
    </p:spTree>
    <p:custDataLst>
      <p:tags r:id="rId2"/>
    </p:custData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145415" y="609600"/>
            <a:ext cx="9523730" cy="50158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x86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环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endParaRPr lang="zh-CN" altLang="en-US" sz="2000">
              <a:sym typeface="+mn-ea"/>
            </a:endParaRPr>
          </a:p>
          <a:p>
            <a:pPr>
              <a:buClrTx/>
              <a:buSzTx/>
              <a:buFontTx/>
            </a:pPr>
            <a:endParaRPr lang="en-US" altLang="zh-CN" sz="2000" b="1">
              <a:solidFill>
                <a:srgbClr val="9C0B15"/>
              </a:solidFill>
              <a:sym typeface="+mn-ea"/>
            </a:endParaRPr>
          </a:p>
          <a:p>
            <a:pPr>
              <a:buClrTx/>
              <a:buSzTx/>
              <a:buFontTx/>
            </a:pPr>
            <a:endParaRPr lang="en-US" altLang="zh-CN" sz="2000" b="1">
              <a:solidFill>
                <a:srgbClr val="9C0B15"/>
              </a:solidFill>
              <a:sym typeface="+mn-ea"/>
            </a:endParaRPr>
          </a:p>
          <a:p>
            <a:pPr>
              <a:buClrTx/>
              <a:buSzTx/>
              <a:buFontTx/>
            </a:pPr>
            <a:endParaRPr lang="en-US" altLang="zh-CN" sz="2000" b="1">
              <a:solidFill>
                <a:srgbClr val="9C0B15"/>
              </a:solidFill>
              <a:sym typeface="+mn-ea"/>
            </a:endParaRPr>
          </a:p>
          <a:p>
            <a:pPr>
              <a:buClrTx/>
              <a:buSzTx/>
              <a:buFontTx/>
            </a:pPr>
            <a:endParaRPr lang="en-US" altLang="zh-CN" sz="2000" b="1">
              <a:solidFill>
                <a:srgbClr val="9C0B15"/>
              </a:solidFill>
              <a:sym typeface="+mn-ea"/>
            </a:endParaRPr>
          </a:p>
          <a:p>
            <a:pPr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寻址方法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endParaRPr lang="en-US" altLang="zh-CN" sz="2000" b="1">
              <a:solidFill>
                <a:srgbClr val="9C0B15"/>
              </a:solidFill>
              <a:sym typeface="+mn-ea"/>
            </a:endParaRPr>
          </a:p>
        </p:txBody>
      </p:sp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主存储器分配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一、进程的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系统进程总览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进程的实现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内存分配的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x86-64内存管理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 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DLM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进程内分配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Linux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进程间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分配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Linux页面替换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三、系统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.2 进程的基本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操作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3.3 进程接口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266950" y="180340"/>
            <a:ext cx="55295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9C0B15"/>
                </a:solidFill>
              </a:rPr>
              <a:t>x86-32</a:t>
            </a:r>
            <a:r>
              <a:rPr lang="zh-CN" altLang="en-US" sz="2000" b="1">
                <a:solidFill>
                  <a:srgbClr val="9C0B15"/>
                </a:solidFill>
              </a:rPr>
              <a:t>（</a:t>
            </a:r>
            <a:r>
              <a:rPr lang="en-US" altLang="zh-CN" sz="2000" b="1">
                <a:solidFill>
                  <a:srgbClr val="9C0B15"/>
                </a:solidFill>
              </a:rPr>
              <a:t>IA32</a:t>
            </a:r>
            <a:r>
              <a:rPr lang="zh-CN" altLang="en-US" sz="2000" b="1">
                <a:solidFill>
                  <a:srgbClr val="9C0B15"/>
                </a:solidFill>
              </a:rPr>
              <a:t>）保护模式与段页式</a:t>
            </a:r>
            <a:r>
              <a:rPr lang="zh-CN" altLang="en-US" sz="2000" b="1">
                <a:solidFill>
                  <a:srgbClr val="9C0B15"/>
                </a:solidFill>
              </a:rPr>
              <a:t>管理</a:t>
            </a:r>
            <a:endParaRPr lang="zh-CN" altLang="en-US" sz="2000" b="1">
              <a:solidFill>
                <a:srgbClr val="9C0B15"/>
              </a:solidFill>
            </a:endParaRPr>
          </a:p>
        </p:txBody>
      </p:sp>
      <p:grpSp>
        <p:nvGrpSpPr>
          <p:cNvPr id="83" name="组合 82"/>
          <p:cNvGrpSpPr/>
          <p:nvPr/>
        </p:nvGrpSpPr>
        <p:grpSpPr>
          <a:xfrm>
            <a:off x="1519555" y="5280025"/>
            <a:ext cx="7026275" cy="1433195"/>
            <a:chOff x="2393" y="6875"/>
            <a:chExt cx="11065" cy="2257"/>
          </a:xfrm>
        </p:grpSpPr>
        <p:sp>
          <p:nvSpPr>
            <p:cNvPr id="25" name="圆角矩形 24"/>
            <p:cNvSpPr/>
            <p:nvPr/>
          </p:nvSpPr>
          <p:spPr>
            <a:xfrm>
              <a:off x="2393" y="8364"/>
              <a:ext cx="2143" cy="768"/>
            </a:xfrm>
            <a:prstGeom prst="roundRect">
              <a:avLst/>
            </a:prstGeom>
            <a:solidFill>
              <a:srgbClr val="D02F3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/>
                <a:t>有效地址</a:t>
              </a:r>
              <a:endParaRPr lang="zh-CN" altLang="en-US"/>
            </a:p>
          </p:txBody>
        </p:sp>
        <p:sp>
          <p:nvSpPr>
            <p:cNvPr id="2" name="圆角矩形 1"/>
            <p:cNvSpPr/>
            <p:nvPr/>
          </p:nvSpPr>
          <p:spPr>
            <a:xfrm>
              <a:off x="2413" y="6875"/>
              <a:ext cx="2143" cy="768"/>
            </a:xfrm>
            <a:prstGeom prst="roundRect">
              <a:avLst/>
            </a:prstGeom>
            <a:solidFill>
              <a:srgbClr val="D02F3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/>
                <a:t>段选择子</a:t>
              </a:r>
              <a:endParaRPr lang="zh-CN" altLang="en-US"/>
            </a:p>
          </p:txBody>
        </p:sp>
        <p:sp>
          <p:nvSpPr>
            <p:cNvPr id="5" name="圆角矩形 4"/>
            <p:cNvSpPr/>
            <p:nvPr/>
          </p:nvSpPr>
          <p:spPr>
            <a:xfrm>
              <a:off x="5425" y="6876"/>
              <a:ext cx="2143" cy="768"/>
            </a:xfrm>
            <a:prstGeom prst="roundRect">
              <a:avLst/>
            </a:prstGeom>
            <a:solidFill>
              <a:srgbClr val="D02F3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/>
                <a:t>段</a:t>
              </a:r>
              <a:r>
                <a:rPr lang="zh-CN" altLang="en-US"/>
                <a:t>描述符</a:t>
              </a:r>
              <a:endParaRPr lang="zh-CN" altLang="en-US"/>
            </a:p>
          </p:txBody>
        </p:sp>
        <p:sp>
          <p:nvSpPr>
            <p:cNvPr id="6" name="圆角矩形 5"/>
            <p:cNvSpPr/>
            <p:nvPr/>
          </p:nvSpPr>
          <p:spPr>
            <a:xfrm>
              <a:off x="5433" y="8364"/>
              <a:ext cx="2143" cy="768"/>
            </a:xfrm>
            <a:prstGeom prst="roundRect">
              <a:avLst/>
            </a:prstGeom>
            <a:solidFill>
              <a:srgbClr val="D02F3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/>
                <a:t>段基</a:t>
              </a:r>
              <a:r>
                <a:rPr lang="zh-CN" altLang="en-US"/>
                <a:t>址</a:t>
              </a:r>
              <a:endParaRPr lang="zh-CN" altLang="en-US"/>
            </a:p>
          </p:txBody>
        </p:sp>
        <p:sp>
          <p:nvSpPr>
            <p:cNvPr id="7" name="圆角矩形 6"/>
            <p:cNvSpPr/>
            <p:nvPr/>
          </p:nvSpPr>
          <p:spPr>
            <a:xfrm>
              <a:off x="8384" y="8364"/>
              <a:ext cx="2142" cy="768"/>
            </a:xfrm>
            <a:prstGeom prst="roundRect">
              <a:avLst/>
            </a:prstGeom>
            <a:solidFill>
              <a:srgbClr val="D02F3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/>
                <a:t>线性地址</a:t>
              </a:r>
              <a:endParaRPr lang="zh-CN" altLang="en-US"/>
            </a:p>
          </p:txBody>
        </p:sp>
        <p:sp>
          <p:nvSpPr>
            <p:cNvPr id="8" name="圆角矩形 7"/>
            <p:cNvSpPr/>
            <p:nvPr/>
          </p:nvSpPr>
          <p:spPr>
            <a:xfrm>
              <a:off x="11316" y="8364"/>
              <a:ext cx="2142" cy="768"/>
            </a:xfrm>
            <a:prstGeom prst="roundRect">
              <a:avLst/>
            </a:prstGeom>
            <a:solidFill>
              <a:srgbClr val="D02F3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/>
                <a:t>页表</a:t>
              </a:r>
              <a:endParaRPr lang="zh-CN" altLang="en-US"/>
            </a:p>
          </p:txBody>
        </p:sp>
        <p:sp>
          <p:nvSpPr>
            <p:cNvPr id="9" name="圆角矩形 8"/>
            <p:cNvSpPr/>
            <p:nvPr/>
          </p:nvSpPr>
          <p:spPr>
            <a:xfrm>
              <a:off x="11313" y="6876"/>
              <a:ext cx="2142" cy="768"/>
            </a:xfrm>
            <a:prstGeom prst="roundRect">
              <a:avLst/>
            </a:prstGeom>
            <a:solidFill>
              <a:srgbClr val="D02F3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/>
                <a:t>物理地址</a:t>
              </a:r>
              <a:endParaRPr lang="zh-CN" altLang="en-US"/>
            </a:p>
          </p:txBody>
        </p:sp>
        <p:cxnSp>
          <p:nvCxnSpPr>
            <p:cNvPr id="26" name="直接箭头连接符 25"/>
            <p:cNvCxnSpPr>
              <a:stCxn id="5" idx="2"/>
              <a:endCxn id="6" idx="0"/>
            </p:cNvCxnSpPr>
            <p:nvPr/>
          </p:nvCxnSpPr>
          <p:spPr>
            <a:xfrm>
              <a:off x="6497" y="7644"/>
              <a:ext cx="8" cy="720"/>
            </a:xfrm>
            <a:prstGeom prst="straightConnector1">
              <a:avLst/>
            </a:prstGeom>
            <a:ln w="63500">
              <a:solidFill>
                <a:srgbClr val="9C0B1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箭头连接符 16"/>
            <p:cNvCxnSpPr/>
            <p:nvPr/>
          </p:nvCxnSpPr>
          <p:spPr>
            <a:xfrm>
              <a:off x="4556" y="7256"/>
              <a:ext cx="877" cy="3"/>
            </a:xfrm>
            <a:prstGeom prst="straightConnector1">
              <a:avLst/>
            </a:prstGeom>
            <a:ln w="63500">
              <a:solidFill>
                <a:srgbClr val="9C0B1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加号 76"/>
            <p:cNvSpPr/>
            <p:nvPr/>
          </p:nvSpPr>
          <p:spPr>
            <a:xfrm>
              <a:off x="4641" y="8388"/>
              <a:ext cx="720" cy="720"/>
            </a:xfrm>
            <a:prstGeom prst="mathPlus">
              <a:avLst/>
            </a:prstGeom>
            <a:solidFill>
              <a:srgbClr val="D02F3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28" name="直接箭头连接符 27"/>
            <p:cNvCxnSpPr>
              <a:stCxn id="6" idx="3"/>
              <a:endCxn id="7" idx="1"/>
            </p:cNvCxnSpPr>
            <p:nvPr/>
          </p:nvCxnSpPr>
          <p:spPr>
            <a:xfrm>
              <a:off x="7576" y="8748"/>
              <a:ext cx="808" cy="0"/>
            </a:xfrm>
            <a:prstGeom prst="straightConnector1">
              <a:avLst/>
            </a:prstGeom>
            <a:ln w="63500">
              <a:solidFill>
                <a:srgbClr val="9C0B1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箭头连接符 59"/>
            <p:cNvCxnSpPr>
              <a:stCxn id="8" idx="0"/>
            </p:cNvCxnSpPr>
            <p:nvPr/>
          </p:nvCxnSpPr>
          <p:spPr>
            <a:xfrm flipH="1" flipV="1">
              <a:off x="12381" y="7643"/>
              <a:ext cx="6" cy="721"/>
            </a:xfrm>
            <a:prstGeom prst="straightConnector1">
              <a:avLst/>
            </a:prstGeom>
            <a:ln w="63500">
              <a:solidFill>
                <a:srgbClr val="9C0B1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箭头连接符 60"/>
            <p:cNvCxnSpPr>
              <a:stCxn id="7" idx="3"/>
              <a:endCxn id="8" idx="1"/>
            </p:cNvCxnSpPr>
            <p:nvPr/>
          </p:nvCxnSpPr>
          <p:spPr>
            <a:xfrm>
              <a:off x="10526" y="8748"/>
              <a:ext cx="790" cy="0"/>
            </a:xfrm>
            <a:prstGeom prst="straightConnector1">
              <a:avLst/>
            </a:prstGeom>
            <a:ln w="63500">
              <a:solidFill>
                <a:srgbClr val="9C0B1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1" name="组合 80"/>
          <p:cNvGrpSpPr/>
          <p:nvPr/>
        </p:nvGrpSpPr>
        <p:grpSpPr>
          <a:xfrm>
            <a:off x="1519555" y="3326130"/>
            <a:ext cx="7024370" cy="1666240"/>
            <a:chOff x="3084" y="3700"/>
            <a:chExt cx="11062" cy="2624"/>
          </a:xfrm>
        </p:grpSpPr>
        <p:sp>
          <p:nvSpPr>
            <p:cNvPr id="82" name="圆角矩形 81"/>
            <p:cNvSpPr/>
            <p:nvPr/>
          </p:nvSpPr>
          <p:spPr>
            <a:xfrm>
              <a:off x="3084" y="5928"/>
              <a:ext cx="3185" cy="396"/>
            </a:xfrm>
            <a:prstGeom prst="roundRect">
              <a:avLst/>
            </a:prstGeom>
            <a:solidFill>
              <a:srgbClr val="00B050">
                <a:alpha val="7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/>
                <a:t>线性地址</a:t>
              </a:r>
              <a:r>
                <a:rPr lang="en-US" altLang="zh-CN"/>
                <a:t>[31:22]</a:t>
              </a:r>
              <a:endParaRPr lang="en-US" altLang="zh-CN"/>
            </a:p>
          </p:txBody>
        </p:sp>
        <p:sp>
          <p:nvSpPr>
            <p:cNvPr id="120" name="圆角矩形 119"/>
            <p:cNvSpPr/>
            <p:nvPr/>
          </p:nvSpPr>
          <p:spPr>
            <a:xfrm>
              <a:off x="3084" y="3700"/>
              <a:ext cx="1154" cy="396"/>
            </a:xfrm>
            <a:prstGeom prst="round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CR3</a:t>
              </a:r>
              <a:endParaRPr lang="en-US" altLang="zh-CN"/>
            </a:p>
          </p:txBody>
        </p:sp>
        <p:cxnSp>
          <p:nvCxnSpPr>
            <p:cNvPr id="63" name="直接箭头连接符 62"/>
            <p:cNvCxnSpPr/>
            <p:nvPr/>
          </p:nvCxnSpPr>
          <p:spPr>
            <a:xfrm>
              <a:off x="4238" y="3897"/>
              <a:ext cx="1009" cy="4"/>
            </a:xfrm>
            <a:prstGeom prst="straightConnector1">
              <a:avLst/>
            </a:prstGeom>
            <a:ln w="6350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圆角矩形 63"/>
            <p:cNvSpPr/>
            <p:nvPr/>
          </p:nvSpPr>
          <p:spPr>
            <a:xfrm>
              <a:off x="5115" y="3901"/>
              <a:ext cx="1154" cy="1734"/>
            </a:xfrm>
            <a:prstGeom prst="round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/>
                <a:t>目录</a:t>
              </a:r>
              <a:endParaRPr lang="en-US" altLang="zh-CN"/>
            </a:p>
            <a:p>
              <a:pPr algn="ctr"/>
              <a:endParaRPr lang="en-US" altLang="zh-CN"/>
            </a:p>
            <a:p>
              <a:pPr algn="ctr"/>
              <a:endParaRPr lang="en-US" altLang="zh-CN"/>
            </a:p>
            <a:p>
              <a:pPr algn="ctr"/>
              <a:endParaRPr lang="en-US" altLang="zh-CN"/>
            </a:p>
          </p:txBody>
        </p:sp>
        <p:sp>
          <p:nvSpPr>
            <p:cNvPr id="65" name="圆角矩形 64"/>
            <p:cNvSpPr/>
            <p:nvPr/>
          </p:nvSpPr>
          <p:spPr>
            <a:xfrm>
              <a:off x="7983" y="3901"/>
              <a:ext cx="1154" cy="1734"/>
            </a:xfrm>
            <a:prstGeom prst="roundRect">
              <a:avLst/>
            </a:prstGeom>
            <a:solidFill>
              <a:srgbClr val="00B05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/>
                <a:t>表项</a:t>
              </a:r>
              <a:endParaRPr lang="en-US" altLang="zh-CN"/>
            </a:p>
            <a:p>
              <a:pPr algn="ctr"/>
              <a:endParaRPr lang="en-US" altLang="zh-CN"/>
            </a:p>
            <a:p>
              <a:pPr algn="ctr"/>
              <a:endParaRPr lang="en-US" altLang="zh-CN"/>
            </a:p>
            <a:p>
              <a:pPr algn="ctr"/>
              <a:endParaRPr lang="en-US" altLang="zh-CN"/>
            </a:p>
          </p:txBody>
        </p:sp>
        <p:sp>
          <p:nvSpPr>
            <p:cNvPr id="68" name="圆角矩形 67"/>
            <p:cNvSpPr/>
            <p:nvPr/>
          </p:nvSpPr>
          <p:spPr>
            <a:xfrm>
              <a:off x="6269" y="5928"/>
              <a:ext cx="2869" cy="396"/>
            </a:xfrm>
            <a:prstGeom prst="roundRect">
              <a:avLst/>
            </a:prstGeom>
            <a:solidFill>
              <a:srgbClr val="00B0F0">
                <a:alpha val="7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[21:12]</a:t>
              </a:r>
              <a:endParaRPr lang="en-US" altLang="zh-CN"/>
            </a:p>
          </p:txBody>
        </p:sp>
        <p:sp>
          <p:nvSpPr>
            <p:cNvPr id="69" name="圆角矩形 68"/>
            <p:cNvSpPr/>
            <p:nvPr/>
          </p:nvSpPr>
          <p:spPr>
            <a:xfrm>
              <a:off x="9138" y="5928"/>
              <a:ext cx="2869" cy="396"/>
            </a:xfrm>
            <a:prstGeom prst="roundRect">
              <a:avLst/>
            </a:prstGeom>
            <a:solidFill>
              <a:srgbClr val="C000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[11:0]</a:t>
              </a:r>
              <a:endParaRPr lang="en-US" altLang="zh-CN"/>
            </a:p>
          </p:txBody>
        </p:sp>
        <p:cxnSp>
          <p:nvCxnSpPr>
            <p:cNvPr id="70" name="肘形连接符 69"/>
            <p:cNvCxnSpPr>
              <a:stCxn id="82" idx="0"/>
              <a:endCxn id="71" idx="1"/>
            </p:cNvCxnSpPr>
            <p:nvPr/>
          </p:nvCxnSpPr>
          <p:spPr>
            <a:xfrm rot="16200000">
              <a:off x="4387" y="5200"/>
              <a:ext cx="1018" cy="438"/>
            </a:xfrm>
            <a:prstGeom prst="bentConnector2">
              <a:avLst/>
            </a:prstGeom>
            <a:ln w="63500">
              <a:solidFill>
                <a:srgbClr val="00B050">
                  <a:alpha val="75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圆角矩形 70"/>
            <p:cNvSpPr/>
            <p:nvPr/>
          </p:nvSpPr>
          <p:spPr>
            <a:xfrm>
              <a:off x="5115" y="4712"/>
              <a:ext cx="1153" cy="396"/>
            </a:xfrm>
            <a:prstGeom prst="roundRect">
              <a:avLst/>
            </a:prstGeom>
            <a:solidFill>
              <a:srgbClr val="00B050">
                <a:alpha val="7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/>
            </a:p>
          </p:txBody>
        </p:sp>
        <p:cxnSp>
          <p:nvCxnSpPr>
            <p:cNvPr id="72" name="肘形连接符 71"/>
            <p:cNvCxnSpPr>
              <a:stCxn id="71" idx="3"/>
            </p:cNvCxnSpPr>
            <p:nvPr/>
          </p:nvCxnSpPr>
          <p:spPr>
            <a:xfrm flipV="1">
              <a:off x="6268" y="3911"/>
              <a:ext cx="1839" cy="999"/>
            </a:xfrm>
            <a:prstGeom prst="bentConnector3">
              <a:avLst>
                <a:gd name="adj1" fmla="val 27188"/>
              </a:avLst>
            </a:prstGeom>
            <a:ln w="63500">
              <a:solidFill>
                <a:srgbClr val="00B050">
                  <a:alpha val="50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肘形连接符 72"/>
            <p:cNvCxnSpPr>
              <a:endCxn id="74" idx="1"/>
            </p:cNvCxnSpPr>
            <p:nvPr/>
          </p:nvCxnSpPr>
          <p:spPr>
            <a:xfrm rot="16200000">
              <a:off x="7100" y="5045"/>
              <a:ext cx="1328" cy="438"/>
            </a:xfrm>
            <a:prstGeom prst="bentConnector2">
              <a:avLst/>
            </a:prstGeom>
            <a:ln w="63500">
              <a:solidFill>
                <a:srgbClr val="00B0F0">
                  <a:alpha val="75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圆角矩形 73"/>
            <p:cNvSpPr/>
            <p:nvPr/>
          </p:nvSpPr>
          <p:spPr>
            <a:xfrm>
              <a:off x="7983" y="4402"/>
              <a:ext cx="1153" cy="396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/>
            </a:p>
          </p:txBody>
        </p:sp>
        <p:sp>
          <p:nvSpPr>
            <p:cNvPr id="75" name="加号 74"/>
            <p:cNvSpPr/>
            <p:nvPr/>
          </p:nvSpPr>
          <p:spPr>
            <a:xfrm>
              <a:off x="10212" y="4240"/>
              <a:ext cx="720" cy="720"/>
            </a:xfrm>
            <a:prstGeom prst="mathPlus">
              <a:avLst/>
            </a:prstGeom>
            <a:solidFill>
              <a:srgbClr val="D02F35">
                <a:alpha val="7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6" name="圆角矩形 75"/>
            <p:cNvSpPr/>
            <p:nvPr/>
          </p:nvSpPr>
          <p:spPr>
            <a:xfrm>
              <a:off x="12004" y="4216"/>
              <a:ext cx="2142" cy="768"/>
            </a:xfrm>
            <a:prstGeom prst="roundRect">
              <a:avLst/>
            </a:prstGeom>
            <a:solidFill>
              <a:srgbClr val="D02F3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/>
                <a:t>物理地址</a:t>
              </a:r>
              <a:endParaRPr lang="zh-CN" altLang="en-US"/>
            </a:p>
          </p:txBody>
        </p:sp>
        <p:cxnSp>
          <p:nvCxnSpPr>
            <p:cNvPr id="78" name="直接箭头连接符 77"/>
            <p:cNvCxnSpPr>
              <a:stCxn id="74" idx="3"/>
            </p:cNvCxnSpPr>
            <p:nvPr/>
          </p:nvCxnSpPr>
          <p:spPr>
            <a:xfrm>
              <a:off x="9136" y="4600"/>
              <a:ext cx="1031" cy="1"/>
            </a:xfrm>
            <a:prstGeom prst="straightConnector1">
              <a:avLst/>
            </a:prstGeom>
            <a:ln w="63500">
              <a:solidFill>
                <a:srgbClr val="00B0F0">
                  <a:alpha val="75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箭头连接符 78"/>
            <p:cNvCxnSpPr/>
            <p:nvPr/>
          </p:nvCxnSpPr>
          <p:spPr>
            <a:xfrm flipV="1">
              <a:off x="10569" y="4981"/>
              <a:ext cx="8" cy="948"/>
            </a:xfrm>
            <a:prstGeom prst="straightConnector1">
              <a:avLst/>
            </a:prstGeom>
            <a:ln w="63500">
              <a:solidFill>
                <a:srgbClr val="9C0B15">
                  <a:alpha val="50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箭头连接符 79"/>
            <p:cNvCxnSpPr/>
            <p:nvPr/>
          </p:nvCxnSpPr>
          <p:spPr>
            <a:xfrm>
              <a:off x="10976" y="4601"/>
              <a:ext cx="1031" cy="1"/>
            </a:xfrm>
            <a:prstGeom prst="straightConnector1">
              <a:avLst/>
            </a:prstGeom>
            <a:ln w="63500">
              <a:solidFill>
                <a:srgbClr val="9C0B15">
                  <a:alpha val="50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2" name="图片 61" descr="Priv_rings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235" y="676910"/>
            <a:ext cx="3670935" cy="264922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145415" y="609600"/>
            <a:ext cx="9523730" cy="62471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段页式管理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>
                <a:sym typeface="+mn-ea"/>
              </a:rPr>
              <a:t>将段式内存管理与页式内存管理结合起来使用。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物理地址先经过段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式内存管理转换成线性地址（或中间地址），然后再通过页式内存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管理转换为最终的物理地址</a:t>
            </a:r>
            <a:r>
              <a:rPr lang="zh-CN" altLang="en-US" sz="2000">
                <a:sym typeface="+mn-ea"/>
              </a:rPr>
              <a:t>，所谓</a:t>
            </a:r>
            <a:r>
              <a:rPr lang="en-US" altLang="zh-CN" sz="2000">
                <a:sym typeface="+mn-ea"/>
              </a:rPr>
              <a:t>“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先分段，后分页</a:t>
            </a:r>
            <a:r>
              <a:rPr lang="en-US" altLang="zh-CN" sz="2000">
                <a:sym typeface="+mn-ea"/>
              </a:rPr>
              <a:t>”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向下兼容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段页式管理是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历史遗留</a:t>
            </a:r>
            <a:r>
              <a:rPr lang="zh-CN" altLang="en-US" sz="2000">
                <a:sym typeface="+mn-ea"/>
              </a:rPr>
              <a:t>。早期的</a:t>
            </a:r>
            <a:r>
              <a:rPr lang="en-US" altLang="zh-CN" sz="2000">
                <a:sym typeface="+mn-ea"/>
              </a:rPr>
              <a:t>8086</a:t>
            </a:r>
            <a:r>
              <a:rPr lang="zh-CN" altLang="en-US" sz="2000">
                <a:sym typeface="+mn-ea"/>
              </a:rPr>
              <a:t>与</a:t>
            </a:r>
            <a:r>
              <a:rPr lang="en-US" altLang="zh-CN" sz="2000">
                <a:sym typeface="+mn-ea"/>
              </a:rPr>
              <a:t>80286</a:t>
            </a:r>
            <a:r>
              <a:rPr lang="zh-CN" altLang="en-US" sz="2000">
                <a:sym typeface="+mn-ea"/>
              </a:rPr>
              <a:t>使用纯粹的段式管理，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但这样会引起大量的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外部碎片</a:t>
            </a:r>
            <a:r>
              <a:rPr lang="zh-CN" altLang="en-US" sz="2000">
                <a:sym typeface="+mn-ea"/>
              </a:rPr>
              <a:t>。因此，在</a:t>
            </a:r>
            <a:r>
              <a:rPr lang="en-US" altLang="zh-CN" sz="2000">
                <a:sym typeface="+mn-ea"/>
              </a:rPr>
              <a:t>80386</a:t>
            </a:r>
            <a:r>
              <a:rPr lang="zh-CN" altLang="en-US" sz="2000">
                <a:sym typeface="+mn-ea"/>
              </a:rPr>
              <a:t>上引入了页式管理。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然而，段式管理是不可能删除的（很多人还在使用</a:t>
            </a:r>
            <a:r>
              <a:rPr lang="en-US" altLang="zh-CN" sz="2000">
                <a:sym typeface="+mn-ea"/>
              </a:rPr>
              <a:t>DOS</a:t>
            </a:r>
            <a:r>
              <a:rPr lang="zh-CN" altLang="en-US" sz="2000">
                <a:sym typeface="+mn-ea"/>
              </a:rPr>
              <a:t>），因此只</a:t>
            </a:r>
            <a:r>
              <a:rPr lang="en-US" altLang="zh-CN" sz="2000">
                <a:sym typeface="+mn-ea"/>
              </a:rPr>
              <a:t>			</a:t>
            </a:r>
            <a:r>
              <a:rPr lang="zh-CN" altLang="en-US" sz="2000">
                <a:sym typeface="+mn-ea"/>
              </a:rPr>
              <a:t>好在段式转换后的地址上再套上页式管理。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这就是所谓的向下兼容（</a:t>
            </a:r>
            <a:r>
              <a:rPr lang="en-US" altLang="zh-CN" sz="2000">
                <a:sym typeface="+mn-ea"/>
              </a:rPr>
              <a:t>Backwards Compatibility</a:t>
            </a:r>
            <a:r>
              <a:rPr lang="zh-CN" altLang="en-US" sz="2000">
                <a:sym typeface="+mn-ea"/>
              </a:rPr>
              <a:t>）：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为了旧硬件开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发的操作系统在新硬件上仍然可以使用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优越性	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很多书上说段页式管理具备优越性，因为它</a:t>
            </a:r>
            <a:r>
              <a:rPr lang="en-US" altLang="zh-CN" sz="2000">
                <a:sym typeface="+mn-ea"/>
              </a:rPr>
              <a:t>“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一方面能避免段式管理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的外部碎片，另一方面又能避免页式管理的内部碎片</a:t>
            </a:r>
            <a:r>
              <a:rPr lang="en-US" altLang="zh-CN" sz="2000">
                <a:sym typeface="+mn-ea"/>
              </a:rPr>
              <a:t>”</a:t>
            </a:r>
            <a:r>
              <a:rPr lang="zh-CN" altLang="en-US" sz="2000">
                <a:sym typeface="+mn-ea"/>
              </a:rPr>
              <a:t>。然而，页式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内存管理的页已经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非常小了</a:t>
            </a:r>
            <a:r>
              <a:rPr lang="zh-CN" altLang="en-US" sz="2000">
                <a:sym typeface="+mn-ea"/>
              </a:rPr>
              <a:t>（</a:t>
            </a:r>
            <a:r>
              <a:rPr lang="en-US" altLang="zh-CN" sz="2000">
                <a:sym typeface="+mn-ea"/>
              </a:rPr>
              <a:t>4KiB</a:t>
            </a:r>
            <a:r>
              <a:rPr lang="zh-CN" altLang="en-US" sz="2000">
                <a:sym typeface="+mn-ea"/>
              </a:rPr>
              <a:t>），因此内部碎片可以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忽略不计</a:t>
            </a:r>
            <a:r>
              <a:rPr lang="zh-CN" altLang="en-US" sz="2000">
                <a:sym typeface="+mn-ea"/>
              </a:rPr>
              <a:t>。</a:t>
            </a:r>
            <a:r>
              <a:rPr lang="en-US" altLang="zh-CN" sz="2000">
                <a:sym typeface="+mn-ea"/>
              </a:rPr>
              <a:t>		</a:t>
            </a:r>
            <a:r>
              <a:rPr lang="en-US" altLang="zh-CN" sz="2000">
                <a:sym typeface="+mn-ea"/>
              </a:rPr>
              <a:t>x86</a:t>
            </a:r>
            <a:r>
              <a:rPr lang="zh-CN" altLang="en-US" sz="2000">
                <a:sym typeface="+mn-ea"/>
              </a:rPr>
              <a:t>（和其它架构上的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各种变形</a:t>
            </a:r>
            <a:r>
              <a:rPr lang="zh-CN" altLang="en-US" sz="2000">
                <a:sym typeface="+mn-ea"/>
              </a:rPr>
              <a:t>的）的段页式管理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纯粹是历史包袱，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没有任何实用价值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在现代操作系统上，针对</a:t>
            </a:r>
            <a:r>
              <a:rPr lang="en-US" altLang="zh-CN" sz="2000">
                <a:sym typeface="+mn-ea"/>
              </a:rPr>
              <a:t>x86</a:t>
            </a:r>
            <a:r>
              <a:rPr lang="zh-CN" altLang="en-US" sz="2000">
                <a:sym typeface="+mn-ea"/>
              </a:rPr>
              <a:t>的实现一般都将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段基址设置为0，段长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度设置为无限大</a:t>
            </a:r>
            <a:r>
              <a:rPr lang="zh-CN" altLang="en-US" sz="2000">
                <a:sym typeface="+mn-ea"/>
              </a:rPr>
              <a:t>，相当于绕开了段式内存管理</a:t>
            </a:r>
            <a:r>
              <a:rPr lang="zh-CN" altLang="en-US" sz="2000">
                <a:sym typeface="+mn-ea"/>
              </a:rPr>
              <a:t>机制。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在</a:t>
            </a:r>
            <a:r>
              <a:rPr lang="en-US" altLang="zh-CN" sz="2000">
                <a:sym typeface="+mn-ea"/>
              </a:rPr>
              <a:t>x86-64</a:t>
            </a:r>
            <a:r>
              <a:rPr lang="zh-CN" altLang="en-US" sz="2000">
                <a:sym typeface="+mn-ea"/>
              </a:rPr>
              <a:t>中，段机制被进一步弱化：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硬件固定段基址为0，段长度为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无限大，且软件不可修改</a:t>
            </a:r>
            <a:r>
              <a:rPr lang="zh-CN" altLang="en-US" sz="2000">
                <a:sym typeface="+mn-ea"/>
              </a:rPr>
              <a:t>，等同于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从架构上放弃了段式管理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</p:txBody>
      </p:sp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主存储器分配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一、进程的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系统进程总览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进程的实现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内存分配的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x86-64内存管理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 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DLM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进程内分配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Linux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进程间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分配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Linux页面替换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三、系统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.2 进程的基本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操作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3.3 进程接口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266950" y="180340"/>
            <a:ext cx="55295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段页式</a:t>
            </a:r>
            <a:r>
              <a:rPr lang="zh-CN" altLang="en-US" sz="2000" b="1">
                <a:solidFill>
                  <a:srgbClr val="9C0B15"/>
                </a:solidFill>
              </a:rPr>
              <a:t>管理</a:t>
            </a:r>
            <a:endParaRPr lang="zh-CN" altLang="en-US" sz="2000" b="1">
              <a:solidFill>
                <a:srgbClr val="9C0B15"/>
              </a:solidFill>
            </a:endParaRPr>
          </a:p>
        </p:txBody>
      </p:sp>
    </p:spTree>
    <p:custDataLst>
      <p:tags r:id="rId2"/>
    </p:custData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145415" y="609600"/>
            <a:ext cx="9523730" cy="59391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长模式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将</a:t>
            </a:r>
            <a:r>
              <a:rPr lang="en-US" altLang="zh-CN" sz="2000">
                <a:sym typeface="+mn-ea"/>
              </a:rPr>
              <a:t>CPU</a:t>
            </a:r>
            <a:r>
              <a:rPr lang="zh-CN" altLang="en-US" sz="2000">
                <a:sym typeface="+mn-ea"/>
              </a:rPr>
              <a:t>设置为</a:t>
            </a:r>
            <a:r>
              <a:rPr lang="en-US" altLang="zh-CN" sz="2000">
                <a:sym typeface="+mn-ea"/>
              </a:rPr>
              <a:t>64</a:t>
            </a:r>
            <a:r>
              <a:rPr lang="zh-CN" altLang="en-US" sz="2000">
                <a:sym typeface="+mn-ea"/>
              </a:rPr>
              <a:t>位工作模式。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必须先进入保护模式，然后再切换到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	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长模式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支持</a:t>
            </a:r>
            <a:r>
              <a:rPr lang="en-US" altLang="zh-CN" sz="2000">
                <a:sym typeface="+mn-ea"/>
              </a:rPr>
              <a:t>64</a:t>
            </a:r>
            <a:r>
              <a:rPr lang="zh-CN" altLang="en-US" sz="2000">
                <a:sym typeface="+mn-ea"/>
              </a:rPr>
              <a:t>位</a:t>
            </a:r>
            <a:r>
              <a:rPr lang="zh-CN" altLang="en-US" sz="2000">
                <a:sym typeface="+mn-ea"/>
              </a:rPr>
              <a:t>数据处理，增加通用寄存器</a:t>
            </a:r>
            <a:r>
              <a:rPr lang="zh-CN" altLang="en-US" sz="2000">
                <a:sym typeface="+mn-ea"/>
              </a:rPr>
              <a:t>数量，寻址更多内</a:t>
            </a:r>
            <a:r>
              <a:rPr lang="zh-CN" altLang="en-US" sz="2000">
                <a:sym typeface="+mn-ea"/>
              </a:rPr>
              <a:t>存。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长模式分页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>
                <a:sym typeface="+mn-ea"/>
              </a:rPr>
              <a:t>段式内存管理被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基本禁用</a:t>
            </a:r>
            <a:r>
              <a:rPr lang="zh-CN" altLang="en-US" sz="2000">
                <a:sym typeface="+mn-ea"/>
              </a:rPr>
              <a:t>（段基址</a:t>
            </a:r>
            <a:r>
              <a:rPr lang="en-US" altLang="zh-CN" sz="2000">
                <a:sym typeface="+mn-ea"/>
              </a:rPr>
              <a:t>=</a:t>
            </a:r>
            <a:r>
              <a:rPr lang="zh-CN" altLang="en-US" sz="2000">
                <a:sym typeface="+mn-ea"/>
              </a:rPr>
              <a:t>0，段长度</a:t>
            </a:r>
            <a:r>
              <a:rPr lang="en-US" altLang="zh-CN" sz="2000">
                <a:sym typeface="+mn-ea"/>
              </a:rPr>
              <a:t>=</a:t>
            </a:r>
            <a:r>
              <a:rPr lang="zh-CN" altLang="en-US" sz="2000">
                <a:sym typeface="+mn-ea"/>
              </a:rPr>
              <a:t>无限大）。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有效地址</a:t>
            </a:r>
            <a:r>
              <a:rPr lang="en-US" altLang="zh-CN" sz="2000">
                <a:sym typeface="+mn-ea"/>
              </a:rPr>
              <a:t>=</a:t>
            </a:r>
            <a:r>
              <a:rPr lang="zh-CN" altLang="en-US" sz="2000">
                <a:sym typeface="+mn-ea"/>
              </a:rPr>
              <a:t>线性地址，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页表被扩展为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64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位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寻址方法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endParaRPr lang="en-US" altLang="zh-CN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en-US" altLang="zh-CN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问题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ym typeface="+mn-ea"/>
              </a:rPr>
              <a:t>[63:57]怎么没翻译？为什么只翻译最后</a:t>
            </a:r>
            <a:r>
              <a:rPr lang="en-US" altLang="zh-CN" sz="2000">
                <a:sym typeface="+mn-ea"/>
              </a:rPr>
              <a:t>57</a:t>
            </a:r>
            <a:r>
              <a:rPr lang="zh-CN" altLang="en-US" sz="2000">
                <a:sym typeface="+mn-ea"/>
              </a:rPr>
              <a:t>位？</a:t>
            </a:r>
            <a:endParaRPr lang="zh-CN" altLang="en-US" sz="2000" b="1">
              <a:solidFill>
                <a:srgbClr val="9C0B15"/>
              </a:solidFill>
              <a:sym typeface="+mn-ea"/>
            </a:endParaRPr>
          </a:p>
        </p:txBody>
      </p:sp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主存储器分配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一、进程的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系统进程总览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进程的实现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内存分配的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x86-64内存管理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 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DLM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进程内分配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Linux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进程间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分配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Linux页面替换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三、系统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.2 进程的基本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操作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3.3 进程接口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266950" y="180340"/>
            <a:ext cx="55295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9C0B15"/>
                </a:solidFill>
              </a:rPr>
              <a:t>x86-64</a:t>
            </a:r>
            <a:r>
              <a:rPr lang="zh-CN" altLang="en-US" sz="2000" b="1">
                <a:solidFill>
                  <a:srgbClr val="9C0B15"/>
                </a:solidFill>
              </a:rPr>
              <a:t>（</a:t>
            </a:r>
            <a:r>
              <a:rPr lang="en-US" altLang="zh-CN" sz="2000" b="1">
                <a:solidFill>
                  <a:srgbClr val="9C0B15"/>
                </a:solidFill>
              </a:rPr>
              <a:t>AMD64</a:t>
            </a:r>
            <a:r>
              <a:rPr lang="zh-CN" altLang="en-US" sz="2000" b="1">
                <a:solidFill>
                  <a:srgbClr val="9C0B15"/>
                </a:solidFill>
              </a:rPr>
              <a:t>）长模式分页</a:t>
            </a:r>
            <a:endParaRPr lang="zh-CN" altLang="en-US" sz="2000" b="1">
              <a:solidFill>
                <a:srgbClr val="9C0B15"/>
              </a:solidFill>
            </a:endParaRPr>
          </a:p>
        </p:txBody>
      </p:sp>
      <p:grpSp>
        <p:nvGrpSpPr>
          <p:cNvPr id="112" name="组合 111"/>
          <p:cNvGrpSpPr/>
          <p:nvPr/>
        </p:nvGrpSpPr>
        <p:grpSpPr>
          <a:xfrm>
            <a:off x="224155" y="3310255"/>
            <a:ext cx="9366250" cy="1670685"/>
            <a:chOff x="396" y="4143"/>
            <a:chExt cx="14750" cy="2631"/>
          </a:xfrm>
        </p:grpSpPr>
        <p:sp>
          <p:nvSpPr>
            <p:cNvPr id="82" name="圆角矩形 81"/>
            <p:cNvSpPr/>
            <p:nvPr/>
          </p:nvSpPr>
          <p:spPr>
            <a:xfrm>
              <a:off x="1719" y="6375"/>
              <a:ext cx="1969" cy="396"/>
            </a:xfrm>
            <a:prstGeom prst="roundRect">
              <a:avLst/>
            </a:prstGeom>
            <a:solidFill>
              <a:srgbClr val="00B050">
                <a:alpha val="7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[56:48]</a:t>
              </a:r>
              <a:endParaRPr lang="en-US" altLang="zh-CN"/>
            </a:p>
          </p:txBody>
        </p:sp>
        <p:sp>
          <p:nvSpPr>
            <p:cNvPr id="120" name="圆角矩形 119"/>
            <p:cNvSpPr/>
            <p:nvPr/>
          </p:nvSpPr>
          <p:spPr>
            <a:xfrm>
              <a:off x="396" y="4143"/>
              <a:ext cx="1154" cy="396"/>
            </a:xfrm>
            <a:prstGeom prst="round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CR3</a:t>
              </a:r>
              <a:endParaRPr lang="en-US" altLang="zh-CN"/>
            </a:p>
          </p:txBody>
        </p:sp>
        <p:cxnSp>
          <p:nvCxnSpPr>
            <p:cNvPr id="63" name="直接箭头连接符 62"/>
            <p:cNvCxnSpPr>
              <a:stCxn id="120" idx="3"/>
            </p:cNvCxnSpPr>
            <p:nvPr/>
          </p:nvCxnSpPr>
          <p:spPr>
            <a:xfrm>
              <a:off x="1550" y="4341"/>
              <a:ext cx="1065" cy="7"/>
            </a:xfrm>
            <a:prstGeom prst="straightConnector1">
              <a:avLst/>
            </a:prstGeom>
            <a:ln w="6350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圆角矩形 63"/>
            <p:cNvSpPr/>
            <p:nvPr/>
          </p:nvSpPr>
          <p:spPr>
            <a:xfrm>
              <a:off x="2534" y="4338"/>
              <a:ext cx="1154" cy="1734"/>
            </a:xfrm>
            <a:prstGeom prst="round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/>
                <a:t>目录</a:t>
              </a:r>
              <a:endParaRPr lang="en-US" altLang="zh-CN"/>
            </a:p>
            <a:p>
              <a:pPr algn="ctr"/>
              <a:endParaRPr lang="en-US" altLang="zh-CN"/>
            </a:p>
            <a:p>
              <a:pPr algn="ctr"/>
              <a:endParaRPr lang="en-US" altLang="zh-CN"/>
            </a:p>
            <a:p>
              <a:pPr algn="ctr"/>
              <a:endParaRPr lang="en-US" altLang="zh-CN"/>
            </a:p>
          </p:txBody>
        </p:sp>
        <p:sp>
          <p:nvSpPr>
            <p:cNvPr id="65" name="圆角矩形 64"/>
            <p:cNvSpPr/>
            <p:nvPr/>
          </p:nvSpPr>
          <p:spPr>
            <a:xfrm>
              <a:off x="4711" y="4348"/>
              <a:ext cx="1154" cy="1734"/>
            </a:xfrm>
            <a:prstGeom prst="roundRect">
              <a:avLst/>
            </a:prstGeom>
            <a:solidFill>
              <a:srgbClr val="00B05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/>
                <a:t>目录</a:t>
              </a:r>
              <a:endParaRPr lang="en-US" altLang="zh-CN"/>
            </a:p>
            <a:p>
              <a:pPr algn="ctr"/>
              <a:endParaRPr lang="en-US" altLang="zh-CN"/>
            </a:p>
            <a:p>
              <a:pPr algn="ctr"/>
              <a:endParaRPr lang="en-US" altLang="zh-CN"/>
            </a:p>
            <a:p>
              <a:pPr algn="ctr"/>
              <a:endParaRPr lang="en-US" altLang="zh-CN"/>
            </a:p>
          </p:txBody>
        </p:sp>
        <p:sp>
          <p:nvSpPr>
            <p:cNvPr id="68" name="圆角矩形 67"/>
            <p:cNvSpPr/>
            <p:nvPr/>
          </p:nvSpPr>
          <p:spPr>
            <a:xfrm>
              <a:off x="3687" y="6378"/>
              <a:ext cx="2178" cy="396"/>
            </a:xfrm>
            <a:prstGeom prst="roundRect">
              <a:avLst/>
            </a:prstGeom>
            <a:solidFill>
              <a:srgbClr val="00B0F0">
                <a:alpha val="7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[47:39]</a:t>
              </a:r>
              <a:endParaRPr lang="en-US" altLang="zh-CN"/>
            </a:p>
          </p:txBody>
        </p:sp>
        <p:sp>
          <p:nvSpPr>
            <p:cNvPr id="69" name="圆角矩形 68"/>
            <p:cNvSpPr/>
            <p:nvPr/>
          </p:nvSpPr>
          <p:spPr>
            <a:xfrm>
              <a:off x="12398" y="6375"/>
              <a:ext cx="1435" cy="396"/>
            </a:xfrm>
            <a:prstGeom prst="roundRect">
              <a:avLst/>
            </a:prstGeom>
            <a:solidFill>
              <a:srgbClr val="C000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[11:0]</a:t>
              </a:r>
              <a:endParaRPr lang="en-US" altLang="zh-CN"/>
            </a:p>
          </p:txBody>
        </p:sp>
        <p:cxnSp>
          <p:nvCxnSpPr>
            <p:cNvPr id="70" name="肘形连接符 69"/>
            <p:cNvCxnSpPr>
              <a:endCxn id="71" idx="1"/>
            </p:cNvCxnSpPr>
            <p:nvPr/>
          </p:nvCxnSpPr>
          <p:spPr>
            <a:xfrm rot="16200000">
              <a:off x="1835" y="5669"/>
              <a:ext cx="1021" cy="376"/>
            </a:xfrm>
            <a:prstGeom prst="bentConnector2">
              <a:avLst/>
            </a:prstGeom>
            <a:ln w="63500">
              <a:solidFill>
                <a:srgbClr val="00B050">
                  <a:alpha val="75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圆角矩形 70"/>
            <p:cNvSpPr/>
            <p:nvPr/>
          </p:nvSpPr>
          <p:spPr>
            <a:xfrm>
              <a:off x="2534" y="5149"/>
              <a:ext cx="1153" cy="396"/>
            </a:xfrm>
            <a:prstGeom prst="roundRect">
              <a:avLst/>
            </a:prstGeom>
            <a:solidFill>
              <a:srgbClr val="00B050">
                <a:alpha val="7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/>
            </a:p>
          </p:txBody>
        </p:sp>
        <p:cxnSp>
          <p:nvCxnSpPr>
            <p:cNvPr id="72" name="肘形连接符 71"/>
            <p:cNvCxnSpPr>
              <a:stCxn id="71" idx="3"/>
            </p:cNvCxnSpPr>
            <p:nvPr/>
          </p:nvCxnSpPr>
          <p:spPr>
            <a:xfrm flipV="1">
              <a:off x="3687" y="4358"/>
              <a:ext cx="1167" cy="989"/>
            </a:xfrm>
            <a:prstGeom prst="bentConnector3">
              <a:avLst>
                <a:gd name="adj1" fmla="val 23479"/>
              </a:avLst>
            </a:prstGeom>
            <a:ln w="63500">
              <a:solidFill>
                <a:srgbClr val="00B050">
                  <a:alpha val="75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肘形连接符 72"/>
            <p:cNvCxnSpPr/>
            <p:nvPr/>
          </p:nvCxnSpPr>
          <p:spPr>
            <a:xfrm rot="16200000">
              <a:off x="3828" y="5495"/>
              <a:ext cx="1328" cy="438"/>
            </a:xfrm>
            <a:prstGeom prst="bentConnector2">
              <a:avLst/>
            </a:prstGeom>
            <a:ln w="63500">
              <a:solidFill>
                <a:srgbClr val="00B0F0">
                  <a:alpha val="75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圆角矩形 73"/>
            <p:cNvSpPr/>
            <p:nvPr/>
          </p:nvSpPr>
          <p:spPr>
            <a:xfrm>
              <a:off x="4711" y="4849"/>
              <a:ext cx="1153" cy="396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/>
            </a:p>
          </p:txBody>
        </p:sp>
        <p:sp>
          <p:nvSpPr>
            <p:cNvPr id="75" name="加号 74"/>
            <p:cNvSpPr/>
            <p:nvPr/>
          </p:nvSpPr>
          <p:spPr>
            <a:xfrm>
              <a:off x="12756" y="4707"/>
              <a:ext cx="720" cy="720"/>
            </a:xfrm>
            <a:prstGeom prst="mathPlus">
              <a:avLst/>
            </a:prstGeom>
            <a:solidFill>
              <a:srgbClr val="D02F35">
                <a:alpha val="7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6" name="圆角矩形 75"/>
            <p:cNvSpPr/>
            <p:nvPr/>
          </p:nvSpPr>
          <p:spPr>
            <a:xfrm>
              <a:off x="13992" y="4582"/>
              <a:ext cx="1155" cy="930"/>
            </a:xfrm>
            <a:prstGeom prst="roundRect">
              <a:avLst/>
            </a:prstGeom>
            <a:solidFill>
              <a:srgbClr val="D02F3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/>
                <a:t>物理地址</a:t>
              </a:r>
              <a:endParaRPr lang="zh-CN" altLang="en-US"/>
            </a:p>
          </p:txBody>
        </p:sp>
        <p:cxnSp>
          <p:nvCxnSpPr>
            <p:cNvPr id="78" name="直接箭头连接符 77"/>
            <p:cNvCxnSpPr/>
            <p:nvPr/>
          </p:nvCxnSpPr>
          <p:spPr>
            <a:xfrm>
              <a:off x="13476" y="5048"/>
              <a:ext cx="501" cy="1"/>
            </a:xfrm>
            <a:prstGeom prst="straightConnector1">
              <a:avLst/>
            </a:prstGeom>
            <a:ln w="63500">
              <a:solidFill>
                <a:srgbClr val="9C0B15">
                  <a:alpha val="50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箭头连接符 78"/>
            <p:cNvCxnSpPr/>
            <p:nvPr/>
          </p:nvCxnSpPr>
          <p:spPr>
            <a:xfrm flipV="1">
              <a:off x="13112" y="5427"/>
              <a:ext cx="8" cy="948"/>
            </a:xfrm>
            <a:prstGeom prst="straightConnector1">
              <a:avLst/>
            </a:prstGeom>
            <a:ln w="63500">
              <a:solidFill>
                <a:srgbClr val="9C0B15">
                  <a:alpha val="50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箭头连接符 79"/>
            <p:cNvCxnSpPr/>
            <p:nvPr/>
          </p:nvCxnSpPr>
          <p:spPr>
            <a:xfrm>
              <a:off x="12398" y="5044"/>
              <a:ext cx="474" cy="5"/>
            </a:xfrm>
            <a:prstGeom prst="straightConnector1">
              <a:avLst/>
            </a:prstGeom>
            <a:ln w="63500">
              <a:solidFill>
                <a:srgbClr val="002060">
                  <a:alpha val="50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圆角矩形 14"/>
            <p:cNvSpPr/>
            <p:nvPr/>
          </p:nvSpPr>
          <p:spPr>
            <a:xfrm>
              <a:off x="396" y="6368"/>
              <a:ext cx="1323" cy="396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[63:57]</a:t>
              </a:r>
              <a:endParaRPr lang="en-US" altLang="zh-CN"/>
            </a:p>
          </p:txBody>
        </p:sp>
        <p:sp>
          <p:nvSpPr>
            <p:cNvPr id="66" name="圆角矩形 65"/>
            <p:cNvSpPr/>
            <p:nvPr/>
          </p:nvSpPr>
          <p:spPr>
            <a:xfrm>
              <a:off x="6888" y="4345"/>
              <a:ext cx="1154" cy="1734"/>
            </a:xfrm>
            <a:prstGeom prst="roundRect">
              <a:avLst/>
            </a:prstGeom>
            <a:solidFill>
              <a:srgbClr val="00B0F0">
                <a:alpha val="67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/>
                <a:t>目录</a:t>
              </a:r>
              <a:endParaRPr lang="en-US" altLang="zh-CN"/>
            </a:p>
            <a:p>
              <a:pPr algn="ctr"/>
              <a:endParaRPr lang="en-US" altLang="zh-CN"/>
            </a:p>
            <a:p>
              <a:pPr algn="ctr"/>
              <a:endParaRPr lang="en-US" altLang="zh-CN"/>
            </a:p>
            <a:p>
              <a:pPr algn="ctr"/>
              <a:endParaRPr lang="en-US" altLang="zh-CN"/>
            </a:p>
          </p:txBody>
        </p:sp>
        <p:sp>
          <p:nvSpPr>
            <p:cNvPr id="67" name="圆角矩形 66"/>
            <p:cNvSpPr/>
            <p:nvPr/>
          </p:nvSpPr>
          <p:spPr>
            <a:xfrm>
              <a:off x="5864" y="6375"/>
              <a:ext cx="2178" cy="396"/>
            </a:xfrm>
            <a:prstGeom prst="roundRect">
              <a:avLst/>
            </a:prstGeom>
            <a:solidFill>
              <a:srgbClr val="7030A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[38:30]</a:t>
              </a:r>
              <a:endParaRPr lang="en-US" altLang="zh-CN"/>
            </a:p>
          </p:txBody>
        </p:sp>
        <p:cxnSp>
          <p:nvCxnSpPr>
            <p:cNvPr id="84" name="肘形连接符 83"/>
            <p:cNvCxnSpPr>
              <a:stCxn id="74" idx="3"/>
            </p:cNvCxnSpPr>
            <p:nvPr/>
          </p:nvCxnSpPr>
          <p:spPr>
            <a:xfrm flipV="1">
              <a:off x="5864" y="4355"/>
              <a:ext cx="1167" cy="692"/>
            </a:xfrm>
            <a:prstGeom prst="bentConnector3">
              <a:avLst>
                <a:gd name="adj1" fmla="val 25192"/>
              </a:avLst>
            </a:prstGeom>
            <a:ln w="63500">
              <a:solidFill>
                <a:srgbClr val="00B0F0">
                  <a:alpha val="75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肘形连接符 84"/>
            <p:cNvCxnSpPr>
              <a:endCxn id="86" idx="1"/>
            </p:cNvCxnSpPr>
            <p:nvPr/>
          </p:nvCxnSpPr>
          <p:spPr>
            <a:xfrm rot="16200000">
              <a:off x="6075" y="5564"/>
              <a:ext cx="1173" cy="454"/>
            </a:xfrm>
            <a:prstGeom prst="bentConnector2">
              <a:avLst/>
            </a:prstGeom>
            <a:ln w="63500">
              <a:solidFill>
                <a:srgbClr val="7030A0">
                  <a:alpha val="50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圆角矩形 85"/>
            <p:cNvSpPr/>
            <p:nvPr/>
          </p:nvSpPr>
          <p:spPr>
            <a:xfrm>
              <a:off x="6889" y="5007"/>
              <a:ext cx="1153" cy="396"/>
            </a:xfrm>
            <a:prstGeom prst="roundRect">
              <a:avLst/>
            </a:prstGeom>
            <a:solidFill>
              <a:srgbClr val="7030A0">
                <a:alpha val="7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/>
            </a:p>
          </p:txBody>
        </p:sp>
        <p:sp>
          <p:nvSpPr>
            <p:cNvPr id="87" name="圆角矩形 86"/>
            <p:cNvSpPr/>
            <p:nvPr/>
          </p:nvSpPr>
          <p:spPr>
            <a:xfrm>
              <a:off x="9066" y="4345"/>
              <a:ext cx="1154" cy="1734"/>
            </a:xfrm>
            <a:prstGeom prst="roundRect">
              <a:avLst/>
            </a:prstGeom>
            <a:solidFill>
              <a:srgbClr val="7030A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/>
                <a:t>目录</a:t>
              </a:r>
              <a:endParaRPr lang="en-US" altLang="zh-CN"/>
            </a:p>
            <a:p>
              <a:pPr algn="ctr"/>
              <a:endParaRPr lang="en-US" altLang="zh-CN"/>
            </a:p>
            <a:p>
              <a:pPr algn="ctr"/>
              <a:endParaRPr lang="en-US" altLang="zh-CN"/>
            </a:p>
            <a:p>
              <a:pPr algn="ctr"/>
              <a:endParaRPr lang="en-US" altLang="zh-CN"/>
            </a:p>
          </p:txBody>
        </p:sp>
        <p:sp>
          <p:nvSpPr>
            <p:cNvPr id="88" name="圆角矩形 87"/>
            <p:cNvSpPr/>
            <p:nvPr/>
          </p:nvSpPr>
          <p:spPr>
            <a:xfrm>
              <a:off x="8042" y="6375"/>
              <a:ext cx="2178" cy="396"/>
            </a:xfrm>
            <a:prstGeom prst="roundRect">
              <a:avLst/>
            </a:prstGeom>
            <a:solidFill>
              <a:schemeClr val="accent2">
                <a:lumMod val="75000"/>
                <a:alpha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[29:21]</a:t>
              </a:r>
              <a:endParaRPr lang="en-US" altLang="zh-CN"/>
            </a:p>
          </p:txBody>
        </p:sp>
        <p:cxnSp>
          <p:nvCxnSpPr>
            <p:cNvPr id="89" name="肘形连接符 88"/>
            <p:cNvCxnSpPr>
              <a:stCxn id="66" idx="3"/>
            </p:cNvCxnSpPr>
            <p:nvPr/>
          </p:nvCxnSpPr>
          <p:spPr>
            <a:xfrm flipV="1">
              <a:off x="8042" y="4358"/>
              <a:ext cx="1143" cy="854"/>
            </a:xfrm>
            <a:prstGeom prst="bentConnector3">
              <a:avLst>
                <a:gd name="adj1" fmla="val 28171"/>
              </a:avLst>
            </a:prstGeom>
            <a:ln w="63500">
              <a:solidFill>
                <a:srgbClr val="7030A0">
                  <a:alpha val="50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肘形连接符 89"/>
            <p:cNvCxnSpPr>
              <a:endCxn id="91" idx="1"/>
            </p:cNvCxnSpPr>
            <p:nvPr/>
          </p:nvCxnSpPr>
          <p:spPr>
            <a:xfrm rot="16200000">
              <a:off x="8333" y="5642"/>
              <a:ext cx="1028" cy="438"/>
            </a:xfrm>
            <a:prstGeom prst="bentConnector2">
              <a:avLst/>
            </a:prstGeom>
            <a:ln w="63500">
              <a:solidFill>
                <a:schemeClr val="accent2">
                  <a:lumMod val="75000"/>
                  <a:alpha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圆角矩形 90"/>
            <p:cNvSpPr/>
            <p:nvPr/>
          </p:nvSpPr>
          <p:spPr>
            <a:xfrm>
              <a:off x="9066" y="5149"/>
              <a:ext cx="1153" cy="396"/>
            </a:xfrm>
            <a:prstGeom prst="roundRect">
              <a:avLst/>
            </a:prstGeom>
            <a:solidFill>
              <a:schemeClr val="accent2">
                <a:lumMod val="75000"/>
                <a:alpha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/>
            </a:p>
          </p:txBody>
        </p:sp>
        <p:sp>
          <p:nvSpPr>
            <p:cNvPr id="92" name="圆角矩形 91"/>
            <p:cNvSpPr/>
            <p:nvPr/>
          </p:nvSpPr>
          <p:spPr>
            <a:xfrm>
              <a:off x="11244" y="4348"/>
              <a:ext cx="1154" cy="1734"/>
            </a:xfrm>
            <a:prstGeom prst="roundRect">
              <a:avLst/>
            </a:prstGeom>
            <a:solidFill>
              <a:schemeClr val="accent2">
                <a:lumMod val="7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/>
                <a:t>表项</a:t>
              </a:r>
              <a:endParaRPr lang="en-US" altLang="zh-CN"/>
            </a:p>
            <a:p>
              <a:pPr algn="ctr"/>
              <a:endParaRPr lang="en-US" altLang="zh-CN"/>
            </a:p>
            <a:p>
              <a:pPr algn="ctr"/>
              <a:endParaRPr lang="en-US" altLang="zh-CN"/>
            </a:p>
            <a:p>
              <a:pPr algn="ctr"/>
              <a:endParaRPr lang="en-US" altLang="zh-CN"/>
            </a:p>
          </p:txBody>
        </p:sp>
        <p:sp>
          <p:nvSpPr>
            <p:cNvPr id="93" name="圆角矩形 92"/>
            <p:cNvSpPr/>
            <p:nvPr/>
          </p:nvSpPr>
          <p:spPr>
            <a:xfrm>
              <a:off x="10220" y="6378"/>
              <a:ext cx="2178" cy="396"/>
            </a:xfrm>
            <a:prstGeom prst="roundRect">
              <a:avLst/>
            </a:prstGeom>
            <a:solidFill>
              <a:srgbClr val="002060">
                <a:alpha val="67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[20:12]</a:t>
              </a:r>
              <a:endParaRPr lang="en-US" altLang="zh-CN"/>
            </a:p>
          </p:txBody>
        </p:sp>
        <p:cxnSp>
          <p:nvCxnSpPr>
            <p:cNvPr id="94" name="肘形连接符 93"/>
            <p:cNvCxnSpPr>
              <a:stCxn id="91" idx="3"/>
            </p:cNvCxnSpPr>
            <p:nvPr/>
          </p:nvCxnSpPr>
          <p:spPr>
            <a:xfrm flipV="1">
              <a:off x="10219" y="4358"/>
              <a:ext cx="1126" cy="989"/>
            </a:xfrm>
            <a:prstGeom prst="bentConnector3">
              <a:avLst>
                <a:gd name="adj1" fmla="val 25133"/>
              </a:avLst>
            </a:prstGeom>
            <a:ln w="63500">
              <a:solidFill>
                <a:schemeClr val="accent2">
                  <a:lumMod val="75000"/>
                  <a:alpha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肘形连接符 94"/>
            <p:cNvCxnSpPr/>
            <p:nvPr/>
          </p:nvCxnSpPr>
          <p:spPr>
            <a:xfrm rot="16200000">
              <a:off x="10361" y="5495"/>
              <a:ext cx="1328" cy="438"/>
            </a:xfrm>
            <a:prstGeom prst="bentConnector2">
              <a:avLst/>
            </a:prstGeom>
            <a:ln w="63500">
              <a:solidFill>
                <a:srgbClr val="002060">
                  <a:alpha val="50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圆角矩形 95"/>
            <p:cNvSpPr/>
            <p:nvPr/>
          </p:nvSpPr>
          <p:spPr>
            <a:xfrm>
              <a:off x="11244" y="4849"/>
              <a:ext cx="1153" cy="396"/>
            </a:xfrm>
            <a:prstGeom prst="roundRect">
              <a:avLst/>
            </a:prstGeom>
            <a:solidFill>
              <a:srgbClr val="002060">
                <a:alpha val="7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/>
            </a:p>
          </p:txBody>
        </p:sp>
      </p:grpSp>
      <p:grpSp>
        <p:nvGrpSpPr>
          <p:cNvPr id="98" name="组合 97"/>
          <p:cNvGrpSpPr/>
          <p:nvPr/>
        </p:nvGrpSpPr>
        <p:grpSpPr>
          <a:xfrm>
            <a:off x="2694940" y="5445125"/>
            <a:ext cx="5095240" cy="487680"/>
            <a:chOff x="5434" y="8364"/>
            <a:chExt cx="8024" cy="768"/>
          </a:xfrm>
        </p:grpSpPr>
        <p:sp>
          <p:nvSpPr>
            <p:cNvPr id="103" name="圆角矩形 102"/>
            <p:cNvSpPr/>
            <p:nvPr/>
          </p:nvSpPr>
          <p:spPr>
            <a:xfrm>
              <a:off x="8384" y="8364"/>
              <a:ext cx="2142" cy="768"/>
            </a:xfrm>
            <a:prstGeom prst="roundRect">
              <a:avLst/>
            </a:prstGeom>
            <a:solidFill>
              <a:srgbClr val="D02F3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ym typeface="+mn-ea"/>
                </a:rPr>
                <a:t>页表</a:t>
              </a:r>
              <a:endParaRPr lang="zh-CN" altLang="en-US"/>
            </a:p>
          </p:txBody>
        </p:sp>
        <p:sp>
          <p:nvSpPr>
            <p:cNvPr id="104" name="圆角矩形 103"/>
            <p:cNvSpPr/>
            <p:nvPr/>
          </p:nvSpPr>
          <p:spPr>
            <a:xfrm>
              <a:off x="11316" y="8364"/>
              <a:ext cx="2142" cy="768"/>
            </a:xfrm>
            <a:prstGeom prst="roundRect">
              <a:avLst/>
            </a:prstGeom>
            <a:solidFill>
              <a:srgbClr val="D02F3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ym typeface="+mn-ea"/>
                </a:rPr>
                <a:t>物理地址</a:t>
              </a:r>
              <a:endParaRPr lang="zh-CN" altLang="en-US"/>
            </a:p>
          </p:txBody>
        </p:sp>
        <p:sp>
          <p:nvSpPr>
            <p:cNvPr id="105" name="圆角矩形 104"/>
            <p:cNvSpPr/>
            <p:nvPr/>
          </p:nvSpPr>
          <p:spPr>
            <a:xfrm>
              <a:off x="5434" y="8364"/>
              <a:ext cx="2142" cy="768"/>
            </a:xfrm>
            <a:prstGeom prst="roundRect">
              <a:avLst/>
            </a:prstGeom>
            <a:solidFill>
              <a:srgbClr val="D02F3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ym typeface="+mn-ea"/>
                </a:rPr>
                <a:t>线性</a:t>
              </a:r>
              <a:r>
                <a:rPr lang="zh-CN" altLang="en-US"/>
                <a:t>地址</a:t>
              </a:r>
              <a:endParaRPr lang="zh-CN" altLang="en-US"/>
            </a:p>
          </p:txBody>
        </p:sp>
        <p:cxnSp>
          <p:nvCxnSpPr>
            <p:cNvPr id="109" name="直接箭头连接符 108"/>
            <p:cNvCxnSpPr>
              <a:stCxn id="102" idx="3"/>
              <a:endCxn id="103" idx="1"/>
            </p:cNvCxnSpPr>
            <p:nvPr/>
          </p:nvCxnSpPr>
          <p:spPr>
            <a:xfrm>
              <a:off x="7576" y="8748"/>
              <a:ext cx="808" cy="0"/>
            </a:xfrm>
            <a:prstGeom prst="straightConnector1">
              <a:avLst/>
            </a:prstGeom>
            <a:ln w="63500">
              <a:solidFill>
                <a:srgbClr val="9C0B1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箭头连接符 110"/>
            <p:cNvCxnSpPr>
              <a:stCxn id="103" idx="3"/>
              <a:endCxn id="104" idx="1"/>
            </p:cNvCxnSpPr>
            <p:nvPr/>
          </p:nvCxnSpPr>
          <p:spPr>
            <a:xfrm>
              <a:off x="10526" y="8748"/>
              <a:ext cx="790" cy="0"/>
            </a:xfrm>
            <a:prstGeom prst="straightConnector1">
              <a:avLst/>
            </a:prstGeom>
            <a:ln w="63500">
              <a:solidFill>
                <a:srgbClr val="9C0B1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2"/>
    </p:custData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145415" y="609600"/>
            <a:ext cx="9523730" cy="31692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规范地址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en-US" altLang="zh-CN" sz="2000">
                <a:sym typeface="+mn-ea"/>
              </a:rPr>
              <a:t>x86-64规定，虚拟地址空间是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不连续的</a:t>
            </a:r>
            <a:r>
              <a:rPr lang="en-US" altLang="zh-CN" sz="2000">
                <a:sym typeface="+mn-ea"/>
              </a:rPr>
              <a:t>，而是分成高低两个部分。</a:t>
            </a:r>
            <a:r>
              <a:rPr lang="en-US" altLang="zh-CN" sz="2000">
                <a:sym typeface="+mn-ea"/>
              </a:rPr>
              <a:t>			</a:t>
            </a:r>
            <a:r>
              <a:rPr lang="en-US" altLang="zh-CN" sz="2000">
                <a:sym typeface="+mn-ea"/>
              </a:rPr>
              <a:t>其高部分是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0xFF00_0000_0000_0000到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0xFFFF_FFFF_FFFF_FFFF</a:t>
            </a:r>
            <a:r>
              <a:rPr lang="en-US" altLang="zh-CN" sz="2000">
                <a:sym typeface="+mn-ea"/>
              </a:rPr>
              <a:t>，其低		部分则是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0x0000_0000_0000_0000到0x00FF_FFFF_FFFF_FFFF</a:t>
            </a:r>
            <a:r>
              <a:rPr lang="zh-CN" altLang="en-US" sz="2000">
                <a:sym typeface="+mn-ea"/>
              </a:rPr>
              <a:t>。虚拟地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址在翻译时掐掉</a:t>
            </a:r>
            <a:r>
              <a:rPr lang="en-US" sz="2000">
                <a:sym typeface="+mn-ea"/>
              </a:rPr>
              <a:t>[63:57]</a:t>
            </a:r>
            <a:r>
              <a:rPr lang="zh-CN" altLang="en-US" sz="2000">
                <a:sym typeface="+mn-ea"/>
              </a:rPr>
              <a:t>位，然后只翻译后面的</a:t>
            </a:r>
            <a:r>
              <a:rPr lang="en-US" altLang="zh-CN" sz="2000">
                <a:sym typeface="+mn-ea"/>
              </a:rPr>
              <a:t>[56:0]</a:t>
            </a:r>
            <a:r>
              <a:rPr lang="zh-CN" altLang="en-US" sz="2000">
                <a:sym typeface="+mn-ea"/>
              </a:rPr>
              <a:t>位，而且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[63:57]		位必须和[56]位一样</a:t>
            </a:r>
            <a:r>
              <a:rPr lang="zh-CN" altLang="en-US" sz="2000">
                <a:sym typeface="+mn-ea"/>
              </a:rPr>
              <a:t>。例如，如果虚拟地址第</a:t>
            </a:r>
            <a:r>
              <a:rPr lang="en-US" altLang="zh-CN" sz="2000">
                <a:sym typeface="+mn-ea"/>
              </a:rPr>
              <a:t>[56]</a:t>
            </a:r>
            <a:r>
              <a:rPr lang="zh-CN" altLang="en-US" sz="2000">
                <a:sym typeface="+mn-ea"/>
              </a:rPr>
              <a:t>位是</a:t>
            </a:r>
            <a:r>
              <a:rPr lang="en-US" altLang="zh-CN" sz="2000">
                <a:sym typeface="+mn-ea"/>
              </a:rPr>
              <a:t>0</a:t>
            </a:r>
            <a:r>
              <a:rPr lang="zh-CN" altLang="en-US" sz="2000">
                <a:sym typeface="+mn-ea"/>
              </a:rPr>
              <a:t>，</a:t>
            </a:r>
            <a:r>
              <a:rPr lang="en-US" sz="2000">
                <a:sym typeface="+mn-ea"/>
              </a:rPr>
              <a:t>[63:57]</a:t>
            </a:r>
            <a:r>
              <a:rPr lang="zh-CN" altLang="en-US" sz="2000">
                <a:sym typeface="+mn-ea"/>
              </a:rPr>
              <a:t>位</a:t>
            </a:r>
            <a:r>
              <a:rPr lang="en-US" altLang="zh-CN" sz="2000">
                <a:sym typeface="+mn-ea"/>
              </a:rPr>
              <a:t>			</a:t>
            </a:r>
            <a:r>
              <a:rPr lang="zh-CN" altLang="en-US" sz="2000">
                <a:sym typeface="+mn-ea"/>
              </a:rPr>
              <a:t>也必须都是</a:t>
            </a:r>
            <a:r>
              <a:rPr lang="en-US" altLang="zh-CN" sz="2000">
                <a:sym typeface="+mn-ea"/>
              </a:rPr>
              <a:t>0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不落在这两个范围内的地址都是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不规范的非法地址</a:t>
            </a:r>
            <a:r>
              <a:rPr lang="zh-CN" altLang="en-US" sz="2000">
                <a:sym typeface="+mn-ea"/>
              </a:rPr>
              <a:t>，不查询页表，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直接按错误处理。实践中，我们一般让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内核使用高地址，用户程序		使用低地址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</p:txBody>
      </p:sp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主存储器分配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一、进程的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系统进程总览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进程的实现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内存分配的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x86-64内存管理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 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DLM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进程内分配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Linux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进程间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分配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Linux页面替换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三、系统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.2 进程的基本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操作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3.3 进程接口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266950" y="180340"/>
            <a:ext cx="55295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9C0B15"/>
                </a:solidFill>
              </a:rPr>
              <a:t>x86-64</a:t>
            </a:r>
            <a:r>
              <a:rPr lang="zh-CN" altLang="en-US" sz="2000" b="1">
                <a:solidFill>
                  <a:srgbClr val="9C0B15"/>
                </a:solidFill>
              </a:rPr>
              <a:t>（</a:t>
            </a:r>
            <a:r>
              <a:rPr lang="en-US" altLang="zh-CN" sz="2000" b="1">
                <a:solidFill>
                  <a:srgbClr val="9C0B15"/>
                </a:solidFill>
              </a:rPr>
              <a:t>AMD64</a:t>
            </a:r>
            <a:r>
              <a:rPr lang="zh-CN" altLang="en-US" sz="2000" b="1">
                <a:solidFill>
                  <a:srgbClr val="9C0B15"/>
                </a:solidFill>
              </a:rPr>
              <a:t>）</a:t>
            </a:r>
            <a:r>
              <a:rPr lang="zh-CN" altLang="en-US" sz="2000" b="1">
                <a:solidFill>
                  <a:srgbClr val="9C0B15"/>
                </a:solidFill>
              </a:rPr>
              <a:t>规范地址</a:t>
            </a:r>
            <a:endParaRPr lang="zh-CN" altLang="en-US" sz="2000" b="1">
              <a:solidFill>
                <a:srgbClr val="9C0B15"/>
              </a:solidFill>
            </a:endParaRPr>
          </a:p>
        </p:txBody>
      </p:sp>
      <p:sp>
        <p:nvSpPr>
          <p:cNvPr id="2" name="矩形 1"/>
          <p:cNvSpPr/>
          <p:nvPr>
            <p:custDataLst>
              <p:tags r:id="rId2"/>
            </p:custDataLst>
          </p:nvPr>
        </p:nvSpPr>
        <p:spPr>
          <a:xfrm>
            <a:off x="3861435" y="3849370"/>
            <a:ext cx="3004820" cy="1049020"/>
          </a:xfrm>
          <a:prstGeom prst="rect">
            <a:avLst/>
          </a:prstGeom>
          <a:solidFill>
            <a:srgbClr val="7030A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bg1"/>
                </a:solidFill>
                <a:sym typeface="+mn-ea"/>
              </a:rPr>
              <a:t>0xFFFF_FFFF_FFFF_FFFF</a:t>
            </a:r>
            <a:endParaRPr lang="zh-CN" altLang="en-US">
              <a:solidFill>
                <a:schemeClr val="bg1"/>
              </a:solidFill>
              <a:sym typeface="+mn-ea"/>
            </a:endParaRPr>
          </a:p>
          <a:p>
            <a:pPr algn="ctr"/>
            <a:endParaRPr lang="en-US" altLang="zh-CN">
              <a:solidFill>
                <a:schemeClr val="bg1"/>
              </a:solidFill>
            </a:endParaRPr>
          </a:p>
          <a:p>
            <a:pPr algn="ctr"/>
            <a:r>
              <a:rPr lang="zh-CN" altLang="en-US">
                <a:solidFill>
                  <a:schemeClr val="bg1"/>
                </a:solidFill>
                <a:sym typeface="+mn-ea"/>
              </a:rPr>
              <a:t>0xFF00_0000_0000_0000</a:t>
            </a: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5" name="矩形 4"/>
          <p:cNvSpPr/>
          <p:nvPr>
            <p:custDataLst>
              <p:tags r:id="rId3"/>
            </p:custDataLst>
          </p:nvPr>
        </p:nvSpPr>
        <p:spPr>
          <a:xfrm>
            <a:off x="3861435" y="5543550"/>
            <a:ext cx="3004820" cy="1049020"/>
          </a:xfrm>
          <a:prstGeom prst="rect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bg1"/>
                </a:solidFill>
                <a:sym typeface="+mn-ea"/>
              </a:rPr>
              <a:t>0x00FF_FFFF_FFFF_FFFF</a:t>
            </a:r>
            <a:endParaRPr lang="zh-CN" altLang="en-US">
              <a:solidFill>
                <a:schemeClr val="bg1"/>
              </a:solidFill>
              <a:sym typeface="+mn-ea"/>
            </a:endParaRPr>
          </a:p>
          <a:p>
            <a:pPr algn="ctr"/>
            <a:endParaRPr lang="en-US" altLang="zh-CN">
              <a:solidFill>
                <a:schemeClr val="bg1"/>
              </a:solidFill>
            </a:endParaRPr>
          </a:p>
          <a:p>
            <a:pPr algn="ctr"/>
            <a:r>
              <a:rPr lang="zh-CN" altLang="en-US">
                <a:solidFill>
                  <a:schemeClr val="bg1"/>
                </a:solidFill>
                <a:sym typeface="+mn-ea"/>
              </a:rPr>
              <a:t>0x0000_0000_0000_0000</a:t>
            </a: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3861435" y="4898390"/>
            <a:ext cx="3004185" cy="645160"/>
          </a:xfrm>
          <a:prstGeom prst="rect">
            <a:avLst/>
          </a:prstGeom>
          <a:solidFill>
            <a:schemeClr val="bg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空白区域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右箭头标注 6"/>
          <p:cNvSpPr/>
          <p:nvPr/>
        </p:nvSpPr>
        <p:spPr>
          <a:xfrm>
            <a:off x="2043430" y="4026535"/>
            <a:ext cx="1690370" cy="694690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77460"/>
            </a:avLst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内核空间</a:t>
            </a:r>
            <a:endParaRPr lang="zh-CN" altLang="en-US"/>
          </a:p>
        </p:txBody>
      </p:sp>
      <p:sp>
        <p:nvSpPr>
          <p:cNvPr id="8" name="右箭头标注 7"/>
          <p:cNvSpPr/>
          <p:nvPr>
            <p:custDataLst>
              <p:tags r:id="rId5"/>
            </p:custDataLst>
          </p:nvPr>
        </p:nvSpPr>
        <p:spPr>
          <a:xfrm flipH="1">
            <a:off x="7008495" y="5720715"/>
            <a:ext cx="1692910" cy="694690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77460"/>
            </a:avLst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用户空间</a:t>
            </a:r>
            <a:endParaRPr lang="zh-CN" altLang="en-US"/>
          </a:p>
        </p:txBody>
      </p:sp>
    </p:spTree>
    <p:custDataLst>
      <p:tags r:id="rId6"/>
    </p:custData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主存储器分配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一、进程的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系统进程总览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进程的实现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内存分配的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x86-64内存管理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 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DLM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进程内分配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Linux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进程间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分配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Linux页面替换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三、系统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.2 进程的基本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操作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3.3 进程接口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266950" y="180340"/>
            <a:ext cx="552958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9C0B15"/>
                </a:solidFill>
              </a:rPr>
              <a:t>x86-64</a:t>
            </a:r>
            <a:r>
              <a:rPr lang="zh-CN" altLang="en-US" sz="2000" b="1">
                <a:solidFill>
                  <a:srgbClr val="9C0B15"/>
                </a:solidFill>
              </a:rPr>
              <a:t>（</a:t>
            </a:r>
            <a:r>
              <a:rPr lang="en-US" altLang="zh-CN" sz="2000" b="1">
                <a:solidFill>
                  <a:srgbClr val="9C0B15"/>
                </a:solidFill>
              </a:rPr>
              <a:t>AMD64</a:t>
            </a:r>
            <a:r>
              <a:rPr lang="zh-CN" altLang="en-US" sz="2000" b="1">
                <a:solidFill>
                  <a:srgbClr val="9C0B15"/>
                </a:solidFill>
              </a:rPr>
              <a:t>）分页机制</a:t>
            </a:r>
            <a:r>
              <a:rPr lang="zh-CN" altLang="en-US" sz="2000" b="1">
                <a:solidFill>
                  <a:srgbClr val="9C0B15"/>
                </a:solidFill>
              </a:rPr>
              <a:t>详解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 b="1">
              <a:solidFill>
                <a:srgbClr val="9C0B15"/>
              </a:solidFill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145415" y="609600"/>
            <a:ext cx="952373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CR0	</a:t>
            </a:r>
            <a:r>
              <a:rPr lang="zh-CN" altLang="en-US" sz="2000">
                <a:sym typeface="+mn-ea"/>
              </a:rPr>
              <a:t>控制CPU的一些重要的工作模式，其中就包括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分页机制是否开启</a:t>
            </a:r>
            <a:r>
              <a:rPr lang="zh-CN" altLang="en-US" sz="2000">
                <a:sym typeface="+mn-ea"/>
              </a:rPr>
              <a:t>，以及CPU</a:t>
            </a:r>
            <a:r>
              <a:rPr lang="zh-CN" altLang="en-US" sz="2000">
                <a:sym typeface="+mn-ea"/>
              </a:rPr>
              <a:t>	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>
                <a:sym typeface="+mn-ea"/>
              </a:rPr>
              <a:t>运作在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保护模式还是实模式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>
                <a:sym typeface="+mn-ea"/>
              </a:rPr>
              <a:t>第0位PE（</a:t>
            </a:r>
            <a:r>
              <a:rPr lang="en-US" altLang="zh-CN" sz="2000">
                <a:sym typeface="+mn-ea"/>
              </a:rPr>
              <a:t>Protection Enable</a:t>
            </a:r>
            <a:r>
              <a:rPr lang="zh-CN" altLang="en-US" sz="2000">
                <a:sym typeface="+mn-ea"/>
              </a:rPr>
              <a:t>）决定了CPU是否处于保护模式。如果是，那么</a:t>
            </a:r>
            <a:r>
              <a:rPr lang="zh-CN" altLang="en-US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就有内核模式和用户模式的区分，否则就没有。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第31位PG（</a:t>
            </a:r>
            <a:r>
              <a:rPr lang="en-US" altLang="zh-CN" sz="2000">
                <a:sym typeface="+mn-ea"/>
              </a:rPr>
              <a:t>Paging</a:t>
            </a:r>
            <a:r>
              <a:rPr lang="zh-CN" altLang="en-US" sz="2000">
                <a:sym typeface="+mn-ea"/>
              </a:rPr>
              <a:t>）决定了分页机制的开启与否。如果不开启，就只有分段</a:t>
            </a:r>
            <a:r>
              <a:rPr lang="zh-CN" altLang="en-US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可用。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CR3	</a:t>
            </a:r>
            <a:r>
              <a:rPr lang="zh-CN" altLang="en-US" sz="2000">
                <a:sym typeface="+mn-ea"/>
              </a:rPr>
              <a:t>放置页表的最高层的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物理地址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它是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进程切换的核心</a:t>
            </a:r>
            <a:r>
              <a:rPr lang="zh-CN" altLang="en-US" sz="2000">
                <a:sym typeface="+mn-ea"/>
              </a:rPr>
              <a:t>。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进程切换就是修改CR3，使其指向不同的页表</a:t>
            </a:r>
            <a:r>
              <a:rPr lang="zh-CN" altLang="en-US" sz="2000">
                <a:sym typeface="+mn-ea"/>
              </a:rPr>
              <a:t>。在</a:t>
            </a:r>
            <a:r>
              <a:rPr lang="en-US" altLang="zh-CN" sz="2000">
                <a:sym typeface="+mn-ea"/>
              </a:rPr>
              <a:t>64</a:t>
            </a:r>
            <a:r>
              <a:rPr lang="zh-CN" altLang="en-US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位下，它的低</a:t>
            </a:r>
            <a:r>
              <a:rPr lang="en-US" altLang="zh-CN" sz="2000">
                <a:sym typeface="+mn-ea"/>
              </a:rPr>
              <a:t>12</a:t>
            </a:r>
            <a:r>
              <a:rPr lang="zh-CN" altLang="en-US" sz="2000">
                <a:sym typeface="+mn-ea"/>
              </a:rPr>
              <a:t>位用来存放</a:t>
            </a:r>
            <a:r>
              <a:rPr lang="en-US" altLang="zh-CN" sz="2000">
                <a:sym typeface="+mn-ea"/>
              </a:rPr>
              <a:t>PCID</a:t>
            </a:r>
            <a:r>
              <a:rPr lang="zh-CN" altLang="en-US" sz="2000">
                <a:sym typeface="+mn-ea"/>
              </a:rPr>
              <a:t>。后面</a:t>
            </a:r>
            <a:r>
              <a:rPr lang="zh-CN" altLang="en-US" sz="2000">
                <a:sym typeface="+mn-ea"/>
              </a:rPr>
              <a:t>详讲。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786765" y="1310005"/>
            <a:ext cx="8489315" cy="111379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876300" y="4721225"/>
            <a:ext cx="8311515" cy="1230630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主存储器分配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一、进程的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系统进程总览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进程的实现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内存分配的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x86-64内存管理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 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DLM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进程内分配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Linux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进程间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分配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Linux页面替换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三、系统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.2 进程的基本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操作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3.3 进程接口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266950" y="180340"/>
            <a:ext cx="552958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9C0B15"/>
                </a:solidFill>
              </a:rPr>
              <a:t>x86-64</a:t>
            </a:r>
            <a:r>
              <a:rPr lang="zh-CN" altLang="en-US" sz="2000" b="1">
                <a:solidFill>
                  <a:srgbClr val="9C0B15"/>
                </a:solidFill>
              </a:rPr>
              <a:t>（</a:t>
            </a:r>
            <a:r>
              <a:rPr lang="en-US" altLang="zh-CN" sz="2000" b="1">
                <a:solidFill>
                  <a:srgbClr val="9C0B15"/>
                </a:solidFill>
              </a:rPr>
              <a:t>AMD64</a:t>
            </a:r>
            <a:r>
              <a:rPr lang="zh-CN" altLang="en-US" sz="2000" b="1">
                <a:solidFill>
                  <a:srgbClr val="9C0B15"/>
                </a:solidFill>
              </a:rPr>
              <a:t>）分页机制</a:t>
            </a:r>
            <a:r>
              <a:rPr lang="zh-CN" altLang="en-US" sz="2000" b="1">
                <a:solidFill>
                  <a:srgbClr val="9C0B15"/>
                </a:solidFill>
              </a:rPr>
              <a:t>详解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 b="1">
              <a:solidFill>
                <a:srgbClr val="9C0B15"/>
              </a:solidFill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145415" y="609600"/>
            <a:ext cx="9523730" cy="59391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CR4	</a:t>
            </a:r>
            <a:r>
              <a:rPr lang="zh-CN" altLang="en-US" sz="2000">
                <a:sym typeface="+mn-ea"/>
              </a:rPr>
              <a:t>对</a:t>
            </a:r>
            <a:r>
              <a:rPr lang="en-US" altLang="zh-CN" sz="2000">
                <a:sym typeface="+mn-ea"/>
              </a:rPr>
              <a:t>CR0</a:t>
            </a:r>
            <a:r>
              <a:rPr lang="zh-CN" altLang="en-US" sz="2000">
                <a:sym typeface="+mn-ea"/>
              </a:rPr>
              <a:t>的一个</a:t>
            </a:r>
            <a:r>
              <a:rPr lang="zh-CN" altLang="en-US" sz="2000">
                <a:sym typeface="+mn-ea"/>
              </a:rPr>
              <a:t>补充。</a:t>
            </a: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>
                <a:sym typeface="+mn-ea"/>
              </a:rPr>
              <a:t>第</a:t>
            </a:r>
            <a:r>
              <a:rPr lang="en-US" altLang="zh-CN" sz="2000">
                <a:sym typeface="+mn-ea"/>
              </a:rPr>
              <a:t>5</a:t>
            </a:r>
            <a:r>
              <a:rPr lang="zh-CN" altLang="en-US" sz="2000">
                <a:sym typeface="+mn-ea"/>
              </a:rPr>
              <a:t>位P</a:t>
            </a:r>
            <a:r>
              <a:rPr lang="en-US" altLang="zh-CN" sz="2000">
                <a:sym typeface="+mn-ea"/>
              </a:rPr>
              <a:t>A</a:t>
            </a:r>
            <a:r>
              <a:rPr lang="zh-CN" altLang="en-US" sz="2000">
                <a:sym typeface="+mn-ea"/>
              </a:rPr>
              <a:t>E（</a:t>
            </a:r>
            <a:r>
              <a:rPr lang="en-US" altLang="zh-CN" sz="2000">
                <a:sym typeface="+mn-ea"/>
              </a:rPr>
              <a:t>Physical Address Extension</a:t>
            </a:r>
            <a:r>
              <a:rPr lang="zh-CN" altLang="en-US" sz="2000">
                <a:sym typeface="+mn-ea"/>
              </a:rPr>
              <a:t>）决定了</a:t>
            </a:r>
            <a:r>
              <a:rPr lang="en-US" altLang="zh-CN" sz="2000">
                <a:sym typeface="+mn-ea"/>
              </a:rPr>
              <a:t>CPU</a:t>
            </a:r>
            <a:r>
              <a:rPr lang="zh-CN" altLang="en-US" sz="2000">
                <a:sym typeface="+mn-ea"/>
              </a:rPr>
              <a:t>是否开启物理地址扩展并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>
                <a:sym typeface="+mn-ea"/>
              </a:rPr>
              <a:t>允许访问多于</a:t>
            </a:r>
            <a:r>
              <a:rPr lang="en-US" altLang="zh-CN" sz="2000">
                <a:sym typeface="+mn-ea"/>
              </a:rPr>
              <a:t>32</a:t>
            </a:r>
            <a:r>
              <a:rPr lang="zh-CN" altLang="en-US" sz="2000">
                <a:sym typeface="+mn-ea"/>
              </a:rPr>
              <a:t>位的物理地址空间，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否则就只能安装4GiB物理内存</a:t>
            </a:r>
            <a:r>
              <a:rPr lang="zh-CN" altLang="en-US" sz="2000">
                <a:sym typeface="+mn-ea"/>
              </a:rPr>
              <a:t>。当然要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>
                <a:sym typeface="+mn-ea"/>
              </a:rPr>
              <a:t>开启它。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>
                <a:sym typeface="+mn-ea"/>
              </a:rPr>
              <a:t>	第</a:t>
            </a:r>
            <a:r>
              <a:rPr lang="en-US" altLang="zh-CN" sz="2000">
                <a:sym typeface="+mn-ea"/>
              </a:rPr>
              <a:t>7</a:t>
            </a:r>
            <a:r>
              <a:rPr lang="zh-CN" altLang="en-US" sz="2000">
                <a:sym typeface="+mn-ea"/>
              </a:rPr>
              <a:t>位PG</a:t>
            </a:r>
            <a:r>
              <a:rPr lang="en-US" altLang="zh-CN" sz="2000">
                <a:sym typeface="+mn-ea"/>
              </a:rPr>
              <a:t>E</a:t>
            </a:r>
            <a:r>
              <a:rPr lang="zh-CN" altLang="en-US" sz="2000">
                <a:sym typeface="+mn-ea"/>
              </a:rPr>
              <a:t>（</a:t>
            </a:r>
            <a:r>
              <a:rPr lang="en-US" altLang="zh-CN" sz="2000">
                <a:sym typeface="+mn-ea"/>
              </a:rPr>
              <a:t>Page Global Enable</a:t>
            </a:r>
            <a:r>
              <a:rPr lang="zh-CN" altLang="en-US" sz="2000">
                <a:sym typeface="+mn-ea"/>
              </a:rPr>
              <a:t>）决定了是否允许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全局页</a:t>
            </a:r>
            <a:r>
              <a:rPr lang="zh-CN" altLang="en-US" sz="2000">
                <a:sym typeface="+mn-ea"/>
              </a:rPr>
              <a:t>。我们一般开启它。</a:t>
            </a:r>
            <a:r>
              <a:rPr lang="zh-CN" altLang="en-US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后面详</a:t>
            </a:r>
            <a:r>
              <a:rPr lang="zh-CN" altLang="en-US" sz="2000">
                <a:sym typeface="+mn-ea"/>
              </a:rPr>
              <a:t>讲。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第</a:t>
            </a:r>
            <a:r>
              <a:rPr lang="en-US" altLang="zh-CN" sz="2000">
                <a:sym typeface="+mn-ea"/>
              </a:rPr>
              <a:t>12</a:t>
            </a:r>
            <a:r>
              <a:rPr lang="zh-CN" altLang="en-US" sz="2000">
                <a:sym typeface="+mn-ea"/>
              </a:rPr>
              <a:t>位</a:t>
            </a:r>
            <a:r>
              <a:rPr lang="en-US" altLang="zh-CN" sz="2000">
                <a:sym typeface="+mn-ea"/>
              </a:rPr>
              <a:t>LA57</a:t>
            </a:r>
            <a:r>
              <a:rPr lang="zh-CN" altLang="en-US" sz="2000">
                <a:sym typeface="+mn-ea"/>
              </a:rPr>
              <a:t>（</a:t>
            </a:r>
            <a:r>
              <a:rPr lang="en-US" altLang="zh-CN" sz="2000">
                <a:sym typeface="+mn-ea"/>
              </a:rPr>
              <a:t>57-bit Linear Address</a:t>
            </a:r>
            <a:r>
              <a:rPr lang="zh-CN" altLang="en-US" sz="2000">
                <a:sym typeface="+mn-ea"/>
              </a:rPr>
              <a:t>）决定是否使用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57位的虚拟地址翻译</a:t>
            </a:r>
            <a:r>
              <a:rPr lang="zh-CN" altLang="en-US" sz="2000">
                <a:sym typeface="+mn-ea"/>
              </a:rPr>
              <a:t>。如</a:t>
            </a:r>
            <a:r>
              <a:rPr lang="zh-CN" altLang="en-US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果不开启就是</a:t>
            </a:r>
            <a:r>
              <a:rPr lang="en-US" altLang="zh-CN" sz="2000">
                <a:sym typeface="+mn-ea"/>
              </a:rPr>
              <a:t>48</a:t>
            </a:r>
            <a:r>
              <a:rPr lang="zh-CN" altLang="en-US" sz="2000">
                <a:sym typeface="+mn-ea"/>
              </a:rPr>
              <a:t>位。这里我们当然开启</a:t>
            </a:r>
            <a:r>
              <a:rPr lang="zh-CN" altLang="en-US" sz="2000">
                <a:sym typeface="+mn-ea"/>
              </a:rPr>
              <a:t>它。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第17位PCIDE（Process-Context IDentifiers Enable）决定是否使用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地址空间编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号</a:t>
            </a:r>
            <a:r>
              <a:rPr lang="zh-CN" altLang="en-US" sz="2000">
                <a:sym typeface="+mn-ea"/>
              </a:rPr>
              <a:t>。后面详讲。</a:t>
            </a:r>
            <a:endParaRPr lang="zh-CN" altLang="en-US" sz="2000"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02615" y="1080135"/>
            <a:ext cx="8858250" cy="157162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主存储器分配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一、进程的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系统进程总览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进程的实现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内存分配的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x86-64内存管理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 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DLM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进程内分配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Linux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进程间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分配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Linux页面替换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三、系统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.2 进程的基本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操作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3.3 进程接口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266950" y="180340"/>
            <a:ext cx="55295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9C0B15"/>
                </a:solidFill>
              </a:rPr>
              <a:t>PML5</a:t>
            </a:r>
            <a:r>
              <a:rPr lang="zh-CN" altLang="en-US" sz="2000" b="1">
                <a:solidFill>
                  <a:srgbClr val="9C0B15"/>
                </a:solidFill>
              </a:rPr>
              <a:t>（</a:t>
            </a:r>
            <a:r>
              <a:rPr lang="en-US" altLang="zh-CN" sz="2000" b="1">
                <a:solidFill>
                  <a:srgbClr val="9C0B15"/>
                </a:solidFill>
              </a:rPr>
              <a:t>Page Map Level 5</a:t>
            </a:r>
            <a:r>
              <a:rPr lang="zh-CN" altLang="en-US" sz="2000" b="1">
                <a:solidFill>
                  <a:srgbClr val="9C0B15"/>
                </a:solidFill>
              </a:rPr>
              <a:t>）</a:t>
            </a:r>
            <a:endParaRPr lang="zh-CN" altLang="en-US" sz="2000" b="1">
              <a:solidFill>
                <a:srgbClr val="9C0B15"/>
              </a:solidFill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145415" y="609600"/>
            <a:ext cx="9523730" cy="59391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PML5	</a:t>
            </a:r>
            <a:r>
              <a:rPr lang="zh-CN" altLang="en-US" sz="2000">
                <a:sym typeface="+mn-ea"/>
              </a:rPr>
              <a:t>最顶层的页目录。它的每个条目占据</a:t>
            </a:r>
            <a:r>
              <a:rPr lang="en-US" altLang="zh-CN" sz="2000">
                <a:sym typeface="+mn-ea"/>
              </a:rPr>
              <a:t>8</a:t>
            </a:r>
            <a:r>
              <a:rPr lang="zh-CN" altLang="en-US" sz="2000">
                <a:sym typeface="+mn-ea"/>
              </a:rPr>
              <a:t>字节，共</a:t>
            </a:r>
            <a:r>
              <a:rPr lang="en-US" altLang="zh-CN" sz="2000">
                <a:sym typeface="+mn-ea"/>
              </a:rPr>
              <a:t>512</a:t>
            </a:r>
            <a:r>
              <a:rPr lang="zh-CN" altLang="en-US" sz="2000">
                <a:sym typeface="+mn-ea"/>
              </a:rPr>
              <a:t>个条目，占据</a:t>
            </a:r>
            <a:r>
              <a:rPr lang="en-US" altLang="zh-CN" sz="2000">
                <a:sym typeface="+mn-ea"/>
              </a:rPr>
              <a:t>4KiB</a:t>
            </a:r>
            <a:r>
              <a:rPr lang="zh-CN" altLang="en-US" sz="2000">
                <a:sym typeface="+mn-ea"/>
              </a:rPr>
              <a:t>空间。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>
                <a:sym typeface="+mn-ea"/>
              </a:rPr>
              <a:t>整个页目录覆盖</a:t>
            </a:r>
            <a:r>
              <a:rPr lang="en-US" altLang="zh-CN" sz="2000">
                <a:sym typeface="+mn-ea"/>
              </a:rPr>
              <a:t>2</a:t>
            </a:r>
            <a:r>
              <a:rPr lang="en-US" altLang="zh-CN" sz="2000" baseline="30000">
                <a:sym typeface="+mn-ea"/>
              </a:rPr>
              <a:t>57</a:t>
            </a:r>
            <a:r>
              <a:rPr lang="zh-CN" altLang="en-US" sz="2000">
                <a:sym typeface="+mn-ea"/>
              </a:rPr>
              <a:t>字节的虚拟地址空间，每个条目覆盖</a:t>
            </a:r>
            <a:r>
              <a:rPr lang="en-US" altLang="zh-CN" sz="2000">
                <a:sym typeface="+mn-ea"/>
              </a:rPr>
              <a:t>256TiB</a:t>
            </a:r>
            <a:r>
              <a:rPr lang="zh-CN" altLang="en-US" sz="2000">
                <a:sym typeface="+mn-ea"/>
              </a:rPr>
              <a:t>内存空间，总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>
                <a:sym typeface="+mn-ea"/>
              </a:rPr>
              <a:t>计</a:t>
            </a:r>
            <a:r>
              <a:rPr lang="en-US" altLang="zh-CN" sz="2000">
                <a:sym typeface="+mn-ea"/>
              </a:rPr>
              <a:t>128PiB</a:t>
            </a:r>
            <a:r>
              <a:rPr lang="zh-CN" altLang="en-US" sz="2000">
                <a:sym typeface="+mn-ea"/>
              </a:rPr>
              <a:t>虚拟地址</a:t>
            </a:r>
            <a:r>
              <a:rPr lang="zh-CN" altLang="en-US" sz="2000">
                <a:sym typeface="+mn-ea"/>
              </a:rPr>
              <a:t>空间。每个条目的结构</a:t>
            </a:r>
            <a:r>
              <a:rPr lang="zh-CN" altLang="en-US" sz="2000">
                <a:sym typeface="+mn-ea"/>
              </a:rPr>
              <a:t>如下：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endParaRPr lang="en-US" altLang="zh-CN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>
                <a:sym typeface="+mn-ea"/>
              </a:rPr>
              <a:t>第</a:t>
            </a:r>
            <a:r>
              <a:rPr lang="en-US" altLang="zh-CN" sz="2000">
                <a:sym typeface="+mn-ea"/>
              </a:rPr>
              <a:t>0</a:t>
            </a:r>
            <a:r>
              <a:rPr lang="zh-CN" altLang="en-US" sz="2000">
                <a:sym typeface="+mn-ea"/>
              </a:rPr>
              <a:t>位</a:t>
            </a:r>
            <a:r>
              <a:rPr lang="en-US" altLang="zh-CN" sz="2000">
                <a:sym typeface="+mn-ea"/>
              </a:rPr>
              <a:t>P</a:t>
            </a:r>
            <a:r>
              <a:rPr lang="zh-CN" altLang="en-US" sz="2000">
                <a:sym typeface="+mn-ea"/>
              </a:rPr>
              <a:t>（</a:t>
            </a:r>
            <a:r>
              <a:rPr lang="en-US" altLang="zh-CN" sz="2000">
                <a:sym typeface="+mn-ea"/>
              </a:rPr>
              <a:t>Present</a:t>
            </a:r>
            <a:r>
              <a:rPr lang="zh-CN" altLang="en-US" sz="2000">
                <a:sym typeface="+mn-ea"/>
              </a:rPr>
              <a:t>）标记表项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是否存在</a:t>
            </a:r>
            <a:r>
              <a:rPr lang="zh-CN" altLang="en-US" sz="2000">
                <a:sym typeface="+mn-ea"/>
              </a:rPr>
              <a:t>。如果为</a:t>
            </a:r>
            <a:r>
              <a:rPr lang="en-US" altLang="zh-CN" sz="2000">
                <a:sym typeface="+mn-ea"/>
              </a:rPr>
              <a:t>0</a:t>
            </a:r>
            <a:r>
              <a:rPr lang="zh-CN" altLang="en-US" sz="2000">
                <a:sym typeface="+mn-ea"/>
              </a:rPr>
              <a:t>，该条目</a:t>
            </a:r>
            <a:r>
              <a:rPr lang="zh-CN" altLang="en-US" sz="2000">
                <a:sym typeface="+mn-ea"/>
              </a:rPr>
              <a:t>无效。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>
                <a:sym typeface="+mn-ea"/>
              </a:rPr>
              <a:t>第</a:t>
            </a:r>
            <a:r>
              <a:rPr lang="en-US" altLang="zh-CN" sz="2000">
                <a:sym typeface="+mn-ea"/>
              </a:rPr>
              <a:t>1</a:t>
            </a:r>
            <a:r>
              <a:rPr lang="zh-CN" altLang="en-US" sz="2000">
                <a:sym typeface="+mn-ea"/>
              </a:rPr>
              <a:t>位</a:t>
            </a:r>
            <a:r>
              <a:rPr lang="en-US" altLang="zh-CN" sz="2000">
                <a:sym typeface="+mn-ea"/>
              </a:rPr>
              <a:t>RW</a:t>
            </a:r>
            <a:r>
              <a:rPr lang="zh-CN" altLang="en-US" sz="2000">
                <a:sym typeface="+mn-ea"/>
              </a:rPr>
              <a:t>（</a:t>
            </a:r>
            <a:r>
              <a:rPr lang="en-US" altLang="zh-CN" sz="2000">
                <a:sym typeface="+mn-ea"/>
              </a:rPr>
              <a:t>Read/Write</a:t>
            </a:r>
            <a:r>
              <a:rPr lang="zh-CN" altLang="en-US" sz="2000">
                <a:sym typeface="+mn-ea"/>
              </a:rPr>
              <a:t>）决定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读写控制</a:t>
            </a:r>
            <a:r>
              <a:rPr lang="zh-CN" altLang="en-US" sz="2000">
                <a:sym typeface="+mn-ea"/>
              </a:rPr>
              <a:t>。如果为</a:t>
            </a:r>
            <a:r>
              <a:rPr lang="en-US" altLang="zh-CN" sz="2000">
                <a:sym typeface="+mn-ea"/>
              </a:rPr>
              <a:t>0</a:t>
            </a:r>
            <a:r>
              <a:rPr lang="zh-CN" altLang="en-US" sz="2000">
                <a:sym typeface="+mn-ea"/>
              </a:rPr>
              <a:t>，那么该条目下辖的一切页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>
                <a:sym typeface="+mn-ea"/>
              </a:rPr>
              <a:t>目录中的一切页都仅可读不可写。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>
                <a:sym typeface="+mn-ea"/>
              </a:rPr>
              <a:t>第</a:t>
            </a:r>
            <a:r>
              <a:rPr lang="en-US" altLang="zh-CN" sz="2000">
                <a:sym typeface="+mn-ea"/>
              </a:rPr>
              <a:t>63</a:t>
            </a:r>
            <a:r>
              <a:rPr lang="zh-CN" altLang="en-US" sz="2000">
                <a:sym typeface="+mn-ea"/>
              </a:rPr>
              <a:t>位</a:t>
            </a:r>
            <a:r>
              <a:rPr lang="en-US" altLang="zh-CN" sz="2000">
                <a:sym typeface="+mn-ea"/>
              </a:rPr>
              <a:t>XD</a:t>
            </a:r>
            <a:r>
              <a:rPr lang="zh-CN" altLang="en-US" sz="2000">
                <a:sym typeface="+mn-ea"/>
              </a:rPr>
              <a:t>（</a:t>
            </a:r>
            <a:r>
              <a:rPr lang="en-US" altLang="zh-CN" sz="2000">
                <a:sym typeface="+mn-ea"/>
              </a:rPr>
              <a:t>Execute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 </a:t>
            </a:r>
            <a:r>
              <a:rPr lang="en-US" altLang="zh-CN" sz="2000">
                <a:sym typeface="+mn-ea"/>
              </a:rPr>
              <a:t>Disable</a:t>
            </a:r>
            <a:r>
              <a:rPr lang="zh-CN" altLang="en-US" sz="2000">
                <a:sym typeface="+mn-ea"/>
              </a:rPr>
              <a:t>）决定了这些页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是否允许被执行</a:t>
            </a:r>
            <a:r>
              <a:rPr lang="zh-CN" altLang="en-US" sz="2000">
                <a:sym typeface="+mn-ea"/>
              </a:rPr>
              <a:t>；如果为</a:t>
            </a:r>
            <a:r>
              <a:rPr lang="en-US" altLang="zh-CN" sz="2000">
                <a:sym typeface="+mn-ea"/>
              </a:rPr>
              <a:t>1</a:t>
            </a:r>
            <a:r>
              <a:rPr lang="zh-CN" altLang="en-US" sz="2000">
                <a:sym typeface="+mn-ea"/>
              </a:rPr>
              <a:t>，仅可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>
                <a:sym typeface="+mn-ea"/>
              </a:rPr>
              <a:t>读</a:t>
            </a:r>
            <a:r>
              <a:rPr lang="en-US" altLang="zh-CN" sz="2000">
                <a:sym typeface="+mn-ea"/>
              </a:rPr>
              <a:t>/</a:t>
            </a:r>
            <a:r>
              <a:rPr lang="zh-CN" altLang="en-US" sz="2000">
                <a:sym typeface="+mn-ea"/>
              </a:rPr>
              <a:t>写</a:t>
            </a:r>
            <a:r>
              <a:rPr lang="zh-CN" altLang="en-US" sz="2000">
                <a:sym typeface="+mn-ea"/>
              </a:rPr>
              <a:t>但不可执行。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>
                <a:sym typeface="+mn-ea"/>
              </a:rPr>
              <a:t>第</a:t>
            </a:r>
            <a:r>
              <a:rPr lang="en-US" altLang="zh-CN" sz="2000">
                <a:sym typeface="+mn-ea"/>
              </a:rPr>
              <a:t>2</a:t>
            </a:r>
            <a:r>
              <a:rPr lang="zh-CN" altLang="en-US" sz="2000">
                <a:sym typeface="+mn-ea"/>
              </a:rPr>
              <a:t>位</a:t>
            </a:r>
            <a:r>
              <a:rPr lang="en-US" altLang="zh-CN" sz="2000">
                <a:sym typeface="+mn-ea"/>
              </a:rPr>
              <a:t>US</a:t>
            </a:r>
            <a:r>
              <a:rPr lang="zh-CN" altLang="en-US" sz="2000">
                <a:sym typeface="+mn-ea"/>
              </a:rPr>
              <a:t>（</a:t>
            </a:r>
            <a:r>
              <a:rPr lang="en-US" altLang="zh-CN" sz="2000">
                <a:sym typeface="+mn-ea"/>
              </a:rPr>
              <a:t>User/Supervisor</a:t>
            </a:r>
            <a:r>
              <a:rPr lang="zh-CN" altLang="en-US" sz="2000">
                <a:sym typeface="+mn-ea"/>
              </a:rPr>
              <a:t>）决定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特权模式</a:t>
            </a:r>
            <a:r>
              <a:rPr lang="zh-CN" altLang="en-US" sz="2000">
                <a:sym typeface="+mn-ea"/>
              </a:rPr>
              <a:t>。如果为</a:t>
            </a:r>
            <a:r>
              <a:rPr lang="en-US" altLang="zh-CN" sz="2000">
                <a:sym typeface="+mn-ea"/>
              </a:rPr>
              <a:t>0</a:t>
            </a:r>
            <a:r>
              <a:rPr lang="zh-CN" altLang="en-US" sz="2000">
                <a:sym typeface="+mn-ea"/>
              </a:rPr>
              <a:t>，用户模式不允许访问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>
                <a:sym typeface="+mn-ea"/>
              </a:rPr>
              <a:t>该条目下辖的一切页目录中的一切页，也即这是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被映射到内核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空间的页面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备注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这里</a:t>
            </a:r>
            <a:r>
              <a:rPr lang="en-US" altLang="zh-CN" sz="2000">
                <a:sym typeface="+mn-ea"/>
              </a:rPr>
              <a:t>M</a:t>
            </a:r>
            <a:r>
              <a:rPr lang="zh-CN" altLang="en-US" sz="2000">
                <a:sym typeface="+mn-ea"/>
              </a:rPr>
              <a:t>是指机器的物理地址空间的位数。为节约成本，</a:t>
            </a:r>
            <a:r>
              <a:rPr lang="en-US" altLang="zh-CN" sz="2000">
                <a:sym typeface="+mn-ea"/>
              </a:rPr>
              <a:t>M</a:t>
            </a:r>
            <a:r>
              <a:rPr lang="zh-CN" altLang="en-US" sz="2000">
                <a:sym typeface="+mn-ea"/>
              </a:rPr>
              <a:t>最大只有</a:t>
            </a:r>
            <a:r>
              <a:rPr lang="en-US" altLang="zh-CN" sz="2000">
                <a:sym typeface="+mn-ea"/>
              </a:rPr>
              <a:t>48</a:t>
            </a:r>
            <a:r>
              <a:rPr lang="zh-CN" altLang="en-US" sz="2000">
                <a:sym typeface="+mn-ea"/>
              </a:rPr>
              <a:t>位。</a:t>
            </a:r>
            <a:endParaRPr lang="zh-CN" altLang="en-US" sz="2000">
              <a:sym typeface="+mn-ea"/>
            </a:endParaRPr>
          </a:p>
        </p:txBody>
      </p:sp>
      <p:graphicFrame>
        <p:nvGraphicFramePr>
          <p:cNvPr id="7" name="表格 6"/>
          <p:cNvGraphicFramePr/>
          <p:nvPr>
            <p:custDataLst>
              <p:tags r:id="rId3"/>
            </p:custDataLst>
          </p:nvPr>
        </p:nvGraphicFramePr>
        <p:xfrm>
          <a:off x="274320" y="1744345"/>
          <a:ext cx="9277985" cy="11887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79755"/>
                <a:gridCol w="1159867"/>
                <a:gridCol w="2899251"/>
                <a:gridCol w="1159867"/>
                <a:gridCol w="579874"/>
                <a:gridCol w="579874"/>
                <a:gridCol w="579874"/>
                <a:gridCol w="579874"/>
                <a:gridCol w="579874"/>
                <a:gridCol w="579874"/>
              </a:tblGrid>
              <a:tr h="3962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63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62 - M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M-1   -   12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11 - 6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5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4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1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0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39624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X</a:t>
                      </a: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D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忽略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PML4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表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物理地址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忽略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A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CD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WT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US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RW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P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</p:spTree>
    <p:custDataLst>
      <p:tags r:id="rId4"/>
    </p:custData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主存储器分配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一、进程的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系统进程总览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进程的实现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内存分配的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x86-64内存管理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 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DLM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进程内分配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Linux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进程间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分配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Linux页面替换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三、系统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.2 进程的基本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操作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3.3 进程接口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266950" y="180340"/>
            <a:ext cx="55295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9C0B15"/>
                </a:solidFill>
              </a:rPr>
              <a:t>PML4</a:t>
            </a:r>
            <a:r>
              <a:rPr lang="zh-CN" altLang="en-US" sz="2000" b="1">
                <a:solidFill>
                  <a:srgbClr val="9C0B15"/>
                </a:solidFill>
              </a:rPr>
              <a:t>（</a:t>
            </a:r>
            <a:r>
              <a:rPr lang="en-US" altLang="zh-CN" sz="2000" b="1">
                <a:solidFill>
                  <a:srgbClr val="9C0B15"/>
                </a:solidFill>
              </a:rPr>
              <a:t>Page Map Level 4</a:t>
            </a:r>
            <a:r>
              <a:rPr lang="zh-CN" altLang="en-US" sz="2000" b="1">
                <a:solidFill>
                  <a:srgbClr val="9C0B15"/>
                </a:solidFill>
              </a:rPr>
              <a:t>）</a:t>
            </a:r>
            <a:endParaRPr lang="zh-CN" altLang="en-US" sz="2000" b="1">
              <a:solidFill>
                <a:srgbClr val="9C0B15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5415" y="609600"/>
            <a:ext cx="9523730" cy="59391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PML4	</a:t>
            </a:r>
            <a:r>
              <a:rPr lang="zh-CN" altLang="en-US" sz="2000">
                <a:sym typeface="+mn-ea"/>
              </a:rPr>
              <a:t>中间高层的页目录。它的每个条目占据</a:t>
            </a:r>
            <a:r>
              <a:rPr lang="en-US" altLang="zh-CN" sz="2000">
                <a:sym typeface="+mn-ea"/>
              </a:rPr>
              <a:t>8</a:t>
            </a:r>
            <a:r>
              <a:rPr lang="zh-CN" altLang="en-US" sz="2000">
                <a:sym typeface="+mn-ea"/>
              </a:rPr>
              <a:t>字节，共</a:t>
            </a:r>
            <a:r>
              <a:rPr lang="en-US" altLang="zh-CN" sz="2000">
                <a:sym typeface="+mn-ea"/>
              </a:rPr>
              <a:t>512</a:t>
            </a:r>
            <a:r>
              <a:rPr lang="zh-CN" altLang="en-US" sz="2000">
                <a:sym typeface="+mn-ea"/>
              </a:rPr>
              <a:t>个条目，占据</a:t>
            </a:r>
            <a:r>
              <a:rPr lang="en-US" altLang="zh-CN" sz="2000">
                <a:sym typeface="+mn-ea"/>
              </a:rPr>
              <a:t>4KiB</a:t>
            </a:r>
            <a:r>
              <a:rPr lang="zh-CN" altLang="en-US" sz="2000">
                <a:sym typeface="+mn-ea"/>
              </a:rPr>
              <a:t>空间。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>
                <a:sym typeface="+mn-ea"/>
              </a:rPr>
              <a:t>整个页目录覆盖</a:t>
            </a:r>
            <a:r>
              <a:rPr lang="en-US" altLang="zh-CN" sz="2000">
                <a:sym typeface="+mn-ea"/>
              </a:rPr>
              <a:t>2</a:t>
            </a:r>
            <a:r>
              <a:rPr lang="en-US" altLang="zh-CN" sz="2000" baseline="30000">
                <a:sym typeface="+mn-ea"/>
              </a:rPr>
              <a:t>48</a:t>
            </a:r>
            <a:r>
              <a:rPr lang="zh-CN" altLang="en-US" sz="2000">
                <a:sym typeface="+mn-ea"/>
              </a:rPr>
              <a:t>字节的虚拟地址空间，每个条目覆盖</a:t>
            </a:r>
            <a:r>
              <a:rPr lang="en-US" altLang="zh-CN" sz="2000">
                <a:sym typeface="+mn-ea"/>
              </a:rPr>
              <a:t>512GiB</a:t>
            </a:r>
            <a:r>
              <a:rPr lang="zh-CN" altLang="en-US" sz="2000">
                <a:sym typeface="+mn-ea"/>
              </a:rPr>
              <a:t>内存空间。各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>
                <a:sym typeface="+mn-ea"/>
              </a:rPr>
              <a:t>个位的意义与</a:t>
            </a:r>
            <a:r>
              <a:rPr lang="en-US" altLang="zh-CN" sz="2000">
                <a:sym typeface="+mn-ea"/>
              </a:rPr>
              <a:t>PML5</a:t>
            </a:r>
            <a:r>
              <a:rPr lang="zh-CN" altLang="en-US" sz="2000">
                <a:sym typeface="+mn-ea"/>
              </a:rPr>
              <a:t>一样。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endParaRPr lang="en-US" altLang="zh-CN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>
                <a:sym typeface="+mn-ea"/>
              </a:rPr>
              <a:t>第</a:t>
            </a:r>
            <a:r>
              <a:rPr lang="en-US" altLang="zh-CN" sz="2000">
                <a:sym typeface="+mn-ea"/>
              </a:rPr>
              <a:t>3</a:t>
            </a:r>
            <a:r>
              <a:rPr lang="zh-CN" altLang="en-US" sz="2000">
                <a:sym typeface="+mn-ea"/>
              </a:rPr>
              <a:t>位</a:t>
            </a:r>
            <a:r>
              <a:rPr lang="en-US" altLang="zh-CN" sz="2000">
                <a:sym typeface="+mn-ea"/>
              </a:rPr>
              <a:t>WT</a:t>
            </a:r>
            <a:r>
              <a:rPr lang="zh-CN" altLang="en-US" sz="2000">
                <a:sym typeface="+mn-ea"/>
              </a:rPr>
              <a:t>（</a:t>
            </a:r>
            <a:r>
              <a:rPr lang="en-US" altLang="zh-CN" sz="2000">
                <a:sym typeface="+mn-ea"/>
              </a:rPr>
              <a:t>Write-Through</a:t>
            </a:r>
            <a:r>
              <a:rPr lang="zh-CN" altLang="en-US" sz="2000">
                <a:sym typeface="+mn-ea"/>
              </a:rPr>
              <a:t>）控制这些页的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写回策略</a:t>
            </a:r>
            <a:r>
              <a:rPr lang="zh-CN" altLang="en-US" sz="2000">
                <a:sym typeface="+mn-ea"/>
              </a:rPr>
              <a:t>。如果为</a:t>
            </a:r>
            <a:r>
              <a:rPr lang="en-US" altLang="zh-CN" sz="2000">
                <a:sym typeface="+mn-ea"/>
              </a:rPr>
              <a:t>1</a:t>
            </a:r>
            <a:r>
              <a:rPr lang="zh-CN" altLang="en-US" sz="2000">
                <a:sym typeface="+mn-ea"/>
              </a:rPr>
              <a:t>，强制写透，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否则可以</a:t>
            </a:r>
            <a:r>
              <a:rPr lang="zh-CN" altLang="en-US" sz="2000">
                <a:sym typeface="+mn-ea"/>
              </a:rPr>
              <a:t>使用写回。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>
                <a:sym typeface="+mn-ea"/>
              </a:rPr>
              <a:t>第</a:t>
            </a:r>
            <a:r>
              <a:rPr lang="en-US" altLang="zh-CN" sz="2000">
                <a:sym typeface="+mn-ea"/>
              </a:rPr>
              <a:t>4</a:t>
            </a:r>
            <a:r>
              <a:rPr lang="zh-CN" altLang="en-US" sz="2000">
                <a:sym typeface="+mn-ea"/>
              </a:rPr>
              <a:t>位</a:t>
            </a:r>
            <a:r>
              <a:rPr lang="en-US" altLang="zh-CN" sz="2000">
                <a:sym typeface="+mn-ea"/>
              </a:rPr>
              <a:t>CD</a:t>
            </a:r>
            <a:r>
              <a:rPr lang="zh-CN" altLang="en-US" sz="2000">
                <a:sym typeface="+mn-ea"/>
              </a:rPr>
              <a:t>（</a:t>
            </a:r>
            <a:r>
              <a:rPr lang="en-US" altLang="zh-CN" sz="2000">
                <a:sym typeface="+mn-ea"/>
              </a:rPr>
              <a:t>Cache</a:t>
            </a:r>
            <a:r>
              <a:rPr lang="zh-CN" altLang="en-US" sz="2000">
                <a:sym typeface="+mn-ea"/>
              </a:rPr>
              <a:t>）决定了这些页的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缓存策略</a:t>
            </a:r>
            <a:r>
              <a:rPr lang="zh-CN" altLang="en-US" sz="2000">
                <a:sym typeface="+mn-ea"/>
              </a:rPr>
              <a:t>。如果为</a:t>
            </a:r>
            <a:r>
              <a:rPr lang="en-US" altLang="zh-CN" sz="2000">
                <a:sym typeface="+mn-ea"/>
              </a:rPr>
              <a:t>1</a:t>
            </a:r>
            <a:r>
              <a:rPr lang="zh-CN" altLang="en-US" sz="2000">
                <a:sym typeface="+mn-ea"/>
              </a:rPr>
              <a:t>，这些页不可</a:t>
            </a:r>
            <a:r>
              <a:rPr lang="zh-CN" altLang="en-US" sz="2000">
                <a:sym typeface="+mn-ea"/>
              </a:rPr>
              <a:t>缓存。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>
                <a:sym typeface="+mn-ea"/>
              </a:rPr>
              <a:t>第</a:t>
            </a:r>
            <a:r>
              <a:rPr lang="en-US" altLang="zh-CN" sz="2000">
                <a:sym typeface="+mn-ea"/>
              </a:rPr>
              <a:t>5</a:t>
            </a:r>
            <a:r>
              <a:rPr lang="zh-CN" altLang="en-US" sz="2000">
                <a:sym typeface="+mn-ea"/>
              </a:rPr>
              <a:t>位</a:t>
            </a:r>
            <a:r>
              <a:rPr lang="en-US" altLang="zh-CN" sz="2000">
                <a:sym typeface="+mn-ea"/>
              </a:rPr>
              <a:t>A</a:t>
            </a:r>
            <a:r>
              <a:rPr lang="zh-CN" altLang="en-US" sz="2000">
                <a:sym typeface="+mn-ea"/>
              </a:rPr>
              <a:t>（</a:t>
            </a:r>
            <a:r>
              <a:rPr lang="en-US" altLang="zh-CN" sz="2000">
                <a:sym typeface="+mn-ea"/>
              </a:rPr>
              <a:t>Accessed</a:t>
            </a:r>
            <a:r>
              <a:rPr lang="zh-CN" altLang="en-US" sz="2000">
                <a:sym typeface="+mn-ea"/>
              </a:rPr>
              <a:t>）是一个辅助位，若翻译时用到过这个条目，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硬件将它置	1</a:t>
            </a:r>
            <a:r>
              <a:rPr lang="zh-CN" altLang="en-US" sz="2000">
                <a:sym typeface="+mn-ea"/>
              </a:rPr>
              <a:t>。这在实现</a:t>
            </a:r>
            <a:r>
              <a:rPr lang="en-US" altLang="zh-CN" sz="2000">
                <a:sym typeface="+mn-ea"/>
              </a:rPr>
              <a:t>LRU</a:t>
            </a:r>
            <a:r>
              <a:rPr lang="zh-CN" altLang="en-US" sz="2000">
                <a:sym typeface="+mn-ea"/>
              </a:rPr>
              <a:t>等策略时非常有用（为什么？）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问题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如果</a:t>
            </a:r>
            <a:r>
              <a:rPr lang="en-US" altLang="zh-CN" sz="2000">
                <a:sym typeface="+mn-ea"/>
              </a:rPr>
              <a:t>PML5</a:t>
            </a:r>
            <a:r>
              <a:rPr lang="zh-CN" altLang="en-US" sz="2000">
                <a:sym typeface="+mn-ea"/>
              </a:rPr>
              <a:t>的条目</a:t>
            </a:r>
            <a:r>
              <a:rPr lang="en-US" altLang="zh-CN" sz="2000">
                <a:sym typeface="+mn-ea"/>
              </a:rPr>
              <a:t>RW</a:t>
            </a:r>
            <a:r>
              <a:rPr lang="zh-CN" altLang="en-US" sz="2000">
                <a:sym typeface="+mn-ea"/>
              </a:rPr>
              <a:t>位为</a:t>
            </a:r>
            <a:r>
              <a:rPr lang="en-US" altLang="zh-CN" sz="2000">
                <a:sym typeface="+mn-ea"/>
              </a:rPr>
              <a:t>1</a:t>
            </a:r>
            <a:r>
              <a:rPr lang="zh-CN" altLang="en-US" sz="2000">
                <a:sym typeface="+mn-ea"/>
              </a:rPr>
              <a:t>，但</a:t>
            </a:r>
            <a:r>
              <a:rPr lang="en-US" altLang="zh-CN" sz="2000">
                <a:sym typeface="+mn-ea"/>
              </a:rPr>
              <a:t>PML4</a:t>
            </a:r>
            <a:r>
              <a:rPr lang="zh-CN" altLang="en-US" sz="2000">
                <a:sym typeface="+mn-ea"/>
              </a:rPr>
              <a:t>的条目</a:t>
            </a:r>
            <a:r>
              <a:rPr lang="en-US" altLang="zh-CN" sz="2000">
                <a:sym typeface="+mn-ea"/>
              </a:rPr>
              <a:t>RW</a:t>
            </a:r>
            <a:r>
              <a:rPr lang="zh-CN" altLang="en-US" sz="2000">
                <a:sym typeface="+mn-ea"/>
              </a:rPr>
              <a:t>位为</a:t>
            </a:r>
            <a:r>
              <a:rPr lang="en-US" altLang="zh-CN" sz="2000">
                <a:sym typeface="+mn-ea"/>
              </a:rPr>
              <a:t>0</a:t>
            </a:r>
            <a:r>
              <a:rPr lang="zh-CN" altLang="en-US" sz="2000">
                <a:sym typeface="+mn-ea"/>
              </a:rPr>
              <a:t>，拿到</a:t>
            </a:r>
            <a:r>
              <a:rPr lang="en-US" altLang="zh-CN" sz="2000">
                <a:sym typeface="+mn-ea"/>
              </a:rPr>
              <a:t>PDPT</a:t>
            </a:r>
            <a:r>
              <a:rPr lang="zh-CN" altLang="en-US" sz="2000">
                <a:sym typeface="+mn-ea"/>
              </a:rPr>
              <a:t>后，</a:t>
            </a:r>
            <a:r>
              <a:rPr lang="en-US" altLang="zh-CN" sz="2000">
                <a:sym typeface="+mn-ea"/>
              </a:rPr>
              <a:t>PDPT</a:t>
            </a:r>
            <a:r>
              <a:rPr lang="zh-CN" altLang="en-US" sz="2000">
                <a:sym typeface="+mn-ea"/>
              </a:rPr>
              <a:t>里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面的页的默认权限是</a:t>
            </a:r>
            <a:r>
              <a:rPr lang="zh-CN" altLang="en-US" sz="2000">
                <a:sym typeface="+mn-ea"/>
              </a:rPr>
              <a:t>什么？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与逻辑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在翻译过程中，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只要某一层的权限是不存在的，那么该权限就视为不存在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</p:txBody>
      </p:sp>
      <p:graphicFrame>
        <p:nvGraphicFramePr>
          <p:cNvPr id="7" name="表格 6"/>
          <p:cNvGraphicFramePr/>
          <p:nvPr>
            <p:custDataLst>
              <p:tags r:id="rId2"/>
            </p:custDataLst>
          </p:nvPr>
        </p:nvGraphicFramePr>
        <p:xfrm>
          <a:off x="274320" y="1744345"/>
          <a:ext cx="9277985" cy="11887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79755"/>
                <a:gridCol w="1159867"/>
                <a:gridCol w="2899251"/>
                <a:gridCol w="1159867"/>
                <a:gridCol w="579874"/>
                <a:gridCol w="579874"/>
                <a:gridCol w="579874"/>
                <a:gridCol w="579874"/>
                <a:gridCol w="579874"/>
                <a:gridCol w="579874"/>
              </a:tblGrid>
              <a:tr h="3962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63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62 - M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M-1   -   12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11 - 6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5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4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1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0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39624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X</a:t>
                      </a: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D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忽略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PDPT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表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物理地址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忽略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A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CD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WT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US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RW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P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主存储器分配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一、进程的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系统进程总览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进程的实现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内存分配的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x86-64内存管理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 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DLM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进程内分配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Linux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进程间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分配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Linux页面替换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三、系统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.2 进程的基本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操作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3.3 进程接口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266950" y="180340"/>
            <a:ext cx="55295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9C0B15"/>
                </a:solidFill>
              </a:rPr>
              <a:t>PDPT</a:t>
            </a:r>
            <a:r>
              <a:rPr lang="zh-CN" altLang="en-US" sz="2000" b="1">
                <a:solidFill>
                  <a:srgbClr val="9C0B15"/>
                </a:solidFill>
              </a:rPr>
              <a:t>（</a:t>
            </a:r>
            <a:r>
              <a:rPr lang="en-US" altLang="zh-CN" sz="2000" b="1">
                <a:solidFill>
                  <a:srgbClr val="9C0B15"/>
                </a:solidFill>
              </a:rPr>
              <a:t>Page Directory P</a:t>
            </a:r>
            <a:r>
              <a:rPr lang="en-US" altLang="zh-CN" sz="2000" b="1">
                <a:solidFill>
                  <a:srgbClr val="9C0B15"/>
                </a:solidFill>
              </a:rPr>
              <a:t>ointer Table</a:t>
            </a:r>
            <a:r>
              <a:rPr lang="zh-CN" altLang="en-US" sz="2000" b="1">
                <a:solidFill>
                  <a:srgbClr val="9C0B15"/>
                </a:solidFill>
              </a:rPr>
              <a:t>）</a:t>
            </a:r>
            <a:endParaRPr lang="zh-CN" altLang="en-US" sz="2000" b="1">
              <a:solidFill>
                <a:srgbClr val="9C0B15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5415" y="609600"/>
            <a:ext cx="9523730" cy="62471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PDPT	</a:t>
            </a:r>
            <a:r>
              <a:rPr lang="zh-CN" altLang="en-US" sz="2000">
                <a:sym typeface="+mn-ea"/>
              </a:rPr>
              <a:t>中间中层的页目录。它的每个条目占据</a:t>
            </a:r>
            <a:r>
              <a:rPr lang="en-US" altLang="zh-CN" sz="2000">
                <a:sym typeface="+mn-ea"/>
              </a:rPr>
              <a:t>8</a:t>
            </a:r>
            <a:r>
              <a:rPr lang="zh-CN" altLang="en-US" sz="2000">
                <a:sym typeface="+mn-ea"/>
              </a:rPr>
              <a:t>字节，共</a:t>
            </a:r>
            <a:r>
              <a:rPr lang="en-US" altLang="zh-CN" sz="2000">
                <a:sym typeface="+mn-ea"/>
              </a:rPr>
              <a:t>512</a:t>
            </a:r>
            <a:r>
              <a:rPr lang="zh-CN" altLang="en-US" sz="2000">
                <a:sym typeface="+mn-ea"/>
              </a:rPr>
              <a:t>个条目，占据</a:t>
            </a:r>
            <a:r>
              <a:rPr lang="en-US" altLang="zh-CN" sz="2000">
                <a:sym typeface="+mn-ea"/>
              </a:rPr>
              <a:t>4KiB</a:t>
            </a:r>
            <a:r>
              <a:rPr lang="zh-CN" altLang="en-US" sz="2000">
                <a:sym typeface="+mn-ea"/>
              </a:rPr>
              <a:t>空间。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>
                <a:sym typeface="+mn-ea"/>
              </a:rPr>
              <a:t>整个页目录覆盖</a:t>
            </a:r>
            <a:r>
              <a:rPr lang="en-US" altLang="zh-CN" sz="2000">
                <a:sym typeface="+mn-ea"/>
              </a:rPr>
              <a:t>2</a:t>
            </a:r>
            <a:r>
              <a:rPr lang="en-US" altLang="zh-CN" sz="2000" baseline="30000">
                <a:sym typeface="+mn-ea"/>
              </a:rPr>
              <a:t>39</a:t>
            </a:r>
            <a:r>
              <a:rPr lang="zh-CN" altLang="en-US" sz="2000">
                <a:sym typeface="+mn-ea"/>
              </a:rPr>
              <a:t>字节的虚拟地址空间，每个条目覆盖</a:t>
            </a:r>
            <a:r>
              <a:rPr lang="en-US" altLang="zh-CN" sz="2000">
                <a:sym typeface="+mn-ea"/>
              </a:rPr>
              <a:t>1GiB</a:t>
            </a:r>
            <a:r>
              <a:rPr lang="zh-CN" altLang="en-US" sz="2000">
                <a:sym typeface="+mn-ea"/>
              </a:rPr>
              <a:t>内存空间。各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>
                <a:sym typeface="+mn-ea"/>
              </a:rPr>
              <a:t>个位的意义与</a:t>
            </a:r>
            <a:r>
              <a:rPr lang="en-US" altLang="zh-CN" sz="2000">
                <a:sym typeface="+mn-ea"/>
              </a:rPr>
              <a:t>PML5</a:t>
            </a:r>
            <a:r>
              <a:rPr lang="zh-CN" altLang="en-US" sz="2000">
                <a:sym typeface="+mn-ea"/>
              </a:rPr>
              <a:t>一样；但这里多出了</a:t>
            </a:r>
            <a:r>
              <a:rPr lang="en-US" altLang="zh-CN" sz="2000">
                <a:sym typeface="+mn-ea"/>
              </a:rPr>
              <a:t>G</a:t>
            </a:r>
            <a:r>
              <a:rPr lang="zh-CN" altLang="en-US" sz="2000">
                <a:sym typeface="+mn-ea"/>
              </a:rPr>
              <a:t>，</a:t>
            </a:r>
            <a:r>
              <a:rPr lang="en-US" altLang="zh-CN" sz="2000">
                <a:sym typeface="+mn-ea"/>
              </a:rPr>
              <a:t>PS</a:t>
            </a:r>
            <a:r>
              <a:rPr lang="zh-CN" altLang="en-US" sz="2000">
                <a:sym typeface="+mn-ea"/>
              </a:rPr>
              <a:t>和</a:t>
            </a:r>
            <a:r>
              <a:rPr lang="en-US" altLang="zh-CN" sz="2000">
                <a:sym typeface="+mn-ea"/>
              </a:rPr>
              <a:t>D</a:t>
            </a:r>
            <a:r>
              <a:rPr lang="zh-CN" altLang="en-US" sz="2000">
                <a:sym typeface="+mn-ea"/>
              </a:rPr>
              <a:t>三个</a:t>
            </a:r>
            <a:r>
              <a:rPr lang="zh-CN" altLang="en-US" sz="2000">
                <a:sym typeface="+mn-ea"/>
              </a:rPr>
              <a:t>位。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第7位PS（Page Size）决定这个条目是对应一个下级页目录还是对应一个超</a:t>
            </a:r>
            <a:r>
              <a:rPr lang="zh-CN" altLang="en-US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级页（Super Page）。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如果为1，该条目将映射一个1GiB的页，且PGD表物理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地址处保存的就是这个巨型页的物理地址</a:t>
            </a:r>
            <a:r>
              <a:rPr lang="zh-CN" altLang="en-US" sz="2000">
                <a:sym typeface="+mn-ea"/>
              </a:rPr>
              <a:t>，它必须与</a:t>
            </a:r>
            <a:r>
              <a:rPr lang="en-US" altLang="zh-CN" sz="2000">
                <a:sym typeface="+mn-ea"/>
              </a:rPr>
              <a:t>1GB</a:t>
            </a:r>
            <a:r>
              <a:rPr lang="zh-CN" altLang="en-US" sz="2000">
                <a:sym typeface="+mn-ea"/>
              </a:rPr>
              <a:t>物理对齐（也即</a:t>
            </a:r>
            <a:r>
              <a:rPr lang="zh-CN" altLang="en-US" sz="2000">
                <a:sym typeface="+mn-ea"/>
              </a:rPr>
              <a:t>	</a:t>
            </a:r>
            <a:r>
              <a:rPr lang="en-US" altLang="zh-CN" sz="2000">
                <a:sym typeface="+mn-ea"/>
              </a:rPr>
              <a:t>[29:13]</a:t>
            </a:r>
            <a:r>
              <a:rPr lang="zh-CN" altLang="en-US" sz="2000">
                <a:sym typeface="+mn-ea"/>
              </a:rPr>
              <a:t>必须为</a:t>
            </a:r>
            <a:r>
              <a:rPr lang="en-US" altLang="zh-CN" sz="2000">
                <a:sym typeface="+mn-ea"/>
              </a:rPr>
              <a:t>0</a:t>
            </a:r>
            <a:r>
              <a:rPr lang="zh-CN" altLang="en-US" sz="2000">
                <a:sym typeface="+mn-ea"/>
              </a:rPr>
              <a:t>）；地址翻译到此就结束了。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在PS为1的前提下，如果该页是一个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全局映射</a:t>
            </a:r>
            <a:r>
              <a:rPr lang="zh-CN" altLang="en-US" sz="2000">
                <a:sym typeface="+mn-ea"/>
              </a:rPr>
              <a:t>，则可将第8位G（Global）置</a:t>
            </a:r>
            <a:r>
              <a:rPr lang="zh-CN" altLang="en-US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位。一旦该位置位，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在填充CR3时若TLB中有该页的项，则该项不被清除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第5位D（Dirty）</a:t>
            </a:r>
            <a:r>
              <a:rPr lang="zh-CN" altLang="en-US" sz="2000">
                <a:sym typeface="+mn-ea"/>
              </a:rPr>
              <a:t>是一个辅助位，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若CPU写过这个页，硬件将它置1</a:t>
            </a:r>
            <a:r>
              <a:rPr lang="zh-CN" altLang="en-US" sz="2000">
                <a:sym typeface="+mn-ea"/>
              </a:rPr>
              <a:t>。这个位		和A位有何不同？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问题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如允许映射一个</a:t>
            </a:r>
            <a:r>
              <a:rPr lang="en-US" altLang="zh-CN" sz="2000">
                <a:sym typeface="+mn-ea"/>
              </a:rPr>
              <a:t>1GiB</a:t>
            </a:r>
            <a:r>
              <a:rPr lang="zh-CN" altLang="en-US" sz="2000">
                <a:sym typeface="+mn-ea"/>
              </a:rPr>
              <a:t>的大超级页有什么好处？为什么在</a:t>
            </a:r>
            <a:r>
              <a:rPr lang="en-US" altLang="zh-CN" sz="2000">
                <a:sym typeface="+mn-ea"/>
              </a:rPr>
              <a:t>PML4</a:t>
            </a:r>
            <a:r>
              <a:rPr lang="zh-CN" altLang="en-US" sz="2000">
                <a:sym typeface="+mn-ea"/>
              </a:rPr>
              <a:t>和</a:t>
            </a:r>
            <a:r>
              <a:rPr lang="en-US" altLang="zh-CN" sz="2000">
                <a:sym typeface="+mn-ea"/>
              </a:rPr>
              <a:t>PML5</a:t>
            </a:r>
            <a:r>
              <a:rPr lang="zh-CN" altLang="en-US" sz="2000">
                <a:sym typeface="+mn-ea"/>
              </a:rPr>
              <a:t>处没有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这个</a:t>
            </a:r>
            <a:r>
              <a:rPr lang="zh-CN" altLang="en-US" sz="2000">
                <a:sym typeface="+mn-ea"/>
              </a:rPr>
              <a:t>选项？</a:t>
            </a:r>
            <a:endParaRPr lang="zh-CN" altLang="en-US" sz="2000">
              <a:sym typeface="+mn-ea"/>
            </a:endParaRPr>
          </a:p>
        </p:txBody>
      </p:sp>
      <p:graphicFrame>
        <p:nvGraphicFramePr>
          <p:cNvPr id="7" name="表格 6"/>
          <p:cNvGraphicFramePr/>
          <p:nvPr>
            <p:custDataLst>
              <p:tags r:id="rId2"/>
            </p:custDataLst>
          </p:nvPr>
        </p:nvGraphicFramePr>
        <p:xfrm>
          <a:off x="274320" y="1744345"/>
          <a:ext cx="9277986" cy="7924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79755"/>
                <a:gridCol w="920750"/>
                <a:gridCol w="1983105"/>
                <a:gridCol w="827088"/>
                <a:gridCol w="339408"/>
                <a:gridCol w="568702"/>
                <a:gridCol w="579934"/>
                <a:gridCol w="579874"/>
                <a:gridCol w="579874"/>
                <a:gridCol w="579874"/>
                <a:gridCol w="579874"/>
                <a:gridCol w="579874"/>
                <a:gridCol w="579874"/>
              </a:tblGrid>
              <a:tr h="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63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62 - M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M-1   -   12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11 - 9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8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7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6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5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4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1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0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X</a:t>
                      </a: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D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忽略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PGD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表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物理地址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忽略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G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PS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D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A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CD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WT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US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RW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P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主存储器分配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一、进程的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系统进程总览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进程的实现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内存分配的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x86-64内存管理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 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DLM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进程内分配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Linux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进程间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分配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Linux页面替换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三、系统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.2 进程的基本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操作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3.3 进程接口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266950" y="180340"/>
            <a:ext cx="55295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超级页（</a:t>
            </a:r>
            <a:r>
              <a:rPr lang="en-US" altLang="zh-CN" sz="2000" b="1">
                <a:solidFill>
                  <a:srgbClr val="9C0B15"/>
                </a:solidFill>
              </a:rPr>
              <a:t>Super </a:t>
            </a:r>
            <a:r>
              <a:rPr lang="en-US" altLang="zh-CN" sz="2000" b="1">
                <a:solidFill>
                  <a:srgbClr val="9C0B15"/>
                </a:solidFill>
              </a:rPr>
              <a:t>Page</a:t>
            </a:r>
            <a:r>
              <a:rPr lang="zh-CN" altLang="en-US" sz="2000" b="1">
                <a:solidFill>
                  <a:srgbClr val="9C0B15"/>
                </a:solidFill>
              </a:rPr>
              <a:t>）</a:t>
            </a:r>
            <a:endParaRPr lang="zh-CN" altLang="en-US" sz="2000" b="1">
              <a:solidFill>
                <a:srgbClr val="9C0B15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5415" y="609600"/>
            <a:ext cx="9523730" cy="59391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超级页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>
                <a:sym typeface="+mn-ea"/>
              </a:rPr>
              <a:t>在页式内存管理中，中间级别的页目录有时也被设计为允许直接映射一个巨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>
                <a:sym typeface="+mn-ea"/>
              </a:rPr>
              <a:t>大的页，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这个页的大小一般是下级页目录的全部大小</a:t>
            </a:r>
            <a:r>
              <a:rPr lang="zh-CN" altLang="en-US" sz="2000">
                <a:sym typeface="+mn-ea"/>
              </a:rPr>
              <a:t>。这使得系统中可以出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>
                <a:sym typeface="+mn-ea"/>
              </a:rPr>
              <a:t>现多种页大小，进一步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节约了系统页表存储空间和翻译时间</a:t>
            </a:r>
            <a:r>
              <a:rPr lang="zh-CN" altLang="en-US" sz="2000">
                <a:sym typeface="+mn-ea"/>
              </a:rPr>
              <a:t>，也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节省了TLB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条目</a:t>
            </a:r>
            <a:r>
              <a:rPr lang="zh-CN" altLang="en-US" sz="2000">
                <a:sym typeface="+mn-ea"/>
              </a:rPr>
              <a:t>。对于某些应用程序而言，分配超级页能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大大提升它们的性能，因为同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样的快表条目数量能覆盖大得多的内存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代价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超级页并非没有代价。首先失去的是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翻译的灵活性</a:t>
            </a:r>
            <a:r>
              <a:rPr lang="zh-CN" altLang="en-US" sz="2000">
                <a:sym typeface="+mn-ea"/>
              </a:rPr>
              <a:t>；一个超级页内部的地址，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无论是虚拟地址还是物理地址，都必须是连贯的。如果一个应用程序非超级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页不用，当系统中只剩下零碎的小页面时就无法给它分配了。这就会造成巨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大量</a:t>
            </a:r>
            <a:r>
              <a:rPr lang="zh-CN" altLang="en-US" sz="2000">
                <a:sym typeface="+mn-ea"/>
              </a:rPr>
              <a:t>的外部碎片。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此外，硬件也必须调整以适应这一变化，这会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增加成本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问题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为何</a:t>
            </a:r>
            <a:r>
              <a:rPr lang="en-US" altLang="zh-CN" sz="2000">
                <a:sym typeface="+mn-ea"/>
              </a:rPr>
              <a:t>PML5</a:t>
            </a:r>
            <a:r>
              <a:rPr lang="zh-CN" altLang="en-US" sz="2000">
                <a:sym typeface="+mn-ea"/>
              </a:rPr>
              <a:t>和</a:t>
            </a:r>
            <a:r>
              <a:rPr lang="en-US" altLang="zh-CN" sz="2000">
                <a:sym typeface="+mn-ea"/>
              </a:rPr>
              <a:t>PML4</a:t>
            </a:r>
            <a:r>
              <a:rPr lang="zh-CN" altLang="en-US" sz="2000">
                <a:sym typeface="+mn-ea"/>
              </a:rPr>
              <a:t>不提供超级页，从</a:t>
            </a:r>
            <a:r>
              <a:rPr lang="en-US" altLang="zh-CN" sz="2000">
                <a:sym typeface="+mn-ea"/>
              </a:rPr>
              <a:t>PDPT</a:t>
            </a:r>
            <a:r>
              <a:rPr lang="zh-CN" altLang="en-US" sz="2000">
                <a:sym typeface="+mn-ea"/>
              </a:rPr>
              <a:t>才开始提供？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PMLx</a:t>
            </a:r>
            <a:r>
              <a:rPr lang="en-US" altLang="zh-CN" sz="2000">
                <a:sym typeface="+mn-ea"/>
              </a:rPr>
              <a:t>	PML5</a:t>
            </a:r>
            <a:r>
              <a:rPr lang="zh-CN" altLang="en-US" sz="2000">
                <a:sym typeface="+mn-ea"/>
              </a:rPr>
              <a:t>和</a:t>
            </a:r>
            <a:r>
              <a:rPr lang="en-US" altLang="zh-CN" sz="2000">
                <a:sym typeface="+mn-ea"/>
              </a:rPr>
              <a:t>PML4</a:t>
            </a:r>
            <a:r>
              <a:rPr lang="zh-CN" altLang="en-US" sz="2000">
                <a:sym typeface="+mn-ea"/>
              </a:rPr>
              <a:t>的单个表项太大了。</a:t>
            </a:r>
            <a:r>
              <a:rPr lang="en-US" altLang="zh-CN" sz="2000">
                <a:sym typeface="+mn-ea"/>
              </a:rPr>
              <a:t>PML5</a:t>
            </a:r>
            <a:r>
              <a:rPr lang="zh-CN" altLang="en-US" sz="2000">
                <a:sym typeface="+mn-ea"/>
              </a:rPr>
              <a:t>的一个表项覆盖</a:t>
            </a:r>
            <a:r>
              <a:rPr lang="en-US" altLang="zh-CN" sz="2000">
                <a:sym typeface="+mn-ea"/>
              </a:rPr>
              <a:t>256TiB</a:t>
            </a:r>
            <a:r>
              <a:rPr lang="zh-CN" altLang="en-US" sz="2000">
                <a:sym typeface="+mn-ea"/>
              </a:rPr>
              <a:t>，</a:t>
            </a:r>
            <a:r>
              <a:rPr lang="en-US" altLang="zh-CN" sz="2000">
                <a:sym typeface="+mn-ea"/>
              </a:rPr>
              <a:t>PML4</a:t>
            </a:r>
            <a:r>
              <a:rPr lang="zh-CN" altLang="en-US" sz="2000">
                <a:sym typeface="+mn-ea"/>
              </a:rPr>
              <a:t>的单个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表项覆盖</a:t>
            </a:r>
            <a:r>
              <a:rPr lang="en-US" altLang="zh-CN" sz="2000">
                <a:sym typeface="+mn-ea"/>
              </a:rPr>
              <a:t>512GiB</a:t>
            </a:r>
            <a:r>
              <a:rPr lang="zh-CN" altLang="en-US" sz="2000">
                <a:sym typeface="+mn-ea"/>
              </a:rPr>
              <a:t>。至少在目前，难以想象什么应用程序会需要这么巨大的超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级页，因此为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节约成本</a:t>
            </a:r>
            <a:r>
              <a:rPr lang="zh-CN" altLang="en-US" sz="2000">
                <a:sym typeface="+mn-ea"/>
              </a:rPr>
              <a:t>起见现有硬件并不支持</a:t>
            </a:r>
            <a:r>
              <a:rPr lang="zh-CN" altLang="en-US" sz="2000">
                <a:sym typeface="+mn-ea"/>
              </a:rPr>
              <a:t>它们。</a:t>
            </a:r>
            <a:endParaRPr lang="zh-CN" altLang="en-US" sz="2000"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主存储器分配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一、进程的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系统进程总览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进程的实现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内存分配的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x86-64内存管理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 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DLM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进程内分配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Linux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进程间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分配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Linux页面替换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三、系统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.2 进程的基本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操作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3.3 进程接口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266950" y="180340"/>
            <a:ext cx="55295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全局页（</a:t>
            </a:r>
            <a:r>
              <a:rPr lang="en-US" altLang="zh-CN" sz="2000" b="1">
                <a:solidFill>
                  <a:srgbClr val="9C0B15"/>
                </a:solidFill>
              </a:rPr>
              <a:t>Global </a:t>
            </a:r>
            <a:r>
              <a:rPr lang="en-US" altLang="zh-CN" sz="2000" b="1">
                <a:solidFill>
                  <a:srgbClr val="9C0B15"/>
                </a:solidFill>
              </a:rPr>
              <a:t>Page</a:t>
            </a:r>
            <a:r>
              <a:rPr lang="zh-CN" altLang="en-US" sz="2000" b="1">
                <a:solidFill>
                  <a:srgbClr val="9C0B15"/>
                </a:solidFill>
              </a:rPr>
              <a:t>）</a:t>
            </a:r>
            <a:endParaRPr lang="zh-CN" altLang="en-US" sz="2000" b="1">
              <a:solidFill>
                <a:srgbClr val="9C0B15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5415" y="609600"/>
            <a:ext cx="9523730" cy="62471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TLB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清空的问题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>
                <a:sym typeface="+mn-ea"/>
              </a:rPr>
              <a:t>在操作系统的语境下，</a:t>
            </a:r>
            <a:r>
              <a:rPr lang="zh-CN" altLang="en-US" sz="2000">
                <a:sym typeface="+mn-ea"/>
              </a:rPr>
              <a:t>内核会被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映射到每个进程的高地址（映射为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仅内核模式可访问）</a:t>
            </a:r>
            <a:r>
              <a:rPr lang="zh-CN" altLang="en-US" sz="2000">
                <a:sym typeface="+mn-ea"/>
              </a:rPr>
              <a:t>，且和进程共享</a:t>
            </a:r>
            <a:r>
              <a:rPr lang="en-US" altLang="zh-CN" sz="2000">
                <a:sym typeface="+mn-ea"/>
              </a:rPr>
              <a:t>TLB</a:t>
            </a:r>
            <a:r>
              <a:rPr lang="zh-CN" altLang="en-US" sz="2000">
                <a:sym typeface="+mn-ea"/>
              </a:rPr>
              <a:t>。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每次进程切换时，TLB都		需要被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冲刷，那么属于内核的条目就也被清空了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ym typeface="+mn-ea"/>
              </a:rPr>
              <a:t>不过，因为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内核映射到每个进程的高地址的方法是一致的</a:t>
            </a:r>
            <a:r>
              <a:rPr lang="zh-CN" altLang="en-US" sz="2000">
                <a:sym typeface="+mn-ea"/>
              </a:rPr>
              <a:t>，实际上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ym typeface="+mn-ea"/>
              </a:rPr>
              <a:t>没有这样做的必要；在不同进程之间，虽然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进程的页面映射和工作		集会改变</a:t>
            </a:r>
            <a:r>
              <a:rPr lang="zh-CN" altLang="en-US" sz="2000">
                <a:sym typeface="+mn-ea"/>
              </a:rPr>
              <a:t>，但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内核的页面映射和工作集并不会变化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全局页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为了能够在切换进程时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不清除那些属于内核（或需要跨进程共享）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的页面的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TLB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条目</a:t>
            </a:r>
            <a:r>
              <a:rPr lang="zh-CN" altLang="en-US" sz="2000">
                <a:sym typeface="+mn-ea"/>
              </a:rPr>
              <a:t>，现代处理器都加入了全局页的机制。首先，在</a:t>
            </a:r>
            <a:r>
              <a:rPr lang="zh-CN" altLang="en-US" sz="2000">
                <a:sym typeface="+mn-ea"/>
              </a:rPr>
              <a:t>映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射内核的页面时，一律将</a:t>
            </a:r>
            <a:r>
              <a:rPr lang="en-US" altLang="zh-CN" sz="2000">
                <a:sym typeface="+mn-ea"/>
              </a:rPr>
              <a:t>G</a:t>
            </a:r>
            <a:r>
              <a:rPr lang="zh-CN" altLang="en-US" sz="2000">
                <a:sym typeface="+mn-ea"/>
              </a:rPr>
              <a:t>位置位，将它们映射为全局页面，这样</a:t>
            </a:r>
            <a:r>
              <a:rPr lang="en-US" altLang="zh-CN" sz="2000">
                <a:sym typeface="+mn-ea"/>
              </a:rPr>
              <a:t>			</a:t>
            </a:r>
            <a:r>
              <a:rPr lang="zh-CN" altLang="en-US" sz="2000">
                <a:sym typeface="+mn-ea"/>
              </a:rPr>
              <a:t>它们的条目就不会在</a:t>
            </a:r>
            <a:r>
              <a:rPr lang="en-US" altLang="zh-CN" sz="2000">
                <a:sym typeface="+mn-ea"/>
              </a:rPr>
              <a:t>TLB</a:t>
            </a:r>
            <a:r>
              <a:rPr lang="zh-CN" altLang="en-US" sz="2000">
                <a:sym typeface="+mn-ea"/>
              </a:rPr>
              <a:t>冲刷时被清空；</a:t>
            </a:r>
            <a:r>
              <a:rPr lang="en-US" altLang="zh-CN" sz="2000">
                <a:sym typeface="+mn-ea"/>
              </a:rPr>
              <a:t>TLB</a:t>
            </a:r>
            <a:r>
              <a:rPr lang="zh-CN" altLang="en-US" sz="2000">
                <a:sym typeface="+mn-ea"/>
              </a:rPr>
              <a:t>冲刷仅仅清理那些非全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局页的条目，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内核的条目则得到跨进程保留</a:t>
            </a:r>
            <a:r>
              <a:rPr lang="zh-CN" altLang="en-US" sz="2000">
                <a:sym typeface="+mn-ea"/>
              </a:rPr>
              <a:t>，提高了内核运行的效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率。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备注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将页面标记为全局页仅仅是一个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TLB清空豁免</a:t>
            </a:r>
            <a:r>
              <a:rPr lang="zh-CN" altLang="en-US" sz="2000">
                <a:sym typeface="+mn-ea"/>
              </a:rPr>
              <a:t>，这并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不能阻止它在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TLB已满时被其它页替换掉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全局页机制可以看作一种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优化</a:t>
            </a:r>
            <a:r>
              <a:rPr lang="zh-CN" altLang="en-US" sz="2000">
                <a:sym typeface="+mn-ea"/>
              </a:rPr>
              <a:t>，它使内核的工作集和应用程序的在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同一个地址空间</a:t>
            </a:r>
            <a:r>
              <a:rPr lang="zh-CN" altLang="en-US" sz="2000">
                <a:sym typeface="+mn-ea"/>
              </a:rPr>
              <a:t>内的工作集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得以分离</a:t>
            </a:r>
            <a:r>
              <a:rPr lang="zh-CN" altLang="en-US" sz="2000">
                <a:sym typeface="+mn-ea"/>
              </a:rPr>
              <a:t>，并在需要清理其中一个时不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干扰另一个。</a:t>
            </a:r>
            <a:endParaRPr lang="zh-CN" altLang="en-US" sz="2000"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主存储器分配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一、进程的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系统进程总览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进程的实现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内存分配的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x86-64内存管理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 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DLM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进程内分配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Linux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进程间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分配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Linux页面替换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三、系统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.2 进程的基本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操作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3.3 进程接口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266950" y="180340"/>
            <a:ext cx="55295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9C0B15"/>
                </a:solidFill>
              </a:rPr>
              <a:t>PGD</a:t>
            </a:r>
            <a:r>
              <a:rPr lang="zh-CN" altLang="en-US" sz="2000" b="1">
                <a:solidFill>
                  <a:srgbClr val="9C0B15"/>
                </a:solidFill>
              </a:rPr>
              <a:t>（</a:t>
            </a:r>
            <a:r>
              <a:rPr lang="en-US" altLang="zh-CN" sz="2000" b="1">
                <a:solidFill>
                  <a:srgbClr val="9C0B15"/>
                </a:solidFill>
              </a:rPr>
              <a:t>Page Directory</a:t>
            </a:r>
            <a:r>
              <a:rPr lang="zh-CN" altLang="en-US" sz="2000" b="1">
                <a:solidFill>
                  <a:srgbClr val="9C0B15"/>
                </a:solidFill>
              </a:rPr>
              <a:t>）</a:t>
            </a:r>
            <a:r>
              <a:rPr lang="en-US" altLang="zh-CN" sz="2000" b="1">
                <a:solidFill>
                  <a:srgbClr val="9C0B15"/>
                </a:solidFill>
              </a:rPr>
              <a:t>/PT</a:t>
            </a:r>
            <a:r>
              <a:rPr lang="zh-CN" altLang="en-US" sz="2000" b="1">
                <a:solidFill>
                  <a:srgbClr val="9C0B15"/>
                </a:solidFill>
              </a:rPr>
              <a:t>（</a:t>
            </a:r>
            <a:r>
              <a:rPr lang="en-US" altLang="zh-CN" sz="2000" b="1">
                <a:solidFill>
                  <a:srgbClr val="9C0B15"/>
                </a:solidFill>
              </a:rPr>
              <a:t>Page Table</a:t>
            </a:r>
            <a:r>
              <a:rPr lang="zh-CN" altLang="en-US" sz="2000" b="1">
                <a:solidFill>
                  <a:srgbClr val="9C0B15"/>
                </a:solidFill>
              </a:rPr>
              <a:t>）</a:t>
            </a:r>
            <a:endParaRPr lang="zh-CN" altLang="en-US" sz="2000" b="1">
              <a:solidFill>
                <a:srgbClr val="9C0B15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5415" y="609600"/>
            <a:ext cx="9523730" cy="40925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PGD	</a:t>
            </a:r>
            <a:r>
              <a:rPr lang="zh-CN" altLang="en-US" sz="2000">
                <a:sym typeface="+mn-ea"/>
              </a:rPr>
              <a:t>中间低层的页目录。它的每个条目占据</a:t>
            </a:r>
            <a:r>
              <a:rPr lang="en-US" altLang="zh-CN" sz="2000">
                <a:sym typeface="+mn-ea"/>
              </a:rPr>
              <a:t>8</a:t>
            </a:r>
            <a:r>
              <a:rPr lang="zh-CN" altLang="en-US" sz="2000">
                <a:sym typeface="+mn-ea"/>
              </a:rPr>
              <a:t>字节，共</a:t>
            </a:r>
            <a:r>
              <a:rPr lang="en-US" altLang="zh-CN" sz="2000">
                <a:sym typeface="+mn-ea"/>
              </a:rPr>
              <a:t>512</a:t>
            </a:r>
            <a:r>
              <a:rPr lang="zh-CN" altLang="en-US" sz="2000">
                <a:sym typeface="+mn-ea"/>
              </a:rPr>
              <a:t>个条目，占据</a:t>
            </a:r>
            <a:r>
              <a:rPr lang="en-US" altLang="zh-CN" sz="2000">
                <a:sym typeface="+mn-ea"/>
              </a:rPr>
              <a:t>4KiB</a:t>
            </a:r>
            <a:r>
              <a:rPr lang="zh-CN" altLang="en-US" sz="2000">
                <a:sym typeface="+mn-ea"/>
              </a:rPr>
              <a:t>空间。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>
                <a:sym typeface="+mn-ea"/>
              </a:rPr>
              <a:t>整个页目录覆盖</a:t>
            </a:r>
            <a:r>
              <a:rPr lang="en-US" altLang="zh-CN" sz="2000">
                <a:sym typeface="+mn-ea"/>
              </a:rPr>
              <a:t>2</a:t>
            </a:r>
            <a:r>
              <a:rPr lang="en-US" altLang="zh-CN" sz="2000" baseline="30000">
                <a:sym typeface="+mn-ea"/>
              </a:rPr>
              <a:t>30</a:t>
            </a:r>
            <a:r>
              <a:rPr lang="zh-CN" altLang="en-US" sz="2000">
                <a:sym typeface="+mn-ea"/>
              </a:rPr>
              <a:t>字节的虚拟地址空间，每个条目覆盖</a:t>
            </a:r>
            <a:r>
              <a:rPr lang="en-US" altLang="zh-CN" sz="2000">
                <a:sym typeface="+mn-ea"/>
              </a:rPr>
              <a:t>2</a:t>
            </a:r>
            <a:r>
              <a:rPr lang="en-US" altLang="zh-CN" sz="2000">
                <a:sym typeface="+mn-ea"/>
              </a:rPr>
              <a:t>MiB</a:t>
            </a:r>
            <a:r>
              <a:rPr lang="zh-CN" altLang="en-US" sz="2000">
                <a:sym typeface="+mn-ea"/>
              </a:rPr>
              <a:t>内存空间。各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ym typeface="+mn-ea"/>
              </a:rPr>
              <a:t>个位的意义与</a:t>
            </a:r>
            <a:r>
              <a:rPr lang="en-US" altLang="zh-CN" sz="2000">
                <a:sym typeface="+mn-ea"/>
              </a:rPr>
              <a:t>PDPT</a:t>
            </a:r>
            <a:r>
              <a:rPr lang="zh-CN" altLang="en-US" sz="2000">
                <a:sym typeface="+mn-ea"/>
              </a:rPr>
              <a:t>一样。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PT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最底层的页目录。</a:t>
            </a:r>
            <a:r>
              <a:rPr lang="zh-CN" altLang="en-US" sz="2000">
                <a:sym typeface="+mn-ea"/>
              </a:rPr>
              <a:t>它的每个条目占据</a:t>
            </a:r>
            <a:r>
              <a:rPr lang="en-US" altLang="zh-CN" sz="2000">
                <a:sym typeface="+mn-ea"/>
              </a:rPr>
              <a:t>8</a:t>
            </a:r>
            <a:r>
              <a:rPr lang="zh-CN" altLang="en-US" sz="2000">
                <a:sym typeface="+mn-ea"/>
              </a:rPr>
              <a:t>字节，共</a:t>
            </a:r>
            <a:r>
              <a:rPr lang="en-US" altLang="zh-CN" sz="2000">
                <a:sym typeface="+mn-ea"/>
              </a:rPr>
              <a:t>512</a:t>
            </a:r>
            <a:r>
              <a:rPr lang="zh-CN" altLang="en-US" sz="2000">
                <a:sym typeface="+mn-ea"/>
              </a:rPr>
              <a:t>个条目，占据</a:t>
            </a:r>
            <a:r>
              <a:rPr lang="en-US" altLang="zh-CN" sz="2000">
                <a:sym typeface="+mn-ea"/>
              </a:rPr>
              <a:t>4KiB</a:t>
            </a:r>
            <a:r>
              <a:rPr lang="zh-CN" altLang="en-US" sz="2000">
                <a:sym typeface="+mn-ea"/>
              </a:rPr>
              <a:t>空间。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>
                <a:sym typeface="+mn-ea"/>
              </a:rPr>
              <a:t>整个页目录覆盖</a:t>
            </a:r>
            <a:r>
              <a:rPr lang="en-US" altLang="zh-CN" sz="2000">
                <a:sym typeface="+mn-ea"/>
              </a:rPr>
              <a:t>2</a:t>
            </a:r>
            <a:r>
              <a:rPr lang="en-US" altLang="zh-CN" sz="2000" baseline="30000">
                <a:sym typeface="+mn-ea"/>
              </a:rPr>
              <a:t>21</a:t>
            </a:r>
            <a:r>
              <a:rPr lang="zh-CN" altLang="en-US" sz="2000">
                <a:sym typeface="+mn-ea"/>
              </a:rPr>
              <a:t>字节的虚拟地址空间，每个条目覆盖</a:t>
            </a:r>
            <a:r>
              <a:rPr lang="en-US" altLang="zh-CN" sz="2000">
                <a:sym typeface="+mn-ea"/>
              </a:rPr>
              <a:t>4KiB</a:t>
            </a:r>
            <a:r>
              <a:rPr lang="zh-CN" altLang="en-US" sz="2000">
                <a:sym typeface="+mn-ea"/>
              </a:rPr>
              <a:t>内存空间。各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ym typeface="+mn-ea"/>
              </a:rPr>
              <a:t>个位的意义与</a:t>
            </a:r>
            <a:r>
              <a:rPr lang="en-US" altLang="zh-CN" sz="2000">
                <a:sym typeface="+mn-ea"/>
              </a:rPr>
              <a:t>PDPT</a:t>
            </a:r>
            <a:r>
              <a:rPr lang="zh-CN" altLang="en-US" sz="2000">
                <a:sym typeface="+mn-ea"/>
              </a:rPr>
              <a:t>一样，除了此时无</a:t>
            </a:r>
            <a:r>
              <a:rPr lang="en-US" altLang="zh-CN" sz="2000">
                <a:sym typeface="+mn-ea"/>
              </a:rPr>
              <a:t>PS</a:t>
            </a:r>
            <a:r>
              <a:rPr lang="zh-CN" altLang="en-US" sz="2000">
                <a:sym typeface="+mn-ea"/>
              </a:rPr>
              <a:t>位外（因为这个页目录已经是最低级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>
                <a:sym typeface="+mn-ea"/>
              </a:rPr>
              <a:t>别，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不会再存在更低级别的页目录了</a:t>
            </a:r>
            <a:r>
              <a:rPr lang="zh-CN" altLang="en-US" sz="2000">
                <a:sym typeface="+mn-ea"/>
              </a:rPr>
              <a:t>）。</a:t>
            </a:r>
            <a:endParaRPr lang="zh-CN" altLang="en-US" sz="2000">
              <a:sym typeface="+mn-ea"/>
            </a:endParaRPr>
          </a:p>
        </p:txBody>
      </p:sp>
      <p:graphicFrame>
        <p:nvGraphicFramePr>
          <p:cNvPr id="7" name="表格 6"/>
          <p:cNvGraphicFramePr/>
          <p:nvPr>
            <p:custDataLst>
              <p:tags r:id="rId2"/>
            </p:custDataLst>
          </p:nvPr>
        </p:nvGraphicFramePr>
        <p:xfrm>
          <a:off x="274320" y="2054860"/>
          <a:ext cx="9277986" cy="7924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79755"/>
                <a:gridCol w="920750"/>
                <a:gridCol w="1983105"/>
                <a:gridCol w="827088"/>
                <a:gridCol w="339408"/>
                <a:gridCol w="568702"/>
                <a:gridCol w="579934"/>
                <a:gridCol w="579874"/>
                <a:gridCol w="579874"/>
                <a:gridCol w="579874"/>
                <a:gridCol w="579874"/>
                <a:gridCol w="579874"/>
                <a:gridCol w="579874"/>
              </a:tblGrid>
              <a:tr h="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63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62 - M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M-1   -   12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11 - 9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8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7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6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5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4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1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0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X</a:t>
                      </a: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D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忽略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PT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表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物理地址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忽略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G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PS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D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A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CD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WT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US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RW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P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表格 4"/>
          <p:cNvGraphicFramePr/>
          <p:nvPr>
            <p:custDataLst>
              <p:tags r:id="rId3"/>
            </p:custDataLst>
          </p:nvPr>
        </p:nvGraphicFramePr>
        <p:xfrm>
          <a:off x="274320" y="5181600"/>
          <a:ext cx="9277986" cy="7924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79755"/>
                <a:gridCol w="920750"/>
                <a:gridCol w="1590040"/>
                <a:gridCol w="863600"/>
                <a:gridCol w="540385"/>
                <a:gridCol w="724278"/>
                <a:gridCol w="579934"/>
                <a:gridCol w="579874"/>
                <a:gridCol w="579874"/>
                <a:gridCol w="579874"/>
                <a:gridCol w="579874"/>
                <a:gridCol w="579874"/>
                <a:gridCol w="579874"/>
              </a:tblGrid>
              <a:tr h="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63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62 - M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M-1   -   12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11 - 9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8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7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6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5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4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1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0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X</a:t>
                      </a: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D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忽略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页物理地址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忽略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G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忽略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D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A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CD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WT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US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RW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P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</p:spTree>
    <p:custDataLst>
      <p:tags r:id="rId4"/>
    </p:custData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45415" y="609600"/>
            <a:ext cx="9523730" cy="62471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跨进程工作集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>
                <a:sym typeface="+mn-ea"/>
              </a:rPr>
              <a:t>在前面讲过，一个应用程序的功能可能由多个进程互相通信完成。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ym typeface="+mn-ea"/>
              </a:rPr>
              <a:t>而且，一个线程可以在多个应用程序之间迁移。如果这种通信或迁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ym typeface="+mn-ea"/>
              </a:rPr>
              <a:t>移频繁发生，不同进程的执行可能会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频繁交替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ym typeface="+mn-ea"/>
              </a:rPr>
              <a:t>然而，每一次切换进程都会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彻底清除TLB的内容（除了内核的全局页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面）</a:t>
            </a:r>
            <a:r>
              <a:rPr lang="zh-CN" altLang="en-US" sz="2000">
                <a:sym typeface="+mn-ea"/>
              </a:rPr>
              <a:t>。这就不可避免地对性能造成</a:t>
            </a:r>
            <a:r>
              <a:rPr lang="zh-CN" altLang="en-US" sz="2000">
                <a:sym typeface="+mn-ea"/>
              </a:rPr>
              <a:t>负面影响。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问题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设上图中的两个线程在切换间仅各访问两次内存（不在同一个页</a:t>
            </a:r>
            <a:r>
              <a:rPr lang="en-US" altLang="zh-CN" sz="2000">
                <a:sym typeface="+mn-ea"/>
              </a:rPr>
              <a:t>			</a:t>
            </a:r>
            <a:r>
              <a:rPr lang="zh-CN" altLang="en-US" sz="2000">
                <a:sym typeface="+mn-ea"/>
              </a:rPr>
              <a:t>上），且</a:t>
            </a:r>
            <a:r>
              <a:rPr lang="en-US" altLang="zh-CN" sz="2000">
                <a:sym typeface="+mn-ea"/>
              </a:rPr>
              <a:t>TLB</a:t>
            </a:r>
            <a:r>
              <a:rPr lang="zh-CN" altLang="en-US" sz="2000">
                <a:sym typeface="+mn-ea"/>
              </a:rPr>
              <a:t>有</a:t>
            </a:r>
            <a:r>
              <a:rPr lang="en-US" altLang="zh-CN" sz="2000">
                <a:sym typeface="+mn-ea"/>
              </a:rPr>
              <a:t>4</a:t>
            </a:r>
            <a:r>
              <a:rPr lang="zh-CN" altLang="en-US" sz="2000">
                <a:sym typeface="+mn-ea"/>
              </a:rPr>
              <a:t>个表项。命中时访存延迟为</a:t>
            </a:r>
            <a:r>
              <a:rPr lang="en-US" altLang="zh-CN" sz="2000">
                <a:sym typeface="+mn-ea"/>
              </a:rPr>
              <a:t>1</a:t>
            </a:r>
            <a:r>
              <a:rPr lang="zh-CN" altLang="en-US" sz="2000">
                <a:sym typeface="+mn-ea"/>
              </a:rPr>
              <a:t>，否则为</a:t>
            </a:r>
            <a:r>
              <a:rPr lang="en-US" altLang="zh-CN" sz="2000">
                <a:sym typeface="+mn-ea"/>
              </a:rPr>
              <a:t>100</a:t>
            </a:r>
            <a:r>
              <a:rPr lang="zh-CN" altLang="en-US" sz="2000">
                <a:sym typeface="+mn-ea"/>
              </a:rPr>
              <a:t>，问：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（</a:t>
            </a:r>
            <a:r>
              <a:rPr lang="en-US" altLang="zh-CN" sz="2000">
                <a:sym typeface="+mn-ea"/>
              </a:rPr>
              <a:t>1</a:t>
            </a:r>
            <a:r>
              <a:rPr lang="zh-CN" altLang="en-US" sz="2000">
                <a:sym typeface="+mn-ea"/>
              </a:rPr>
              <a:t>）</a:t>
            </a:r>
            <a:r>
              <a:rPr lang="en-US" altLang="zh-CN" sz="2000">
                <a:sym typeface="+mn-ea"/>
              </a:rPr>
              <a:t>TLB</a:t>
            </a:r>
            <a:r>
              <a:rPr lang="zh-CN" altLang="en-US" sz="2000">
                <a:sym typeface="+mn-ea"/>
              </a:rPr>
              <a:t>的</a:t>
            </a:r>
            <a:r>
              <a:rPr lang="zh-CN" altLang="en-US" sz="2000">
                <a:sym typeface="+mn-ea"/>
              </a:rPr>
              <a:t>最大利用率</a:t>
            </a:r>
            <a:r>
              <a:rPr lang="zh-CN" altLang="en-US" sz="2000">
                <a:sym typeface="+mn-ea"/>
              </a:rPr>
              <a:t>是多少？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（</a:t>
            </a:r>
            <a:r>
              <a:rPr lang="en-US" altLang="zh-CN" sz="2000">
                <a:sym typeface="+mn-ea"/>
              </a:rPr>
              <a:t>2</a:t>
            </a:r>
            <a:r>
              <a:rPr lang="zh-CN" altLang="en-US" sz="2000">
                <a:sym typeface="+mn-ea"/>
              </a:rPr>
              <a:t>）两个线程在同一个进程内可以节约</a:t>
            </a:r>
            <a:r>
              <a:rPr lang="zh-CN" altLang="en-US" sz="2000">
                <a:sym typeface="+mn-ea"/>
              </a:rPr>
              <a:t>多少访存延迟？</a:t>
            </a:r>
            <a:endParaRPr lang="zh-CN" altLang="en-US" sz="2000">
              <a:sym typeface="+mn-ea"/>
            </a:endParaRPr>
          </a:p>
        </p:txBody>
      </p:sp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6078220" y="2614930"/>
            <a:ext cx="2298700" cy="2662555"/>
          </a:xfrm>
          <a:prstGeom prst="rect">
            <a:avLst/>
          </a:prstGeom>
          <a:solidFill>
            <a:srgbClr val="D02F35">
              <a:alpha val="25000"/>
            </a:srgb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p>
            <a:pPr algn="ctr"/>
            <a:r>
              <a:rPr lang="zh-CN" altLang="en-US" b="1">
                <a:solidFill>
                  <a:schemeClr val="tx1"/>
                </a:solidFill>
              </a:rPr>
              <a:t>进程</a:t>
            </a:r>
            <a:r>
              <a:rPr lang="en-US" altLang="zh-CN" b="1">
                <a:solidFill>
                  <a:schemeClr val="tx1"/>
                </a:solidFill>
              </a:rPr>
              <a:t>2</a:t>
            </a:r>
            <a:endParaRPr lang="en-US" altLang="zh-CN" b="1">
              <a:solidFill>
                <a:schemeClr val="tx1"/>
              </a:solidFill>
            </a:endParaRPr>
          </a:p>
        </p:txBody>
      </p:sp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2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主存储器分配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一、进程的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系统进程总览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进程的实现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内存分配的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x86-64内存管理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 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DLM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进程内分配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Linux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进程间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分配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Linux页面替换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三、系统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.2 进程的基本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操作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3.3 进程接口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809750" y="180340"/>
            <a:ext cx="67271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地址空间编号（</a:t>
            </a:r>
            <a:r>
              <a:rPr lang="en-US" altLang="zh-CN" sz="2000" b="1">
                <a:solidFill>
                  <a:srgbClr val="9C0B15"/>
                </a:solidFill>
              </a:rPr>
              <a:t>Address Space ID/Process Context ID</a:t>
            </a:r>
            <a:r>
              <a:rPr lang="zh-CN" altLang="en-US" sz="2000" b="1">
                <a:solidFill>
                  <a:srgbClr val="9C0B15"/>
                </a:solidFill>
              </a:rPr>
              <a:t>）</a:t>
            </a:r>
            <a:endParaRPr lang="zh-CN" altLang="en-US" sz="2000" b="1">
              <a:solidFill>
                <a:srgbClr val="9C0B15"/>
              </a:solidFill>
            </a:endParaRPr>
          </a:p>
        </p:txBody>
      </p:sp>
      <p:sp>
        <p:nvSpPr>
          <p:cNvPr id="26" name="矩形 25"/>
          <p:cNvSpPr/>
          <p:nvPr>
            <p:custDataLst>
              <p:tags r:id="rId3"/>
            </p:custDataLst>
          </p:nvPr>
        </p:nvSpPr>
        <p:spPr>
          <a:xfrm>
            <a:off x="2786380" y="2614930"/>
            <a:ext cx="2298700" cy="2662555"/>
          </a:xfrm>
          <a:prstGeom prst="rect">
            <a:avLst/>
          </a:prstGeom>
          <a:solidFill>
            <a:srgbClr val="D02F35">
              <a:alpha val="25000"/>
            </a:srgb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p>
            <a:pPr algn="ctr"/>
            <a:r>
              <a:rPr lang="zh-CN" altLang="en-US" b="1">
                <a:solidFill>
                  <a:schemeClr val="tx1"/>
                </a:solidFill>
              </a:rPr>
              <a:t>进程</a:t>
            </a:r>
            <a:r>
              <a:rPr lang="en-US" altLang="zh-CN" b="1">
                <a:solidFill>
                  <a:schemeClr val="tx1"/>
                </a:solidFill>
              </a:rPr>
              <a:t>1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60" name="任意多边形 59"/>
          <p:cNvSpPr/>
          <p:nvPr>
            <p:custDataLst>
              <p:tags r:id="rId4"/>
            </p:custDataLst>
          </p:nvPr>
        </p:nvSpPr>
        <p:spPr>
          <a:xfrm>
            <a:off x="7065645" y="3192145"/>
            <a:ext cx="324485" cy="1861820"/>
          </a:xfrm>
          <a:custGeom>
            <a:avLst/>
            <a:gdLst>
              <a:gd name="connisteX0" fmla="*/ 276519 w 324439"/>
              <a:gd name="connsiteY0" fmla="*/ 0 h 828675"/>
              <a:gd name="connisteX1" fmla="*/ 294 w 324439"/>
              <a:gd name="connsiteY1" fmla="*/ 209550 h 828675"/>
              <a:gd name="connisteX2" fmla="*/ 324144 w 324439"/>
              <a:gd name="connsiteY2" fmla="*/ 561975 h 828675"/>
              <a:gd name="connisteX3" fmla="*/ 47919 w 324439"/>
              <a:gd name="connsiteY3" fmla="*/ 828675 h 82867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324439" h="828675">
                <a:moveTo>
                  <a:pt x="276520" y="0"/>
                </a:moveTo>
                <a:cubicBezTo>
                  <a:pt x="214925" y="34925"/>
                  <a:pt x="-9230" y="97155"/>
                  <a:pt x="295" y="209550"/>
                </a:cubicBezTo>
                <a:cubicBezTo>
                  <a:pt x="9820" y="321945"/>
                  <a:pt x="314620" y="438150"/>
                  <a:pt x="324145" y="561975"/>
                </a:cubicBezTo>
                <a:cubicBezTo>
                  <a:pt x="333670" y="685800"/>
                  <a:pt x="109515" y="782320"/>
                  <a:pt x="47920" y="828675"/>
                </a:cubicBezTo>
              </a:path>
            </a:pathLst>
          </a:custGeom>
          <a:noFill/>
          <a:ln w="76200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3" name="任意多边形 62"/>
          <p:cNvSpPr/>
          <p:nvPr>
            <p:custDataLst>
              <p:tags r:id="rId5"/>
            </p:custDataLst>
          </p:nvPr>
        </p:nvSpPr>
        <p:spPr>
          <a:xfrm>
            <a:off x="3773170" y="3192145"/>
            <a:ext cx="324485" cy="1861820"/>
          </a:xfrm>
          <a:custGeom>
            <a:avLst/>
            <a:gdLst>
              <a:gd name="connisteX0" fmla="*/ 276519 w 324439"/>
              <a:gd name="connsiteY0" fmla="*/ 0 h 828675"/>
              <a:gd name="connisteX1" fmla="*/ 294 w 324439"/>
              <a:gd name="connsiteY1" fmla="*/ 209550 h 828675"/>
              <a:gd name="connisteX2" fmla="*/ 324144 w 324439"/>
              <a:gd name="connsiteY2" fmla="*/ 561975 h 828675"/>
              <a:gd name="connisteX3" fmla="*/ 47919 w 324439"/>
              <a:gd name="connsiteY3" fmla="*/ 828675 h 82867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324439" h="828675">
                <a:moveTo>
                  <a:pt x="276520" y="0"/>
                </a:moveTo>
                <a:cubicBezTo>
                  <a:pt x="214925" y="34925"/>
                  <a:pt x="-9230" y="97155"/>
                  <a:pt x="295" y="209550"/>
                </a:cubicBezTo>
                <a:cubicBezTo>
                  <a:pt x="9820" y="321945"/>
                  <a:pt x="314620" y="438150"/>
                  <a:pt x="324145" y="561975"/>
                </a:cubicBezTo>
                <a:cubicBezTo>
                  <a:pt x="333670" y="685800"/>
                  <a:pt x="109515" y="782320"/>
                  <a:pt x="47920" y="828675"/>
                </a:cubicBezTo>
              </a:path>
            </a:pathLst>
          </a:custGeom>
          <a:noFill/>
          <a:ln w="76200">
            <a:solidFill>
              <a:srgbClr val="D02F3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6" name="直接箭头连接符 5"/>
          <p:cNvCxnSpPr/>
          <p:nvPr>
            <p:custDataLst>
              <p:tags r:id="rId6"/>
            </p:custDataLst>
          </p:nvPr>
        </p:nvCxnSpPr>
        <p:spPr>
          <a:xfrm flipV="1">
            <a:off x="4264660" y="3284855"/>
            <a:ext cx="2862580" cy="9525"/>
          </a:xfrm>
          <a:prstGeom prst="straightConnector1">
            <a:avLst/>
          </a:prstGeom>
          <a:ln w="38100">
            <a:solidFill>
              <a:srgbClr val="D02F3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>
            <p:custDataLst>
              <p:tags r:id="rId7"/>
            </p:custDataLst>
          </p:nvPr>
        </p:nvCxnSpPr>
        <p:spPr>
          <a:xfrm flipH="1">
            <a:off x="3935730" y="3751580"/>
            <a:ext cx="3018155" cy="0"/>
          </a:xfrm>
          <a:prstGeom prst="straightConnector1">
            <a:avLst/>
          </a:prstGeom>
          <a:ln w="38100">
            <a:solidFill>
              <a:srgbClr val="D02F3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>
            <p:custDataLst>
              <p:tags r:id="rId8"/>
            </p:custDataLst>
          </p:nvPr>
        </p:nvCxnSpPr>
        <p:spPr>
          <a:xfrm flipV="1">
            <a:off x="4237355" y="4245610"/>
            <a:ext cx="2890520" cy="8890"/>
          </a:xfrm>
          <a:prstGeom prst="straightConnector1">
            <a:avLst/>
          </a:prstGeom>
          <a:ln w="38100">
            <a:solidFill>
              <a:srgbClr val="D02F3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>
            <p:custDataLst>
              <p:tags r:id="rId9"/>
            </p:custDataLst>
          </p:nvPr>
        </p:nvCxnSpPr>
        <p:spPr>
          <a:xfrm flipH="1" flipV="1">
            <a:off x="4182110" y="4775200"/>
            <a:ext cx="2917825" cy="10160"/>
          </a:xfrm>
          <a:prstGeom prst="straightConnector1">
            <a:avLst/>
          </a:prstGeom>
          <a:ln w="38100">
            <a:solidFill>
              <a:srgbClr val="D02F3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0"/>
    </p:custData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主存储器分配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一、进程的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系统进程总览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进程的实现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内存分配的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x86-64内存管理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 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DLM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进程内分配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Linux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进程间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分配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Linux页面替换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三、系统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.2 进程的基本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操作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3.3 进程接口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809750" y="180340"/>
            <a:ext cx="67271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地址空间编号（</a:t>
            </a:r>
            <a:r>
              <a:rPr lang="en-US" altLang="zh-CN" sz="2000" b="1">
                <a:solidFill>
                  <a:srgbClr val="9C0B15"/>
                </a:solidFill>
              </a:rPr>
              <a:t>Address Space ID/Process Context ID</a:t>
            </a:r>
            <a:r>
              <a:rPr lang="zh-CN" altLang="en-US" sz="2000" b="1">
                <a:solidFill>
                  <a:srgbClr val="9C0B15"/>
                </a:solidFill>
              </a:rPr>
              <a:t>）</a:t>
            </a:r>
            <a:endParaRPr lang="zh-CN" altLang="en-US" sz="2000" b="1">
              <a:solidFill>
                <a:srgbClr val="9C0B15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5415" y="609600"/>
            <a:ext cx="9523730" cy="31692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工作集共存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如果能够在切换进程时，保留上一个进程的</a:t>
            </a:r>
            <a:r>
              <a:rPr lang="en-US" altLang="zh-CN" sz="2000">
                <a:sym typeface="+mn-ea"/>
              </a:rPr>
              <a:t>TLB</a:t>
            </a:r>
            <a:r>
              <a:rPr lang="zh-CN" altLang="en-US" sz="2000">
                <a:sym typeface="+mn-ea"/>
              </a:rPr>
              <a:t>内容就可以让它们的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工作集共存了。但是，简单地这样做会导致两个进程的条目在</a:t>
            </a:r>
            <a:r>
              <a:rPr lang="en-US" altLang="zh-CN" sz="2000">
                <a:sym typeface="+mn-ea"/>
              </a:rPr>
              <a:t>TLB</a:t>
            </a:r>
            <a:r>
              <a:rPr lang="zh-CN" altLang="en-US" sz="2000">
                <a:sym typeface="+mn-ea"/>
              </a:rPr>
              <a:t>中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同时存在，从而破坏进程的边界。如果能够发明一种机制，让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仅属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于当前进程的TLB条目发挥作用</a:t>
            </a:r>
            <a:r>
              <a:rPr lang="zh-CN" altLang="en-US" sz="2000">
                <a:sym typeface="+mn-ea"/>
              </a:rPr>
              <a:t>，而其它进程的</a:t>
            </a:r>
            <a:r>
              <a:rPr lang="en-US" altLang="zh-CN" sz="2000">
                <a:sym typeface="+mn-ea"/>
              </a:rPr>
              <a:t>TLB</a:t>
            </a:r>
            <a:r>
              <a:rPr lang="zh-CN" altLang="en-US" sz="2000">
                <a:sym typeface="+mn-ea"/>
              </a:rPr>
              <a:t>条目不发挥作用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就好了。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地址空间编号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一种能使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不同进程的TLB条目共存，但仅使当前进程的条目生效</a:t>
            </a:r>
            <a:r>
              <a:rPr lang="zh-CN" altLang="en-US" sz="2000">
                <a:sym typeface="+mn-ea"/>
              </a:rPr>
              <a:t>的手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段。不同的进程被赋予了不同的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编号</a:t>
            </a:r>
            <a:r>
              <a:rPr lang="zh-CN" altLang="en-US" sz="2000">
                <a:sym typeface="+mn-ea"/>
              </a:rPr>
              <a:t>，在切换其页表时被一起装入</a:t>
            </a:r>
            <a:r>
              <a:rPr lang="en-US" altLang="zh-CN" sz="2000">
                <a:sym typeface="+mn-ea"/>
              </a:rPr>
              <a:t>		</a:t>
            </a:r>
            <a:r>
              <a:rPr lang="en-US" altLang="zh-CN" sz="2000">
                <a:sym typeface="+mn-ea"/>
              </a:rPr>
              <a:t>CR3</a:t>
            </a:r>
            <a:r>
              <a:rPr lang="zh-CN" altLang="en-US" sz="2000">
                <a:sym typeface="+mn-ea"/>
              </a:rPr>
              <a:t>寄存器。在</a:t>
            </a:r>
            <a:r>
              <a:rPr lang="en-US" altLang="zh-CN" sz="2000">
                <a:sym typeface="+mn-ea"/>
              </a:rPr>
              <a:t>TLB</a:t>
            </a:r>
            <a:r>
              <a:rPr lang="zh-CN" altLang="en-US" sz="2000">
                <a:sym typeface="+mn-ea"/>
              </a:rPr>
              <a:t>条目填充时，该编号被一起填充进</a:t>
            </a:r>
            <a:r>
              <a:rPr lang="en-US" altLang="zh-CN" sz="2000">
                <a:sym typeface="+mn-ea"/>
              </a:rPr>
              <a:t>TLB</a:t>
            </a:r>
            <a:r>
              <a:rPr lang="zh-CN" altLang="en-US" sz="2000">
                <a:sym typeface="+mn-ea"/>
              </a:rPr>
              <a:t>；同时，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只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有编号与CR3中的编号相同的TLB条目才起效，其余条目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视为无效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2407285" y="5173345"/>
            <a:ext cx="1532255" cy="354330"/>
          </a:xfrm>
          <a:prstGeom prst="rect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bg1"/>
                </a:solidFill>
                <a:sym typeface="+mn-ea"/>
              </a:rPr>
              <a:t>TLB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条目</a:t>
            </a: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6" name="矩形 5"/>
          <p:cNvSpPr/>
          <p:nvPr>
            <p:custDataLst>
              <p:tags r:id="rId3"/>
            </p:custDataLst>
          </p:nvPr>
        </p:nvSpPr>
        <p:spPr>
          <a:xfrm>
            <a:off x="3939540" y="5173345"/>
            <a:ext cx="1532255" cy="354330"/>
          </a:xfrm>
          <a:prstGeom prst="rect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bg1"/>
                </a:solidFill>
                <a:sym typeface="+mn-ea"/>
              </a:rPr>
              <a:t>ASID=0</a:t>
            </a:r>
            <a:endParaRPr lang="en-US" altLang="zh-CN">
              <a:solidFill>
                <a:schemeClr val="bg1"/>
              </a:solidFill>
              <a:sym typeface="+mn-ea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>
            <a:off x="2407285" y="5527675"/>
            <a:ext cx="1532255" cy="354330"/>
          </a:xfrm>
          <a:prstGeom prst="rect">
            <a:avLst/>
          </a:prstGeom>
          <a:solidFill>
            <a:srgbClr val="BFBFBF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sym typeface="+mn-ea"/>
              </a:rPr>
              <a:t>TLB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条目</a:t>
            </a: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8" name="矩形 7"/>
          <p:cNvSpPr/>
          <p:nvPr>
            <p:custDataLst>
              <p:tags r:id="rId5"/>
            </p:custDataLst>
          </p:nvPr>
        </p:nvSpPr>
        <p:spPr>
          <a:xfrm>
            <a:off x="3939540" y="5527675"/>
            <a:ext cx="1532255" cy="354330"/>
          </a:xfrm>
          <a:prstGeom prst="rect">
            <a:avLst/>
          </a:prstGeom>
          <a:solidFill>
            <a:srgbClr val="BFBFBF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sym typeface="+mn-ea"/>
              </a:rPr>
              <a:t>ASID=1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sp>
        <p:nvSpPr>
          <p:cNvPr id="9" name="矩形 8"/>
          <p:cNvSpPr/>
          <p:nvPr>
            <p:custDataLst>
              <p:tags r:id="rId6"/>
            </p:custDataLst>
          </p:nvPr>
        </p:nvSpPr>
        <p:spPr>
          <a:xfrm>
            <a:off x="2407285" y="5882005"/>
            <a:ext cx="1532255" cy="354330"/>
          </a:xfrm>
          <a:prstGeom prst="rect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bg1"/>
                </a:solidFill>
                <a:sym typeface="+mn-ea"/>
              </a:rPr>
              <a:t>TLB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条目</a:t>
            </a: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13" name="矩形 12"/>
          <p:cNvSpPr/>
          <p:nvPr>
            <p:custDataLst>
              <p:tags r:id="rId7"/>
            </p:custDataLst>
          </p:nvPr>
        </p:nvSpPr>
        <p:spPr>
          <a:xfrm>
            <a:off x="3939540" y="5882005"/>
            <a:ext cx="1532255" cy="354330"/>
          </a:xfrm>
          <a:prstGeom prst="rect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bg1"/>
                </a:solidFill>
                <a:sym typeface="+mn-ea"/>
              </a:rPr>
              <a:t>ASID=0</a:t>
            </a:r>
            <a:endParaRPr lang="en-US" altLang="zh-CN">
              <a:solidFill>
                <a:schemeClr val="bg1"/>
              </a:solidFill>
              <a:sym typeface="+mn-ea"/>
            </a:endParaRPr>
          </a:p>
        </p:txBody>
      </p:sp>
      <p:sp>
        <p:nvSpPr>
          <p:cNvPr id="25" name="矩形 24"/>
          <p:cNvSpPr/>
          <p:nvPr>
            <p:custDataLst>
              <p:tags r:id="rId8"/>
            </p:custDataLst>
          </p:nvPr>
        </p:nvSpPr>
        <p:spPr>
          <a:xfrm>
            <a:off x="2407285" y="6236335"/>
            <a:ext cx="1532255" cy="354330"/>
          </a:xfrm>
          <a:prstGeom prst="rect">
            <a:avLst/>
          </a:prstGeom>
          <a:solidFill>
            <a:srgbClr val="BFBFBF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sym typeface="+mn-ea"/>
              </a:rPr>
              <a:t>TLB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条目</a:t>
            </a: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26" name="矩形 25"/>
          <p:cNvSpPr/>
          <p:nvPr>
            <p:custDataLst>
              <p:tags r:id="rId9"/>
            </p:custDataLst>
          </p:nvPr>
        </p:nvSpPr>
        <p:spPr>
          <a:xfrm>
            <a:off x="3939540" y="6236335"/>
            <a:ext cx="1532255" cy="354330"/>
          </a:xfrm>
          <a:prstGeom prst="rect">
            <a:avLst/>
          </a:prstGeom>
          <a:solidFill>
            <a:srgbClr val="BFBFBF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sym typeface="+mn-ea"/>
              </a:rPr>
              <a:t>ASID=1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sp>
        <p:nvSpPr>
          <p:cNvPr id="28" name="矩形 27"/>
          <p:cNvSpPr/>
          <p:nvPr>
            <p:custDataLst>
              <p:tags r:id="rId10"/>
            </p:custDataLst>
          </p:nvPr>
        </p:nvSpPr>
        <p:spPr>
          <a:xfrm>
            <a:off x="6019165" y="5173345"/>
            <a:ext cx="1532255" cy="354330"/>
          </a:xfrm>
          <a:prstGeom prst="rect">
            <a:avLst/>
          </a:prstGeom>
          <a:solidFill>
            <a:srgbClr val="BFBFBF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sym typeface="+mn-ea"/>
              </a:rPr>
              <a:t>TLB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条目</a:t>
            </a: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60" name="矩形 59"/>
          <p:cNvSpPr/>
          <p:nvPr>
            <p:custDataLst>
              <p:tags r:id="rId11"/>
            </p:custDataLst>
          </p:nvPr>
        </p:nvSpPr>
        <p:spPr>
          <a:xfrm>
            <a:off x="7551420" y="5173345"/>
            <a:ext cx="1532255" cy="354330"/>
          </a:xfrm>
          <a:prstGeom prst="rect">
            <a:avLst/>
          </a:prstGeom>
          <a:solidFill>
            <a:srgbClr val="BFBFBF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sym typeface="+mn-ea"/>
              </a:rPr>
              <a:t>ASID=0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sp>
        <p:nvSpPr>
          <p:cNvPr id="61" name="矩形 60"/>
          <p:cNvSpPr/>
          <p:nvPr>
            <p:custDataLst>
              <p:tags r:id="rId12"/>
            </p:custDataLst>
          </p:nvPr>
        </p:nvSpPr>
        <p:spPr>
          <a:xfrm>
            <a:off x="6019165" y="5527675"/>
            <a:ext cx="1532255" cy="354330"/>
          </a:xfrm>
          <a:prstGeom prst="rect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bg1"/>
                </a:solidFill>
                <a:sym typeface="+mn-ea"/>
              </a:rPr>
              <a:t>TLB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条目</a:t>
            </a: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62" name="矩形 61"/>
          <p:cNvSpPr/>
          <p:nvPr>
            <p:custDataLst>
              <p:tags r:id="rId13"/>
            </p:custDataLst>
          </p:nvPr>
        </p:nvSpPr>
        <p:spPr>
          <a:xfrm>
            <a:off x="7551420" y="5527675"/>
            <a:ext cx="1532255" cy="354330"/>
          </a:xfrm>
          <a:prstGeom prst="rect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bg1"/>
                </a:solidFill>
                <a:sym typeface="+mn-ea"/>
              </a:rPr>
              <a:t>ASID=1</a:t>
            </a:r>
            <a:endParaRPr lang="en-US" altLang="zh-CN">
              <a:solidFill>
                <a:schemeClr val="bg1"/>
              </a:solidFill>
              <a:sym typeface="+mn-ea"/>
            </a:endParaRPr>
          </a:p>
        </p:txBody>
      </p:sp>
      <p:sp>
        <p:nvSpPr>
          <p:cNvPr id="63" name="矩形 62"/>
          <p:cNvSpPr/>
          <p:nvPr>
            <p:custDataLst>
              <p:tags r:id="rId14"/>
            </p:custDataLst>
          </p:nvPr>
        </p:nvSpPr>
        <p:spPr>
          <a:xfrm>
            <a:off x="6019165" y="5882005"/>
            <a:ext cx="1532255" cy="354330"/>
          </a:xfrm>
          <a:prstGeom prst="rect">
            <a:avLst/>
          </a:prstGeom>
          <a:solidFill>
            <a:srgbClr val="BFBFBF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sym typeface="+mn-ea"/>
              </a:rPr>
              <a:t>TLB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条目</a:t>
            </a: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64" name="矩形 63"/>
          <p:cNvSpPr/>
          <p:nvPr>
            <p:custDataLst>
              <p:tags r:id="rId15"/>
            </p:custDataLst>
          </p:nvPr>
        </p:nvSpPr>
        <p:spPr>
          <a:xfrm>
            <a:off x="7551420" y="5882005"/>
            <a:ext cx="1532255" cy="354330"/>
          </a:xfrm>
          <a:prstGeom prst="rect">
            <a:avLst/>
          </a:prstGeom>
          <a:solidFill>
            <a:srgbClr val="BFBFBF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sym typeface="+mn-ea"/>
              </a:rPr>
              <a:t>ASID=0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sp>
        <p:nvSpPr>
          <p:cNvPr id="67" name="矩形 66"/>
          <p:cNvSpPr/>
          <p:nvPr>
            <p:custDataLst>
              <p:tags r:id="rId16"/>
            </p:custDataLst>
          </p:nvPr>
        </p:nvSpPr>
        <p:spPr>
          <a:xfrm>
            <a:off x="6019165" y="6236335"/>
            <a:ext cx="1532255" cy="354330"/>
          </a:xfrm>
          <a:prstGeom prst="rect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bg1"/>
                </a:solidFill>
                <a:sym typeface="+mn-ea"/>
              </a:rPr>
              <a:t>TLB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条目</a:t>
            </a: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68" name="矩形 67"/>
          <p:cNvSpPr/>
          <p:nvPr>
            <p:custDataLst>
              <p:tags r:id="rId17"/>
            </p:custDataLst>
          </p:nvPr>
        </p:nvSpPr>
        <p:spPr>
          <a:xfrm>
            <a:off x="7551420" y="6236335"/>
            <a:ext cx="1532255" cy="354330"/>
          </a:xfrm>
          <a:prstGeom prst="rect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bg1"/>
                </a:solidFill>
                <a:sym typeface="+mn-ea"/>
              </a:rPr>
              <a:t>ASID=1</a:t>
            </a:r>
            <a:endParaRPr lang="en-US" altLang="zh-CN">
              <a:solidFill>
                <a:schemeClr val="bg1"/>
              </a:solidFill>
              <a:sym typeface="+mn-ea"/>
            </a:endParaRPr>
          </a:p>
        </p:txBody>
      </p:sp>
      <p:sp>
        <p:nvSpPr>
          <p:cNvPr id="70" name="矩形 69"/>
          <p:cNvSpPr/>
          <p:nvPr>
            <p:custDataLst>
              <p:tags r:id="rId18"/>
            </p:custDataLst>
          </p:nvPr>
        </p:nvSpPr>
        <p:spPr>
          <a:xfrm>
            <a:off x="6380480" y="3778885"/>
            <a:ext cx="2298700" cy="1224280"/>
          </a:xfrm>
          <a:prstGeom prst="rect">
            <a:avLst/>
          </a:prstGeom>
          <a:solidFill>
            <a:srgbClr val="D02F35">
              <a:alpha val="25000"/>
            </a:srgb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p>
            <a:pPr algn="ctr"/>
            <a:r>
              <a:rPr lang="zh-CN" altLang="en-US" b="1">
                <a:solidFill>
                  <a:schemeClr val="tx1"/>
                </a:solidFill>
              </a:rPr>
              <a:t>进程</a:t>
            </a:r>
            <a:r>
              <a:rPr lang="en-US" altLang="zh-CN" b="1">
                <a:solidFill>
                  <a:schemeClr val="tx1"/>
                </a:solidFill>
              </a:rPr>
              <a:t>2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71" name="矩形 70"/>
          <p:cNvSpPr/>
          <p:nvPr>
            <p:custDataLst>
              <p:tags r:id="rId19"/>
            </p:custDataLst>
          </p:nvPr>
        </p:nvSpPr>
        <p:spPr>
          <a:xfrm>
            <a:off x="2786380" y="3778885"/>
            <a:ext cx="2298700" cy="1224280"/>
          </a:xfrm>
          <a:prstGeom prst="rect">
            <a:avLst/>
          </a:prstGeom>
          <a:solidFill>
            <a:srgbClr val="D02F35">
              <a:alpha val="25000"/>
            </a:srgb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p>
            <a:pPr algn="ctr"/>
            <a:r>
              <a:rPr lang="zh-CN" altLang="en-US" b="1">
                <a:solidFill>
                  <a:schemeClr val="tx1"/>
                </a:solidFill>
              </a:rPr>
              <a:t>进程</a:t>
            </a:r>
            <a:r>
              <a:rPr lang="en-US" altLang="zh-CN" b="1">
                <a:solidFill>
                  <a:schemeClr val="tx1"/>
                </a:solidFill>
              </a:rPr>
              <a:t>1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72" name="任意多边形 71"/>
          <p:cNvSpPr/>
          <p:nvPr>
            <p:custDataLst>
              <p:tags r:id="rId20"/>
            </p:custDataLst>
          </p:nvPr>
        </p:nvSpPr>
        <p:spPr>
          <a:xfrm>
            <a:off x="7367905" y="4116705"/>
            <a:ext cx="324485" cy="783590"/>
          </a:xfrm>
          <a:custGeom>
            <a:avLst/>
            <a:gdLst>
              <a:gd name="connisteX0" fmla="*/ 276519 w 324439"/>
              <a:gd name="connsiteY0" fmla="*/ 0 h 828675"/>
              <a:gd name="connisteX1" fmla="*/ 294 w 324439"/>
              <a:gd name="connsiteY1" fmla="*/ 209550 h 828675"/>
              <a:gd name="connisteX2" fmla="*/ 324144 w 324439"/>
              <a:gd name="connsiteY2" fmla="*/ 561975 h 828675"/>
              <a:gd name="connisteX3" fmla="*/ 47919 w 324439"/>
              <a:gd name="connsiteY3" fmla="*/ 828675 h 82867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324439" h="828675">
                <a:moveTo>
                  <a:pt x="276520" y="0"/>
                </a:moveTo>
                <a:cubicBezTo>
                  <a:pt x="214925" y="34925"/>
                  <a:pt x="-9230" y="97155"/>
                  <a:pt x="295" y="209550"/>
                </a:cubicBezTo>
                <a:cubicBezTo>
                  <a:pt x="9820" y="321945"/>
                  <a:pt x="314620" y="438150"/>
                  <a:pt x="324145" y="561975"/>
                </a:cubicBezTo>
                <a:cubicBezTo>
                  <a:pt x="333670" y="685800"/>
                  <a:pt x="109515" y="782320"/>
                  <a:pt x="47920" y="828675"/>
                </a:cubicBezTo>
              </a:path>
            </a:pathLst>
          </a:custGeom>
          <a:noFill/>
          <a:ln w="76200">
            <a:solidFill>
              <a:srgbClr val="00B0F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3" name="任意多边形 72"/>
          <p:cNvSpPr/>
          <p:nvPr>
            <p:custDataLst>
              <p:tags r:id="rId21"/>
            </p:custDataLst>
          </p:nvPr>
        </p:nvSpPr>
        <p:spPr>
          <a:xfrm>
            <a:off x="3773170" y="4116070"/>
            <a:ext cx="324485" cy="784225"/>
          </a:xfrm>
          <a:custGeom>
            <a:avLst/>
            <a:gdLst>
              <a:gd name="connisteX0" fmla="*/ 276519 w 324439"/>
              <a:gd name="connsiteY0" fmla="*/ 0 h 828675"/>
              <a:gd name="connisteX1" fmla="*/ 294 w 324439"/>
              <a:gd name="connsiteY1" fmla="*/ 209550 h 828675"/>
              <a:gd name="connisteX2" fmla="*/ 324144 w 324439"/>
              <a:gd name="connsiteY2" fmla="*/ 561975 h 828675"/>
              <a:gd name="connisteX3" fmla="*/ 47919 w 324439"/>
              <a:gd name="connsiteY3" fmla="*/ 828675 h 82867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324439" h="828675">
                <a:moveTo>
                  <a:pt x="276520" y="0"/>
                </a:moveTo>
                <a:cubicBezTo>
                  <a:pt x="214925" y="34925"/>
                  <a:pt x="-9230" y="97155"/>
                  <a:pt x="295" y="209550"/>
                </a:cubicBezTo>
                <a:cubicBezTo>
                  <a:pt x="9820" y="321945"/>
                  <a:pt x="314620" y="438150"/>
                  <a:pt x="324145" y="561975"/>
                </a:cubicBezTo>
                <a:cubicBezTo>
                  <a:pt x="333670" y="685800"/>
                  <a:pt x="109515" y="782320"/>
                  <a:pt x="47920" y="828675"/>
                </a:cubicBezTo>
              </a:path>
            </a:pathLst>
          </a:custGeom>
          <a:noFill/>
          <a:ln w="76200">
            <a:solidFill>
              <a:srgbClr val="D02F35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22"/>
    </p:custData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45415" y="609600"/>
            <a:ext cx="9523730" cy="56311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高效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应当节约内存空间，少产生内外碎片。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快速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应当很快完成分配，</a:t>
            </a:r>
            <a:r>
              <a:rPr lang="zh-CN" altLang="en-US" sz="2000">
                <a:sym typeface="+mn-ea"/>
              </a:rPr>
              <a:t>少浪费</a:t>
            </a:r>
            <a:r>
              <a:rPr lang="en-US" altLang="zh-CN" sz="2000">
                <a:sym typeface="+mn-ea"/>
              </a:rPr>
              <a:t>CPU</a:t>
            </a:r>
            <a:r>
              <a:rPr lang="zh-CN" altLang="en-US" sz="2000">
                <a:sym typeface="+mn-ea"/>
              </a:rPr>
              <a:t>时间。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问题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除去</a:t>
            </a:r>
            <a:r>
              <a:rPr lang="zh-CN" altLang="en-US" sz="2000">
                <a:sym typeface="+mn-ea"/>
              </a:rPr>
              <a:t>这两点之外，还有什么别的</a:t>
            </a:r>
            <a:r>
              <a:rPr lang="zh-CN" altLang="en-US" sz="2000">
                <a:sym typeface="+mn-ea"/>
              </a:rPr>
              <a:t>标准？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可移植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可以在很多操作系统</a:t>
            </a:r>
            <a:r>
              <a:rPr lang="en-US" altLang="zh-CN" sz="2000">
                <a:sym typeface="+mn-ea"/>
              </a:rPr>
              <a:t>/</a:t>
            </a:r>
            <a:r>
              <a:rPr lang="zh-CN" altLang="en-US" sz="2000">
                <a:sym typeface="+mn-ea"/>
              </a:rPr>
              <a:t>软件环境中上移植和</a:t>
            </a:r>
            <a:r>
              <a:rPr lang="zh-CN" altLang="en-US" sz="2000">
                <a:sym typeface="+mn-ea"/>
              </a:rPr>
              <a:t>使用。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可配置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参数应当可以调整以适应具体的</a:t>
            </a:r>
            <a:r>
              <a:rPr lang="zh-CN" altLang="en-US" sz="2000">
                <a:sym typeface="+mn-ea"/>
              </a:rPr>
              <a:t>部署环境。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局部性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尽量将那些一起使用的内存段分配到靠近的地址，</a:t>
            </a:r>
            <a:r>
              <a:rPr lang="en-US" altLang="zh-CN" sz="2000">
                <a:sym typeface="+mn-ea"/>
              </a:rPr>
              <a:t>				</a:t>
            </a:r>
            <a:r>
              <a:rPr lang="zh-CN" altLang="en-US" sz="2000">
                <a:sym typeface="+mn-ea"/>
              </a:rPr>
              <a:t>以减小</a:t>
            </a:r>
            <a:r>
              <a:rPr lang="en-US" altLang="zh-CN" sz="2000">
                <a:sym typeface="+mn-ea"/>
              </a:rPr>
              <a:t>TLB</a:t>
            </a:r>
            <a:r>
              <a:rPr lang="zh-CN" altLang="en-US" sz="2000">
                <a:sym typeface="+mn-ea"/>
              </a:rPr>
              <a:t>缺失和</a:t>
            </a:r>
            <a:r>
              <a:rPr lang="zh-CN" altLang="en-US" sz="2000">
                <a:sym typeface="+mn-ea"/>
              </a:rPr>
              <a:t>缺页。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错误探测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尽量能够探测到内存</a:t>
            </a:r>
            <a:r>
              <a:rPr lang="zh-CN" altLang="en-US" sz="2000">
                <a:sym typeface="+mn-ea"/>
              </a:rPr>
              <a:t>错误。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结论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对高效和快速的追求决定了我们必须使用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动态分区法</a:t>
            </a:r>
            <a:r>
              <a:rPr lang="zh-CN" altLang="en-US" sz="2000">
                <a:sym typeface="+mn-ea"/>
              </a:rPr>
              <a:t>。但是，简单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的策略是必然无法满足以上追求</a:t>
            </a:r>
            <a:r>
              <a:rPr lang="zh-CN" altLang="en-US" sz="2000">
                <a:sym typeface="+mn-ea"/>
              </a:rPr>
              <a:t>的。</a:t>
            </a:r>
            <a:endParaRPr lang="zh-CN" altLang="en-US" sz="2000">
              <a:sym typeface="+mn-ea"/>
            </a:endParaRPr>
          </a:p>
        </p:txBody>
      </p:sp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主存储器分配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一、进程的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系统进程总览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进程的实现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内存分配的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x86-64内存管理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DLM进程内分配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Linux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进程间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分配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Linux页面替换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三、系统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.2 进程的基本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操作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3.3 进程接口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809750" y="180340"/>
            <a:ext cx="67271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进程内空间分配的</a:t>
            </a:r>
            <a:r>
              <a:rPr lang="zh-CN" altLang="en-US" sz="2000" b="1">
                <a:solidFill>
                  <a:srgbClr val="9C0B15"/>
                </a:solidFill>
              </a:rPr>
              <a:t>指导原则</a:t>
            </a:r>
            <a:endParaRPr lang="zh-CN" altLang="en-US" sz="2000" b="1">
              <a:solidFill>
                <a:srgbClr val="9C0B15"/>
              </a:solidFill>
            </a:endParaRPr>
          </a:p>
        </p:txBody>
      </p:sp>
    </p:spTree>
    <p:custDataLst>
      <p:tags r:id="rId2"/>
    </p:custData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主存储器分配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一、进程的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系统进程总览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进程的实现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内存分配的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x86-64内存管理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DLM进程内分配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Linux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进程间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分配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Linux页面替换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三、系统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.2 进程的基本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操作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3.3 进程接口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9C0B15"/>
                </a:solidFill>
              </a:rPr>
              <a:t>dlmalloc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r>
              <a:rPr sz="2000" b="1">
                <a:solidFill>
                  <a:srgbClr val="9C0B15"/>
                </a:solidFill>
              </a:rPr>
              <a:t>https://gee.cs.oswego.edu/dl/html/malloc.html</a:t>
            </a:r>
            <a:endParaRPr sz="2000" b="1">
              <a:solidFill>
                <a:srgbClr val="9C0B15"/>
              </a:solidFill>
            </a:endParaRPr>
          </a:p>
          <a:p>
            <a:pPr algn="ctr"/>
            <a:endParaRPr sz="2000" b="1">
              <a:solidFill>
                <a:srgbClr val="9C0B15"/>
              </a:solidFill>
            </a:endParaRPr>
          </a:p>
          <a:p>
            <a:pPr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dlmalloc		</a:t>
            </a:r>
            <a:r>
              <a:rPr lang="en-US" altLang="zh-CN" sz="2000">
                <a:sym typeface="+mn-ea"/>
              </a:rPr>
              <a:t>malloc</a:t>
            </a:r>
            <a:r>
              <a:rPr lang="zh-CN" altLang="en-US" sz="2000">
                <a:sym typeface="+mn-ea"/>
              </a:rPr>
              <a:t>在</a:t>
            </a:r>
            <a:r>
              <a:rPr lang="en-US" altLang="zh-CN" sz="2000">
                <a:sym typeface="+mn-ea"/>
              </a:rPr>
              <a:t>Unix</a:t>
            </a:r>
            <a:r>
              <a:rPr lang="zh-CN" altLang="en-US" sz="2000">
                <a:sym typeface="+mn-ea"/>
              </a:rPr>
              <a:t>等系统中的默认实现。由</a:t>
            </a:r>
            <a:r>
              <a:rPr lang="en-US" altLang="zh-CN" sz="2000">
                <a:sym typeface="+mn-ea"/>
              </a:rPr>
              <a:t>Doug Lea</a:t>
            </a:r>
            <a:r>
              <a:rPr lang="zh-CN" altLang="en-US" sz="2000">
                <a:sym typeface="+mn-ea"/>
              </a:rPr>
              <a:t>于</a:t>
            </a:r>
            <a:r>
              <a:rPr lang="en-US" altLang="zh-CN" sz="2000">
                <a:sym typeface="+mn-ea"/>
              </a:rPr>
              <a:t>1987</a:t>
            </a:r>
            <a:r>
              <a:rPr lang="zh-CN" altLang="en-US" sz="2000">
                <a:sym typeface="+mn-ea"/>
              </a:rPr>
              <a:t>年发表，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因此得名。</a:t>
            </a:r>
            <a:endParaRPr lang="zh-CN" altLang="en-US" sz="2000">
              <a:sym typeface="+mn-ea"/>
            </a:endParaRPr>
          </a:p>
          <a:p>
            <a:pPr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性质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一种动态分区分配器，在很多场景下有不错的空间性能和时间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性能，并能在很多其它次要性质上有不错的表现。</a:t>
            </a:r>
            <a:endParaRPr lang="en-US" altLang="zh-CN" sz="2000">
              <a:sym typeface="+mn-ea"/>
            </a:endParaRPr>
          </a:p>
        </p:txBody>
      </p:sp>
      <p:pic>
        <p:nvPicPr>
          <p:cNvPr id="100" name="图片 99"/>
          <p:cNvPicPr/>
          <p:nvPr/>
        </p:nvPicPr>
        <p:blipFill>
          <a:blip r:embed="rId2"/>
          <a:stretch>
            <a:fillRect/>
          </a:stretch>
        </p:blipFill>
        <p:spPr>
          <a:xfrm>
            <a:off x="2916555" y="2892425"/>
            <a:ext cx="3954145" cy="3629025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3"/>
    </p:custData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主存储器分配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一、进程的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系统进程总览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进程的实现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内存分配的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x86-64内存管理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DLM进程内分配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Linux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进程间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分配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Linux页面替换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三、系统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.2 进程的基本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操作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3.3 进程接口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9C0B15"/>
                </a:solidFill>
              </a:rPr>
              <a:t>dlmalloc</a:t>
            </a:r>
            <a:r>
              <a:rPr lang="zh-CN" altLang="en-US" sz="2000" b="1">
                <a:solidFill>
                  <a:srgbClr val="9C0B15"/>
                </a:solidFill>
              </a:rPr>
              <a:t>对</a:t>
            </a:r>
            <a:r>
              <a:rPr lang="zh-CN" altLang="en-US" sz="2000" b="1">
                <a:solidFill>
                  <a:srgbClr val="9C0B15"/>
                </a:solidFill>
              </a:rPr>
              <a:t>空闲内存块的</a:t>
            </a:r>
            <a:r>
              <a:rPr lang="zh-CN" altLang="en-US" sz="2000" b="1">
                <a:solidFill>
                  <a:srgbClr val="9C0B15"/>
                </a:solidFill>
              </a:rPr>
              <a:t>表示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>
              <a:sym typeface="+mn-ea"/>
            </a:endParaRPr>
          </a:p>
          <a:p>
            <a:pPr algn="ctr"/>
            <a:endParaRPr lang="zh-CN" altLang="en-US" sz="2000">
              <a:sym typeface="+mn-ea"/>
            </a:endParaRPr>
          </a:p>
          <a:p>
            <a:pPr algn="ctr"/>
            <a:endParaRPr lang="zh-CN" altLang="en-US" sz="2000">
              <a:sym typeface="+mn-ea"/>
            </a:endParaRPr>
          </a:p>
          <a:p>
            <a:pPr algn="ctr"/>
            <a:endParaRPr lang="zh-CN" altLang="en-US" sz="2000">
              <a:sym typeface="+mn-ea"/>
            </a:endParaRPr>
          </a:p>
          <a:p>
            <a:pPr algn="ctr"/>
            <a:endParaRPr lang="zh-CN" altLang="en-US" sz="2000">
              <a:sym typeface="+mn-ea"/>
            </a:endParaRPr>
          </a:p>
          <a:p>
            <a:pPr algn="ctr"/>
            <a:endParaRPr lang="zh-CN" altLang="en-US" sz="2000">
              <a:sym typeface="+mn-ea"/>
            </a:endParaRPr>
          </a:p>
          <a:p>
            <a:pPr algn="ctr"/>
            <a:endParaRPr lang="zh-CN" altLang="en-US" sz="2000">
              <a:sym typeface="+mn-ea"/>
            </a:endParaRPr>
          </a:p>
          <a:p>
            <a:pPr algn="ctr"/>
            <a:endParaRPr lang="zh-CN" altLang="en-US" sz="2000">
              <a:sym typeface="+mn-ea"/>
            </a:endParaRPr>
          </a:p>
          <a:p>
            <a:pPr algn="ctr"/>
            <a:endParaRPr lang="zh-CN" altLang="en-US" sz="2000">
              <a:sym typeface="+mn-ea"/>
            </a:endParaRPr>
          </a:p>
          <a:p>
            <a:pPr algn="ctr"/>
            <a:endParaRPr lang="zh-CN" altLang="en-US" sz="2000">
              <a:sym typeface="+mn-ea"/>
            </a:endParaRPr>
          </a:p>
          <a:p>
            <a:pPr algn="ctr"/>
            <a:endParaRPr lang="zh-CN" altLang="en-US" sz="2000">
              <a:sym typeface="+mn-ea"/>
            </a:endParaRPr>
          </a:p>
          <a:p>
            <a:pPr algn="ctr"/>
            <a:endParaRPr lang="zh-CN" altLang="en-US" sz="2000">
              <a:sym typeface="+mn-ea"/>
            </a:endParaRPr>
          </a:p>
          <a:p>
            <a:pPr algn="ctr"/>
            <a:endParaRPr lang="zh-CN" altLang="en-US" sz="2000">
              <a:sym typeface="+mn-ea"/>
            </a:endParaRPr>
          </a:p>
          <a:p>
            <a:pPr algn="ctr"/>
            <a:endParaRPr lang="zh-CN" altLang="en-US" sz="2000">
              <a:sym typeface="+mn-ea"/>
            </a:endParaRPr>
          </a:p>
          <a:p>
            <a:pPr algn="ctr"/>
            <a:endParaRPr lang="zh-CN" altLang="en-US" sz="2000">
              <a:sym typeface="+mn-ea"/>
            </a:endParaRPr>
          </a:p>
          <a:p>
            <a:pPr algn="ctr"/>
            <a:endParaRPr lang="zh-CN" altLang="en-US" sz="2000">
              <a:sym typeface="+mn-ea"/>
            </a:endParaRPr>
          </a:p>
          <a:p>
            <a:pPr algn="ctr"/>
            <a:endParaRPr lang="zh-CN" altLang="en-US" sz="2000">
              <a:sym typeface="+mn-ea"/>
            </a:endParaRPr>
          </a:p>
          <a:p>
            <a:pPr algn="ctr"/>
            <a:endParaRPr lang="zh-CN" altLang="en-US" sz="2000">
              <a:sym typeface="+mn-ea"/>
            </a:endParaRPr>
          </a:p>
          <a:p>
            <a:pPr algn="l"/>
            <a:r>
              <a:rPr lang="zh-CN" altLang="en-US" sz="2000" b="1">
                <a:solidFill>
                  <a:srgbClr val="9C0B15"/>
                </a:solidFill>
                <a:sym typeface="+mn-ea"/>
              </a:rPr>
              <a:t>问题一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为何使用双向</a:t>
            </a:r>
            <a:r>
              <a:rPr lang="zh-CN" altLang="en-US" sz="2000">
                <a:sym typeface="+mn-ea"/>
              </a:rPr>
              <a:t>循环链表？</a:t>
            </a:r>
            <a:endParaRPr lang="zh-CN" altLang="en-US" sz="2000">
              <a:sym typeface="+mn-ea"/>
            </a:endParaRPr>
          </a:p>
          <a:p>
            <a:pPr algn="l"/>
            <a:r>
              <a:rPr lang="zh-CN" altLang="en-US" sz="2000" b="1">
                <a:solidFill>
                  <a:srgbClr val="9C0B15"/>
                </a:solidFill>
                <a:sym typeface="+mn-ea"/>
              </a:rPr>
              <a:t>问题二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空闲块的大小为何在首尾各出现一次？尾部那次可以不要</a:t>
            </a:r>
            <a:r>
              <a:rPr lang="zh-CN" altLang="en-US" sz="2000">
                <a:sym typeface="+mn-ea"/>
              </a:rPr>
              <a:t>吗？</a:t>
            </a:r>
            <a:endParaRPr lang="zh-CN" altLang="en-US" sz="2000">
              <a:sym typeface="+mn-ea"/>
            </a:endParaRPr>
          </a:p>
        </p:txBody>
      </p:sp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5034915" y="843915"/>
            <a:ext cx="1390650" cy="372110"/>
          </a:xfrm>
          <a:prstGeom prst="rect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bg1"/>
                </a:solidFill>
                <a:sym typeface="+mn-ea"/>
              </a:rPr>
              <a:t>状态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=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空闲</a:t>
            </a: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6" name="矩形 5"/>
          <p:cNvSpPr/>
          <p:nvPr>
            <p:custDataLst>
              <p:tags r:id="rId3"/>
            </p:custDataLst>
          </p:nvPr>
        </p:nvSpPr>
        <p:spPr>
          <a:xfrm>
            <a:off x="3361055" y="1216025"/>
            <a:ext cx="3064510" cy="372110"/>
          </a:xfrm>
          <a:prstGeom prst="rect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bg1"/>
                </a:solidFill>
                <a:sym typeface="+mn-ea"/>
              </a:rPr>
              <a:t>指向下一个空闲块的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指针</a:t>
            </a: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>
            <a:off x="3361055" y="1588135"/>
            <a:ext cx="3064510" cy="372110"/>
          </a:xfrm>
          <a:prstGeom prst="rect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bg1"/>
                </a:solidFill>
                <a:sym typeface="+mn-ea"/>
              </a:rPr>
              <a:t>指向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上一个空闲块的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指针</a:t>
            </a: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8" name="矩形 7"/>
          <p:cNvSpPr/>
          <p:nvPr>
            <p:custDataLst>
              <p:tags r:id="rId5"/>
            </p:custDataLst>
          </p:nvPr>
        </p:nvSpPr>
        <p:spPr>
          <a:xfrm>
            <a:off x="3361055" y="2949575"/>
            <a:ext cx="3064510" cy="372110"/>
          </a:xfrm>
          <a:prstGeom prst="rect">
            <a:avLst/>
          </a:prstGeom>
          <a:solidFill>
            <a:schemeClr val="accent2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bg1"/>
                </a:solidFill>
                <a:sym typeface="+mn-ea"/>
              </a:rPr>
              <a:t>空闲块的大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小</a:t>
            </a: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25" name="矩形 24"/>
          <p:cNvSpPr/>
          <p:nvPr>
            <p:custDataLst>
              <p:tags r:id="rId6"/>
            </p:custDataLst>
          </p:nvPr>
        </p:nvSpPr>
        <p:spPr>
          <a:xfrm>
            <a:off x="3361055" y="843915"/>
            <a:ext cx="1674495" cy="372110"/>
          </a:xfrm>
          <a:prstGeom prst="rect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bg1"/>
                </a:solidFill>
                <a:sym typeface="+mn-ea"/>
              </a:rPr>
              <a:t>空闲块的大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小</a:t>
            </a: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26" name="矩形 25"/>
          <p:cNvSpPr/>
          <p:nvPr>
            <p:custDataLst>
              <p:tags r:id="rId7"/>
            </p:custDataLst>
          </p:nvPr>
        </p:nvSpPr>
        <p:spPr>
          <a:xfrm>
            <a:off x="3361055" y="1960245"/>
            <a:ext cx="3064510" cy="989330"/>
          </a:xfrm>
          <a:prstGeom prst="rect">
            <a:avLst/>
          </a:prstGeom>
          <a:solidFill>
            <a:schemeClr val="bg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  <a:sym typeface="+mn-ea"/>
              </a:rPr>
              <a:t>未使用空间</a:t>
            </a: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28" name="矩形 27"/>
          <p:cNvSpPr/>
          <p:nvPr>
            <p:custDataLst>
              <p:tags r:id="rId8"/>
            </p:custDataLst>
          </p:nvPr>
        </p:nvSpPr>
        <p:spPr>
          <a:xfrm>
            <a:off x="1248410" y="4147820"/>
            <a:ext cx="1532255" cy="372110"/>
          </a:xfrm>
          <a:prstGeom prst="rect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bg1"/>
                </a:solidFill>
                <a:sym typeface="+mn-ea"/>
              </a:rPr>
              <a:t>头部</a:t>
            </a: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60" name="矩形 59"/>
          <p:cNvSpPr/>
          <p:nvPr>
            <p:custDataLst>
              <p:tags r:id="rId9"/>
            </p:custDataLst>
          </p:nvPr>
        </p:nvSpPr>
        <p:spPr>
          <a:xfrm>
            <a:off x="1248410" y="4960620"/>
            <a:ext cx="1532255" cy="372110"/>
          </a:xfrm>
          <a:prstGeom prst="rect">
            <a:avLst/>
          </a:prstGeom>
          <a:solidFill>
            <a:schemeClr val="accent2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bg1"/>
                </a:solidFill>
                <a:sym typeface="+mn-ea"/>
              </a:rPr>
              <a:t>尾部</a:t>
            </a: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61" name="矩形 60"/>
          <p:cNvSpPr/>
          <p:nvPr>
            <p:custDataLst>
              <p:tags r:id="rId10"/>
            </p:custDataLst>
          </p:nvPr>
        </p:nvSpPr>
        <p:spPr>
          <a:xfrm>
            <a:off x="1248410" y="4519930"/>
            <a:ext cx="1532255" cy="440690"/>
          </a:xfrm>
          <a:prstGeom prst="rect">
            <a:avLst/>
          </a:prstGeom>
          <a:solidFill>
            <a:schemeClr val="bg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  <a:sym typeface="+mn-ea"/>
              </a:rPr>
              <a:t>未使用空间</a:t>
            </a: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62" name="矩形 61"/>
          <p:cNvSpPr/>
          <p:nvPr>
            <p:custDataLst>
              <p:tags r:id="rId11"/>
            </p:custDataLst>
          </p:nvPr>
        </p:nvSpPr>
        <p:spPr>
          <a:xfrm>
            <a:off x="4126865" y="4147820"/>
            <a:ext cx="1532255" cy="372110"/>
          </a:xfrm>
          <a:prstGeom prst="rect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bg1"/>
                </a:solidFill>
                <a:sym typeface="+mn-ea"/>
              </a:rPr>
              <a:t>头部</a:t>
            </a: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63" name="矩形 62"/>
          <p:cNvSpPr/>
          <p:nvPr>
            <p:custDataLst>
              <p:tags r:id="rId12"/>
            </p:custDataLst>
          </p:nvPr>
        </p:nvSpPr>
        <p:spPr>
          <a:xfrm>
            <a:off x="4126865" y="4960620"/>
            <a:ext cx="1532255" cy="372110"/>
          </a:xfrm>
          <a:prstGeom prst="rect">
            <a:avLst/>
          </a:prstGeom>
          <a:solidFill>
            <a:schemeClr val="accent2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bg1"/>
                </a:solidFill>
                <a:sym typeface="+mn-ea"/>
              </a:rPr>
              <a:t>尾部</a:t>
            </a: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64" name="矩形 63"/>
          <p:cNvSpPr/>
          <p:nvPr>
            <p:custDataLst>
              <p:tags r:id="rId13"/>
            </p:custDataLst>
          </p:nvPr>
        </p:nvSpPr>
        <p:spPr>
          <a:xfrm>
            <a:off x="4126865" y="4519930"/>
            <a:ext cx="1532255" cy="440690"/>
          </a:xfrm>
          <a:prstGeom prst="rect">
            <a:avLst/>
          </a:prstGeom>
          <a:solidFill>
            <a:schemeClr val="bg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  <a:sym typeface="+mn-ea"/>
              </a:rPr>
              <a:t>未使用空间</a:t>
            </a: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65" name="矩形 64"/>
          <p:cNvSpPr/>
          <p:nvPr>
            <p:custDataLst>
              <p:tags r:id="rId14"/>
            </p:custDataLst>
          </p:nvPr>
        </p:nvSpPr>
        <p:spPr>
          <a:xfrm>
            <a:off x="6971665" y="4147820"/>
            <a:ext cx="1532255" cy="372110"/>
          </a:xfrm>
          <a:prstGeom prst="rect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bg1"/>
                </a:solidFill>
                <a:sym typeface="+mn-ea"/>
              </a:rPr>
              <a:t>头部</a:t>
            </a: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66" name="矩形 65"/>
          <p:cNvSpPr/>
          <p:nvPr>
            <p:custDataLst>
              <p:tags r:id="rId15"/>
            </p:custDataLst>
          </p:nvPr>
        </p:nvSpPr>
        <p:spPr>
          <a:xfrm>
            <a:off x="6971665" y="4960620"/>
            <a:ext cx="1532255" cy="372110"/>
          </a:xfrm>
          <a:prstGeom prst="rect">
            <a:avLst/>
          </a:prstGeom>
          <a:solidFill>
            <a:schemeClr val="accent2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bg1"/>
                </a:solidFill>
                <a:sym typeface="+mn-ea"/>
              </a:rPr>
              <a:t>尾部</a:t>
            </a: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67" name="矩形 66"/>
          <p:cNvSpPr/>
          <p:nvPr>
            <p:custDataLst>
              <p:tags r:id="rId16"/>
            </p:custDataLst>
          </p:nvPr>
        </p:nvSpPr>
        <p:spPr>
          <a:xfrm>
            <a:off x="6971665" y="4519930"/>
            <a:ext cx="1532255" cy="440690"/>
          </a:xfrm>
          <a:prstGeom prst="rect">
            <a:avLst/>
          </a:prstGeom>
          <a:solidFill>
            <a:schemeClr val="bg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  <a:sym typeface="+mn-ea"/>
              </a:rPr>
              <a:t>未使用空间</a:t>
            </a: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68" name="直接箭头连接符 67"/>
          <p:cNvCxnSpPr/>
          <p:nvPr>
            <p:custDataLst>
              <p:tags r:id="rId17"/>
            </p:custDataLst>
          </p:nvPr>
        </p:nvCxnSpPr>
        <p:spPr>
          <a:xfrm>
            <a:off x="2796540" y="4211955"/>
            <a:ext cx="1312545" cy="0"/>
          </a:xfrm>
          <a:prstGeom prst="straightConnector1">
            <a:avLst/>
          </a:prstGeom>
          <a:ln w="38100">
            <a:solidFill>
              <a:srgbClr val="D02F3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箭头连接符 68"/>
          <p:cNvCxnSpPr/>
          <p:nvPr>
            <p:custDataLst>
              <p:tags r:id="rId18"/>
            </p:custDataLst>
          </p:nvPr>
        </p:nvCxnSpPr>
        <p:spPr>
          <a:xfrm>
            <a:off x="5659120" y="4211955"/>
            <a:ext cx="1312545" cy="0"/>
          </a:xfrm>
          <a:prstGeom prst="straightConnector1">
            <a:avLst/>
          </a:prstGeom>
          <a:ln w="38100">
            <a:solidFill>
              <a:srgbClr val="D02F3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箭头连接符 69"/>
          <p:cNvCxnSpPr/>
          <p:nvPr>
            <p:custDataLst>
              <p:tags r:id="rId19"/>
            </p:custDataLst>
          </p:nvPr>
        </p:nvCxnSpPr>
        <p:spPr>
          <a:xfrm flipH="1" flipV="1">
            <a:off x="5659120" y="4438650"/>
            <a:ext cx="1285240" cy="1905"/>
          </a:xfrm>
          <a:prstGeom prst="straightConnector1">
            <a:avLst/>
          </a:prstGeom>
          <a:ln w="38100">
            <a:solidFill>
              <a:srgbClr val="D02F3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箭头连接符 70"/>
          <p:cNvCxnSpPr/>
          <p:nvPr>
            <p:custDataLst>
              <p:tags r:id="rId20"/>
            </p:custDataLst>
          </p:nvPr>
        </p:nvCxnSpPr>
        <p:spPr>
          <a:xfrm flipH="1" flipV="1">
            <a:off x="2796540" y="4440555"/>
            <a:ext cx="1285240" cy="1905"/>
          </a:xfrm>
          <a:prstGeom prst="straightConnector1">
            <a:avLst/>
          </a:prstGeom>
          <a:ln w="38100">
            <a:solidFill>
              <a:srgbClr val="D02F3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箭头连接符 71"/>
          <p:cNvCxnSpPr/>
          <p:nvPr>
            <p:custDataLst>
              <p:tags r:id="rId21"/>
            </p:custDataLst>
          </p:nvPr>
        </p:nvCxnSpPr>
        <p:spPr>
          <a:xfrm>
            <a:off x="8503920" y="4211955"/>
            <a:ext cx="928370" cy="8890"/>
          </a:xfrm>
          <a:prstGeom prst="straightConnector1">
            <a:avLst/>
          </a:prstGeom>
          <a:ln w="38100">
            <a:solidFill>
              <a:srgbClr val="D02F3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箭头连接符 72"/>
          <p:cNvCxnSpPr/>
          <p:nvPr>
            <p:custDataLst>
              <p:tags r:id="rId22"/>
            </p:custDataLst>
          </p:nvPr>
        </p:nvCxnSpPr>
        <p:spPr>
          <a:xfrm flipH="1">
            <a:off x="8503920" y="4431665"/>
            <a:ext cx="864235" cy="5080"/>
          </a:xfrm>
          <a:prstGeom prst="straightConnector1">
            <a:avLst/>
          </a:prstGeom>
          <a:ln w="38100">
            <a:solidFill>
              <a:srgbClr val="D02F3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箭头连接符 74"/>
          <p:cNvCxnSpPr/>
          <p:nvPr>
            <p:custDataLst>
              <p:tags r:id="rId23"/>
            </p:custDataLst>
          </p:nvPr>
        </p:nvCxnSpPr>
        <p:spPr>
          <a:xfrm>
            <a:off x="333375" y="4220845"/>
            <a:ext cx="928370" cy="8890"/>
          </a:xfrm>
          <a:prstGeom prst="straightConnector1">
            <a:avLst/>
          </a:prstGeom>
          <a:ln w="38100">
            <a:solidFill>
              <a:srgbClr val="D02F3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箭头连接符 75"/>
          <p:cNvCxnSpPr/>
          <p:nvPr>
            <p:custDataLst>
              <p:tags r:id="rId24"/>
            </p:custDataLst>
          </p:nvPr>
        </p:nvCxnSpPr>
        <p:spPr>
          <a:xfrm flipH="1">
            <a:off x="332105" y="4445635"/>
            <a:ext cx="916305" cy="3810"/>
          </a:xfrm>
          <a:prstGeom prst="straightConnector1">
            <a:avLst/>
          </a:prstGeom>
          <a:ln w="38100">
            <a:solidFill>
              <a:srgbClr val="D02F3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箭头连接符 76"/>
          <p:cNvCxnSpPr/>
          <p:nvPr>
            <p:custDataLst>
              <p:tags r:id="rId25"/>
            </p:custDataLst>
          </p:nvPr>
        </p:nvCxnSpPr>
        <p:spPr>
          <a:xfrm>
            <a:off x="3361055" y="3382645"/>
            <a:ext cx="775335" cy="747395"/>
          </a:xfrm>
          <a:prstGeom prst="straightConnector1">
            <a:avLst/>
          </a:prstGeom>
          <a:ln w="38100">
            <a:solidFill>
              <a:srgbClr val="D02F35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箭头连接符 77"/>
          <p:cNvCxnSpPr/>
          <p:nvPr>
            <p:custDataLst>
              <p:tags r:id="rId26"/>
            </p:custDataLst>
          </p:nvPr>
        </p:nvCxnSpPr>
        <p:spPr>
          <a:xfrm flipH="1">
            <a:off x="5664200" y="3352800"/>
            <a:ext cx="768350" cy="777240"/>
          </a:xfrm>
          <a:prstGeom prst="straightConnector1">
            <a:avLst/>
          </a:prstGeom>
          <a:ln w="38100">
            <a:solidFill>
              <a:srgbClr val="D02F35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箭头连接符 78"/>
          <p:cNvCxnSpPr/>
          <p:nvPr>
            <p:custDataLst>
              <p:tags r:id="rId27"/>
            </p:custDataLst>
          </p:nvPr>
        </p:nvCxnSpPr>
        <p:spPr>
          <a:xfrm>
            <a:off x="6432550" y="1402080"/>
            <a:ext cx="1312545" cy="0"/>
          </a:xfrm>
          <a:prstGeom prst="straightConnector1">
            <a:avLst/>
          </a:prstGeom>
          <a:ln w="38100">
            <a:solidFill>
              <a:srgbClr val="D02F3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箭头连接符 79"/>
          <p:cNvCxnSpPr/>
          <p:nvPr>
            <p:custDataLst>
              <p:tags r:id="rId28"/>
            </p:custDataLst>
          </p:nvPr>
        </p:nvCxnSpPr>
        <p:spPr>
          <a:xfrm flipH="1" flipV="1">
            <a:off x="2075815" y="1772920"/>
            <a:ext cx="1285240" cy="1905"/>
          </a:xfrm>
          <a:prstGeom prst="straightConnector1">
            <a:avLst/>
          </a:prstGeom>
          <a:ln w="38100">
            <a:solidFill>
              <a:srgbClr val="D02F3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29"/>
    </p:custData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主存储器分配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一、进程的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系统进程总览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进程的实现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内存分配的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x86-64内存管理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DLM进程内分配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Linux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进程间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分配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Linux页面替换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三、系统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.2 进程的基本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操作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3.3 进程接口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9C0B15"/>
                </a:solidFill>
              </a:rPr>
              <a:t>dlmalloc</a:t>
            </a:r>
            <a:r>
              <a:rPr lang="zh-CN" altLang="en-US" sz="2000" b="1">
                <a:solidFill>
                  <a:srgbClr val="9C0B15"/>
                </a:solidFill>
              </a:rPr>
              <a:t>对空闲内存块的</a:t>
            </a:r>
            <a:r>
              <a:rPr lang="zh-CN" altLang="en-US" sz="2000" b="1">
                <a:solidFill>
                  <a:srgbClr val="9C0B15"/>
                </a:solidFill>
              </a:rPr>
              <a:t>组织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最小粒度</a:t>
            </a:r>
            <a:r>
              <a:rPr lang="en-US" altLang="zh-CN" sz="2000" b="1">
                <a:solidFill>
                  <a:srgbClr val="9C0B15"/>
                </a:solidFill>
              </a:rPr>
              <a:t>	</a:t>
            </a:r>
            <a:r>
              <a:rPr lang="zh-CN" altLang="en-US" sz="2000"/>
              <a:t>dlmalloc规定，一个内存块最小是16字节。如果小于16字节，就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/>
              <a:t>不再切割，</a:t>
            </a:r>
            <a:r>
              <a:rPr lang="zh-CN" altLang="en-US" sz="2000"/>
              <a:t>放任它们成为内部</a:t>
            </a:r>
            <a:r>
              <a:rPr lang="zh-CN" altLang="en-US" sz="2000"/>
              <a:t>碎片。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块队列</a:t>
            </a:r>
            <a:r>
              <a:rPr lang="en-US" altLang="zh-CN" sz="2000"/>
              <a:t>		dlmalloc</a:t>
            </a:r>
            <a:r>
              <a:rPr lang="zh-CN" altLang="en-US" sz="2000"/>
              <a:t>将空闲块按照其大小分成</a:t>
            </a:r>
            <a:r>
              <a:rPr lang="en-US" altLang="zh-CN" sz="2000"/>
              <a:t>127</a:t>
            </a:r>
            <a:r>
              <a:rPr lang="zh-CN" altLang="en-US" sz="2000"/>
              <a:t>个队列，从最小的</a:t>
            </a:r>
            <a:r>
              <a:rPr lang="en-US" altLang="zh-CN" sz="2000"/>
              <a:t>16</a:t>
            </a:r>
            <a:r>
              <a:rPr lang="zh-CN" altLang="en-US" sz="2000"/>
              <a:t>一直到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最大的</a:t>
            </a:r>
            <a:r>
              <a:rPr lang="en-US" altLang="zh-CN" sz="2000"/>
              <a:t>2</a:t>
            </a:r>
            <a:r>
              <a:rPr lang="en-US" altLang="zh-CN" sz="2000" baseline="30000"/>
              <a:t>31</a:t>
            </a:r>
            <a:r>
              <a:rPr lang="zh-CN" altLang="en-US" sz="2000"/>
              <a:t>。</a:t>
            </a:r>
            <a:r>
              <a:rPr lang="en-US" altLang="zh-CN" sz="2000"/>
              <a:t>16-512</a:t>
            </a:r>
            <a:r>
              <a:rPr lang="zh-CN" altLang="en-US" sz="2000"/>
              <a:t>号队列按照</a:t>
            </a:r>
            <a:r>
              <a:rPr lang="en-US" altLang="zh-CN" sz="2000"/>
              <a:t>8</a:t>
            </a:r>
            <a:r>
              <a:rPr lang="zh-CN" altLang="en-US" sz="2000"/>
              <a:t>字节的</a:t>
            </a:r>
            <a:r>
              <a:rPr lang="zh-CN" altLang="en-US" sz="2000">
                <a:solidFill>
                  <a:srgbClr val="9C0B15"/>
                </a:solidFill>
              </a:rPr>
              <a:t>等间距展开</a:t>
            </a:r>
            <a:r>
              <a:rPr lang="zh-CN" altLang="en-US" sz="2000"/>
              <a:t>，且每个队列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中空闲块的大小必须等于队列号。从</a:t>
            </a:r>
            <a:r>
              <a:rPr lang="en-US" altLang="zh-CN" sz="2000"/>
              <a:t>576</a:t>
            </a:r>
            <a:r>
              <a:rPr lang="zh-CN" altLang="en-US" sz="2000"/>
              <a:t>号队列开始，队列按照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</a:rPr>
              <a:t>指数间距展开</a:t>
            </a:r>
            <a:r>
              <a:rPr lang="zh-CN" altLang="en-US" sz="2000"/>
              <a:t>，且每个队列中空闲块的大小都必须</a:t>
            </a:r>
            <a:r>
              <a:rPr lang="zh-CN" altLang="en-US" sz="2000">
                <a:solidFill>
                  <a:srgbClr val="9C0B15"/>
                </a:solidFill>
              </a:rPr>
              <a:t>大于本队列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</a:rPr>
              <a:t>号，但小于下一个队列号</a:t>
            </a:r>
            <a:r>
              <a:rPr lang="zh-CN" altLang="en-US" sz="2000"/>
              <a:t>；内存块按照</a:t>
            </a:r>
            <a:r>
              <a:rPr lang="zh-CN" altLang="en-US" sz="2000">
                <a:solidFill>
                  <a:srgbClr val="9C0B15"/>
                </a:solidFill>
              </a:rPr>
              <a:t>从小到大</a:t>
            </a:r>
            <a:r>
              <a:rPr lang="zh-CN" altLang="en-US" sz="2000"/>
              <a:t>登记在</a:t>
            </a:r>
            <a:r>
              <a:rPr lang="zh-CN" altLang="en-US" sz="2000"/>
              <a:t>队列中。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问题一</a:t>
            </a:r>
            <a:r>
              <a:rPr lang="en-US" altLang="zh-CN" sz="2000"/>
              <a:t>		</a:t>
            </a:r>
            <a:r>
              <a:rPr lang="zh-CN" altLang="en-US" sz="2000"/>
              <a:t>为何放任比最小粒度小的内存</a:t>
            </a:r>
            <a:r>
              <a:rPr lang="zh-CN" altLang="en-US" sz="2000"/>
              <a:t>块成为内部</a:t>
            </a:r>
            <a:r>
              <a:rPr lang="zh-CN" altLang="en-US" sz="2000"/>
              <a:t>碎片？</a:t>
            </a: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问题二</a:t>
            </a:r>
            <a:r>
              <a:rPr lang="en-US" altLang="zh-CN" sz="2000"/>
              <a:t>		</a:t>
            </a:r>
            <a:r>
              <a:rPr lang="zh-CN" altLang="en-US" sz="2000"/>
              <a:t>为何要设计多个队列，且小队列和大队列的规则</a:t>
            </a:r>
            <a:r>
              <a:rPr lang="zh-CN" altLang="en-US" sz="2000"/>
              <a:t>不同？</a:t>
            </a:r>
            <a:endParaRPr lang="zh-CN" altLang="en-US" sz="2000"/>
          </a:p>
        </p:txBody>
      </p:sp>
      <p:grpSp>
        <p:nvGrpSpPr>
          <p:cNvPr id="17" name="组合 16"/>
          <p:cNvGrpSpPr/>
          <p:nvPr/>
        </p:nvGrpSpPr>
        <p:grpSpPr>
          <a:xfrm>
            <a:off x="1296670" y="1581785"/>
            <a:ext cx="617855" cy="516890"/>
            <a:chOff x="3017" y="4237"/>
            <a:chExt cx="2412" cy="1866"/>
          </a:xfrm>
        </p:grpSpPr>
        <p:sp>
          <p:nvSpPr>
            <p:cNvPr id="2" name="矩形 1"/>
            <p:cNvSpPr/>
            <p:nvPr>
              <p:custDataLst>
                <p:tags r:id="rId2"/>
              </p:custDataLst>
            </p:nvPr>
          </p:nvSpPr>
          <p:spPr>
            <a:xfrm>
              <a:off x="3017" y="4237"/>
              <a:ext cx="2413" cy="586"/>
            </a:xfrm>
            <a:prstGeom prst="rect">
              <a:avLst/>
            </a:prstGeom>
            <a:solidFill>
              <a:srgbClr val="00B050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9" name="矩形 8"/>
            <p:cNvSpPr/>
            <p:nvPr>
              <p:custDataLst>
                <p:tags r:id="rId3"/>
              </p:custDataLst>
            </p:nvPr>
          </p:nvSpPr>
          <p:spPr>
            <a:xfrm>
              <a:off x="3017" y="5517"/>
              <a:ext cx="2413" cy="586"/>
            </a:xfrm>
            <a:prstGeom prst="rect">
              <a:avLst/>
            </a:prstGeom>
            <a:solidFill>
              <a:schemeClr val="accent2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5" name="矩形 14"/>
            <p:cNvSpPr/>
            <p:nvPr>
              <p:custDataLst>
                <p:tags r:id="rId4"/>
              </p:custDataLst>
            </p:nvPr>
          </p:nvSpPr>
          <p:spPr>
            <a:xfrm>
              <a:off x="3017" y="4823"/>
              <a:ext cx="2413" cy="694"/>
            </a:xfrm>
            <a:prstGeom prst="rect">
              <a:avLst/>
            </a:prstGeom>
            <a:solidFill>
              <a:schemeClr val="bg1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  <a:sym typeface="+mn-ea"/>
              </a:endParaRPr>
            </a:p>
          </p:txBody>
        </p:sp>
      </p:grpSp>
      <p:sp>
        <p:nvSpPr>
          <p:cNvPr id="74" name="矩形 73"/>
          <p:cNvSpPr/>
          <p:nvPr>
            <p:custDataLst>
              <p:tags r:id="rId5"/>
            </p:custDataLst>
          </p:nvPr>
        </p:nvSpPr>
        <p:spPr>
          <a:xfrm>
            <a:off x="1296670" y="737235"/>
            <a:ext cx="618490" cy="440690"/>
          </a:xfrm>
          <a:prstGeom prst="rect">
            <a:avLst/>
          </a:prstGeom>
          <a:solidFill>
            <a:schemeClr val="bg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sym typeface="+mn-ea"/>
              </a:rPr>
              <a:t>16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sp>
        <p:nvSpPr>
          <p:cNvPr id="81" name="矩形 80"/>
          <p:cNvSpPr/>
          <p:nvPr>
            <p:custDataLst>
              <p:tags r:id="rId6"/>
            </p:custDataLst>
          </p:nvPr>
        </p:nvSpPr>
        <p:spPr>
          <a:xfrm>
            <a:off x="1915160" y="737235"/>
            <a:ext cx="618490" cy="440690"/>
          </a:xfrm>
          <a:prstGeom prst="rect">
            <a:avLst/>
          </a:prstGeom>
          <a:solidFill>
            <a:schemeClr val="bg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sym typeface="+mn-ea"/>
              </a:rPr>
              <a:t>24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sp>
        <p:nvSpPr>
          <p:cNvPr id="82" name="矩形 81"/>
          <p:cNvSpPr/>
          <p:nvPr>
            <p:custDataLst>
              <p:tags r:id="rId7"/>
            </p:custDataLst>
          </p:nvPr>
        </p:nvSpPr>
        <p:spPr>
          <a:xfrm>
            <a:off x="2533650" y="737235"/>
            <a:ext cx="618490" cy="440690"/>
          </a:xfrm>
          <a:prstGeom prst="rect">
            <a:avLst/>
          </a:prstGeom>
          <a:solidFill>
            <a:schemeClr val="bg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sym typeface="+mn-ea"/>
              </a:rPr>
              <a:t>32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sp>
        <p:nvSpPr>
          <p:cNvPr id="83" name="矩形 82"/>
          <p:cNvSpPr/>
          <p:nvPr>
            <p:custDataLst>
              <p:tags r:id="rId8"/>
            </p:custDataLst>
          </p:nvPr>
        </p:nvSpPr>
        <p:spPr>
          <a:xfrm>
            <a:off x="4151630" y="737235"/>
            <a:ext cx="618490" cy="440690"/>
          </a:xfrm>
          <a:prstGeom prst="rect">
            <a:avLst/>
          </a:prstGeom>
          <a:solidFill>
            <a:schemeClr val="bg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sym typeface="+mn-ea"/>
              </a:rPr>
              <a:t>512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sp>
        <p:nvSpPr>
          <p:cNvPr id="84" name="矩形 83"/>
          <p:cNvSpPr/>
          <p:nvPr>
            <p:custDataLst>
              <p:tags r:id="rId9"/>
            </p:custDataLst>
          </p:nvPr>
        </p:nvSpPr>
        <p:spPr>
          <a:xfrm>
            <a:off x="4770120" y="737235"/>
            <a:ext cx="618490" cy="440690"/>
          </a:xfrm>
          <a:prstGeom prst="rect">
            <a:avLst/>
          </a:prstGeom>
          <a:solidFill>
            <a:schemeClr val="bg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sym typeface="+mn-ea"/>
              </a:rPr>
              <a:t>576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sp>
        <p:nvSpPr>
          <p:cNvPr id="85" name="矩形 84"/>
          <p:cNvSpPr/>
          <p:nvPr>
            <p:custDataLst>
              <p:tags r:id="rId10"/>
            </p:custDataLst>
          </p:nvPr>
        </p:nvSpPr>
        <p:spPr>
          <a:xfrm>
            <a:off x="5388610" y="737235"/>
            <a:ext cx="618490" cy="440690"/>
          </a:xfrm>
          <a:prstGeom prst="rect">
            <a:avLst/>
          </a:prstGeom>
          <a:solidFill>
            <a:schemeClr val="bg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sym typeface="+mn-ea"/>
              </a:rPr>
              <a:t>640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sp>
        <p:nvSpPr>
          <p:cNvPr id="86" name="矩形 85"/>
          <p:cNvSpPr/>
          <p:nvPr>
            <p:custDataLst>
              <p:tags r:id="rId11"/>
            </p:custDataLst>
          </p:nvPr>
        </p:nvSpPr>
        <p:spPr>
          <a:xfrm>
            <a:off x="7481570" y="737235"/>
            <a:ext cx="618490" cy="440690"/>
          </a:xfrm>
          <a:prstGeom prst="rect">
            <a:avLst/>
          </a:prstGeom>
          <a:solidFill>
            <a:schemeClr val="bg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sym typeface="+mn-ea"/>
              </a:rPr>
              <a:t>2</a:t>
            </a:r>
            <a:r>
              <a:rPr lang="en-US" altLang="zh-CN" baseline="30000">
                <a:solidFill>
                  <a:schemeClr val="tx1"/>
                </a:solidFill>
                <a:sym typeface="+mn-ea"/>
              </a:rPr>
              <a:t>31</a:t>
            </a:r>
            <a:endParaRPr lang="en-US" altLang="zh-CN" baseline="30000">
              <a:solidFill>
                <a:schemeClr val="tx1"/>
              </a:solidFill>
              <a:sym typeface="+mn-ea"/>
            </a:endParaRPr>
          </a:p>
        </p:txBody>
      </p:sp>
      <p:grpSp>
        <p:nvGrpSpPr>
          <p:cNvPr id="87" name="组合 86"/>
          <p:cNvGrpSpPr/>
          <p:nvPr/>
        </p:nvGrpSpPr>
        <p:grpSpPr>
          <a:xfrm>
            <a:off x="1296670" y="2502535"/>
            <a:ext cx="617855" cy="516890"/>
            <a:chOff x="3017" y="4237"/>
            <a:chExt cx="2412" cy="1866"/>
          </a:xfrm>
        </p:grpSpPr>
        <p:sp>
          <p:nvSpPr>
            <p:cNvPr id="88" name="矩形 87"/>
            <p:cNvSpPr/>
            <p:nvPr>
              <p:custDataLst>
                <p:tags r:id="rId12"/>
              </p:custDataLst>
            </p:nvPr>
          </p:nvSpPr>
          <p:spPr>
            <a:xfrm>
              <a:off x="3017" y="4237"/>
              <a:ext cx="2413" cy="586"/>
            </a:xfrm>
            <a:prstGeom prst="rect">
              <a:avLst/>
            </a:prstGeom>
            <a:solidFill>
              <a:srgbClr val="00B050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89" name="矩形 88"/>
            <p:cNvSpPr/>
            <p:nvPr>
              <p:custDataLst>
                <p:tags r:id="rId13"/>
              </p:custDataLst>
            </p:nvPr>
          </p:nvSpPr>
          <p:spPr>
            <a:xfrm>
              <a:off x="3017" y="5517"/>
              <a:ext cx="2413" cy="586"/>
            </a:xfrm>
            <a:prstGeom prst="rect">
              <a:avLst/>
            </a:prstGeom>
            <a:solidFill>
              <a:schemeClr val="accent2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90" name="矩形 89"/>
            <p:cNvSpPr/>
            <p:nvPr>
              <p:custDataLst>
                <p:tags r:id="rId14"/>
              </p:custDataLst>
            </p:nvPr>
          </p:nvSpPr>
          <p:spPr>
            <a:xfrm>
              <a:off x="3017" y="4823"/>
              <a:ext cx="2413" cy="694"/>
            </a:xfrm>
            <a:prstGeom prst="rect">
              <a:avLst/>
            </a:prstGeom>
            <a:solidFill>
              <a:schemeClr val="bg1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  <a:sym typeface="+mn-ea"/>
              </a:endParaRPr>
            </a:p>
          </p:txBody>
        </p:sp>
      </p:grpSp>
      <p:grpSp>
        <p:nvGrpSpPr>
          <p:cNvPr id="95" name="组合 94"/>
          <p:cNvGrpSpPr/>
          <p:nvPr/>
        </p:nvGrpSpPr>
        <p:grpSpPr>
          <a:xfrm>
            <a:off x="2534285" y="1581785"/>
            <a:ext cx="617855" cy="516890"/>
            <a:chOff x="3017" y="4237"/>
            <a:chExt cx="2412" cy="1866"/>
          </a:xfrm>
        </p:grpSpPr>
        <p:sp>
          <p:nvSpPr>
            <p:cNvPr id="96" name="矩形 95"/>
            <p:cNvSpPr/>
            <p:nvPr>
              <p:custDataLst>
                <p:tags r:id="rId15"/>
              </p:custDataLst>
            </p:nvPr>
          </p:nvSpPr>
          <p:spPr>
            <a:xfrm>
              <a:off x="3017" y="4237"/>
              <a:ext cx="2413" cy="586"/>
            </a:xfrm>
            <a:prstGeom prst="rect">
              <a:avLst/>
            </a:prstGeom>
            <a:solidFill>
              <a:srgbClr val="00B050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97" name="矩形 96"/>
            <p:cNvSpPr/>
            <p:nvPr>
              <p:custDataLst>
                <p:tags r:id="rId16"/>
              </p:custDataLst>
            </p:nvPr>
          </p:nvSpPr>
          <p:spPr>
            <a:xfrm>
              <a:off x="3017" y="5517"/>
              <a:ext cx="2413" cy="586"/>
            </a:xfrm>
            <a:prstGeom prst="rect">
              <a:avLst/>
            </a:prstGeom>
            <a:solidFill>
              <a:schemeClr val="accent2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98" name="矩形 97"/>
            <p:cNvSpPr/>
            <p:nvPr>
              <p:custDataLst>
                <p:tags r:id="rId17"/>
              </p:custDataLst>
            </p:nvPr>
          </p:nvSpPr>
          <p:spPr>
            <a:xfrm>
              <a:off x="3017" y="4823"/>
              <a:ext cx="2413" cy="694"/>
            </a:xfrm>
            <a:prstGeom prst="rect">
              <a:avLst/>
            </a:prstGeom>
            <a:solidFill>
              <a:schemeClr val="bg1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  <a:sym typeface="+mn-ea"/>
              </a:endParaRPr>
            </a:p>
          </p:txBody>
        </p:sp>
      </p:grpSp>
      <p:grpSp>
        <p:nvGrpSpPr>
          <p:cNvPr id="99" name="组合 98"/>
          <p:cNvGrpSpPr/>
          <p:nvPr/>
        </p:nvGrpSpPr>
        <p:grpSpPr>
          <a:xfrm>
            <a:off x="4770755" y="1581785"/>
            <a:ext cx="617855" cy="516890"/>
            <a:chOff x="3017" y="4237"/>
            <a:chExt cx="2412" cy="1866"/>
          </a:xfrm>
        </p:grpSpPr>
        <p:sp>
          <p:nvSpPr>
            <p:cNvPr id="100" name="矩形 99"/>
            <p:cNvSpPr/>
            <p:nvPr>
              <p:custDataLst>
                <p:tags r:id="rId18"/>
              </p:custDataLst>
            </p:nvPr>
          </p:nvSpPr>
          <p:spPr>
            <a:xfrm>
              <a:off x="3017" y="4237"/>
              <a:ext cx="2413" cy="586"/>
            </a:xfrm>
            <a:prstGeom prst="rect">
              <a:avLst/>
            </a:prstGeom>
            <a:solidFill>
              <a:srgbClr val="00B050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01" name="矩形 100"/>
            <p:cNvSpPr/>
            <p:nvPr>
              <p:custDataLst>
                <p:tags r:id="rId19"/>
              </p:custDataLst>
            </p:nvPr>
          </p:nvSpPr>
          <p:spPr>
            <a:xfrm>
              <a:off x="3017" y="5517"/>
              <a:ext cx="2413" cy="586"/>
            </a:xfrm>
            <a:prstGeom prst="rect">
              <a:avLst/>
            </a:prstGeom>
            <a:solidFill>
              <a:schemeClr val="accent2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02" name="矩形 101"/>
            <p:cNvSpPr/>
            <p:nvPr>
              <p:custDataLst>
                <p:tags r:id="rId20"/>
              </p:custDataLst>
            </p:nvPr>
          </p:nvSpPr>
          <p:spPr>
            <a:xfrm>
              <a:off x="3017" y="4823"/>
              <a:ext cx="2413" cy="694"/>
            </a:xfrm>
            <a:prstGeom prst="rect">
              <a:avLst/>
            </a:prstGeom>
            <a:solidFill>
              <a:schemeClr val="bg1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  <a:sym typeface="+mn-ea"/>
              </a:endParaRPr>
            </a:p>
          </p:txBody>
        </p:sp>
      </p:grpSp>
      <p:grpSp>
        <p:nvGrpSpPr>
          <p:cNvPr id="103" name="组合 102"/>
          <p:cNvGrpSpPr/>
          <p:nvPr/>
        </p:nvGrpSpPr>
        <p:grpSpPr>
          <a:xfrm>
            <a:off x="4770120" y="2502535"/>
            <a:ext cx="617855" cy="516890"/>
            <a:chOff x="3017" y="4237"/>
            <a:chExt cx="2412" cy="1866"/>
          </a:xfrm>
        </p:grpSpPr>
        <p:sp>
          <p:nvSpPr>
            <p:cNvPr id="104" name="矩形 103"/>
            <p:cNvSpPr/>
            <p:nvPr>
              <p:custDataLst>
                <p:tags r:id="rId21"/>
              </p:custDataLst>
            </p:nvPr>
          </p:nvSpPr>
          <p:spPr>
            <a:xfrm>
              <a:off x="3017" y="4237"/>
              <a:ext cx="2413" cy="586"/>
            </a:xfrm>
            <a:prstGeom prst="rect">
              <a:avLst/>
            </a:prstGeom>
            <a:solidFill>
              <a:srgbClr val="00B050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05" name="矩形 104"/>
            <p:cNvSpPr/>
            <p:nvPr>
              <p:custDataLst>
                <p:tags r:id="rId22"/>
              </p:custDataLst>
            </p:nvPr>
          </p:nvSpPr>
          <p:spPr>
            <a:xfrm>
              <a:off x="3017" y="5517"/>
              <a:ext cx="2413" cy="586"/>
            </a:xfrm>
            <a:prstGeom prst="rect">
              <a:avLst/>
            </a:prstGeom>
            <a:solidFill>
              <a:schemeClr val="accent2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06" name="矩形 105"/>
            <p:cNvSpPr/>
            <p:nvPr>
              <p:custDataLst>
                <p:tags r:id="rId23"/>
              </p:custDataLst>
            </p:nvPr>
          </p:nvSpPr>
          <p:spPr>
            <a:xfrm>
              <a:off x="3017" y="4823"/>
              <a:ext cx="2413" cy="694"/>
            </a:xfrm>
            <a:prstGeom prst="rect">
              <a:avLst/>
            </a:prstGeom>
            <a:solidFill>
              <a:schemeClr val="bg1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  <a:sym typeface="+mn-ea"/>
              </a:endParaRPr>
            </a:p>
          </p:txBody>
        </p:sp>
      </p:grpSp>
      <p:grpSp>
        <p:nvGrpSpPr>
          <p:cNvPr id="107" name="组合 106"/>
          <p:cNvGrpSpPr/>
          <p:nvPr/>
        </p:nvGrpSpPr>
        <p:grpSpPr>
          <a:xfrm>
            <a:off x="7481570" y="1581785"/>
            <a:ext cx="617855" cy="516890"/>
            <a:chOff x="3017" y="4237"/>
            <a:chExt cx="2412" cy="1866"/>
          </a:xfrm>
        </p:grpSpPr>
        <p:sp>
          <p:nvSpPr>
            <p:cNvPr id="108" name="矩形 107"/>
            <p:cNvSpPr/>
            <p:nvPr>
              <p:custDataLst>
                <p:tags r:id="rId24"/>
              </p:custDataLst>
            </p:nvPr>
          </p:nvSpPr>
          <p:spPr>
            <a:xfrm>
              <a:off x="3017" y="4237"/>
              <a:ext cx="2413" cy="586"/>
            </a:xfrm>
            <a:prstGeom prst="rect">
              <a:avLst/>
            </a:prstGeom>
            <a:solidFill>
              <a:srgbClr val="00B050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09" name="矩形 108"/>
            <p:cNvSpPr/>
            <p:nvPr>
              <p:custDataLst>
                <p:tags r:id="rId25"/>
              </p:custDataLst>
            </p:nvPr>
          </p:nvSpPr>
          <p:spPr>
            <a:xfrm>
              <a:off x="3017" y="5517"/>
              <a:ext cx="2413" cy="586"/>
            </a:xfrm>
            <a:prstGeom prst="rect">
              <a:avLst/>
            </a:prstGeom>
            <a:solidFill>
              <a:schemeClr val="accent2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10" name="矩形 109"/>
            <p:cNvSpPr/>
            <p:nvPr>
              <p:custDataLst>
                <p:tags r:id="rId26"/>
              </p:custDataLst>
            </p:nvPr>
          </p:nvSpPr>
          <p:spPr>
            <a:xfrm>
              <a:off x="3017" y="4823"/>
              <a:ext cx="2413" cy="694"/>
            </a:xfrm>
            <a:prstGeom prst="rect">
              <a:avLst/>
            </a:prstGeom>
            <a:solidFill>
              <a:schemeClr val="bg1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  <a:sym typeface="+mn-ea"/>
              </a:endParaRPr>
            </a:p>
          </p:txBody>
        </p:sp>
      </p:grpSp>
      <p:cxnSp>
        <p:nvCxnSpPr>
          <p:cNvPr id="111" name="直接箭头连接符 110"/>
          <p:cNvCxnSpPr>
            <a:stCxn id="74" idx="2"/>
          </p:cNvCxnSpPr>
          <p:nvPr>
            <p:custDataLst>
              <p:tags r:id="rId27"/>
            </p:custDataLst>
          </p:nvPr>
        </p:nvCxnSpPr>
        <p:spPr>
          <a:xfrm>
            <a:off x="1605915" y="1177925"/>
            <a:ext cx="0" cy="403860"/>
          </a:xfrm>
          <a:prstGeom prst="straightConnector1">
            <a:avLst/>
          </a:prstGeom>
          <a:ln w="38100">
            <a:solidFill>
              <a:srgbClr val="D02F35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箭头连接符 111"/>
          <p:cNvCxnSpPr/>
          <p:nvPr>
            <p:custDataLst>
              <p:tags r:id="rId28"/>
            </p:custDataLst>
          </p:nvPr>
        </p:nvCxnSpPr>
        <p:spPr>
          <a:xfrm>
            <a:off x="1605915" y="2098675"/>
            <a:ext cx="0" cy="403860"/>
          </a:xfrm>
          <a:prstGeom prst="straightConnector1">
            <a:avLst/>
          </a:prstGeom>
          <a:ln w="38100">
            <a:solidFill>
              <a:srgbClr val="D02F35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接箭头连接符 113"/>
          <p:cNvCxnSpPr/>
          <p:nvPr>
            <p:custDataLst>
              <p:tags r:id="rId29"/>
            </p:custDataLst>
          </p:nvPr>
        </p:nvCxnSpPr>
        <p:spPr>
          <a:xfrm>
            <a:off x="2843530" y="1177925"/>
            <a:ext cx="0" cy="403860"/>
          </a:xfrm>
          <a:prstGeom prst="straightConnector1">
            <a:avLst/>
          </a:prstGeom>
          <a:ln w="38100">
            <a:solidFill>
              <a:srgbClr val="D02F35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接箭头连接符 114"/>
          <p:cNvCxnSpPr/>
          <p:nvPr>
            <p:custDataLst>
              <p:tags r:id="rId30"/>
            </p:custDataLst>
          </p:nvPr>
        </p:nvCxnSpPr>
        <p:spPr>
          <a:xfrm>
            <a:off x="5080000" y="1177925"/>
            <a:ext cx="0" cy="403860"/>
          </a:xfrm>
          <a:prstGeom prst="straightConnector1">
            <a:avLst/>
          </a:prstGeom>
          <a:ln w="38100">
            <a:solidFill>
              <a:srgbClr val="D02F35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接箭头连接符 115"/>
          <p:cNvCxnSpPr/>
          <p:nvPr>
            <p:custDataLst>
              <p:tags r:id="rId31"/>
            </p:custDataLst>
          </p:nvPr>
        </p:nvCxnSpPr>
        <p:spPr>
          <a:xfrm>
            <a:off x="5080000" y="2098675"/>
            <a:ext cx="0" cy="403860"/>
          </a:xfrm>
          <a:prstGeom prst="straightConnector1">
            <a:avLst/>
          </a:prstGeom>
          <a:ln w="38100">
            <a:solidFill>
              <a:srgbClr val="D02F35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接箭头连接符 116"/>
          <p:cNvCxnSpPr/>
          <p:nvPr>
            <p:custDataLst>
              <p:tags r:id="rId32"/>
            </p:custDataLst>
          </p:nvPr>
        </p:nvCxnSpPr>
        <p:spPr>
          <a:xfrm>
            <a:off x="7790180" y="1177925"/>
            <a:ext cx="0" cy="403860"/>
          </a:xfrm>
          <a:prstGeom prst="straightConnector1">
            <a:avLst/>
          </a:prstGeom>
          <a:ln w="38100">
            <a:solidFill>
              <a:srgbClr val="D02F35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矩形 117"/>
          <p:cNvSpPr/>
          <p:nvPr>
            <p:custDataLst>
              <p:tags r:id="rId33"/>
            </p:custDataLst>
          </p:nvPr>
        </p:nvSpPr>
        <p:spPr>
          <a:xfrm>
            <a:off x="3152140" y="737235"/>
            <a:ext cx="999490" cy="440690"/>
          </a:xfrm>
          <a:prstGeom prst="rect">
            <a:avLst/>
          </a:prstGeom>
          <a:solidFill>
            <a:schemeClr val="bg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sym typeface="+mn-ea"/>
              </a:rPr>
              <a:t>... ...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sp>
        <p:nvSpPr>
          <p:cNvPr id="119" name="矩形 118"/>
          <p:cNvSpPr/>
          <p:nvPr>
            <p:custDataLst>
              <p:tags r:id="rId34"/>
            </p:custDataLst>
          </p:nvPr>
        </p:nvSpPr>
        <p:spPr>
          <a:xfrm>
            <a:off x="6007100" y="737235"/>
            <a:ext cx="1473835" cy="440690"/>
          </a:xfrm>
          <a:prstGeom prst="rect">
            <a:avLst/>
          </a:prstGeom>
          <a:solidFill>
            <a:schemeClr val="bg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sym typeface="+mn-ea"/>
              </a:rPr>
              <a:t>... ...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</p:spTree>
    <p:custDataLst>
      <p:tags r:id="rId35"/>
    </p:custData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主存储器分配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一、进程的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系统进程总览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进程的实现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内存分配的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x86-64内存管理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DLM进程内分配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Linux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进程间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分配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Linux页面替换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三、系统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.2 进程的基本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操作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3.3 进程接口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伙伴分配器（</a:t>
            </a:r>
            <a:r>
              <a:rPr lang="en-US" altLang="zh-CN" sz="2000" b="1">
                <a:solidFill>
                  <a:srgbClr val="9C0B15"/>
                </a:solidFill>
              </a:rPr>
              <a:t>Buddy Allocator</a:t>
            </a:r>
            <a:r>
              <a:rPr lang="zh-CN" altLang="en-US" sz="2000" b="1">
                <a:solidFill>
                  <a:srgbClr val="9C0B15"/>
                </a:solidFill>
              </a:rPr>
              <a:t>）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伙伴分配器</a:t>
            </a:r>
            <a:r>
              <a:rPr lang="en-US" altLang="zh-CN" sz="2000" b="1">
                <a:solidFill>
                  <a:srgbClr val="9C0B15"/>
                </a:solidFill>
              </a:rPr>
              <a:t>	</a:t>
            </a:r>
            <a:r>
              <a:rPr lang="zh-CN" altLang="en-US" sz="2000"/>
              <a:t>按照一系列不同大小的队列组织空闲块的分配器。它一般采取</a:t>
            </a:r>
            <a:r>
              <a:rPr lang="zh-CN" altLang="en-US" sz="2000" b="1">
                <a:solidFill>
                  <a:srgbClr val="9C0B15"/>
                </a:solidFill>
              </a:rPr>
              <a:t>（广义）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>
                <a:solidFill>
                  <a:srgbClr val="9C0B15"/>
                </a:solidFill>
              </a:rPr>
              <a:t>最好适配法</a:t>
            </a:r>
            <a:r>
              <a:rPr lang="zh-CN" altLang="en-US" sz="2000"/>
              <a:t>进行内存分</a:t>
            </a:r>
            <a:r>
              <a:rPr lang="zh-CN" altLang="en-US" sz="2000"/>
              <a:t>配。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内存块的拆分</a:t>
            </a:r>
            <a:r>
              <a:rPr lang="en-US" altLang="zh-CN" sz="2000"/>
              <a:t>	</a:t>
            </a:r>
            <a:r>
              <a:rPr lang="zh-CN" altLang="en-US" sz="2000"/>
              <a:t>当分配时，从</a:t>
            </a:r>
            <a:r>
              <a:rPr lang="zh-CN" altLang="en-US" sz="2000">
                <a:solidFill>
                  <a:srgbClr val="9C0B15"/>
                </a:solidFill>
              </a:rPr>
              <a:t>可能满足分配的队列（要分配</a:t>
            </a:r>
            <a:r>
              <a:rPr lang="en-US" altLang="zh-CN" sz="2000">
                <a:solidFill>
                  <a:srgbClr val="9C0B15"/>
                </a:solidFill>
              </a:rPr>
              <a:t>610</a:t>
            </a:r>
            <a:r>
              <a:rPr lang="zh-CN" altLang="en-US" sz="2000">
                <a:solidFill>
                  <a:srgbClr val="9C0B15"/>
                </a:solidFill>
              </a:rPr>
              <a:t>字节，需要查询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</a:rPr>
              <a:t>哪个队列？）</a:t>
            </a:r>
            <a:r>
              <a:rPr lang="zh-CN" altLang="en-US" sz="2000"/>
              <a:t>开始查询合适的空闲块，一直到找到该空闲块为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止。对该空闲块进行</a:t>
            </a:r>
            <a:r>
              <a:rPr lang="zh-CN" altLang="en-US" sz="2000">
                <a:solidFill>
                  <a:srgbClr val="9C0B15"/>
                </a:solidFill>
              </a:rPr>
              <a:t>拆分</a:t>
            </a:r>
            <a:r>
              <a:rPr lang="zh-CN" altLang="en-US" sz="2000"/>
              <a:t>，分配合适的大小，再将剩余部分挂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回合适的</a:t>
            </a:r>
            <a:r>
              <a:rPr lang="zh-CN" altLang="en-US" sz="2000"/>
              <a:t>队列。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内存块的合并</a:t>
            </a:r>
            <a:r>
              <a:rPr lang="en-US" altLang="zh-CN" sz="2000"/>
              <a:t>	</a:t>
            </a:r>
            <a:r>
              <a:rPr lang="zh-CN" altLang="en-US" sz="2000"/>
              <a:t>当释放时，查询空闲块前后两个内存块的状态。只要其中任何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一个也是空闲的，就将它们</a:t>
            </a:r>
            <a:r>
              <a:rPr lang="zh-CN" altLang="en-US" sz="2000">
                <a:solidFill>
                  <a:srgbClr val="9C0B15"/>
                </a:solidFill>
              </a:rPr>
              <a:t>合并</a:t>
            </a:r>
            <a:r>
              <a:rPr lang="zh-CN" altLang="en-US" sz="2000"/>
              <a:t>进这个空闲块，然后将这个大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空闲块挂回合适的</a:t>
            </a:r>
            <a:r>
              <a:rPr lang="zh-CN" altLang="en-US" sz="2000"/>
              <a:t>队列。</a:t>
            </a:r>
            <a:endParaRPr lang="zh-CN" altLang="en-US" sz="2000"/>
          </a:p>
        </p:txBody>
      </p:sp>
      <p:grpSp>
        <p:nvGrpSpPr>
          <p:cNvPr id="17" name="组合 16"/>
          <p:cNvGrpSpPr/>
          <p:nvPr/>
        </p:nvGrpSpPr>
        <p:grpSpPr>
          <a:xfrm>
            <a:off x="1296670" y="1581785"/>
            <a:ext cx="617855" cy="516890"/>
            <a:chOff x="3017" y="4237"/>
            <a:chExt cx="2412" cy="1866"/>
          </a:xfrm>
        </p:grpSpPr>
        <p:sp>
          <p:nvSpPr>
            <p:cNvPr id="2" name="矩形 1"/>
            <p:cNvSpPr/>
            <p:nvPr>
              <p:custDataLst>
                <p:tags r:id="rId2"/>
              </p:custDataLst>
            </p:nvPr>
          </p:nvSpPr>
          <p:spPr>
            <a:xfrm>
              <a:off x="3017" y="4237"/>
              <a:ext cx="2413" cy="586"/>
            </a:xfrm>
            <a:prstGeom prst="rect">
              <a:avLst/>
            </a:prstGeom>
            <a:solidFill>
              <a:srgbClr val="00B050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9" name="矩形 8"/>
            <p:cNvSpPr/>
            <p:nvPr>
              <p:custDataLst>
                <p:tags r:id="rId3"/>
              </p:custDataLst>
            </p:nvPr>
          </p:nvSpPr>
          <p:spPr>
            <a:xfrm>
              <a:off x="3017" y="5517"/>
              <a:ext cx="2413" cy="586"/>
            </a:xfrm>
            <a:prstGeom prst="rect">
              <a:avLst/>
            </a:prstGeom>
            <a:solidFill>
              <a:schemeClr val="accent2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5" name="矩形 14"/>
            <p:cNvSpPr/>
            <p:nvPr>
              <p:custDataLst>
                <p:tags r:id="rId4"/>
              </p:custDataLst>
            </p:nvPr>
          </p:nvSpPr>
          <p:spPr>
            <a:xfrm>
              <a:off x="3017" y="4823"/>
              <a:ext cx="2413" cy="694"/>
            </a:xfrm>
            <a:prstGeom prst="rect">
              <a:avLst/>
            </a:prstGeom>
            <a:solidFill>
              <a:schemeClr val="bg1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  <a:sym typeface="+mn-ea"/>
              </a:endParaRPr>
            </a:p>
          </p:txBody>
        </p:sp>
      </p:grpSp>
      <p:sp>
        <p:nvSpPr>
          <p:cNvPr id="74" name="矩形 73"/>
          <p:cNvSpPr/>
          <p:nvPr>
            <p:custDataLst>
              <p:tags r:id="rId5"/>
            </p:custDataLst>
          </p:nvPr>
        </p:nvSpPr>
        <p:spPr>
          <a:xfrm>
            <a:off x="1296670" y="737235"/>
            <a:ext cx="618490" cy="440690"/>
          </a:xfrm>
          <a:prstGeom prst="rect">
            <a:avLst/>
          </a:prstGeom>
          <a:solidFill>
            <a:schemeClr val="bg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sym typeface="+mn-ea"/>
              </a:rPr>
              <a:t>16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sp>
        <p:nvSpPr>
          <p:cNvPr id="81" name="矩形 80"/>
          <p:cNvSpPr/>
          <p:nvPr>
            <p:custDataLst>
              <p:tags r:id="rId6"/>
            </p:custDataLst>
          </p:nvPr>
        </p:nvSpPr>
        <p:spPr>
          <a:xfrm>
            <a:off x="1915160" y="737235"/>
            <a:ext cx="618490" cy="440690"/>
          </a:xfrm>
          <a:prstGeom prst="rect">
            <a:avLst/>
          </a:prstGeom>
          <a:solidFill>
            <a:schemeClr val="bg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sym typeface="+mn-ea"/>
              </a:rPr>
              <a:t>24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sp>
        <p:nvSpPr>
          <p:cNvPr id="82" name="矩形 81"/>
          <p:cNvSpPr/>
          <p:nvPr>
            <p:custDataLst>
              <p:tags r:id="rId7"/>
            </p:custDataLst>
          </p:nvPr>
        </p:nvSpPr>
        <p:spPr>
          <a:xfrm>
            <a:off x="2533650" y="737235"/>
            <a:ext cx="618490" cy="440690"/>
          </a:xfrm>
          <a:prstGeom prst="rect">
            <a:avLst/>
          </a:prstGeom>
          <a:solidFill>
            <a:schemeClr val="bg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sym typeface="+mn-ea"/>
              </a:rPr>
              <a:t>32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sp>
        <p:nvSpPr>
          <p:cNvPr id="83" name="矩形 82"/>
          <p:cNvSpPr/>
          <p:nvPr>
            <p:custDataLst>
              <p:tags r:id="rId8"/>
            </p:custDataLst>
          </p:nvPr>
        </p:nvSpPr>
        <p:spPr>
          <a:xfrm>
            <a:off x="4151630" y="737235"/>
            <a:ext cx="618490" cy="440690"/>
          </a:xfrm>
          <a:prstGeom prst="rect">
            <a:avLst/>
          </a:prstGeom>
          <a:solidFill>
            <a:schemeClr val="bg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sym typeface="+mn-ea"/>
              </a:rPr>
              <a:t>512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sp>
        <p:nvSpPr>
          <p:cNvPr id="84" name="矩形 83"/>
          <p:cNvSpPr/>
          <p:nvPr>
            <p:custDataLst>
              <p:tags r:id="rId9"/>
            </p:custDataLst>
          </p:nvPr>
        </p:nvSpPr>
        <p:spPr>
          <a:xfrm>
            <a:off x="4770120" y="737235"/>
            <a:ext cx="618490" cy="440690"/>
          </a:xfrm>
          <a:prstGeom prst="rect">
            <a:avLst/>
          </a:prstGeom>
          <a:solidFill>
            <a:schemeClr val="bg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sym typeface="+mn-ea"/>
              </a:rPr>
              <a:t>576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sp>
        <p:nvSpPr>
          <p:cNvPr id="85" name="矩形 84"/>
          <p:cNvSpPr/>
          <p:nvPr>
            <p:custDataLst>
              <p:tags r:id="rId10"/>
            </p:custDataLst>
          </p:nvPr>
        </p:nvSpPr>
        <p:spPr>
          <a:xfrm>
            <a:off x="5388610" y="737235"/>
            <a:ext cx="618490" cy="440690"/>
          </a:xfrm>
          <a:prstGeom prst="rect">
            <a:avLst/>
          </a:prstGeom>
          <a:solidFill>
            <a:schemeClr val="bg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sym typeface="+mn-ea"/>
              </a:rPr>
              <a:t>640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sp>
        <p:nvSpPr>
          <p:cNvPr id="86" name="矩形 85"/>
          <p:cNvSpPr/>
          <p:nvPr>
            <p:custDataLst>
              <p:tags r:id="rId11"/>
            </p:custDataLst>
          </p:nvPr>
        </p:nvSpPr>
        <p:spPr>
          <a:xfrm>
            <a:off x="7481570" y="737235"/>
            <a:ext cx="618490" cy="440690"/>
          </a:xfrm>
          <a:prstGeom prst="rect">
            <a:avLst/>
          </a:prstGeom>
          <a:solidFill>
            <a:schemeClr val="bg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sym typeface="+mn-ea"/>
              </a:rPr>
              <a:t>2</a:t>
            </a:r>
            <a:r>
              <a:rPr lang="en-US" altLang="zh-CN" baseline="30000">
                <a:solidFill>
                  <a:schemeClr val="tx1"/>
                </a:solidFill>
                <a:sym typeface="+mn-ea"/>
              </a:rPr>
              <a:t>31</a:t>
            </a:r>
            <a:endParaRPr lang="en-US" altLang="zh-CN" baseline="30000">
              <a:solidFill>
                <a:schemeClr val="tx1"/>
              </a:solidFill>
              <a:sym typeface="+mn-ea"/>
            </a:endParaRPr>
          </a:p>
        </p:txBody>
      </p:sp>
      <p:grpSp>
        <p:nvGrpSpPr>
          <p:cNvPr id="87" name="组合 86"/>
          <p:cNvGrpSpPr/>
          <p:nvPr/>
        </p:nvGrpSpPr>
        <p:grpSpPr>
          <a:xfrm>
            <a:off x="1296670" y="2502535"/>
            <a:ext cx="617855" cy="516890"/>
            <a:chOff x="3017" y="4237"/>
            <a:chExt cx="2412" cy="1866"/>
          </a:xfrm>
        </p:grpSpPr>
        <p:sp>
          <p:nvSpPr>
            <p:cNvPr id="88" name="矩形 87"/>
            <p:cNvSpPr/>
            <p:nvPr>
              <p:custDataLst>
                <p:tags r:id="rId12"/>
              </p:custDataLst>
            </p:nvPr>
          </p:nvSpPr>
          <p:spPr>
            <a:xfrm>
              <a:off x="3017" y="4237"/>
              <a:ext cx="2413" cy="586"/>
            </a:xfrm>
            <a:prstGeom prst="rect">
              <a:avLst/>
            </a:prstGeom>
            <a:solidFill>
              <a:srgbClr val="00B050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89" name="矩形 88"/>
            <p:cNvSpPr/>
            <p:nvPr>
              <p:custDataLst>
                <p:tags r:id="rId13"/>
              </p:custDataLst>
            </p:nvPr>
          </p:nvSpPr>
          <p:spPr>
            <a:xfrm>
              <a:off x="3017" y="5517"/>
              <a:ext cx="2413" cy="586"/>
            </a:xfrm>
            <a:prstGeom prst="rect">
              <a:avLst/>
            </a:prstGeom>
            <a:solidFill>
              <a:schemeClr val="accent2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90" name="矩形 89"/>
            <p:cNvSpPr/>
            <p:nvPr>
              <p:custDataLst>
                <p:tags r:id="rId14"/>
              </p:custDataLst>
            </p:nvPr>
          </p:nvSpPr>
          <p:spPr>
            <a:xfrm>
              <a:off x="3017" y="4823"/>
              <a:ext cx="2413" cy="694"/>
            </a:xfrm>
            <a:prstGeom prst="rect">
              <a:avLst/>
            </a:prstGeom>
            <a:solidFill>
              <a:schemeClr val="bg1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  <a:sym typeface="+mn-ea"/>
              </a:endParaRPr>
            </a:p>
          </p:txBody>
        </p:sp>
      </p:grpSp>
      <p:grpSp>
        <p:nvGrpSpPr>
          <p:cNvPr id="95" name="组合 94"/>
          <p:cNvGrpSpPr/>
          <p:nvPr/>
        </p:nvGrpSpPr>
        <p:grpSpPr>
          <a:xfrm>
            <a:off x="2534285" y="1581785"/>
            <a:ext cx="617855" cy="516890"/>
            <a:chOff x="3017" y="4237"/>
            <a:chExt cx="2412" cy="1866"/>
          </a:xfrm>
        </p:grpSpPr>
        <p:sp>
          <p:nvSpPr>
            <p:cNvPr id="96" name="矩形 95"/>
            <p:cNvSpPr/>
            <p:nvPr>
              <p:custDataLst>
                <p:tags r:id="rId15"/>
              </p:custDataLst>
            </p:nvPr>
          </p:nvSpPr>
          <p:spPr>
            <a:xfrm>
              <a:off x="3017" y="4237"/>
              <a:ext cx="2413" cy="586"/>
            </a:xfrm>
            <a:prstGeom prst="rect">
              <a:avLst/>
            </a:prstGeom>
            <a:solidFill>
              <a:srgbClr val="00B050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97" name="矩形 96"/>
            <p:cNvSpPr/>
            <p:nvPr>
              <p:custDataLst>
                <p:tags r:id="rId16"/>
              </p:custDataLst>
            </p:nvPr>
          </p:nvSpPr>
          <p:spPr>
            <a:xfrm>
              <a:off x="3017" y="5517"/>
              <a:ext cx="2413" cy="586"/>
            </a:xfrm>
            <a:prstGeom prst="rect">
              <a:avLst/>
            </a:prstGeom>
            <a:solidFill>
              <a:schemeClr val="accent2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98" name="矩形 97"/>
            <p:cNvSpPr/>
            <p:nvPr>
              <p:custDataLst>
                <p:tags r:id="rId17"/>
              </p:custDataLst>
            </p:nvPr>
          </p:nvSpPr>
          <p:spPr>
            <a:xfrm>
              <a:off x="3017" y="4823"/>
              <a:ext cx="2413" cy="694"/>
            </a:xfrm>
            <a:prstGeom prst="rect">
              <a:avLst/>
            </a:prstGeom>
            <a:solidFill>
              <a:schemeClr val="bg1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  <a:sym typeface="+mn-ea"/>
              </a:endParaRPr>
            </a:p>
          </p:txBody>
        </p:sp>
      </p:grpSp>
      <p:grpSp>
        <p:nvGrpSpPr>
          <p:cNvPr id="99" name="组合 98"/>
          <p:cNvGrpSpPr/>
          <p:nvPr/>
        </p:nvGrpSpPr>
        <p:grpSpPr>
          <a:xfrm>
            <a:off x="4770755" y="1581785"/>
            <a:ext cx="617855" cy="516890"/>
            <a:chOff x="3017" y="4237"/>
            <a:chExt cx="2412" cy="1866"/>
          </a:xfrm>
        </p:grpSpPr>
        <p:sp>
          <p:nvSpPr>
            <p:cNvPr id="100" name="矩形 99"/>
            <p:cNvSpPr/>
            <p:nvPr>
              <p:custDataLst>
                <p:tags r:id="rId18"/>
              </p:custDataLst>
            </p:nvPr>
          </p:nvSpPr>
          <p:spPr>
            <a:xfrm>
              <a:off x="3017" y="4237"/>
              <a:ext cx="2413" cy="586"/>
            </a:xfrm>
            <a:prstGeom prst="rect">
              <a:avLst/>
            </a:prstGeom>
            <a:solidFill>
              <a:srgbClr val="00B050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01" name="矩形 100"/>
            <p:cNvSpPr/>
            <p:nvPr>
              <p:custDataLst>
                <p:tags r:id="rId19"/>
              </p:custDataLst>
            </p:nvPr>
          </p:nvSpPr>
          <p:spPr>
            <a:xfrm>
              <a:off x="3017" y="5517"/>
              <a:ext cx="2413" cy="586"/>
            </a:xfrm>
            <a:prstGeom prst="rect">
              <a:avLst/>
            </a:prstGeom>
            <a:solidFill>
              <a:schemeClr val="accent2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02" name="矩形 101"/>
            <p:cNvSpPr/>
            <p:nvPr>
              <p:custDataLst>
                <p:tags r:id="rId20"/>
              </p:custDataLst>
            </p:nvPr>
          </p:nvSpPr>
          <p:spPr>
            <a:xfrm>
              <a:off x="3017" y="4823"/>
              <a:ext cx="2413" cy="694"/>
            </a:xfrm>
            <a:prstGeom prst="rect">
              <a:avLst/>
            </a:prstGeom>
            <a:solidFill>
              <a:schemeClr val="bg1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  <a:sym typeface="+mn-ea"/>
              </a:endParaRPr>
            </a:p>
          </p:txBody>
        </p:sp>
      </p:grpSp>
      <p:grpSp>
        <p:nvGrpSpPr>
          <p:cNvPr id="103" name="组合 102"/>
          <p:cNvGrpSpPr/>
          <p:nvPr/>
        </p:nvGrpSpPr>
        <p:grpSpPr>
          <a:xfrm>
            <a:off x="4770120" y="2502535"/>
            <a:ext cx="617855" cy="516890"/>
            <a:chOff x="3017" y="4237"/>
            <a:chExt cx="2412" cy="1866"/>
          </a:xfrm>
        </p:grpSpPr>
        <p:sp>
          <p:nvSpPr>
            <p:cNvPr id="104" name="矩形 103"/>
            <p:cNvSpPr/>
            <p:nvPr>
              <p:custDataLst>
                <p:tags r:id="rId21"/>
              </p:custDataLst>
            </p:nvPr>
          </p:nvSpPr>
          <p:spPr>
            <a:xfrm>
              <a:off x="3017" y="4237"/>
              <a:ext cx="2413" cy="586"/>
            </a:xfrm>
            <a:prstGeom prst="rect">
              <a:avLst/>
            </a:prstGeom>
            <a:solidFill>
              <a:srgbClr val="00B050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05" name="矩形 104"/>
            <p:cNvSpPr/>
            <p:nvPr>
              <p:custDataLst>
                <p:tags r:id="rId22"/>
              </p:custDataLst>
            </p:nvPr>
          </p:nvSpPr>
          <p:spPr>
            <a:xfrm>
              <a:off x="3017" y="5517"/>
              <a:ext cx="2413" cy="586"/>
            </a:xfrm>
            <a:prstGeom prst="rect">
              <a:avLst/>
            </a:prstGeom>
            <a:solidFill>
              <a:schemeClr val="accent2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06" name="矩形 105"/>
            <p:cNvSpPr/>
            <p:nvPr>
              <p:custDataLst>
                <p:tags r:id="rId23"/>
              </p:custDataLst>
            </p:nvPr>
          </p:nvSpPr>
          <p:spPr>
            <a:xfrm>
              <a:off x="3017" y="4823"/>
              <a:ext cx="2413" cy="694"/>
            </a:xfrm>
            <a:prstGeom prst="rect">
              <a:avLst/>
            </a:prstGeom>
            <a:solidFill>
              <a:schemeClr val="bg1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  <a:sym typeface="+mn-ea"/>
              </a:endParaRPr>
            </a:p>
          </p:txBody>
        </p:sp>
      </p:grpSp>
      <p:grpSp>
        <p:nvGrpSpPr>
          <p:cNvPr id="107" name="组合 106"/>
          <p:cNvGrpSpPr/>
          <p:nvPr/>
        </p:nvGrpSpPr>
        <p:grpSpPr>
          <a:xfrm>
            <a:off x="7481570" y="1581785"/>
            <a:ext cx="617855" cy="516890"/>
            <a:chOff x="3017" y="4237"/>
            <a:chExt cx="2412" cy="1866"/>
          </a:xfrm>
        </p:grpSpPr>
        <p:sp>
          <p:nvSpPr>
            <p:cNvPr id="108" name="矩形 107"/>
            <p:cNvSpPr/>
            <p:nvPr>
              <p:custDataLst>
                <p:tags r:id="rId24"/>
              </p:custDataLst>
            </p:nvPr>
          </p:nvSpPr>
          <p:spPr>
            <a:xfrm>
              <a:off x="3017" y="4237"/>
              <a:ext cx="2413" cy="586"/>
            </a:xfrm>
            <a:prstGeom prst="rect">
              <a:avLst/>
            </a:prstGeom>
            <a:solidFill>
              <a:srgbClr val="00B050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09" name="矩形 108"/>
            <p:cNvSpPr/>
            <p:nvPr>
              <p:custDataLst>
                <p:tags r:id="rId25"/>
              </p:custDataLst>
            </p:nvPr>
          </p:nvSpPr>
          <p:spPr>
            <a:xfrm>
              <a:off x="3017" y="5517"/>
              <a:ext cx="2413" cy="586"/>
            </a:xfrm>
            <a:prstGeom prst="rect">
              <a:avLst/>
            </a:prstGeom>
            <a:solidFill>
              <a:schemeClr val="accent2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10" name="矩形 109"/>
            <p:cNvSpPr/>
            <p:nvPr>
              <p:custDataLst>
                <p:tags r:id="rId26"/>
              </p:custDataLst>
            </p:nvPr>
          </p:nvSpPr>
          <p:spPr>
            <a:xfrm>
              <a:off x="3017" y="4823"/>
              <a:ext cx="2413" cy="694"/>
            </a:xfrm>
            <a:prstGeom prst="rect">
              <a:avLst/>
            </a:prstGeom>
            <a:solidFill>
              <a:schemeClr val="bg1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  <a:sym typeface="+mn-ea"/>
              </a:endParaRPr>
            </a:p>
          </p:txBody>
        </p:sp>
      </p:grpSp>
      <p:cxnSp>
        <p:nvCxnSpPr>
          <p:cNvPr id="111" name="直接箭头连接符 110"/>
          <p:cNvCxnSpPr>
            <a:stCxn id="74" idx="2"/>
          </p:cNvCxnSpPr>
          <p:nvPr>
            <p:custDataLst>
              <p:tags r:id="rId27"/>
            </p:custDataLst>
          </p:nvPr>
        </p:nvCxnSpPr>
        <p:spPr>
          <a:xfrm>
            <a:off x="1605915" y="1177925"/>
            <a:ext cx="0" cy="403860"/>
          </a:xfrm>
          <a:prstGeom prst="straightConnector1">
            <a:avLst/>
          </a:prstGeom>
          <a:ln w="38100">
            <a:solidFill>
              <a:srgbClr val="D02F35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箭头连接符 111"/>
          <p:cNvCxnSpPr/>
          <p:nvPr>
            <p:custDataLst>
              <p:tags r:id="rId28"/>
            </p:custDataLst>
          </p:nvPr>
        </p:nvCxnSpPr>
        <p:spPr>
          <a:xfrm>
            <a:off x="1605915" y="2098675"/>
            <a:ext cx="0" cy="403860"/>
          </a:xfrm>
          <a:prstGeom prst="straightConnector1">
            <a:avLst/>
          </a:prstGeom>
          <a:ln w="38100">
            <a:solidFill>
              <a:srgbClr val="D02F35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接箭头连接符 113"/>
          <p:cNvCxnSpPr/>
          <p:nvPr>
            <p:custDataLst>
              <p:tags r:id="rId29"/>
            </p:custDataLst>
          </p:nvPr>
        </p:nvCxnSpPr>
        <p:spPr>
          <a:xfrm>
            <a:off x="2843530" y="1177925"/>
            <a:ext cx="0" cy="403860"/>
          </a:xfrm>
          <a:prstGeom prst="straightConnector1">
            <a:avLst/>
          </a:prstGeom>
          <a:ln w="38100">
            <a:solidFill>
              <a:srgbClr val="D02F35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接箭头连接符 114"/>
          <p:cNvCxnSpPr/>
          <p:nvPr>
            <p:custDataLst>
              <p:tags r:id="rId30"/>
            </p:custDataLst>
          </p:nvPr>
        </p:nvCxnSpPr>
        <p:spPr>
          <a:xfrm>
            <a:off x="5080000" y="1177925"/>
            <a:ext cx="0" cy="403860"/>
          </a:xfrm>
          <a:prstGeom prst="straightConnector1">
            <a:avLst/>
          </a:prstGeom>
          <a:ln w="38100">
            <a:solidFill>
              <a:srgbClr val="D02F35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接箭头连接符 115"/>
          <p:cNvCxnSpPr/>
          <p:nvPr>
            <p:custDataLst>
              <p:tags r:id="rId31"/>
            </p:custDataLst>
          </p:nvPr>
        </p:nvCxnSpPr>
        <p:spPr>
          <a:xfrm>
            <a:off x="5080000" y="2098675"/>
            <a:ext cx="0" cy="403860"/>
          </a:xfrm>
          <a:prstGeom prst="straightConnector1">
            <a:avLst/>
          </a:prstGeom>
          <a:ln w="38100">
            <a:solidFill>
              <a:srgbClr val="D02F35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接箭头连接符 116"/>
          <p:cNvCxnSpPr/>
          <p:nvPr>
            <p:custDataLst>
              <p:tags r:id="rId32"/>
            </p:custDataLst>
          </p:nvPr>
        </p:nvCxnSpPr>
        <p:spPr>
          <a:xfrm>
            <a:off x="7790180" y="1177925"/>
            <a:ext cx="0" cy="403860"/>
          </a:xfrm>
          <a:prstGeom prst="straightConnector1">
            <a:avLst/>
          </a:prstGeom>
          <a:ln w="38100">
            <a:solidFill>
              <a:srgbClr val="D02F35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矩形 117"/>
          <p:cNvSpPr/>
          <p:nvPr>
            <p:custDataLst>
              <p:tags r:id="rId33"/>
            </p:custDataLst>
          </p:nvPr>
        </p:nvSpPr>
        <p:spPr>
          <a:xfrm>
            <a:off x="3152140" y="737235"/>
            <a:ext cx="999490" cy="440690"/>
          </a:xfrm>
          <a:prstGeom prst="rect">
            <a:avLst/>
          </a:prstGeom>
          <a:solidFill>
            <a:schemeClr val="bg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sym typeface="+mn-ea"/>
              </a:rPr>
              <a:t>... ...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sp>
        <p:nvSpPr>
          <p:cNvPr id="119" name="矩形 118"/>
          <p:cNvSpPr/>
          <p:nvPr>
            <p:custDataLst>
              <p:tags r:id="rId34"/>
            </p:custDataLst>
          </p:nvPr>
        </p:nvSpPr>
        <p:spPr>
          <a:xfrm>
            <a:off x="6007100" y="737235"/>
            <a:ext cx="1473835" cy="440690"/>
          </a:xfrm>
          <a:prstGeom prst="rect">
            <a:avLst/>
          </a:prstGeom>
          <a:solidFill>
            <a:schemeClr val="bg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sym typeface="+mn-ea"/>
              </a:rPr>
              <a:t>... ...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</p:spTree>
    <p:custDataLst>
      <p:tags r:id="rId35"/>
    </p:custData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主存储器分配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一、进程的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系统进程总览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进程的实现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内存分配的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x86-64内存管理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DLM进程内分配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Linux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进程间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分配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Linux页面替换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三、系统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.2 进程的基本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操作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3.3 进程接口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伙伴分配器（</a:t>
            </a:r>
            <a:r>
              <a:rPr lang="en-US" altLang="zh-CN" sz="2000" b="1">
                <a:solidFill>
                  <a:srgbClr val="9C0B15"/>
                </a:solidFill>
              </a:rPr>
              <a:t>Buddy Allocator</a:t>
            </a:r>
            <a:r>
              <a:rPr lang="zh-CN" altLang="en-US" sz="2000" b="1">
                <a:solidFill>
                  <a:srgbClr val="9C0B15"/>
                </a:solidFill>
              </a:rPr>
              <a:t>）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 b="1">
              <a:solidFill>
                <a:srgbClr val="9C0B15"/>
              </a:solidFill>
            </a:endParaRPr>
          </a:p>
          <a:p>
            <a:pPr algn="l"/>
            <a:r>
              <a:rPr lang="zh-CN" altLang="en-US" sz="2000" b="1">
                <a:solidFill>
                  <a:srgbClr val="9C0B15"/>
                </a:solidFill>
              </a:rPr>
              <a:t>问题一</a:t>
            </a:r>
            <a:r>
              <a:rPr lang="en-US" altLang="zh-CN" sz="2000"/>
              <a:t>		</a:t>
            </a:r>
            <a:r>
              <a:rPr lang="zh-CN" altLang="en-US" sz="2000"/>
              <a:t>伙伴分配器的时间复杂度是多少</a:t>
            </a:r>
            <a:r>
              <a:rPr lang="zh-CN" altLang="en-US" sz="2000">
                <a:sym typeface="+mn-ea"/>
              </a:rPr>
              <a:t>（考虑分配和释放）</a:t>
            </a:r>
            <a:r>
              <a:rPr lang="zh-CN" altLang="en-US" sz="2000"/>
              <a:t>？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l"/>
            <a:r>
              <a:rPr lang="en-US" altLang="zh-CN" sz="2000">
                <a:sym typeface="+mn-ea"/>
              </a:rPr>
              <a:t>		</a:t>
            </a:r>
            <a:r>
              <a:rPr lang="zh-CN" altLang="en-US" sz="2000" b="1">
                <a:solidFill>
                  <a:srgbClr val="9C0B15"/>
                </a:solidFill>
              </a:rPr>
              <a:t>分配</a:t>
            </a:r>
            <a:r>
              <a:rPr lang="en-US" altLang="zh-CN" sz="2000"/>
              <a:t>	</a:t>
            </a:r>
            <a:r>
              <a:rPr lang="zh-CN" altLang="en-US" sz="2000">
                <a:solidFill>
                  <a:srgbClr val="9C0B15"/>
                </a:solidFill>
              </a:rPr>
              <a:t>找到合适的内存块是O(logk)</a:t>
            </a:r>
            <a:r>
              <a:rPr lang="zh-CN" altLang="en-US" sz="2000"/>
              <a:t>，切割是</a:t>
            </a:r>
            <a:r>
              <a:rPr lang="en-US" altLang="zh-CN" sz="2000"/>
              <a:t>O(1)</a:t>
            </a:r>
            <a:r>
              <a:rPr lang="zh-CN" altLang="en-US" sz="2000"/>
              <a:t>，把内存块插</a:t>
            </a:r>
            <a:r>
              <a:rPr lang="en-US" altLang="zh-CN" sz="2000">
                <a:sym typeface="+mn-ea"/>
              </a:rPr>
              <a:t>			</a:t>
            </a:r>
            <a:r>
              <a:rPr lang="zh-CN" altLang="en-US" sz="2000"/>
              <a:t>回</a:t>
            </a:r>
            <a:r>
              <a:rPr lang="en-US" altLang="zh-CN" sz="2000"/>
              <a:t>512</a:t>
            </a:r>
            <a:r>
              <a:rPr lang="zh-CN" altLang="en-US" sz="2000"/>
              <a:t>以内的队列也是</a:t>
            </a:r>
            <a:r>
              <a:rPr lang="en-US" altLang="zh-CN" sz="2000"/>
              <a:t>O(1)</a:t>
            </a:r>
            <a:r>
              <a:rPr lang="zh-CN" altLang="en-US" sz="2000"/>
              <a:t>，把内存块插回</a:t>
            </a:r>
            <a:r>
              <a:rPr lang="zh-CN" altLang="en-US" sz="2000">
                <a:sym typeface="+mn-ea"/>
              </a:rPr>
              <a:t>合适</a:t>
            </a:r>
            <a:r>
              <a:rPr lang="zh-CN" altLang="en-US" sz="2000"/>
              <a:t>的队列是</a:t>
            </a:r>
            <a:r>
              <a:rPr lang="en-US" altLang="zh-CN" sz="2000">
                <a:sym typeface="+mn-ea"/>
              </a:rPr>
              <a:t>			</a:t>
            </a:r>
            <a:r>
              <a:rPr lang="en-US" altLang="zh-CN" sz="2000"/>
              <a:t>O(logk)</a:t>
            </a:r>
            <a:r>
              <a:rPr lang="zh-CN" altLang="en-US" sz="2000"/>
              <a:t>，</a:t>
            </a:r>
            <a:r>
              <a:rPr lang="en-US" altLang="zh-CN" sz="2000"/>
              <a:t>k</a:t>
            </a:r>
            <a:r>
              <a:rPr lang="zh-CN" altLang="en-US" sz="2000"/>
              <a:t>是队列的</a:t>
            </a:r>
            <a:r>
              <a:rPr lang="zh-CN" altLang="en-US" sz="2000"/>
              <a:t>平均长度。</a:t>
            </a:r>
            <a:endParaRPr lang="zh-CN" altLang="en-US" sz="2000"/>
          </a:p>
          <a:p>
            <a:pPr algn="l"/>
            <a:r>
              <a:rPr lang="en-US" altLang="zh-CN" sz="2000">
                <a:sym typeface="+mn-ea"/>
              </a:rPr>
              <a:t>		</a:t>
            </a:r>
            <a:r>
              <a:rPr lang="zh-CN" altLang="en-US" sz="2000" b="1">
                <a:solidFill>
                  <a:srgbClr val="9C0B15"/>
                </a:solidFill>
              </a:rPr>
              <a:t>释放</a:t>
            </a:r>
            <a:r>
              <a:rPr lang="en-US" altLang="zh-CN" sz="2000"/>
              <a:t>	</a:t>
            </a:r>
            <a:r>
              <a:rPr lang="zh-CN" altLang="en-US" sz="2000"/>
              <a:t>合并是</a:t>
            </a:r>
            <a:r>
              <a:rPr lang="en-US" altLang="zh-CN" sz="2000"/>
              <a:t>O(1)</a:t>
            </a:r>
            <a:r>
              <a:rPr lang="zh-CN" altLang="en-US" sz="2000"/>
              <a:t>，</a:t>
            </a:r>
            <a:r>
              <a:rPr lang="zh-CN" altLang="en-US" sz="2000">
                <a:sym typeface="+mn-ea"/>
              </a:rPr>
              <a:t>把内存块插回</a:t>
            </a:r>
            <a:r>
              <a:rPr lang="zh-CN" altLang="en-US" sz="2000">
                <a:sym typeface="+mn-ea"/>
              </a:rPr>
              <a:t>合适的队列是</a:t>
            </a:r>
            <a:r>
              <a:rPr lang="en-US" altLang="zh-CN" sz="2000">
                <a:sym typeface="+mn-ea"/>
              </a:rPr>
              <a:t>O(logk)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总之，伙伴分配器的时间复杂度是</a:t>
            </a:r>
            <a:r>
              <a:rPr lang="en-US" altLang="zh-CN" sz="2000">
                <a:sym typeface="+mn-ea"/>
              </a:rPr>
              <a:t>O(logk)</a:t>
            </a:r>
            <a:r>
              <a:rPr lang="zh-CN" altLang="en-US" sz="2000">
                <a:sym typeface="+mn-ea"/>
              </a:rPr>
              <a:t>。虽然</a:t>
            </a:r>
            <a:r>
              <a:rPr lang="en-US" altLang="zh-CN" sz="2000">
                <a:sym typeface="+mn-ea"/>
              </a:rPr>
              <a:t>k</a:t>
            </a:r>
            <a:r>
              <a:rPr lang="zh-CN" altLang="en-US" sz="2000">
                <a:sym typeface="+mn-ea"/>
              </a:rPr>
              <a:t>与内存块总数</a:t>
            </a:r>
            <a:r>
              <a:rPr lang="en-US" altLang="zh-CN" sz="2000">
                <a:sym typeface="+mn-ea"/>
              </a:rPr>
              <a:t>n		</a:t>
            </a:r>
            <a:r>
              <a:rPr lang="zh-CN" altLang="en-US" sz="2000">
                <a:sym typeface="+mn-ea"/>
              </a:rPr>
              <a:t>成正比，但由于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队列很多，k一般很小</a:t>
            </a:r>
            <a:r>
              <a:rPr lang="zh-CN" altLang="en-US" sz="2000">
                <a:sym typeface="+mn-ea"/>
              </a:rPr>
              <a:t>，总的时间复杂度在实践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中接近</a:t>
            </a:r>
            <a:r>
              <a:rPr lang="en-US" altLang="zh-CN" sz="2000">
                <a:sym typeface="+mn-ea"/>
              </a:rPr>
              <a:t>O(1)</a:t>
            </a:r>
            <a:r>
              <a:rPr lang="zh-CN" altLang="en-US" sz="2000">
                <a:sym typeface="+mn-ea"/>
              </a:rPr>
              <a:t>。不过，伙伴分配器在极限场合仍是可以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恶化到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O(logn)</a:t>
            </a:r>
            <a:r>
              <a:rPr lang="zh-CN" altLang="en-US" sz="2000">
                <a:sym typeface="+mn-ea"/>
              </a:rPr>
              <a:t>的；关于严格</a:t>
            </a:r>
            <a:r>
              <a:rPr lang="en-US" altLang="zh-CN" sz="2000">
                <a:sym typeface="+mn-ea"/>
              </a:rPr>
              <a:t>O(1)</a:t>
            </a:r>
            <a:r>
              <a:rPr lang="zh-CN" altLang="en-US" sz="2000">
                <a:sym typeface="+mn-ea"/>
              </a:rPr>
              <a:t>的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TLSF分配器</a:t>
            </a:r>
            <a:r>
              <a:rPr lang="zh-CN" altLang="en-US" sz="2000">
                <a:sym typeface="+mn-ea"/>
              </a:rPr>
              <a:t>，我们留到后面讲解。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l"/>
            <a:r>
              <a:rPr lang="zh-CN" altLang="en-US" sz="2000" b="1">
                <a:solidFill>
                  <a:srgbClr val="9C0B15"/>
                </a:solidFill>
              </a:rPr>
              <a:t>优化</a:t>
            </a:r>
            <a:r>
              <a:rPr lang="en-US" altLang="zh-CN" sz="2000"/>
              <a:t>		</a:t>
            </a:r>
            <a:r>
              <a:rPr lang="zh-CN" altLang="en-US" sz="2000"/>
              <a:t>在分配时，伙伴分配器需要从最小可能的队列开始，一个个查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询队列中是否有空闲块。由于队列的数目是有限的，原则上讲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这个操作仍然是</a:t>
            </a:r>
            <a:r>
              <a:rPr lang="en-US" altLang="zh-CN" sz="2000"/>
              <a:t>O(1)</a:t>
            </a:r>
            <a:r>
              <a:rPr lang="zh-CN" altLang="en-US" sz="2000"/>
              <a:t>的。但绝大多数内存分配都需要经过这个过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程，因此在实践中它需要被最优化。我们往往会维持一个</a:t>
            </a:r>
            <a:r>
              <a:rPr lang="zh-CN" altLang="en-US" sz="2000">
                <a:solidFill>
                  <a:srgbClr val="9C0B15"/>
                </a:solidFill>
              </a:rPr>
              <a:t>位图</a:t>
            </a:r>
            <a:r>
              <a:rPr lang="zh-CN" altLang="en-US" sz="2000"/>
              <a:t>，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其中的每一位都对应一个队列。</a:t>
            </a:r>
            <a:r>
              <a:rPr lang="zh-CN" altLang="en-US" sz="2000">
                <a:solidFill>
                  <a:srgbClr val="9C0B15"/>
                </a:solidFill>
              </a:rPr>
              <a:t>当队列中有块时，这个位置位，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</a:rPr>
              <a:t>没有块时这个位清零</a:t>
            </a:r>
            <a:r>
              <a:rPr lang="zh-CN" altLang="en-US" sz="2000"/>
              <a:t>。这样，只要查询该位图就能够确定对应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/>
              <a:t>的队列中是否有</a:t>
            </a:r>
            <a:r>
              <a:rPr lang="zh-CN" altLang="en-US" sz="2000"/>
              <a:t>空闲块了。</a:t>
            </a:r>
            <a:endParaRPr lang="zh-CN" altLang="en-US" sz="2000"/>
          </a:p>
        </p:txBody>
      </p:sp>
    </p:spTree>
    <p:custDataLst>
      <p:tags r:id="rId2"/>
    </p:custData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主存储器分配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一、进程的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系统进程总览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进程的实现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内存分配的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x86-64内存管理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DLM进程内分配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Linux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进程间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分配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Linux页面替换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三、系统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.2 进程的基本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操作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3.3 进程接口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伙伴分配器（</a:t>
            </a:r>
            <a:r>
              <a:rPr lang="en-US" altLang="zh-CN" sz="2000" b="1">
                <a:solidFill>
                  <a:srgbClr val="9C0B15"/>
                </a:solidFill>
              </a:rPr>
              <a:t>Buddy Allocator</a:t>
            </a:r>
            <a:r>
              <a:rPr lang="zh-CN" altLang="en-US" sz="2000" b="1">
                <a:solidFill>
                  <a:srgbClr val="9C0B15"/>
                </a:solidFill>
              </a:rPr>
              <a:t>）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 b="1">
              <a:solidFill>
                <a:srgbClr val="9C0B15"/>
              </a:solidFill>
            </a:endParaRPr>
          </a:p>
          <a:p>
            <a:pPr algn="l"/>
            <a:r>
              <a:rPr lang="zh-CN" altLang="en-US" sz="2000" b="1">
                <a:solidFill>
                  <a:srgbClr val="9C0B15"/>
                </a:solidFill>
              </a:rPr>
              <a:t>问题二</a:t>
            </a:r>
            <a:r>
              <a:rPr lang="en-US" altLang="zh-CN" sz="2000"/>
              <a:t>		</a:t>
            </a:r>
            <a:r>
              <a:rPr lang="zh-CN" altLang="en-US" sz="2000"/>
              <a:t>我们都知道最优适配法会导致大量的小内存碎片。为何</a:t>
            </a:r>
            <a:r>
              <a:rPr lang="en-US" altLang="zh-CN" sz="2000"/>
              <a:t>dlmalloc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不担心</a:t>
            </a:r>
            <a:r>
              <a:rPr lang="zh-CN" altLang="en-US" sz="2000"/>
              <a:t>这一点？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l"/>
            <a:r>
              <a:rPr lang="en-US" altLang="zh-CN" sz="2000">
                <a:sym typeface="+mn-ea"/>
              </a:rPr>
              <a:t>		</a:t>
            </a:r>
            <a:r>
              <a:rPr lang="zh-CN" altLang="en-US" sz="2000" b="1">
                <a:solidFill>
                  <a:srgbClr val="9C0B15"/>
                </a:solidFill>
              </a:rPr>
              <a:t>最小大小</a:t>
            </a:r>
            <a:r>
              <a:rPr lang="en-US" altLang="zh-CN" sz="2000"/>
              <a:t>	</a:t>
            </a:r>
            <a:r>
              <a:rPr lang="zh-CN" altLang="en-US" sz="2000">
                <a:solidFill>
                  <a:srgbClr val="9C0B15"/>
                </a:solidFill>
              </a:rPr>
              <a:t>低于某个最小大小的空闲块将作为内部碎片</a:t>
            </a:r>
            <a:r>
              <a:rPr lang="zh-CN" altLang="en-US" sz="2000"/>
              <a:t>，</a:t>
            </a:r>
            <a:r>
              <a:rPr lang="en-US" altLang="zh-CN" sz="2000">
                <a:sym typeface="+mn-ea"/>
              </a:rPr>
              <a:t>				</a:t>
            </a:r>
            <a:r>
              <a:rPr lang="zh-CN" altLang="en-US" sz="2000"/>
              <a:t>因为为它们创建任何管理数据结构都是不合算</a:t>
            </a:r>
            <a:r>
              <a:rPr lang="en-US" altLang="zh-CN" sz="2000">
                <a:sym typeface="+mn-ea"/>
              </a:rPr>
              <a:t>				</a:t>
            </a:r>
            <a:r>
              <a:rPr lang="zh-CN" altLang="en-US" sz="2000"/>
              <a:t>的。这也是为何动态分区法在实践中有内部碎</a:t>
            </a:r>
            <a:r>
              <a:rPr lang="en-US" altLang="zh-CN" sz="2000">
                <a:sym typeface="+mn-ea"/>
              </a:rPr>
              <a:t>				</a:t>
            </a:r>
            <a:r>
              <a:rPr lang="zh-CN" altLang="en-US" sz="2000"/>
              <a:t>片的根本</a:t>
            </a:r>
            <a:r>
              <a:rPr lang="zh-CN" altLang="en-US" sz="2000"/>
              <a:t>原因。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l"/>
            <a:r>
              <a:rPr lang="en-US" altLang="zh-CN" sz="2000">
                <a:sym typeface="+mn-ea"/>
              </a:rPr>
              <a:t>		</a:t>
            </a:r>
            <a:r>
              <a:rPr lang="zh-CN" altLang="en-US" sz="2000" b="1">
                <a:solidFill>
                  <a:srgbClr val="9C0B15"/>
                </a:solidFill>
              </a:rPr>
              <a:t>专用队列</a:t>
            </a:r>
            <a:r>
              <a:rPr lang="en-US" altLang="zh-CN" sz="2000"/>
              <a:t>	</a:t>
            </a:r>
            <a:r>
              <a:rPr lang="zh-CN" altLang="en-US" sz="2000"/>
              <a:t>小队列是专门为</a:t>
            </a:r>
            <a:r>
              <a:rPr lang="zh-CN" altLang="en-US" sz="2000">
                <a:sym typeface="+mn-ea"/>
              </a:rPr>
              <a:t>频繁发生的</a:t>
            </a:r>
            <a:r>
              <a:rPr lang="zh-CN" altLang="en-US" sz="2000"/>
              <a:t>小内存请求设计的，</a:t>
            </a:r>
            <a:r>
              <a:rPr lang="en-US" altLang="zh-CN" sz="2000">
                <a:sym typeface="+mn-ea"/>
              </a:rPr>
              <a:t>				</a:t>
            </a:r>
            <a:r>
              <a:rPr lang="zh-CN" altLang="en-US" sz="2000"/>
              <a:t>它们的大小是确切大小。这一来保障了小内存</a:t>
            </a:r>
            <a:r>
              <a:rPr lang="en-US" altLang="zh-CN" sz="2000">
                <a:sym typeface="+mn-ea"/>
              </a:rPr>
              <a:t>				</a:t>
            </a:r>
            <a:r>
              <a:rPr lang="zh-CN" altLang="en-US" sz="2000"/>
              <a:t>分配的</a:t>
            </a:r>
            <a:r>
              <a:rPr lang="zh-CN" altLang="en-US" sz="2000">
                <a:solidFill>
                  <a:srgbClr val="9C0B15"/>
                </a:solidFill>
              </a:rPr>
              <a:t>时间复杂度</a:t>
            </a:r>
            <a:r>
              <a:rPr lang="zh-CN" altLang="en-US" sz="2000"/>
              <a:t>，二来保障了不会产生任何</a:t>
            </a:r>
            <a:r>
              <a:rPr lang="en-US" altLang="zh-CN" sz="2000">
                <a:sym typeface="+mn-ea"/>
              </a:rPr>
              <a:t>				</a:t>
            </a:r>
            <a:r>
              <a:rPr lang="zh-CN" altLang="en-US" sz="2000">
                <a:solidFill>
                  <a:srgbClr val="9C0B15"/>
                </a:solidFill>
              </a:rPr>
              <a:t>无法利用的外部碎片</a:t>
            </a:r>
            <a:r>
              <a:rPr lang="zh-CN" altLang="en-US" sz="2000"/>
              <a:t>。如果某分配切分后的空</a:t>
            </a:r>
            <a:r>
              <a:rPr lang="en-US" altLang="zh-CN" sz="2000">
                <a:sym typeface="+mn-ea"/>
              </a:rPr>
              <a:t>				</a:t>
            </a:r>
            <a:r>
              <a:rPr lang="zh-CN" altLang="en-US" sz="2000"/>
              <a:t>闲块不正好是某个小队列的大小，那么就干脆</a:t>
            </a:r>
            <a:r>
              <a:rPr lang="en-US" altLang="zh-CN" sz="2000">
                <a:sym typeface="+mn-ea"/>
              </a:rPr>
              <a:t>				</a:t>
            </a:r>
            <a:r>
              <a:rPr lang="zh-CN" altLang="en-US" sz="2000"/>
              <a:t>多切给该分配一些，直到空闲块等于某个队列</a:t>
            </a:r>
            <a:r>
              <a:rPr lang="en-US" altLang="zh-CN" sz="2000">
                <a:sym typeface="+mn-ea"/>
              </a:rPr>
              <a:t>				</a:t>
            </a:r>
            <a:r>
              <a:rPr lang="zh-CN" altLang="en-US" sz="2000"/>
              <a:t>的大小为止。多切的部分就作为内部碎片。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l"/>
            <a:r>
              <a:rPr lang="zh-CN" altLang="en-US" sz="2000" b="1">
                <a:solidFill>
                  <a:srgbClr val="9C0B15"/>
                </a:solidFill>
              </a:rPr>
              <a:t>问题三</a:t>
            </a:r>
            <a:r>
              <a:rPr lang="en-US" altLang="zh-CN" sz="2000"/>
              <a:t>		</a:t>
            </a:r>
            <a:r>
              <a:rPr lang="zh-CN" altLang="en-US" sz="2000"/>
              <a:t>小队列的间距选择和最小队列的大小选择需要权衡</a:t>
            </a:r>
            <a:r>
              <a:rPr lang="zh-CN" altLang="en-US" sz="2000"/>
              <a:t>什么因素？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l"/>
            <a:r>
              <a:rPr lang="zh-CN" altLang="en-US" sz="2000" b="1">
                <a:solidFill>
                  <a:srgbClr val="9C0B15"/>
                </a:solidFill>
              </a:rPr>
              <a:t>问题四</a:t>
            </a:r>
            <a:r>
              <a:rPr lang="en-US" altLang="zh-CN" sz="2000"/>
              <a:t>		</a:t>
            </a:r>
            <a:r>
              <a:rPr lang="zh-CN" altLang="en-US" sz="2000"/>
              <a:t>考虑到内存分配器的这种特性，我们写程序需要</a:t>
            </a:r>
            <a:r>
              <a:rPr lang="zh-CN" altLang="en-US" sz="2000"/>
              <a:t>注意什么？</a:t>
            </a:r>
            <a:endParaRPr lang="zh-CN" altLang="en-US" sz="2000"/>
          </a:p>
        </p:txBody>
      </p:sp>
    </p:spTree>
    <p:custDataLst>
      <p:tags r:id="rId2"/>
    </p:custData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主存储器分配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一、进程的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系统进程总览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进程的实现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内存分配的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x86-64内存管理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DLM进程内分配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Linux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进程间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分配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Linux页面替换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三、系统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.2 进程的基本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操作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3.3 进程接口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2471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向系统要</a:t>
            </a:r>
            <a:r>
              <a:rPr lang="zh-CN" altLang="en-US" sz="2000" b="1">
                <a:solidFill>
                  <a:srgbClr val="9C0B15"/>
                </a:solidFill>
              </a:rPr>
              <a:t>更多页面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程序间隔</a:t>
            </a:r>
            <a:r>
              <a:rPr lang="en-US" altLang="zh-CN" sz="2000" b="1">
                <a:solidFill>
                  <a:srgbClr val="9C0B15"/>
                </a:solidFill>
              </a:rPr>
              <a:t>	</a:t>
            </a:r>
            <a:r>
              <a:rPr lang="zh-CN" altLang="en-US" sz="2000"/>
              <a:t>前面讲过，在Unix系统中，</a:t>
            </a:r>
            <a:r>
              <a:rPr lang="zh-CN" altLang="en-US" sz="2000">
                <a:solidFill>
                  <a:srgbClr val="9C0B15"/>
                </a:solidFill>
              </a:rPr>
              <a:t>堆段并非一次分配出去的，否则就太</a:t>
            </a:r>
            <a:r>
              <a:rPr lang="zh-CN" altLang="en-US" sz="2000" b="1">
                <a:solidFill>
                  <a:srgbClr val="9C0B15"/>
                </a:solidFill>
              </a:rPr>
              <a:t>Program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</a:rPr>
              <a:t>浪费内存</a:t>
            </a:r>
            <a:r>
              <a:rPr lang="zh-CN" altLang="en-US" sz="2000"/>
              <a:t>。实际使用的是一种</a:t>
            </a:r>
            <a:r>
              <a:rPr lang="en-US" altLang="zh-CN" sz="2000"/>
              <a:t>“</a:t>
            </a:r>
            <a:r>
              <a:rPr lang="zh-CN" altLang="en-US" sz="2000"/>
              <a:t>程序间隔</a:t>
            </a:r>
            <a:r>
              <a:rPr lang="en-US" altLang="zh-CN" sz="2000"/>
              <a:t>”</a:t>
            </a:r>
            <a:r>
              <a:rPr lang="zh-CN" altLang="en-US" sz="2000"/>
              <a:t>机制：系统认为数据段</a:t>
            </a:r>
            <a:r>
              <a:rPr lang="zh-CN" altLang="en-US" sz="2000" b="1">
                <a:solidFill>
                  <a:srgbClr val="9C0B15"/>
                </a:solidFill>
              </a:rPr>
              <a:t>Break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/>
              <a:t>和栈段之间的</a:t>
            </a:r>
            <a:r>
              <a:rPr lang="en-US" altLang="zh-CN" sz="2000"/>
              <a:t>“</a:t>
            </a:r>
            <a:r>
              <a:rPr lang="zh-CN" altLang="en-US" sz="2000"/>
              <a:t>间隔</a:t>
            </a:r>
            <a:r>
              <a:rPr lang="en-US" altLang="zh-CN" sz="2000"/>
              <a:t>”</a:t>
            </a:r>
            <a:r>
              <a:rPr lang="zh-CN" altLang="en-US" sz="2000"/>
              <a:t>全都是堆段，其中映射了内存的部分记载在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en-US" altLang="zh-CN" sz="2000"/>
              <a:t>start_brk</a:t>
            </a:r>
            <a:r>
              <a:rPr lang="zh-CN" altLang="en-US" sz="2000"/>
              <a:t>和</a:t>
            </a:r>
            <a:r>
              <a:rPr lang="en-US" altLang="zh-CN" sz="2000"/>
              <a:t>end_brk</a:t>
            </a:r>
            <a:r>
              <a:rPr lang="zh-CN" altLang="en-US" sz="2000"/>
              <a:t>两个变量中。当进程内分配器将两者间内存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/>
              <a:t>用完，便要</a:t>
            </a:r>
            <a:r>
              <a:rPr lang="zh-CN" altLang="en-US" sz="2000">
                <a:solidFill>
                  <a:srgbClr val="9C0B15"/>
                </a:solidFill>
              </a:rPr>
              <a:t>请求操作系统向上移动end_brk</a:t>
            </a:r>
            <a:r>
              <a:rPr lang="zh-CN" altLang="en-US" sz="2000"/>
              <a:t>，从而将更多内存加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/>
              <a:t>入堆段。这</a:t>
            </a:r>
            <a:r>
              <a:rPr lang="zh-CN" altLang="en-US" sz="2000">
                <a:solidFill>
                  <a:srgbClr val="9C0B15"/>
                </a:solidFill>
              </a:rPr>
              <a:t>使用sbrk系统调用完成</a:t>
            </a:r>
            <a:r>
              <a:rPr lang="zh-CN" altLang="en-US" sz="2000"/>
              <a:t>。一旦</a:t>
            </a:r>
            <a:r>
              <a:rPr lang="en-US" altLang="zh-CN" sz="2000"/>
              <a:t>end_brk</a:t>
            </a:r>
            <a:r>
              <a:rPr lang="zh-CN" altLang="en-US" sz="2000"/>
              <a:t>上移，一般就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/>
              <a:t>不会下移回来了（为什么？），因此</a:t>
            </a:r>
            <a:r>
              <a:rPr lang="zh-CN" altLang="en-US" sz="2000">
                <a:solidFill>
                  <a:srgbClr val="9C0B15"/>
                </a:solidFill>
              </a:rPr>
              <a:t>不到万不得已是不会上移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end_brk的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/>
          </a:p>
          <a:p>
            <a:pPr algn="ctr"/>
            <a:endParaRPr lang="zh-CN" altLang="en-US" sz="2000" b="1">
              <a:solidFill>
                <a:srgbClr val="9C0B15"/>
              </a:solidFill>
            </a:endParaRPr>
          </a:p>
          <a:p>
            <a:pPr algn="l"/>
            <a:r>
              <a:rPr lang="zh-CN" altLang="en-US" sz="2000" b="1">
                <a:solidFill>
                  <a:srgbClr val="9C0B15"/>
                </a:solidFill>
              </a:rPr>
              <a:t>sbrk</a:t>
            </a:r>
            <a:r>
              <a:rPr lang="en-US" altLang="zh-CN" sz="2000"/>
              <a:t>		</a:t>
            </a:r>
            <a:r>
              <a:rPr lang="zh-CN" altLang="en-US" sz="2000">
                <a:sym typeface="+mn-ea"/>
              </a:rPr>
              <a:t>扩张堆的实际大小，从操作系统请求更多内存</a:t>
            </a:r>
            <a:r>
              <a:rPr lang="zh-CN" altLang="en-US" sz="2000">
                <a:sym typeface="+mn-ea"/>
              </a:rPr>
              <a:t>。</a:t>
            </a:r>
            <a:endParaRPr lang="zh-CN" sz="2000"/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函数原型</a:t>
            </a:r>
            <a:r>
              <a:rPr lang="en-US" altLang="zh-CN" sz="2000">
                <a:sym typeface="+mn-ea"/>
              </a:rPr>
              <a:t>	</a:t>
            </a:r>
            <a:r>
              <a:rPr sz="2000">
                <a:sym typeface="+mn-ea"/>
              </a:rPr>
              <a:t>void* sbrk(intptr_t increment)</a:t>
            </a:r>
            <a:endParaRPr sz="2000"/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参数</a:t>
            </a:r>
            <a:r>
              <a:rPr lang="zh-CN" altLang="en-US" sz="2000">
                <a:sym typeface="+mn-ea"/>
              </a:rPr>
              <a:t>		</a:t>
            </a:r>
            <a:r>
              <a:rPr sz="2000">
                <a:sym typeface="+mn-ea"/>
              </a:rPr>
              <a:t>intptr_t increment</a:t>
            </a:r>
            <a:r>
              <a:rPr lang="en-US" sz="2000">
                <a:sym typeface="+mn-ea"/>
              </a:rPr>
              <a:t> - </a:t>
            </a:r>
            <a:r>
              <a:rPr lang="zh-CN" altLang="en-US" sz="2000">
                <a:sym typeface="+mn-ea"/>
              </a:rPr>
              <a:t>向上移动的</a:t>
            </a:r>
            <a:r>
              <a:rPr lang="zh-CN" altLang="en-US" sz="2000">
                <a:sym typeface="+mn-ea"/>
              </a:rPr>
              <a:t>字节数。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>
                <a:sym typeface="+mn-ea"/>
              </a:rPr>
              <a:t>		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返回值</a:t>
            </a:r>
            <a:r>
              <a:rPr lang="en-US" altLang="zh-CN" sz="2000">
                <a:sym typeface="+mn-ea"/>
              </a:rPr>
              <a:t>		void* - 指向</a:t>
            </a:r>
            <a:r>
              <a:rPr lang="zh-CN" altLang="en-US" sz="2000">
                <a:sym typeface="+mn-ea"/>
              </a:rPr>
              <a:t>原</a:t>
            </a:r>
            <a:r>
              <a:rPr lang="en-US" altLang="zh-CN" sz="2000">
                <a:sym typeface="+mn-ea"/>
              </a:rPr>
              <a:t>end_brk</a:t>
            </a:r>
            <a:r>
              <a:rPr lang="zh-CN" altLang="en-US" sz="2000">
                <a:sym typeface="+mn-ea"/>
              </a:rPr>
              <a:t>的指针</a:t>
            </a:r>
            <a:r>
              <a:rPr lang="en-US" altLang="zh-CN" sz="2000">
                <a:sym typeface="+mn-ea"/>
              </a:rPr>
              <a:t>。</a:t>
            </a:r>
            <a:endParaRPr lang="zh-CN" altLang="en-US" sz="2000"/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5016500" y="755650"/>
            <a:ext cx="1930400" cy="1113790"/>
          </a:xfrm>
          <a:prstGeom prst="rect">
            <a:avLst/>
          </a:prstGeom>
          <a:solidFill>
            <a:srgbClr val="002060">
              <a:alpha val="50000"/>
            </a:srgb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.heap</a:t>
            </a:r>
            <a:endParaRPr lang="en-US" altLang="zh-CN"/>
          </a:p>
        </p:txBody>
      </p:sp>
      <p:sp>
        <p:nvSpPr>
          <p:cNvPr id="8" name="右箭头标注 7"/>
          <p:cNvSpPr/>
          <p:nvPr>
            <p:custDataLst>
              <p:tags r:id="rId3"/>
            </p:custDataLst>
          </p:nvPr>
        </p:nvSpPr>
        <p:spPr>
          <a:xfrm>
            <a:off x="2628900" y="1667510"/>
            <a:ext cx="1870710" cy="411480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83910"/>
            </a:avLst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start_brk</a:t>
            </a:r>
            <a:endParaRPr lang="en-US" altLang="zh-CN"/>
          </a:p>
        </p:txBody>
      </p:sp>
      <p:sp>
        <p:nvSpPr>
          <p:cNvPr id="9" name="右箭头标注 8"/>
          <p:cNvSpPr/>
          <p:nvPr>
            <p:custDataLst>
              <p:tags r:id="rId4"/>
            </p:custDataLst>
          </p:nvPr>
        </p:nvSpPr>
        <p:spPr>
          <a:xfrm>
            <a:off x="2628900" y="1036320"/>
            <a:ext cx="1870710" cy="411480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83910"/>
            </a:avLst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end_brk</a:t>
            </a:r>
            <a:endParaRPr lang="en-US" altLang="zh-CN"/>
          </a:p>
        </p:txBody>
      </p:sp>
      <p:cxnSp>
        <p:nvCxnSpPr>
          <p:cNvPr id="15" name="直接箭头连接符 14"/>
          <p:cNvCxnSpPr>
            <a:stCxn id="9" idx="3"/>
          </p:cNvCxnSpPr>
          <p:nvPr>
            <p:custDataLst>
              <p:tags r:id="rId5"/>
            </p:custDataLst>
          </p:nvPr>
        </p:nvCxnSpPr>
        <p:spPr>
          <a:xfrm flipV="1">
            <a:off x="4499610" y="1237615"/>
            <a:ext cx="485775" cy="4445"/>
          </a:xfrm>
          <a:prstGeom prst="straightConnector1">
            <a:avLst/>
          </a:prstGeom>
          <a:ln w="38100">
            <a:solidFill>
              <a:srgbClr val="D02F35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>
            <p:custDataLst>
              <p:tags r:id="rId6"/>
            </p:custDataLst>
          </p:nvPr>
        </p:nvCxnSpPr>
        <p:spPr>
          <a:xfrm flipV="1">
            <a:off x="4499610" y="1869440"/>
            <a:ext cx="485775" cy="4445"/>
          </a:xfrm>
          <a:prstGeom prst="straightConnector1">
            <a:avLst/>
          </a:prstGeom>
          <a:ln w="38100">
            <a:solidFill>
              <a:srgbClr val="D02F35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箭头连接符 79"/>
          <p:cNvCxnSpPr/>
          <p:nvPr>
            <p:custDataLst>
              <p:tags r:id="rId7"/>
            </p:custDataLst>
          </p:nvPr>
        </p:nvCxnSpPr>
        <p:spPr>
          <a:xfrm flipV="1">
            <a:off x="7302500" y="1242060"/>
            <a:ext cx="2540" cy="584835"/>
          </a:xfrm>
          <a:prstGeom prst="straightConnector1">
            <a:avLst/>
          </a:prstGeom>
          <a:ln w="38100">
            <a:solidFill>
              <a:srgbClr val="D02F3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8"/>
    </p:custData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主存储器分配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一、进程的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系统进程总览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进程的实现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内存分配的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x86-64内存管理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DLM进程内分配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</a:t>
                      </a: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Linux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进程间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分配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Linux页面替换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三、系统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.2 进程的基本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操作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3.3 进程接口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其他优化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就近分配	Locality Preservation</a:t>
            </a:r>
            <a:endParaRPr lang="en-US" altLang="zh-CN" sz="2000"/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我们希望时间上连续的内存分配在空间上也尽量连续。因此，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在最优适配法的基础上允许一个例外：</a:t>
            </a:r>
            <a:r>
              <a:rPr lang="zh-CN" altLang="en-US" sz="2000">
                <a:solidFill>
                  <a:srgbClr val="9C0B15"/>
                </a:solidFill>
              </a:rPr>
              <a:t>如果上次分配所在的空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</a:rPr>
              <a:t>闲块还能响应这次分配，我们仍然用那个空闲块分配</a:t>
            </a:r>
            <a:r>
              <a:rPr lang="zh-CN" altLang="en-US" sz="2000"/>
              <a:t>，直到它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不再能响应分配，此时再按照最优适配法选择</a:t>
            </a:r>
            <a:r>
              <a:rPr lang="zh-CN" altLang="en-US" sz="2000"/>
              <a:t>空闲块。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荒野保护	Wilderness Protection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l"/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在那些只具备</a:t>
            </a:r>
            <a:r>
              <a:rPr lang="en-US" altLang="zh-CN" sz="2000"/>
              <a:t>sbrk</a:t>
            </a:r>
            <a:r>
              <a:rPr lang="zh-CN" altLang="en-US" sz="2000"/>
              <a:t>（或</a:t>
            </a:r>
            <a:r>
              <a:rPr lang="en-US" altLang="zh-CN" sz="2000"/>
              <a:t>/</a:t>
            </a:r>
            <a:r>
              <a:rPr lang="zh-CN" altLang="en-US" sz="2000"/>
              <a:t>和</a:t>
            </a:r>
            <a:r>
              <a:rPr lang="en-US" altLang="zh-CN" sz="2000"/>
              <a:t>brk</a:t>
            </a:r>
            <a:r>
              <a:rPr lang="zh-CN" altLang="en-US" sz="2000"/>
              <a:t>）调用的系统中，</a:t>
            </a:r>
            <a:r>
              <a:rPr lang="zh-CN" altLang="en-US" sz="2000">
                <a:solidFill>
                  <a:srgbClr val="9C0B15"/>
                </a:solidFill>
              </a:rPr>
              <a:t>只有最高地址的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</a:rPr>
              <a:t>内存块是允许扩张的</a:t>
            </a:r>
            <a:r>
              <a:rPr lang="zh-CN" altLang="en-US" sz="2000"/>
              <a:t>。无论那个内存块的实际大小有多适合当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前的这次分配，我们都希望</a:t>
            </a:r>
            <a:r>
              <a:rPr lang="zh-CN" altLang="en-US" sz="2000">
                <a:solidFill>
                  <a:srgbClr val="9C0B15"/>
                </a:solidFill>
              </a:rPr>
              <a:t>推迟那个内存块的分配</a:t>
            </a:r>
            <a:r>
              <a:rPr lang="zh-CN" altLang="en-US" sz="2000"/>
              <a:t>，直到系统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中的其它内存块都被分配为止；否则有可能让</a:t>
            </a:r>
            <a:r>
              <a:rPr lang="en-US" altLang="zh-CN" sz="2000"/>
              <a:t>end_brk</a:t>
            </a:r>
            <a:r>
              <a:rPr lang="zh-CN" altLang="en-US" sz="2000"/>
              <a:t>不必要地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增加。（问题：你能想出一种这样的</a:t>
            </a:r>
            <a:r>
              <a:rPr lang="zh-CN" altLang="en-US" sz="2000"/>
              <a:t>场景吗？）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操作缓存	Operation Caching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l"/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很多操作可以</a:t>
            </a:r>
            <a:r>
              <a:rPr lang="zh-CN" altLang="en-US" sz="2000">
                <a:solidFill>
                  <a:srgbClr val="9C0B15"/>
                </a:solidFill>
              </a:rPr>
              <a:t>一次做很多，或者推迟到不得不做</a:t>
            </a:r>
            <a:r>
              <a:rPr lang="zh-CN" altLang="en-US" sz="2000"/>
              <a:t>。在分配小块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时，可以一次将一个大块裂成多个小块，而不是在每次分配中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采取分割。在合并时也是这样，等到小块多了再去合并，而非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每次都立即合并，这样如果小块在释放后又被立即分配，</a:t>
            </a:r>
            <a:r>
              <a:rPr lang="zh-CN" altLang="en-US" sz="2000">
                <a:solidFill>
                  <a:srgbClr val="9C0B15"/>
                </a:solidFill>
              </a:rPr>
              <a:t>平摊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</a:rPr>
              <a:t>开销</a:t>
            </a:r>
            <a:r>
              <a:rPr lang="zh-CN" altLang="en-US" sz="2000"/>
              <a:t>就小</a:t>
            </a:r>
            <a:r>
              <a:rPr lang="zh-CN" altLang="en-US" sz="2000"/>
              <a:t>很多。</a:t>
            </a:r>
            <a:endParaRPr lang="zh-CN" altLang="en-US" sz="2000"/>
          </a:p>
        </p:txBody>
      </p:sp>
    </p:spTree>
    <p:custDataLst>
      <p:tags r:id="rId2"/>
    </p:custDataLst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主存储器分配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一、进程的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系统进程总览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进程的实现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内存分配的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x86-64内存管理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DLM进程内分配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Linux进程间分配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Linux页面替换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三、系统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.2 进程的基本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操作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3.3 进程接口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59391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Linux进程间内存分配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/>
          </a:p>
          <a:p>
            <a:pPr algn="l"/>
            <a:r>
              <a:rPr lang="zh-CN" altLang="en-US" sz="2000" b="1">
                <a:solidFill>
                  <a:srgbClr val="9C0B15"/>
                </a:solidFill>
              </a:rPr>
              <a:t>原则</a:t>
            </a:r>
            <a:r>
              <a:rPr lang="en-US" altLang="zh-CN" sz="2000"/>
              <a:t>		</a:t>
            </a:r>
            <a:r>
              <a:rPr lang="zh-CN" altLang="en-US" sz="2000"/>
              <a:t>保证程序都能得到足够的</a:t>
            </a:r>
            <a:r>
              <a:rPr lang="zh-CN" altLang="en-US" sz="2000"/>
              <a:t>内存正常运行。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l"/>
            <a:r>
              <a:rPr lang="zh-CN" altLang="en-US" sz="2000" b="1">
                <a:solidFill>
                  <a:srgbClr val="9C0B15"/>
                </a:solidFill>
              </a:rPr>
              <a:t>问题</a:t>
            </a:r>
            <a:r>
              <a:rPr lang="en-US" altLang="zh-CN" sz="2000"/>
              <a:t>		</a:t>
            </a:r>
            <a:r>
              <a:rPr lang="zh-CN" altLang="en-US" sz="2000"/>
              <a:t>一旦程序</a:t>
            </a:r>
            <a:r>
              <a:rPr lang="en-US" altLang="zh-CN" sz="2000"/>
              <a:t>malloc</a:t>
            </a:r>
            <a:r>
              <a:rPr lang="zh-CN" altLang="en-US" sz="2000"/>
              <a:t>分配失败，程序就很可能必须要终止。</a:t>
            </a:r>
            <a:r>
              <a:rPr lang="en-US" altLang="zh-CN" sz="2000"/>
              <a:t>malloc</a:t>
            </a:r>
            <a:r>
              <a:rPr lang="zh-CN" altLang="en-US" sz="2000"/>
              <a:t>在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堆内存不够时最终会调用</a:t>
            </a:r>
            <a:r>
              <a:rPr lang="en-US" altLang="zh-CN" sz="2000"/>
              <a:t>sbrk</a:t>
            </a:r>
            <a:r>
              <a:rPr lang="zh-CN" altLang="en-US" sz="2000"/>
              <a:t>；那意味着，</a:t>
            </a:r>
            <a:r>
              <a:rPr lang="zh-CN" altLang="en-US" sz="2000">
                <a:solidFill>
                  <a:srgbClr val="9C0B15"/>
                </a:solidFill>
              </a:rPr>
              <a:t>总是要满足程序的所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</a:rPr>
              <a:t>有sbrk请求，不然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malloc就会失败</a:t>
            </a:r>
            <a:r>
              <a:rPr lang="zh-CN" altLang="en-US" sz="2000"/>
              <a:t>。但是，系统的内存总是有限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的；</a:t>
            </a:r>
            <a:r>
              <a:rPr lang="zh-CN" altLang="en-US" sz="2000">
                <a:solidFill>
                  <a:srgbClr val="9C0B15"/>
                </a:solidFill>
              </a:rPr>
              <a:t>哪怕考虑请求分页，这个量也还是有限的</a:t>
            </a:r>
            <a:r>
              <a:rPr lang="zh-CN" altLang="en-US" sz="2000"/>
              <a:t>（想象一个进程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不断循环分配内存）。此时怎么处理这个</a:t>
            </a:r>
            <a:r>
              <a:rPr lang="zh-CN" altLang="en-US" sz="2000"/>
              <a:t>问题？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l"/>
            <a:r>
              <a:rPr lang="zh-CN" altLang="en-US" sz="2000" b="1">
                <a:solidFill>
                  <a:srgbClr val="9C0B15"/>
                </a:solidFill>
              </a:rPr>
              <a:t>limits.conf</a:t>
            </a:r>
            <a:r>
              <a:rPr lang="en-US" altLang="zh-CN" sz="2000"/>
              <a:t>	</a:t>
            </a:r>
            <a:r>
              <a:rPr lang="zh-CN" altLang="en-US" sz="2000"/>
              <a:t>一个配置文件，限制某个用户（的所有程序）的总资源用量，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其中就包括了内存用量。一旦程序企图分配超过这个数量的资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源，分配就会被拒绝。当然，如果程序分配的资源比这个少，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那么</a:t>
            </a:r>
            <a:r>
              <a:rPr lang="zh-CN" altLang="en-US" sz="2000">
                <a:solidFill>
                  <a:srgbClr val="9C0B15"/>
                </a:solidFill>
              </a:rPr>
              <a:t>操作系统在物理资源耗尽之前都总会满足程序的需求</a:t>
            </a:r>
            <a:r>
              <a:rPr lang="zh-CN" altLang="en-US" sz="2000"/>
              <a:t>。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l"/>
            <a:endParaRPr lang="zh-CN" altLang="en-US" sz="2000"/>
          </a:p>
          <a:p>
            <a:pPr algn="l"/>
            <a:endParaRPr lang="zh-CN" altLang="en-US" sz="2000"/>
          </a:p>
          <a:p>
            <a:pPr algn="l"/>
            <a:r>
              <a:rPr lang="zh-CN" altLang="en-US" sz="2000" b="1">
                <a:solidFill>
                  <a:srgbClr val="9C0B15"/>
                </a:solidFill>
              </a:rPr>
              <a:t>问题</a:t>
            </a:r>
            <a:r>
              <a:rPr lang="en-US" altLang="zh-CN" sz="2000"/>
              <a:t>		</a:t>
            </a:r>
            <a:r>
              <a:rPr lang="zh-CN" altLang="en-US" sz="2000"/>
              <a:t>内存分配的原则看起来很简单。它和</a:t>
            </a:r>
            <a:r>
              <a:rPr lang="en-US" altLang="zh-CN" sz="2000"/>
              <a:t>CPU</a:t>
            </a:r>
            <a:r>
              <a:rPr lang="zh-CN" altLang="en-US" sz="2000"/>
              <a:t>分配有什么相同点和不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同</a:t>
            </a:r>
            <a:r>
              <a:rPr lang="zh-CN" altLang="en-US" sz="2000"/>
              <a:t>点？</a:t>
            </a:r>
            <a:endParaRPr lang="zh-CN" altLang="en-US" sz="2000"/>
          </a:p>
        </p:txBody>
      </p:sp>
    </p:spTree>
    <p:custDataLst>
      <p:tags r:id="rId2"/>
    </p:custData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主存储器分配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一、进程的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系统进程总览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进程的实现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内存分配的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x86-64内存管理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DLM进程内分配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Linux进程间分配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Linux页面替换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三、系统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.2 进程的基本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操作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3.3 进程接口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9C0B15"/>
                </a:solidFill>
              </a:rPr>
              <a:t>ulimit</a:t>
            </a:r>
            <a:endParaRPr lang="en-US" altLang="zh-CN" sz="2000" b="1">
              <a:solidFill>
                <a:srgbClr val="9C0B15"/>
              </a:solidFill>
            </a:endParaRPr>
          </a:p>
          <a:p>
            <a:pPr algn="ctr"/>
            <a:endParaRPr lang="zh-CN" altLang="en-US" sz="2000"/>
          </a:p>
          <a:p>
            <a:pPr algn="l"/>
            <a:r>
              <a:rPr lang="en-US" altLang="zh-CN" sz="2000" b="1">
                <a:solidFill>
                  <a:srgbClr val="9C0B15"/>
                </a:solidFill>
              </a:rPr>
              <a:t>ulimit</a:t>
            </a:r>
            <a:r>
              <a:rPr lang="zh-CN" altLang="en-US" sz="2000" b="1">
                <a:solidFill>
                  <a:srgbClr val="9C0B15"/>
                </a:solidFill>
              </a:rPr>
              <a:t>命令</a:t>
            </a:r>
            <a:r>
              <a:rPr lang="en-US" altLang="zh-CN" sz="2000"/>
              <a:t>	</a:t>
            </a:r>
            <a:r>
              <a:rPr lang="zh-CN" altLang="en-US" sz="2000"/>
              <a:t>用来查看与设置各项限制的命令行命令。除了</a:t>
            </a:r>
            <a:r>
              <a:rPr lang="en-US" altLang="zh-CN" sz="2000"/>
              <a:t>-u</a:t>
            </a:r>
            <a:r>
              <a:rPr lang="zh-CN" altLang="en-US" sz="2000"/>
              <a:t>之外，其余的限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制都是对某一个进程而言</a:t>
            </a:r>
            <a:r>
              <a:rPr lang="zh-CN" altLang="en-US" sz="2000"/>
              <a:t>的。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l"/>
            <a:endParaRPr lang="zh-CN" altLang="en-US" sz="2000"/>
          </a:p>
          <a:p>
            <a:pPr algn="l"/>
            <a:endParaRPr lang="zh-CN" altLang="en-US" sz="2000"/>
          </a:p>
          <a:p>
            <a:pPr algn="l"/>
            <a:endParaRPr lang="zh-CN" altLang="en-US" sz="2000"/>
          </a:p>
          <a:p>
            <a:pPr algn="l"/>
            <a:endParaRPr lang="zh-CN" altLang="en-US" sz="2000"/>
          </a:p>
          <a:p>
            <a:pPr algn="l"/>
            <a:endParaRPr lang="zh-CN" altLang="en-US" sz="2000"/>
          </a:p>
          <a:p>
            <a:pPr algn="l"/>
            <a:endParaRPr lang="zh-CN" altLang="en-US" sz="2000"/>
          </a:p>
          <a:p>
            <a:pPr algn="l"/>
            <a:endParaRPr lang="zh-CN" altLang="en-US" sz="2000"/>
          </a:p>
          <a:p>
            <a:pPr algn="l"/>
            <a:endParaRPr lang="zh-CN" altLang="en-US" sz="2000"/>
          </a:p>
          <a:p>
            <a:pPr algn="l"/>
            <a:endParaRPr lang="zh-CN" altLang="en-US" sz="2000"/>
          </a:p>
          <a:p>
            <a:pPr algn="l"/>
            <a:endParaRPr lang="zh-CN" altLang="en-US" sz="2000"/>
          </a:p>
          <a:p>
            <a:pPr algn="l"/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与内存用量有关的限制有如下</a:t>
            </a:r>
            <a:r>
              <a:rPr lang="zh-CN" altLang="en-US" sz="2000"/>
              <a:t>几个：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l"/>
            <a:r>
              <a:rPr lang="en-US" altLang="zh-CN" sz="2000">
                <a:sym typeface="+mn-ea"/>
              </a:rPr>
              <a:t>		</a:t>
            </a:r>
            <a:r>
              <a:rPr lang="en-US" altLang="zh-CN" sz="2000" b="1">
                <a:solidFill>
                  <a:srgbClr val="9C0B15"/>
                </a:solidFill>
              </a:rPr>
              <a:t>-d</a:t>
            </a:r>
            <a:r>
              <a:rPr lang="en-US" altLang="zh-CN" sz="2000"/>
              <a:t>	</a:t>
            </a:r>
            <a:r>
              <a:rPr lang="zh-CN" altLang="en-US" sz="2000"/>
              <a:t>限制进程</a:t>
            </a:r>
            <a:r>
              <a:rPr lang="zh-CN" altLang="en-US" sz="2000"/>
              <a:t>的数据段</a:t>
            </a:r>
            <a:r>
              <a:rPr lang="zh-CN" altLang="en-US" sz="2000"/>
              <a:t>大小。</a:t>
            </a:r>
            <a:endParaRPr lang="zh-CN" altLang="en-US" sz="2000"/>
          </a:p>
          <a:p>
            <a:pPr algn="l"/>
            <a:r>
              <a:rPr lang="en-US" altLang="zh-CN" sz="2000">
                <a:sym typeface="+mn-ea"/>
              </a:rPr>
              <a:t>		</a:t>
            </a:r>
            <a:r>
              <a:rPr lang="en-US" altLang="zh-CN" sz="2000" b="1">
                <a:solidFill>
                  <a:srgbClr val="9C0B15"/>
                </a:solidFill>
              </a:rPr>
              <a:t>-l</a:t>
            </a:r>
            <a:r>
              <a:rPr lang="en-US" altLang="zh-CN" sz="2000"/>
              <a:t>	</a:t>
            </a:r>
            <a:r>
              <a:rPr lang="zh-CN" altLang="en-US" sz="2000"/>
              <a:t>限制进程的工作集（不会被请求分页</a:t>
            </a:r>
            <a:r>
              <a:rPr lang="zh-CN" altLang="en-US" sz="2000"/>
              <a:t>替换出去）</a:t>
            </a:r>
            <a:r>
              <a:rPr lang="zh-CN" altLang="en-US" sz="2000"/>
              <a:t>大小。</a:t>
            </a:r>
            <a:endParaRPr lang="zh-CN" altLang="en-US" sz="2000"/>
          </a:p>
          <a:p>
            <a:pPr algn="l"/>
            <a:r>
              <a:rPr lang="en-US" altLang="zh-CN" sz="2000">
                <a:sym typeface="+mn-ea"/>
              </a:rPr>
              <a:t>		</a:t>
            </a:r>
            <a:r>
              <a:rPr lang="en-US" altLang="zh-CN" sz="2000" b="1">
                <a:solidFill>
                  <a:srgbClr val="9C0B15"/>
                </a:solidFill>
              </a:rPr>
              <a:t>-m</a:t>
            </a:r>
            <a:r>
              <a:rPr lang="en-US" altLang="zh-CN" sz="2000"/>
              <a:t>	</a:t>
            </a:r>
            <a:r>
              <a:rPr lang="zh-CN" altLang="en-US" sz="2000"/>
              <a:t>限制进程的</a:t>
            </a:r>
            <a:r>
              <a:rPr lang="zh-CN" altLang="en-US" sz="2000"/>
              <a:t>总内存</a:t>
            </a:r>
            <a:r>
              <a:rPr lang="zh-CN" altLang="en-US" sz="2000"/>
              <a:t>用量。</a:t>
            </a:r>
            <a:endParaRPr lang="zh-CN" altLang="en-US" sz="2000"/>
          </a:p>
          <a:p>
            <a:pPr algn="l"/>
            <a:r>
              <a:rPr lang="en-US" altLang="zh-CN" sz="2000">
                <a:sym typeface="+mn-ea"/>
              </a:rPr>
              <a:t>		</a:t>
            </a:r>
            <a:r>
              <a:rPr lang="en-US" altLang="zh-CN" sz="2000" b="1">
                <a:solidFill>
                  <a:srgbClr val="9C0B15"/>
                </a:solidFill>
              </a:rPr>
              <a:t>-s</a:t>
            </a:r>
            <a:r>
              <a:rPr lang="en-US" altLang="zh-CN" sz="2000"/>
              <a:t>	</a:t>
            </a:r>
            <a:r>
              <a:rPr lang="zh-CN" altLang="en-US" sz="2000"/>
              <a:t>限制</a:t>
            </a:r>
            <a:r>
              <a:rPr lang="zh-CN" altLang="en-US" sz="2000">
                <a:sym typeface="+mn-ea"/>
              </a:rPr>
              <a:t>进程的栈</a:t>
            </a:r>
            <a:r>
              <a:rPr lang="zh-CN" altLang="en-US" sz="2000">
                <a:sym typeface="+mn-ea"/>
              </a:rPr>
              <a:t>大小。</a:t>
            </a:r>
            <a:endParaRPr lang="zh-CN" altLang="en-US" sz="2000"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874645" y="1661795"/>
            <a:ext cx="4038600" cy="29337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主存储器分配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一、进程的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系统进程总览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进程的实现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内存分配的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x86-64内存管理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DLM进程内分配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Linux进程间分配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Linux页面替换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三、系统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.2 进程的基本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操作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3.3 进程接口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2471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</a:rPr>
              <a:t>OOM Killer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/>
          </a:p>
          <a:p>
            <a:pPr algn="l"/>
            <a:r>
              <a:rPr lang="zh-CN" altLang="en-US" sz="2000" b="1">
                <a:solidFill>
                  <a:srgbClr val="9C0B15"/>
                </a:solidFill>
              </a:rPr>
              <a:t>问题</a:t>
            </a:r>
            <a:r>
              <a:rPr lang="en-US" altLang="zh-CN" sz="2000"/>
              <a:t>		</a:t>
            </a:r>
            <a:r>
              <a:rPr lang="zh-CN" altLang="en-US" sz="2000"/>
              <a:t>如果物理资源耗尽，或者达到了</a:t>
            </a:r>
            <a:r>
              <a:rPr lang="en-US" altLang="zh-CN" sz="2000"/>
              <a:t>limit</a:t>
            </a:r>
            <a:r>
              <a:rPr lang="zh-CN" altLang="en-US" sz="2000"/>
              <a:t>，</a:t>
            </a:r>
            <a:r>
              <a:rPr lang="zh-CN" altLang="en-US" sz="2000"/>
              <a:t>怎么办？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l"/>
            <a:endParaRPr lang="zh-CN" altLang="en-US" sz="2000"/>
          </a:p>
          <a:p>
            <a:pPr algn="l"/>
            <a:r>
              <a:rPr lang="en-US" altLang="zh-CN" sz="2000" b="1">
                <a:solidFill>
                  <a:srgbClr val="9C0B15"/>
                </a:solidFill>
              </a:rPr>
              <a:t>OOM Killer</a:t>
            </a:r>
            <a:r>
              <a:rPr lang="en-US" altLang="zh-CN" sz="2000"/>
              <a:t>	</a:t>
            </a:r>
            <a:r>
              <a:rPr lang="zh-CN" altLang="en-US" sz="2000"/>
              <a:t>一旦内存耗尽，</a:t>
            </a:r>
            <a:r>
              <a:rPr lang="en-US" altLang="zh-CN" sz="2000"/>
              <a:t>Linux</a:t>
            </a:r>
            <a:r>
              <a:rPr lang="zh-CN" altLang="en-US" sz="2000"/>
              <a:t>内核会调用</a:t>
            </a:r>
            <a:r>
              <a:rPr lang="en-US" altLang="zh-CN" sz="2000"/>
              <a:t>OOM</a:t>
            </a:r>
            <a:r>
              <a:rPr lang="zh-CN" altLang="en-US" sz="2000"/>
              <a:t>（</a:t>
            </a:r>
            <a:r>
              <a:rPr lang="en-US" altLang="zh-CN" sz="2000"/>
              <a:t>Out of Memory</a:t>
            </a:r>
            <a:r>
              <a:rPr lang="zh-CN" altLang="en-US" sz="2000"/>
              <a:t>）</a:t>
            </a:r>
            <a:r>
              <a:rPr lang="en-US" altLang="zh-CN" sz="2000"/>
              <a:t> Killer</a:t>
            </a:r>
            <a:r>
              <a:rPr lang="zh-CN" altLang="en-US" sz="2000"/>
              <a:t>来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杀死一些进程，强制回收它们的</a:t>
            </a:r>
            <a:r>
              <a:rPr lang="zh-CN" altLang="en-US" sz="2000"/>
              <a:t>资源。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l"/>
            <a:endParaRPr lang="zh-CN" altLang="en-US" sz="2000"/>
          </a:p>
          <a:p>
            <a:pPr algn="l"/>
            <a:r>
              <a:rPr lang="en-US" altLang="zh-CN" sz="2000" b="1">
                <a:solidFill>
                  <a:srgbClr val="9C0B15"/>
                </a:solidFill>
              </a:rPr>
              <a:t>选择的标准</a:t>
            </a:r>
            <a:r>
              <a:rPr lang="en-US" altLang="zh-CN" sz="2000"/>
              <a:t>	</a:t>
            </a:r>
            <a:r>
              <a:rPr lang="zh-CN" altLang="en-US" sz="2000"/>
              <a:t>（</a:t>
            </a:r>
            <a:r>
              <a:rPr lang="en-US" altLang="zh-CN" sz="2000"/>
              <a:t>1</a:t>
            </a:r>
            <a:r>
              <a:rPr lang="zh-CN" altLang="en-US" sz="2000"/>
              <a:t>）杀死的总进程数量应当</a:t>
            </a:r>
            <a:r>
              <a:rPr lang="zh-CN" altLang="en-US" sz="2000">
                <a:solidFill>
                  <a:srgbClr val="9C0B15"/>
                </a:solidFill>
              </a:rPr>
              <a:t>尽可能小</a:t>
            </a:r>
            <a:r>
              <a:rPr lang="zh-CN" altLang="en-US" sz="2000"/>
              <a:t>。</a:t>
            </a:r>
            <a:endParaRPr lang="zh-CN" altLang="en-US" sz="2000"/>
          </a:p>
          <a:p>
            <a:pPr algn="l"/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（</a:t>
            </a:r>
            <a:r>
              <a:rPr lang="en-US" altLang="zh-CN" sz="2000"/>
              <a:t>2</a:t>
            </a:r>
            <a:r>
              <a:rPr lang="zh-CN" altLang="en-US" sz="2000"/>
              <a:t>）优先杀死</a:t>
            </a:r>
            <a:r>
              <a:rPr lang="zh-CN" altLang="en-US" sz="2000"/>
              <a:t>那些</a:t>
            </a:r>
            <a:r>
              <a:rPr lang="zh-CN" altLang="en-US" sz="2000">
                <a:solidFill>
                  <a:srgbClr val="9C0B15"/>
                </a:solidFill>
              </a:rPr>
              <a:t>占内存多</a:t>
            </a:r>
            <a:r>
              <a:rPr lang="zh-CN" altLang="en-US" sz="2000"/>
              <a:t>的进程。</a:t>
            </a:r>
            <a:endParaRPr lang="zh-CN" altLang="en-US" sz="2000"/>
          </a:p>
          <a:p>
            <a:pPr algn="l"/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（</a:t>
            </a:r>
            <a:r>
              <a:rPr lang="en-US" altLang="zh-CN" sz="2000"/>
              <a:t>3</a:t>
            </a:r>
            <a:r>
              <a:rPr lang="zh-CN" altLang="en-US" sz="2000"/>
              <a:t>）不要杀死那些</a:t>
            </a:r>
            <a:r>
              <a:rPr lang="zh-CN" altLang="en-US" sz="2000">
                <a:solidFill>
                  <a:srgbClr val="9C0B15"/>
                </a:solidFill>
              </a:rPr>
              <a:t>系统关键进程</a:t>
            </a:r>
            <a:r>
              <a:rPr lang="zh-CN" altLang="en-US" sz="2000"/>
              <a:t>，以及</a:t>
            </a:r>
            <a:r>
              <a:rPr lang="zh-CN" altLang="en-US" sz="2000">
                <a:solidFill>
                  <a:srgbClr val="9C0B15"/>
                </a:solidFill>
              </a:rPr>
              <a:t>用户指定</a:t>
            </a:r>
            <a:r>
              <a:rPr lang="zh-CN" altLang="en-US" sz="2000">
                <a:solidFill>
                  <a:srgbClr val="9C0B15"/>
                </a:solidFill>
              </a:rPr>
              <a:t>保护的进程</a:t>
            </a:r>
            <a:r>
              <a:rPr lang="zh-CN" altLang="en-US" sz="2000"/>
              <a:t>。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l"/>
            <a:endParaRPr lang="zh-CN" altLang="en-US" sz="2000"/>
          </a:p>
          <a:p>
            <a:pPr algn="l"/>
            <a:r>
              <a:rPr lang="en-US" altLang="zh-CN" sz="2000" b="1">
                <a:solidFill>
                  <a:srgbClr val="9C0B15"/>
                </a:solidFill>
                <a:sym typeface="+mn-ea"/>
              </a:rPr>
              <a:t>配置文件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在</a:t>
            </a:r>
            <a:r>
              <a:rPr lang="en-US" altLang="zh-CN" sz="2000"/>
              <a:t>OOM Killer</a:t>
            </a:r>
            <a:r>
              <a:rPr lang="zh-CN" altLang="en-US" sz="2000"/>
              <a:t>的配置文件中，用户可以指定一些进程。</a:t>
            </a:r>
            <a:r>
              <a:rPr lang="en-US" altLang="zh-CN" sz="2000"/>
              <a:t>OOM Killer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会尽量选择在那些进程之外的进程来</a:t>
            </a:r>
            <a:r>
              <a:rPr lang="zh-CN" altLang="en-US" sz="2000"/>
              <a:t>杀死。</a:t>
            </a:r>
            <a:endParaRPr lang="zh-CN" altLang="en-US" sz="2000"/>
          </a:p>
          <a:p>
            <a:pPr algn="l"/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当然，也可以选择禁用</a:t>
            </a:r>
            <a:r>
              <a:rPr lang="en-US" altLang="zh-CN" sz="2000"/>
              <a:t>OOM Killer</a:t>
            </a:r>
            <a:r>
              <a:rPr lang="zh-CN" altLang="en-US" sz="2000"/>
              <a:t>，此时系统在内存不足时将直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接挂起或者崩溃。相比之下，</a:t>
            </a:r>
            <a:r>
              <a:rPr lang="en-US" altLang="zh-CN" sz="2000"/>
              <a:t>OOM Killer</a:t>
            </a:r>
            <a:r>
              <a:rPr lang="zh-CN" altLang="en-US" sz="2000"/>
              <a:t>只是杀死某个进程，比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整个系统的崩溃还是来得</a:t>
            </a:r>
            <a:r>
              <a:rPr lang="zh-CN" altLang="en-US" sz="2000"/>
              <a:t>要好。</a:t>
            </a:r>
            <a:endParaRPr lang="zh-CN" altLang="en-US" sz="2000"/>
          </a:p>
          <a:p>
            <a:pPr algn="l"/>
            <a:endParaRPr lang="zh-CN" altLang="en-US" sz="2000"/>
          </a:p>
        </p:txBody>
      </p:sp>
    </p:spTree>
    <p:custDataLst>
      <p:tags r:id="rId2"/>
    </p:custData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主存储器分配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一、进程的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系统进程总览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进程的实现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内存分配的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x86-64内存管理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DLM进程内分配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Linux进程间分配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Linux页面替换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三、系统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.2 进程的基本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操作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3.3 进程接口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超级页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/>
          </a:p>
          <a:p>
            <a:pPr algn="l"/>
            <a:r>
              <a:rPr lang="en-US" altLang="zh-CN" sz="2000" b="1">
                <a:solidFill>
                  <a:srgbClr val="9C0B15"/>
                </a:solidFill>
              </a:rPr>
              <a:t>HugeTLB</a:t>
            </a:r>
            <a:r>
              <a:rPr lang="en-US" altLang="zh-CN" sz="2000"/>
              <a:t>	Linux</a:t>
            </a:r>
            <a:r>
              <a:rPr lang="zh-CN" altLang="en-US" sz="2000"/>
              <a:t>提供了</a:t>
            </a:r>
            <a:r>
              <a:rPr lang="en-US" altLang="zh-CN" sz="2000"/>
              <a:t>HugeTLB</a:t>
            </a:r>
            <a:r>
              <a:rPr lang="zh-CN" altLang="en-US" sz="2000"/>
              <a:t>机制来支持超级页。这个机制并不很灵活，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它是最直接的想法的体现：如果随着系统的运行，外部碎片越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来越多、超级页越来越少，那么就在系统启动时</a:t>
            </a:r>
            <a:r>
              <a:rPr lang="zh-CN" altLang="en-US" sz="2000">
                <a:solidFill>
                  <a:srgbClr val="9C0B15"/>
                </a:solidFill>
              </a:rPr>
              <a:t>预留一定数量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</a:rPr>
              <a:t>的超级页，并在程序请求时将这些页分配给它们</a:t>
            </a:r>
            <a:r>
              <a:rPr lang="zh-CN" altLang="en-US" sz="2000"/>
              <a:t>。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l"/>
            <a:r>
              <a:rPr lang="en-US" altLang="zh-CN" sz="2000" b="1">
                <a:solidFill>
                  <a:srgbClr val="9C0B15"/>
                </a:solidFill>
              </a:rPr>
              <a:t>hugepagesz</a:t>
            </a:r>
            <a:r>
              <a:rPr lang="en-US" altLang="zh-CN" sz="2000"/>
              <a:t>	</a:t>
            </a:r>
            <a:r>
              <a:rPr lang="zh-CN" altLang="en-US" sz="2000"/>
              <a:t>要保留的超级页的大小。</a:t>
            </a:r>
            <a:endParaRPr lang="zh-CN" altLang="en-US" sz="2000"/>
          </a:p>
          <a:p>
            <a:pPr algn="l"/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在</a:t>
            </a:r>
            <a:r>
              <a:rPr lang="en-US" altLang="zh-CN" sz="2000"/>
              <a:t>x86-64</a:t>
            </a:r>
            <a:r>
              <a:rPr lang="zh-CN" altLang="en-US" sz="2000"/>
              <a:t>上，可以是</a:t>
            </a:r>
            <a:r>
              <a:rPr lang="en-US" altLang="zh-CN" sz="2000"/>
              <a:t>2MB</a:t>
            </a:r>
            <a:endParaRPr lang="en-US" altLang="zh-CN" sz="2000"/>
          </a:p>
          <a:p>
            <a:pPr algn="l"/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或</a:t>
            </a:r>
            <a:r>
              <a:rPr lang="en-US" altLang="zh-CN" sz="2000"/>
              <a:t>1GB</a:t>
            </a:r>
            <a:r>
              <a:rPr lang="zh-CN" altLang="en-US" sz="2000"/>
              <a:t>，默认是</a:t>
            </a:r>
            <a:r>
              <a:rPr lang="en-US" altLang="zh-CN" sz="2000"/>
              <a:t>2MB</a:t>
            </a:r>
            <a:r>
              <a:rPr lang="zh-CN" altLang="en-US" sz="2000"/>
              <a:t>。</a:t>
            </a:r>
            <a:endParaRPr lang="en-US" altLang="zh-CN" sz="2000"/>
          </a:p>
          <a:p>
            <a:pPr algn="l"/>
            <a:r>
              <a:rPr lang="en-US" altLang="zh-CN" sz="2000" b="1">
                <a:solidFill>
                  <a:srgbClr val="9C0B15"/>
                </a:solidFill>
                <a:sym typeface="+mn-ea"/>
              </a:rPr>
              <a:t>hugepages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要保留的超级页的数量。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l"/>
            <a:r>
              <a:rPr lang="en-US" altLang="zh-CN" sz="2000" b="1">
                <a:solidFill>
                  <a:srgbClr val="9C0B15"/>
                </a:solidFill>
              </a:rPr>
              <a:t>mmap</a:t>
            </a:r>
            <a:r>
              <a:rPr lang="en-US" altLang="zh-CN" sz="2000"/>
              <a:t>		</a:t>
            </a:r>
            <a:r>
              <a:rPr lang="zh-CN" altLang="en-US" sz="2000"/>
              <a:t>超级页可以通过</a:t>
            </a:r>
            <a:r>
              <a:rPr lang="zh-CN" altLang="en-US" sz="2000">
                <a:solidFill>
                  <a:srgbClr val="9C0B15"/>
                </a:solidFill>
              </a:rPr>
              <a:t>mmap系统调用</a:t>
            </a:r>
            <a:r>
              <a:rPr lang="zh-CN" altLang="en-US" sz="2000"/>
              <a:t>映射到进程中</a:t>
            </a:r>
            <a:r>
              <a:rPr lang="zh-CN" altLang="en-US" sz="2000"/>
              <a:t>加以使用。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l"/>
            <a:r>
              <a:rPr lang="en-US" altLang="zh-CN" sz="2000" b="1">
                <a:solidFill>
                  <a:srgbClr val="9C0B15"/>
                </a:solidFill>
              </a:rPr>
              <a:t>内存紧缩</a:t>
            </a:r>
            <a:r>
              <a:rPr lang="en-US" altLang="zh-CN" sz="2000"/>
              <a:t>	</a:t>
            </a:r>
            <a:r>
              <a:rPr lang="zh-CN" altLang="en-US" sz="2000"/>
              <a:t>在产生外部碎片时，如果用户仍然请求超级页，那么操作系统</a:t>
            </a:r>
            <a:r>
              <a:rPr lang="en-US" altLang="zh-CN" sz="2000" b="1">
                <a:solidFill>
                  <a:srgbClr val="9C0B15"/>
                </a:solidFill>
              </a:rPr>
              <a:t>Memory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会使用一种叫做</a:t>
            </a:r>
            <a:r>
              <a:rPr lang="zh-CN" altLang="en-US" sz="2000"/>
              <a:t>内存紧缩的技术，</a:t>
            </a:r>
            <a:r>
              <a:rPr lang="zh-CN" altLang="en-US" sz="2000">
                <a:solidFill>
                  <a:srgbClr val="9C0B15"/>
                </a:solidFill>
              </a:rPr>
              <a:t>将正在使用的那些小物理页</a:t>
            </a:r>
            <a:r>
              <a:rPr lang="en-US" altLang="zh-CN" sz="2000" b="1">
                <a:solidFill>
                  <a:srgbClr val="9C0B15"/>
                </a:solidFill>
              </a:rPr>
              <a:t>Compaction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进</a:t>
            </a:r>
            <a:r>
              <a:rPr lang="zh-CN" altLang="en-US" sz="2000">
                <a:solidFill>
                  <a:srgbClr val="9C0B15"/>
                </a:solidFill>
              </a:rPr>
              <a:t>行迁移，从而留出整片的大页空间</a:t>
            </a:r>
            <a:r>
              <a:rPr lang="zh-CN" altLang="en-US" sz="2000">
                <a:sym typeface="+mn-ea"/>
              </a:rPr>
              <a:t>（类似于磁盘碎片整理）</a:t>
            </a:r>
            <a:r>
              <a:rPr lang="zh-CN" altLang="en-US" sz="2000"/>
              <a:t>。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l"/>
            <a:r>
              <a:rPr lang="en-US" altLang="zh-CN" sz="2000" b="1">
                <a:solidFill>
                  <a:srgbClr val="9C0B15"/>
                </a:solidFill>
              </a:rPr>
              <a:t>透明大页</a:t>
            </a:r>
            <a:r>
              <a:rPr lang="en-US" altLang="zh-CN" sz="2000"/>
              <a:t>	</a:t>
            </a:r>
            <a:r>
              <a:rPr lang="zh-CN" altLang="en-US" sz="2000"/>
              <a:t>最新的</a:t>
            </a:r>
            <a:r>
              <a:rPr lang="en-US" altLang="zh-CN" sz="2000"/>
              <a:t>Linux</a:t>
            </a:r>
            <a:r>
              <a:rPr lang="zh-CN" altLang="en-US" sz="2000"/>
              <a:t>内核在有余力时会</a:t>
            </a:r>
            <a:r>
              <a:rPr lang="zh-CN" altLang="en-US" sz="2000">
                <a:solidFill>
                  <a:srgbClr val="9C0B15"/>
                </a:solidFill>
              </a:rPr>
              <a:t>主动给应用程序分配尽量大的页</a:t>
            </a:r>
            <a:r>
              <a:rPr lang="zh-CN" altLang="en-US" sz="2000"/>
              <a:t>，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甚至会</a:t>
            </a:r>
            <a:r>
              <a:rPr lang="zh-CN" altLang="en-US" sz="2000">
                <a:solidFill>
                  <a:srgbClr val="9C0B15"/>
                </a:solidFill>
              </a:rPr>
              <a:t>在后台进行自动的内存紧缩</a:t>
            </a:r>
            <a:r>
              <a:rPr lang="zh-CN" altLang="en-US" sz="2000"/>
              <a:t>，以提高</a:t>
            </a:r>
            <a:r>
              <a:rPr lang="en-US" altLang="zh-CN" sz="2000"/>
              <a:t>TLB</a:t>
            </a:r>
            <a:r>
              <a:rPr lang="zh-CN" altLang="en-US" sz="2000"/>
              <a:t>的利用率。这一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切对应用程序都是透明</a:t>
            </a:r>
            <a:r>
              <a:rPr lang="zh-CN" altLang="en-US" sz="2000"/>
              <a:t>的。</a:t>
            </a:r>
            <a:endParaRPr lang="zh-CN" altLang="en-US" sz="2000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82815" b="5778"/>
          <a:stretch>
            <a:fillRect/>
          </a:stretch>
        </p:blipFill>
        <p:spPr>
          <a:xfrm>
            <a:off x="5374640" y="2471420"/>
            <a:ext cx="3752850" cy="101917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主存储器分配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一、进程的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系统进程总览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进程的实现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内存分配的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x86-64内存管理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DLM进程内分配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Linux进程间分配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Linux页面替换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三、系统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.2 进程的基本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操作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3.3 进程接口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物理内存的</a:t>
            </a:r>
            <a:r>
              <a:rPr lang="zh-CN" altLang="en-US" sz="2000" b="1">
                <a:solidFill>
                  <a:srgbClr val="9C0B15"/>
                </a:solidFill>
              </a:rPr>
              <a:t>区域特性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区域</a:t>
            </a:r>
            <a:r>
              <a:rPr lang="en-US" altLang="zh-CN" sz="2000" b="1">
                <a:solidFill>
                  <a:srgbClr val="9C0B15"/>
                </a:solidFill>
              </a:rPr>
              <a:t>		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/>
              <a:t>在某些架构中，部分范围的物理内存可能有一些</a:t>
            </a:r>
            <a:r>
              <a:rPr lang="zh-CN" altLang="en-US" sz="2000">
                <a:solidFill>
                  <a:srgbClr val="9C0B15"/>
                </a:solidFill>
              </a:rPr>
              <a:t>特殊用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	</a:t>
            </a:r>
            <a:r>
              <a:rPr lang="zh-CN" altLang="en-US" sz="2000">
                <a:solidFill>
                  <a:srgbClr val="9C0B15"/>
                </a:solidFill>
              </a:rPr>
              <a:t>途</a:t>
            </a:r>
            <a:r>
              <a:rPr lang="zh-CN" altLang="en-US" sz="2000"/>
              <a:t>。Linux使用Zone的概念来管理这些</a:t>
            </a:r>
            <a:r>
              <a:rPr lang="zh-CN" altLang="en-US" sz="2000"/>
              <a:t>物理内存区域。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ZONE_DMA</a:t>
            </a:r>
            <a:r>
              <a:rPr lang="en-US" altLang="zh-CN" sz="2000"/>
              <a:t>	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/>
              <a:t>可以用于</a:t>
            </a:r>
            <a:r>
              <a:rPr lang="en-US" altLang="zh-CN" sz="2000"/>
              <a:t>DMA</a:t>
            </a:r>
            <a:r>
              <a:rPr lang="zh-CN" altLang="en-US" sz="2000"/>
              <a:t>的内存。</a:t>
            </a:r>
            <a:r>
              <a:rPr lang="en-US" altLang="zh-CN" sz="2000"/>
              <a:t>0-16MiB</a:t>
            </a:r>
            <a:r>
              <a:rPr lang="zh-CN" altLang="en-US" sz="2000"/>
              <a:t>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ZONE_NORMAL</a:t>
            </a:r>
            <a:r>
              <a:rPr lang="en-US" altLang="zh-CN" sz="2000"/>
              <a:t>	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/>
              <a:t>内核可以正常使用的常规内存范围。</a:t>
            </a:r>
            <a:r>
              <a:rPr lang="en-US" altLang="zh-CN" sz="2000"/>
              <a:t>16-896MiB</a:t>
            </a:r>
            <a:r>
              <a:rPr lang="zh-CN" altLang="en-US" sz="2000"/>
              <a:t>。这一</a:t>
            </a:r>
            <a:r>
              <a:rPr lang="en-US" altLang="zh-CN" sz="2000">
                <a:sym typeface="+mn-ea"/>
              </a:rPr>
              <a:t>			</a:t>
            </a:r>
            <a:r>
              <a:rPr lang="zh-CN" altLang="en-US" sz="2000"/>
              <a:t>部分在映射到内核时与其虚拟地址存在</a:t>
            </a:r>
            <a:r>
              <a:rPr lang="zh-CN" altLang="en-US" sz="2000">
                <a:solidFill>
                  <a:srgbClr val="9C0B15"/>
                </a:solidFill>
              </a:rPr>
              <a:t>线性映射关系</a:t>
            </a:r>
            <a:r>
              <a:rPr lang="zh-CN" altLang="en-US" sz="2000"/>
              <a:t>，</a:t>
            </a:r>
            <a:r>
              <a:rPr lang="en-US" altLang="zh-CN" sz="2000">
                <a:sym typeface="+mn-ea"/>
              </a:rPr>
              <a:t>			</a:t>
            </a:r>
            <a:r>
              <a:rPr lang="zh-CN" altLang="en-US" sz="2000"/>
              <a:t>因此根据其虚拟地址，减去一个差值就可以得到其物理</a:t>
            </a:r>
            <a:r>
              <a:rPr lang="en-US" altLang="zh-CN" sz="2000">
                <a:sym typeface="+mn-ea"/>
              </a:rPr>
              <a:t>			</a:t>
            </a:r>
            <a:r>
              <a:rPr lang="zh-CN" altLang="en-US" sz="2000"/>
              <a:t>地址。因此，页表等常常放在这个内存区域；</a:t>
            </a:r>
            <a:r>
              <a:rPr lang="zh-CN" altLang="en-US" sz="2000">
                <a:solidFill>
                  <a:srgbClr val="9C0B15"/>
                </a:solidFill>
              </a:rPr>
              <a:t>在加载页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	</a:t>
            </a:r>
            <a:r>
              <a:rPr lang="zh-CN" altLang="en-US" sz="2000">
                <a:solidFill>
                  <a:srgbClr val="9C0B15"/>
                </a:solidFill>
              </a:rPr>
              <a:t>表到CR3寄存器的时候，只要将虚拟地址减去那个差值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	</a:t>
            </a:r>
            <a:r>
              <a:rPr lang="zh-CN" altLang="en-US" sz="2000">
                <a:solidFill>
                  <a:srgbClr val="9C0B15"/>
                </a:solidFill>
              </a:rPr>
              <a:t>加载进去即可</a:t>
            </a:r>
            <a:r>
              <a:rPr lang="zh-CN" altLang="en-US" sz="2000"/>
              <a:t>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	</a:t>
            </a:r>
            <a:r>
              <a:rPr lang="zh-CN" altLang="en-US" sz="2000"/>
              <a:t>除</a:t>
            </a:r>
            <a:r>
              <a:rPr lang="en-US" altLang="zh-CN" sz="2000"/>
              <a:t>Linux</a:t>
            </a:r>
            <a:r>
              <a:rPr lang="zh-CN" altLang="en-US" sz="2000"/>
              <a:t>之外，很多操作系统内核为了方便都这样做。它</a:t>
            </a:r>
            <a:r>
              <a:rPr lang="en-US" altLang="zh-CN" sz="2000">
                <a:sym typeface="+mn-ea"/>
              </a:rPr>
              <a:t>			</a:t>
            </a:r>
            <a:r>
              <a:rPr lang="zh-CN" altLang="en-US" sz="2000"/>
              <a:t>们都有两个函数</a:t>
            </a:r>
            <a:r>
              <a:rPr lang="zh-CN" altLang="en-US" sz="2000">
                <a:solidFill>
                  <a:srgbClr val="9C0B15"/>
                </a:solidFill>
              </a:rPr>
              <a:t>pa2va和va2pa</a:t>
            </a:r>
            <a:r>
              <a:rPr lang="zh-CN" altLang="en-US" sz="2000"/>
              <a:t>专门负责地址的转换。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ZONE_HIGHMEM</a:t>
            </a:r>
            <a:r>
              <a:rPr lang="en-US" altLang="zh-CN" sz="2000"/>
              <a:t>	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/>
              <a:t>内核不能直接使用的高端内存，</a:t>
            </a:r>
            <a:r>
              <a:rPr lang="en-US" altLang="zh-CN" sz="2000"/>
              <a:t>896MiB</a:t>
            </a:r>
            <a:r>
              <a:rPr lang="zh-CN" altLang="en-US" sz="2000"/>
              <a:t>以上。这些物理</a:t>
            </a:r>
            <a:r>
              <a:rPr lang="zh-CN" altLang="en-US" sz="2000" b="1">
                <a:solidFill>
                  <a:srgbClr val="9C0B15"/>
                </a:solidFill>
              </a:rPr>
              <a:t>（仅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32位存在</a:t>
            </a:r>
            <a:r>
              <a:rPr lang="zh-CN" altLang="en-US" sz="2000" b="1">
                <a:solidFill>
                  <a:srgbClr val="9C0B15"/>
                </a:solidFill>
              </a:rPr>
              <a:t>）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/>
              <a:t>内存映射到内核中时</a:t>
            </a:r>
            <a:r>
              <a:rPr lang="zh-CN" altLang="en-US" sz="2000">
                <a:solidFill>
                  <a:srgbClr val="9C0B15"/>
                </a:solidFill>
              </a:rPr>
              <a:t>共用一些虚拟地址</a:t>
            </a:r>
            <a:r>
              <a:rPr lang="zh-CN" altLang="en-US" sz="2000"/>
              <a:t>，</a:t>
            </a:r>
            <a:r>
              <a:rPr lang="zh-CN" sz="2000">
                <a:sym typeface="+mn-ea"/>
              </a:rPr>
              <a:t>因此没有线性</a:t>
            </a:r>
            <a:r>
              <a:rPr lang="en-US" altLang="zh-CN" sz="2000">
                <a:sym typeface="+mn-ea"/>
              </a:rPr>
              <a:t>			</a:t>
            </a:r>
            <a:r>
              <a:rPr lang="zh-CN" sz="2000">
                <a:sym typeface="+mn-ea"/>
              </a:rPr>
              <a:t>对应关系</a:t>
            </a:r>
            <a:r>
              <a:rPr lang="zh-CN" altLang="en-US" sz="2000"/>
              <a:t>。这个区域在</a:t>
            </a:r>
            <a:r>
              <a:rPr lang="en-US" altLang="zh-CN" sz="2000"/>
              <a:t>64</a:t>
            </a:r>
            <a:r>
              <a:rPr lang="zh-CN" altLang="en-US" sz="2000"/>
              <a:t>位上不存在，因为</a:t>
            </a:r>
            <a:r>
              <a:rPr lang="zh-CN" altLang="en-US" sz="2000">
                <a:solidFill>
                  <a:srgbClr val="9C0B15"/>
                </a:solidFill>
              </a:rPr>
              <a:t>64位的虚拟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	</a:t>
            </a:r>
            <a:r>
              <a:rPr lang="zh-CN" altLang="en-US" sz="2000">
                <a:solidFill>
                  <a:srgbClr val="9C0B15"/>
                </a:solidFill>
              </a:rPr>
              <a:t>地址空间足够大，可以给所有物理内存提供线性映射</a:t>
            </a:r>
            <a:r>
              <a:rPr lang="zh-CN" altLang="en-US" sz="2000"/>
              <a:t>。</a:t>
            </a:r>
            <a:endParaRPr lang="zh-CN" altLang="en-US" sz="2000"/>
          </a:p>
        </p:txBody>
      </p:sp>
    </p:spTree>
    <p:custDataLst>
      <p:tags r:id="rId2"/>
    </p:custDataLst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主存储器分配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一、进程的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系统进程总览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进程的实现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内存分配的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x86-64内存管理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DLM进程内分配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Linux进程间分配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Linux页面替换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三、系统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.2 进程的基本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操作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3.3 进程接口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266950" y="180340"/>
            <a:ext cx="55295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9C0B15"/>
                </a:solidFill>
              </a:rPr>
              <a:t>Linux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在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x86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上的</a:t>
            </a:r>
            <a:r>
              <a:rPr lang="zh-CN" altLang="en-US" sz="2000" b="1">
                <a:solidFill>
                  <a:srgbClr val="9C0B15"/>
                </a:solidFill>
              </a:rPr>
              <a:t>物理地址空间组织（</a:t>
            </a:r>
            <a:r>
              <a:rPr lang="en-US" altLang="zh-CN" sz="2000" b="1">
                <a:solidFill>
                  <a:srgbClr val="9C0B15"/>
                </a:solidFill>
              </a:rPr>
              <a:t>32</a:t>
            </a:r>
            <a:r>
              <a:rPr lang="zh-CN" altLang="en-US" sz="2000" b="1">
                <a:solidFill>
                  <a:srgbClr val="9C0B15"/>
                </a:solidFill>
              </a:rPr>
              <a:t>位）</a:t>
            </a:r>
            <a:endParaRPr lang="zh-CN" altLang="en-US" sz="2000" b="1">
              <a:solidFill>
                <a:srgbClr val="9C0B15"/>
              </a:solidFill>
            </a:endParaRPr>
          </a:p>
        </p:txBody>
      </p:sp>
      <p:sp>
        <p:nvSpPr>
          <p:cNvPr id="15" name="矩形 14"/>
          <p:cNvSpPr/>
          <p:nvPr>
            <p:custDataLst>
              <p:tags r:id="rId2"/>
            </p:custDataLst>
          </p:nvPr>
        </p:nvSpPr>
        <p:spPr>
          <a:xfrm>
            <a:off x="6788785" y="4311015"/>
            <a:ext cx="1930400" cy="2372995"/>
          </a:xfrm>
          <a:prstGeom prst="rect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3GB+896M</a:t>
            </a:r>
            <a:endParaRPr lang="en-US" altLang="zh-CN"/>
          </a:p>
          <a:p>
            <a:pPr algn="ctr"/>
            <a:endParaRPr lang="en-US" altLang="zh-CN"/>
          </a:p>
          <a:p>
            <a:pPr algn="ctr"/>
            <a:endParaRPr lang="en-US" altLang="zh-CN"/>
          </a:p>
          <a:p>
            <a:pPr algn="ctr"/>
            <a:r>
              <a:rPr lang="zh-CN" altLang="en-US"/>
              <a:t>内核线性映射</a:t>
            </a:r>
            <a:endParaRPr lang="zh-CN" altLang="en-US"/>
          </a:p>
          <a:p>
            <a:pPr algn="ctr"/>
            <a:endParaRPr lang="zh-CN" altLang="en-US"/>
          </a:p>
          <a:p>
            <a:pPr algn="ctr"/>
            <a:endParaRPr lang="zh-CN" altLang="en-US"/>
          </a:p>
          <a:p>
            <a:pPr algn="ctr"/>
            <a:r>
              <a:rPr lang="en-US" altLang="zh-CN"/>
              <a:t>3GB</a:t>
            </a:r>
            <a:endParaRPr lang="en-US" altLang="zh-CN"/>
          </a:p>
        </p:txBody>
      </p:sp>
      <p:sp>
        <p:nvSpPr>
          <p:cNvPr id="5" name="矩形 4"/>
          <p:cNvSpPr/>
          <p:nvPr>
            <p:custDataLst>
              <p:tags r:id="rId3"/>
            </p:custDataLst>
          </p:nvPr>
        </p:nvSpPr>
        <p:spPr>
          <a:xfrm>
            <a:off x="1487805" y="5776595"/>
            <a:ext cx="1930400" cy="907415"/>
          </a:xfrm>
          <a:prstGeom prst="rect">
            <a:avLst/>
          </a:prstGeom>
          <a:solidFill>
            <a:srgbClr val="D02F35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16M</a:t>
            </a:r>
            <a:endParaRPr lang="en-US" altLang="zh-CN"/>
          </a:p>
          <a:p>
            <a:pPr algn="ctr"/>
            <a:r>
              <a:rPr lang="en-US" altLang="zh-CN"/>
              <a:t>ZONE_DMA</a:t>
            </a:r>
            <a:endParaRPr lang="en-US" altLang="zh-CN"/>
          </a:p>
          <a:p>
            <a:pPr algn="ctr"/>
            <a:r>
              <a:rPr lang="en-US" altLang="zh-CN"/>
              <a:t>0</a:t>
            </a:r>
            <a:endParaRPr lang="en-US" altLang="zh-CN"/>
          </a:p>
        </p:txBody>
      </p:sp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1487805" y="4311650"/>
            <a:ext cx="1930400" cy="1465580"/>
          </a:xfrm>
          <a:prstGeom prst="rect">
            <a:avLst/>
          </a:prstGeom>
          <a:solidFill>
            <a:schemeClr val="accent2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896M</a:t>
            </a:r>
            <a:endParaRPr lang="en-US" altLang="zh-CN"/>
          </a:p>
          <a:p>
            <a:pPr algn="ctr"/>
            <a:endParaRPr lang="en-US" altLang="zh-CN"/>
          </a:p>
          <a:p>
            <a:pPr algn="ctr"/>
            <a:r>
              <a:rPr lang="en-US" altLang="zh-CN"/>
              <a:t>ZONE_NORMAL</a:t>
            </a:r>
            <a:endParaRPr lang="en-US" altLang="zh-CN"/>
          </a:p>
          <a:p>
            <a:pPr algn="ctr"/>
            <a:endParaRPr lang="en-US" altLang="zh-CN"/>
          </a:p>
          <a:p>
            <a:pPr algn="ctr"/>
            <a:r>
              <a:rPr lang="en-US" altLang="zh-CN"/>
              <a:t>16M</a:t>
            </a:r>
            <a:endParaRPr lang="en-US" altLang="zh-CN"/>
          </a:p>
        </p:txBody>
      </p:sp>
      <p:sp>
        <p:nvSpPr>
          <p:cNvPr id="60" name="矩形 59"/>
          <p:cNvSpPr/>
          <p:nvPr>
            <p:custDataLst>
              <p:tags r:id="rId5"/>
            </p:custDataLst>
          </p:nvPr>
        </p:nvSpPr>
        <p:spPr>
          <a:xfrm>
            <a:off x="1487805" y="833755"/>
            <a:ext cx="1930400" cy="3477260"/>
          </a:xfrm>
          <a:prstGeom prst="rect">
            <a:avLst/>
          </a:prstGeom>
          <a:solidFill>
            <a:srgbClr val="0070C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4GB</a:t>
            </a:r>
            <a:endParaRPr lang="en-US" altLang="zh-CN"/>
          </a:p>
          <a:p>
            <a:pPr algn="ctr"/>
            <a:endParaRPr lang="en-US" altLang="zh-CN"/>
          </a:p>
          <a:p>
            <a:pPr algn="ctr"/>
            <a:endParaRPr lang="en-US" altLang="zh-CN"/>
          </a:p>
          <a:p>
            <a:pPr algn="ctr"/>
            <a:endParaRPr lang="en-US" altLang="zh-CN"/>
          </a:p>
          <a:p>
            <a:pPr algn="ctr"/>
            <a:endParaRPr lang="en-US" altLang="zh-CN"/>
          </a:p>
          <a:p>
            <a:pPr algn="ctr"/>
            <a:r>
              <a:rPr lang="en-US" altLang="zh-CN"/>
              <a:t>ZONE_HIGHMEM</a:t>
            </a:r>
            <a:endParaRPr lang="en-US" altLang="zh-CN"/>
          </a:p>
          <a:p>
            <a:pPr algn="ctr"/>
            <a:endParaRPr lang="en-US" altLang="zh-CN"/>
          </a:p>
          <a:p>
            <a:pPr algn="ctr"/>
            <a:endParaRPr lang="en-US" altLang="zh-CN"/>
          </a:p>
          <a:p>
            <a:pPr algn="ctr"/>
            <a:endParaRPr lang="en-US" altLang="zh-CN"/>
          </a:p>
          <a:p>
            <a:pPr algn="ctr"/>
            <a:endParaRPr lang="en-US" altLang="zh-CN"/>
          </a:p>
          <a:p>
            <a:pPr algn="ctr"/>
            <a:endParaRPr lang="en-US" altLang="zh-CN"/>
          </a:p>
          <a:p>
            <a:pPr algn="ctr"/>
            <a:r>
              <a:rPr lang="en-US" altLang="zh-CN"/>
              <a:t>896M</a:t>
            </a:r>
            <a:endParaRPr lang="en-US" altLang="zh-CN"/>
          </a:p>
        </p:txBody>
      </p:sp>
      <p:sp>
        <p:nvSpPr>
          <p:cNvPr id="26" name="矩形 25"/>
          <p:cNvSpPr/>
          <p:nvPr>
            <p:custDataLst>
              <p:tags r:id="rId6"/>
            </p:custDataLst>
          </p:nvPr>
        </p:nvSpPr>
        <p:spPr>
          <a:xfrm>
            <a:off x="6788785" y="2884170"/>
            <a:ext cx="1930400" cy="1427480"/>
          </a:xfrm>
          <a:prstGeom prst="rect">
            <a:avLst/>
          </a:prstGeom>
          <a:solidFill>
            <a:srgbClr val="7030A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4GB</a:t>
            </a:r>
            <a:endParaRPr lang="en-US" altLang="zh-CN"/>
          </a:p>
          <a:p>
            <a:pPr algn="ctr"/>
            <a:endParaRPr lang="en-US" altLang="zh-CN"/>
          </a:p>
          <a:p>
            <a:pPr algn="ctr"/>
            <a:r>
              <a:rPr lang="zh-CN" altLang="en-US"/>
              <a:t>内核高端映射</a:t>
            </a:r>
            <a:endParaRPr lang="zh-CN" altLang="en-US"/>
          </a:p>
          <a:p>
            <a:pPr algn="ctr"/>
            <a:endParaRPr lang="zh-CN" altLang="en-US"/>
          </a:p>
          <a:p>
            <a:pPr algn="ctr"/>
            <a:r>
              <a:rPr lang="en-US" altLang="zh-CN"/>
              <a:t>3GB+896M</a:t>
            </a:r>
            <a:endParaRPr lang="en-US" altLang="zh-CN"/>
          </a:p>
        </p:txBody>
      </p:sp>
      <p:cxnSp>
        <p:nvCxnSpPr>
          <p:cNvPr id="63" name="直接连接符 62"/>
          <p:cNvCxnSpPr/>
          <p:nvPr>
            <p:custDataLst>
              <p:tags r:id="rId7"/>
            </p:custDataLst>
          </p:nvPr>
        </p:nvCxnSpPr>
        <p:spPr>
          <a:xfrm>
            <a:off x="3413125" y="826770"/>
            <a:ext cx="3364230" cy="2049780"/>
          </a:xfrm>
          <a:prstGeom prst="line">
            <a:avLst/>
          </a:prstGeom>
          <a:ln w="28575" cmpd="sng">
            <a:solidFill>
              <a:srgbClr val="9C0B1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直接连接符 1"/>
          <p:cNvCxnSpPr/>
          <p:nvPr>
            <p:custDataLst>
              <p:tags r:id="rId8"/>
            </p:custDataLst>
          </p:nvPr>
        </p:nvCxnSpPr>
        <p:spPr>
          <a:xfrm>
            <a:off x="3432810" y="4318635"/>
            <a:ext cx="3354070" cy="9525"/>
          </a:xfrm>
          <a:prstGeom prst="line">
            <a:avLst/>
          </a:prstGeom>
          <a:ln w="28575" cmpd="sng">
            <a:solidFill>
              <a:srgbClr val="9C0B1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>
            <p:custDataLst>
              <p:tags r:id="rId9"/>
            </p:custDataLst>
          </p:nvPr>
        </p:nvCxnSpPr>
        <p:spPr>
          <a:xfrm>
            <a:off x="3422650" y="6682740"/>
            <a:ext cx="3364230" cy="0"/>
          </a:xfrm>
          <a:prstGeom prst="line">
            <a:avLst/>
          </a:prstGeom>
          <a:ln w="28575" cmpd="sng">
            <a:solidFill>
              <a:srgbClr val="9C0B1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4548505" y="5408930"/>
            <a:ext cx="11233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线性映射</a:t>
            </a:r>
            <a:endParaRPr lang="zh-CN" altLang="en-US" b="1"/>
          </a:p>
        </p:txBody>
      </p:sp>
      <p:sp>
        <p:nvSpPr>
          <p:cNvPr id="9" name="文本框 8"/>
          <p:cNvSpPr txBox="1"/>
          <p:nvPr>
            <p:custDataLst>
              <p:tags r:id="rId10"/>
            </p:custDataLst>
          </p:nvPr>
        </p:nvSpPr>
        <p:spPr>
          <a:xfrm>
            <a:off x="4455795" y="3150870"/>
            <a:ext cx="14763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选择性映射</a:t>
            </a:r>
            <a:endParaRPr lang="zh-CN" altLang="en-US" b="1"/>
          </a:p>
        </p:txBody>
      </p:sp>
      <p:sp>
        <p:nvSpPr>
          <p:cNvPr id="73" name="左箭头标注 72"/>
          <p:cNvSpPr/>
          <p:nvPr>
            <p:custDataLst>
              <p:tags r:id="rId11"/>
            </p:custDataLst>
          </p:nvPr>
        </p:nvSpPr>
        <p:spPr>
          <a:xfrm>
            <a:off x="5739130" y="833755"/>
            <a:ext cx="2980055" cy="1404620"/>
          </a:xfrm>
          <a:prstGeom prst="leftArrowCallout">
            <a:avLst>
              <a:gd name="adj1" fmla="val 17527"/>
              <a:gd name="adj2" fmla="val 19337"/>
              <a:gd name="adj3" fmla="val 16836"/>
              <a:gd name="adj4" fmla="val 83891"/>
            </a:avLst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64</a:t>
            </a:r>
            <a:r>
              <a:rPr lang="zh-CN" altLang="en-US"/>
              <a:t>位系统不需要选择性映射任何东西，因为内核虚拟地址空间是足够大的，可以将整个物理地址空间</a:t>
            </a:r>
            <a:r>
              <a:rPr lang="en-US" altLang="zh-CN"/>
              <a:t>1:1</a:t>
            </a:r>
            <a:r>
              <a:rPr lang="zh-CN" altLang="en-US"/>
              <a:t>映射。</a:t>
            </a:r>
            <a:endParaRPr lang="zh-CN" altLang="en-US"/>
          </a:p>
        </p:txBody>
      </p:sp>
    </p:spTree>
    <p:custDataLst>
      <p:tags r:id="rId12"/>
    </p:custData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主存储器分配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一、进程的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系统进程总览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进程的实现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内存分配的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x86-64内存管理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DLM进程内分配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Linux进程间分配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Linux页面替换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三、系统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.2 进程的基本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操作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3.3 进程接口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物理内存的不</a:t>
            </a:r>
            <a:r>
              <a:rPr lang="zh-CN" altLang="en-US" sz="2000" b="1">
                <a:solidFill>
                  <a:srgbClr val="9C0B15"/>
                </a:solidFill>
              </a:rPr>
              <a:t>对称特性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/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</a:rPr>
              <a:t>非对称访问	Non-Uniform Memory Access，NUMA</a:t>
            </a:r>
            <a:endParaRPr lang="en-US" altLang="zh-CN" sz="2000" b="1">
              <a:solidFill>
                <a:srgbClr val="9C0B15"/>
              </a:solidFill>
            </a:endParaRPr>
          </a:p>
          <a:p>
            <a:pPr algn="l"/>
            <a:r>
              <a:rPr lang="en-US" altLang="zh-CN" sz="2000"/>
              <a:t>		</a:t>
            </a:r>
            <a:r>
              <a:rPr lang="zh-CN" altLang="en-US" sz="2000"/>
              <a:t>在基于前端总线（</a:t>
            </a:r>
            <a:r>
              <a:rPr lang="en-US" altLang="zh-CN" sz="2000"/>
              <a:t>Front Side Bus</a:t>
            </a:r>
            <a:r>
              <a:rPr lang="zh-CN" altLang="en-US" sz="2000"/>
              <a:t>，</a:t>
            </a:r>
            <a:r>
              <a:rPr lang="en-US" altLang="zh-CN" sz="2000"/>
              <a:t>FSB</a:t>
            </a:r>
            <a:r>
              <a:rPr lang="zh-CN" altLang="en-US" sz="2000"/>
              <a:t>）结构的传统计算机上，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任何一个</a:t>
            </a:r>
            <a:r>
              <a:rPr lang="en-US" altLang="zh-CN" sz="2000"/>
              <a:t>CPU</a:t>
            </a:r>
            <a:r>
              <a:rPr lang="zh-CN" altLang="en-US" sz="2000"/>
              <a:t>到任何一个内存单元的访问延迟都是一样的。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ctr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</a:rPr>
              <a:t> UMA                                                                        NUMA</a:t>
            </a:r>
            <a:endParaRPr lang="en-US" altLang="zh-CN" sz="2000" b="1">
              <a:solidFill>
                <a:srgbClr val="9C0B15"/>
              </a:solidFill>
            </a:endParaRPr>
          </a:p>
          <a:p>
            <a:pPr algn="ctr"/>
            <a:endParaRPr lang="zh-CN" altLang="en-US" sz="2000"/>
          </a:p>
          <a:p>
            <a:pPr algn="ctr"/>
            <a:endParaRPr lang="zh-CN" altLang="en-US" sz="2000"/>
          </a:p>
          <a:p>
            <a:pPr algn="ctr"/>
            <a:endParaRPr lang="zh-CN" altLang="en-US" sz="2000"/>
          </a:p>
          <a:p>
            <a:pPr algn="ctr"/>
            <a:endParaRPr lang="zh-CN" altLang="en-US" sz="2000"/>
          </a:p>
          <a:p>
            <a:pPr algn="ctr"/>
            <a:endParaRPr lang="zh-CN" altLang="en-US" sz="2000"/>
          </a:p>
          <a:p>
            <a:pPr algn="ctr"/>
            <a:endParaRPr lang="zh-CN" altLang="en-US" sz="2000"/>
          </a:p>
          <a:p>
            <a:pPr algn="ctr"/>
            <a:endParaRPr lang="zh-CN" altLang="en-US" sz="2000"/>
          </a:p>
          <a:p>
            <a:pPr algn="ctr"/>
            <a:endParaRPr lang="zh-CN" altLang="en-US" sz="2000"/>
          </a:p>
          <a:p>
            <a:pPr algn="ctr"/>
            <a:endParaRPr lang="zh-CN" altLang="en-US" sz="2000"/>
          </a:p>
          <a:p>
            <a:pPr algn="l"/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这意味着，</a:t>
            </a:r>
            <a:r>
              <a:rPr lang="zh-CN" altLang="en-US" sz="2000">
                <a:sym typeface="+mn-ea"/>
              </a:rPr>
              <a:t>哪怕</a:t>
            </a:r>
            <a:r>
              <a:rPr lang="zh-CN" altLang="en-US" sz="2000"/>
              <a:t>对于同一个</a:t>
            </a:r>
            <a:r>
              <a:rPr lang="en-US" altLang="zh-CN" sz="2000"/>
              <a:t>CPU</a:t>
            </a:r>
            <a:r>
              <a:rPr lang="zh-CN" altLang="en-US" sz="2000"/>
              <a:t>，访问不同的物理内存地址，其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延迟也是不同的。要最大化性能，在分配内存时必须考虑到这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一点。</a:t>
            </a:r>
            <a:r>
              <a:rPr lang="en-US" altLang="zh-CN" sz="2000"/>
              <a:t>Linux</a:t>
            </a:r>
            <a:r>
              <a:rPr lang="zh-CN" altLang="en-US" sz="2000"/>
              <a:t>通过</a:t>
            </a:r>
            <a:r>
              <a:rPr lang="zh-CN" altLang="en-US" sz="2000">
                <a:solidFill>
                  <a:srgbClr val="9C0B15"/>
                </a:solidFill>
              </a:rPr>
              <a:t>mem_policy系统调用</a:t>
            </a:r>
            <a:r>
              <a:rPr lang="zh-CN" altLang="en-US" sz="2000"/>
              <a:t>允许应用程序</a:t>
            </a:r>
            <a:r>
              <a:rPr lang="zh-CN" altLang="en-US" sz="2000">
                <a:solidFill>
                  <a:srgbClr val="9C0B15"/>
                </a:solidFill>
              </a:rPr>
              <a:t>指定自己的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</a:rPr>
              <a:t>内存分配在哪个物理位置</a:t>
            </a:r>
            <a:r>
              <a:rPr lang="zh-CN" altLang="en-US" sz="2000"/>
              <a:t>，再配合线程的</a:t>
            </a:r>
            <a:r>
              <a:rPr lang="zh-CN" altLang="en-US" sz="2000">
                <a:solidFill>
                  <a:srgbClr val="9C0B15"/>
                </a:solidFill>
              </a:rPr>
              <a:t>CPU亲和性设置</a:t>
            </a:r>
            <a:r>
              <a:rPr lang="zh-CN" altLang="en-US" sz="2000"/>
              <a:t>来最小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/>
              <a:t>化访存延迟，从而最大化</a:t>
            </a:r>
            <a:r>
              <a:rPr lang="zh-CN" altLang="en-US" sz="2000"/>
              <a:t>性能。</a:t>
            </a:r>
            <a:endParaRPr lang="zh-CN" altLang="en-US" sz="2000"/>
          </a:p>
        </p:txBody>
      </p:sp>
      <p:sp>
        <p:nvSpPr>
          <p:cNvPr id="28" name="矩形 27"/>
          <p:cNvSpPr/>
          <p:nvPr>
            <p:custDataLst>
              <p:tags r:id="rId2"/>
            </p:custDataLst>
          </p:nvPr>
        </p:nvSpPr>
        <p:spPr>
          <a:xfrm>
            <a:off x="1146175" y="2498725"/>
            <a:ext cx="732155" cy="372110"/>
          </a:xfrm>
          <a:prstGeom prst="rect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bg1"/>
                </a:solidFill>
                <a:sym typeface="+mn-ea"/>
              </a:rPr>
              <a:t>CPU</a:t>
            </a:r>
            <a:endParaRPr lang="en-US" altLang="zh-CN">
              <a:solidFill>
                <a:schemeClr val="bg1"/>
              </a:solidFill>
              <a:sym typeface="+mn-ea"/>
            </a:endParaRPr>
          </a:p>
        </p:txBody>
      </p:sp>
      <p:sp>
        <p:nvSpPr>
          <p:cNvPr id="5" name="矩形 4"/>
          <p:cNvSpPr/>
          <p:nvPr>
            <p:custDataLst>
              <p:tags r:id="rId3"/>
            </p:custDataLst>
          </p:nvPr>
        </p:nvSpPr>
        <p:spPr>
          <a:xfrm>
            <a:off x="2139950" y="2498725"/>
            <a:ext cx="732155" cy="372110"/>
          </a:xfrm>
          <a:prstGeom prst="rect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bg1"/>
                </a:solidFill>
                <a:sym typeface="+mn-ea"/>
              </a:rPr>
              <a:t>CPU</a:t>
            </a:r>
            <a:endParaRPr lang="en-US" altLang="zh-CN">
              <a:solidFill>
                <a:schemeClr val="bg1"/>
              </a:solidFill>
              <a:sym typeface="+mn-ea"/>
            </a:endParaRPr>
          </a:p>
        </p:txBody>
      </p:sp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3162300" y="2498725"/>
            <a:ext cx="732155" cy="372110"/>
          </a:xfrm>
          <a:prstGeom prst="rect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bg1"/>
                </a:solidFill>
                <a:sym typeface="+mn-ea"/>
              </a:rPr>
              <a:t>CPU</a:t>
            </a:r>
            <a:endParaRPr lang="en-US" altLang="zh-CN">
              <a:solidFill>
                <a:schemeClr val="bg1"/>
              </a:solidFill>
              <a:sym typeface="+mn-ea"/>
            </a:endParaRPr>
          </a:p>
        </p:txBody>
      </p:sp>
      <p:cxnSp>
        <p:nvCxnSpPr>
          <p:cNvPr id="7" name="肘形连接符 6"/>
          <p:cNvCxnSpPr>
            <a:stCxn id="28" idx="2"/>
            <a:endCxn id="9" idx="1"/>
          </p:cNvCxnSpPr>
          <p:nvPr/>
        </p:nvCxnSpPr>
        <p:spPr>
          <a:xfrm rot="5400000" flipV="1">
            <a:off x="1471295" y="2912110"/>
            <a:ext cx="704215" cy="621030"/>
          </a:xfrm>
          <a:prstGeom prst="bentConnector2">
            <a:avLst/>
          </a:prstGeom>
          <a:ln w="38100">
            <a:solidFill>
              <a:srgbClr val="9C0B1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肘形连接符 7"/>
          <p:cNvCxnSpPr>
            <a:stCxn id="6" idx="2"/>
            <a:endCxn id="9" idx="3"/>
          </p:cNvCxnSpPr>
          <p:nvPr/>
        </p:nvCxnSpPr>
        <p:spPr>
          <a:xfrm rot="5400000">
            <a:off x="2845435" y="2891155"/>
            <a:ext cx="704215" cy="662940"/>
          </a:xfrm>
          <a:prstGeom prst="bentConnector2">
            <a:avLst/>
          </a:prstGeom>
          <a:ln w="38100">
            <a:solidFill>
              <a:srgbClr val="9C0B1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>
            <p:custDataLst>
              <p:tags r:id="rId5"/>
            </p:custDataLst>
          </p:nvPr>
        </p:nvSpPr>
        <p:spPr>
          <a:xfrm>
            <a:off x="2133600" y="3388995"/>
            <a:ext cx="732155" cy="372110"/>
          </a:xfrm>
          <a:prstGeom prst="rect">
            <a:avLst/>
          </a:prstGeom>
          <a:solidFill>
            <a:srgbClr val="7030A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bg1"/>
                </a:solidFill>
                <a:sym typeface="+mn-ea"/>
              </a:rPr>
              <a:t>北桥</a:t>
            </a: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cxnSp>
        <p:nvCxnSpPr>
          <p:cNvPr id="17" name="直接连接符 16"/>
          <p:cNvCxnSpPr>
            <a:stCxn id="5" idx="2"/>
            <a:endCxn id="9" idx="0"/>
          </p:cNvCxnSpPr>
          <p:nvPr/>
        </p:nvCxnSpPr>
        <p:spPr>
          <a:xfrm flipH="1">
            <a:off x="2499995" y="2870835"/>
            <a:ext cx="6350" cy="518160"/>
          </a:xfrm>
          <a:prstGeom prst="line">
            <a:avLst/>
          </a:prstGeom>
          <a:ln w="38100">
            <a:solidFill>
              <a:srgbClr val="9C0B1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/>
          <p:cNvSpPr/>
          <p:nvPr>
            <p:custDataLst>
              <p:tags r:id="rId6"/>
            </p:custDataLst>
          </p:nvPr>
        </p:nvSpPr>
        <p:spPr>
          <a:xfrm>
            <a:off x="1146175" y="4279265"/>
            <a:ext cx="2748280" cy="372110"/>
          </a:xfrm>
          <a:prstGeom prst="rect">
            <a:avLst/>
          </a:prstGeom>
          <a:solidFill>
            <a:schemeClr val="accent2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bg1"/>
                </a:solidFill>
                <a:sym typeface="+mn-ea"/>
              </a:rPr>
              <a:t>内存</a:t>
            </a: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cxnSp>
        <p:nvCxnSpPr>
          <p:cNvPr id="60" name="直接连接符 59"/>
          <p:cNvCxnSpPr/>
          <p:nvPr>
            <p:custDataLst>
              <p:tags r:id="rId7"/>
            </p:custDataLst>
          </p:nvPr>
        </p:nvCxnSpPr>
        <p:spPr>
          <a:xfrm flipH="1">
            <a:off x="2499995" y="3761105"/>
            <a:ext cx="6350" cy="518160"/>
          </a:xfrm>
          <a:prstGeom prst="line">
            <a:avLst/>
          </a:prstGeom>
          <a:ln w="38100">
            <a:solidFill>
              <a:srgbClr val="9C0B1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文本框 60"/>
          <p:cNvSpPr txBox="1"/>
          <p:nvPr/>
        </p:nvSpPr>
        <p:spPr>
          <a:xfrm>
            <a:off x="2872105" y="3206750"/>
            <a:ext cx="5397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FSB</a:t>
            </a:r>
            <a:endParaRPr lang="en-US" altLang="zh-CN"/>
          </a:p>
        </p:txBody>
      </p:sp>
      <p:sp>
        <p:nvSpPr>
          <p:cNvPr id="62" name="矩形 61"/>
          <p:cNvSpPr/>
          <p:nvPr>
            <p:custDataLst>
              <p:tags r:id="rId8"/>
            </p:custDataLst>
          </p:nvPr>
        </p:nvSpPr>
        <p:spPr>
          <a:xfrm>
            <a:off x="6140450" y="2498725"/>
            <a:ext cx="732155" cy="372110"/>
          </a:xfrm>
          <a:prstGeom prst="rect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bg1"/>
                </a:solidFill>
                <a:sym typeface="+mn-ea"/>
              </a:rPr>
              <a:t>CPU</a:t>
            </a:r>
            <a:endParaRPr lang="en-US" altLang="zh-CN">
              <a:solidFill>
                <a:schemeClr val="bg1"/>
              </a:solidFill>
              <a:sym typeface="+mn-ea"/>
            </a:endParaRPr>
          </a:p>
        </p:txBody>
      </p:sp>
      <p:sp>
        <p:nvSpPr>
          <p:cNvPr id="63" name="矩形 62"/>
          <p:cNvSpPr/>
          <p:nvPr>
            <p:custDataLst>
              <p:tags r:id="rId9"/>
            </p:custDataLst>
          </p:nvPr>
        </p:nvSpPr>
        <p:spPr>
          <a:xfrm>
            <a:off x="6878955" y="3575050"/>
            <a:ext cx="732155" cy="372110"/>
          </a:xfrm>
          <a:prstGeom prst="rect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bg1"/>
                </a:solidFill>
                <a:sym typeface="+mn-ea"/>
              </a:rPr>
              <a:t>CPU</a:t>
            </a:r>
            <a:endParaRPr lang="en-US" altLang="zh-CN">
              <a:solidFill>
                <a:schemeClr val="bg1"/>
              </a:solidFill>
              <a:sym typeface="+mn-ea"/>
            </a:endParaRPr>
          </a:p>
        </p:txBody>
      </p:sp>
      <p:sp>
        <p:nvSpPr>
          <p:cNvPr id="64" name="矩形 63"/>
          <p:cNvSpPr/>
          <p:nvPr>
            <p:custDataLst>
              <p:tags r:id="rId10"/>
            </p:custDataLst>
          </p:nvPr>
        </p:nvSpPr>
        <p:spPr>
          <a:xfrm>
            <a:off x="7611110" y="2498725"/>
            <a:ext cx="732155" cy="372110"/>
          </a:xfrm>
          <a:prstGeom prst="rect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bg1"/>
                </a:solidFill>
                <a:sym typeface="+mn-ea"/>
              </a:rPr>
              <a:t>CPU</a:t>
            </a:r>
            <a:endParaRPr lang="en-US" altLang="zh-CN">
              <a:solidFill>
                <a:schemeClr val="bg1"/>
              </a:solidFill>
              <a:sym typeface="+mn-ea"/>
            </a:endParaRPr>
          </a:p>
        </p:txBody>
      </p:sp>
      <p:sp>
        <p:nvSpPr>
          <p:cNvPr id="69" name="矩形 68"/>
          <p:cNvSpPr/>
          <p:nvPr>
            <p:custDataLst>
              <p:tags r:id="rId11"/>
            </p:custDataLst>
          </p:nvPr>
        </p:nvSpPr>
        <p:spPr>
          <a:xfrm>
            <a:off x="5006975" y="2498725"/>
            <a:ext cx="738505" cy="372110"/>
          </a:xfrm>
          <a:prstGeom prst="rect">
            <a:avLst/>
          </a:prstGeom>
          <a:solidFill>
            <a:schemeClr val="accent2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bg1"/>
                </a:solidFill>
                <a:sym typeface="+mn-ea"/>
              </a:rPr>
              <a:t>内存</a:t>
            </a: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72" name="矩形 71"/>
          <p:cNvSpPr/>
          <p:nvPr>
            <p:custDataLst>
              <p:tags r:id="rId12"/>
            </p:custDataLst>
          </p:nvPr>
        </p:nvSpPr>
        <p:spPr>
          <a:xfrm>
            <a:off x="8722360" y="2498725"/>
            <a:ext cx="738505" cy="372110"/>
          </a:xfrm>
          <a:prstGeom prst="rect">
            <a:avLst/>
          </a:prstGeom>
          <a:solidFill>
            <a:schemeClr val="accent2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bg1"/>
                </a:solidFill>
                <a:sym typeface="+mn-ea"/>
              </a:rPr>
              <a:t>内存</a:t>
            </a: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cxnSp>
        <p:nvCxnSpPr>
          <p:cNvPr id="73" name="直接连接符 72"/>
          <p:cNvCxnSpPr>
            <a:stCxn id="69" idx="3"/>
            <a:endCxn id="62" idx="1"/>
          </p:cNvCxnSpPr>
          <p:nvPr/>
        </p:nvCxnSpPr>
        <p:spPr>
          <a:xfrm>
            <a:off x="5745480" y="2684780"/>
            <a:ext cx="394970" cy="0"/>
          </a:xfrm>
          <a:prstGeom prst="line">
            <a:avLst/>
          </a:prstGeom>
          <a:ln w="38100">
            <a:solidFill>
              <a:srgbClr val="9C0B1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连接符 73"/>
          <p:cNvCxnSpPr>
            <a:stCxn id="64" idx="3"/>
            <a:endCxn id="72" idx="1"/>
          </p:cNvCxnSpPr>
          <p:nvPr>
            <p:custDataLst>
              <p:tags r:id="rId13"/>
            </p:custDataLst>
          </p:nvPr>
        </p:nvCxnSpPr>
        <p:spPr>
          <a:xfrm>
            <a:off x="8343265" y="2684780"/>
            <a:ext cx="379095" cy="0"/>
          </a:xfrm>
          <a:prstGeom prst="line">
            <a:avLst/>
          </a:prstGeom>
          <a:ln w="38100">
            <a:solidFill>
              <a:srgbClr val="9C0B1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矩形 74"/>
          <p:cNvSpPr/>
          <p:nvPr>
            <p:custDataLst>
              <p:tags r:id="rId14"/>
            </p:custDataLst>
          </p:nvPr>
        </p:nvSpPr>
        <p:spPr>
          <a:xfrm>
            <a:off x="6878955" y="4279265"/>
            <a:ext cx="738505" cy="372110"/>
          </a:xfrm>
          <a:prstGeom prst="rect">
            <a:avLst/>
          </a:prstGeom>
          <a:solidFill>
            <a:schemeClr val="accent2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bg1"/>
                </a:solidFill>
                <a:sym typeface="+mn-ea"/>
              </a:rPr>
              <a:t>内存</a:t>
            </a: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cxnSp>
        <p:nvCxnSpPr>
          <p:cNvPr id="76" name="直接连接符 75"/>
          <p:cNvCxnSpPr>
            <a:stCxn id="63" idx="2"/>
            <a:endCxn id="75" idx="0"/>
          </p:cNvCxnSpPr>
          <p:nvPr>
            <p:custDataLst>
              <p:tags r:id="rId15"/>
            </p:custDataLst>
          </p:nvPr>
        </p:nvCxnSpPr>
        <p:spPr>
          <a:xfrm>
            <a:off x="7245350" y="3947160"/>
            <a:ext cx="3175" cy="332105"/>
          </a:xfrm>
          <a:prstGeom prst="line">
            <a:avLst/>
          </a:prstGeom>
          <a:ln w="38100">
            <a:solidFill>
              <a:srgbClr val="9C0B1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/>
          <p:cNvCxnSpPr>
            <a:stCxn id="62" idx="2"/>
            <a:endCxn id="63" idx="1"/>
          </p:cNvCxnSpPr>
          <p:nvPr>
            <p:custDataLst>
              <p:tags r:id="rId16"/>
            </p:custDataLst>
          </p:nvPr>
        </p:nvCxnSpPr>
        <p:spPr>
          <a:xfrm>
            <a:off x="6506845" y="2870835"/>
            <a:ext cx="372110" cy="890270"/>
          </a:xfrm>
          <a:prstGeom prst="line">
            <a:avLst/>
          </a:prstGeom>
          <a:ln w="38100">
            <a:solidFill>
              <a:srgbClr val="9C0B1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连接符 77"/>
          <p:cNvCxnSpPr>
            <a:stCxn id="64" idx="2"/>
            <a:endCxn id="63" idx="3"/>
          </p:cNvCxnSpPr>
          <p:nvPr>
            <p:custDataLst>
              <p:tags r:id="rId17"/>
            </p:custDataLst>
          </p:nvPr>
        </p:nvCxnSpPr>
        <p:spPr>
          <a:xfrm flipH="1">
            <a:off x="7611110" y="2870835"/>
            <a:ext cx="366395" cy="890270"/>
          </a:xfrm>
          <a:prstGeom prst="line">
            <a:avLst/>
          </a:prstGeom>
          <a:ln w="38100">
            <a:solidFill>
              <a:srgbClr val="9C0B1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连接符 78"/>
          <p:cNvCxnSpPr>
            <a:stCxn id="64" idx="1"/>
            <a:endCxn id="62" idx="3"/>
          </p:cNvCxnSpPr>
          <p:nvPr>
            <p:custDataLst>
              <p:tags r:id="rId18"/>
            </p:custDataLst>
          </p:nvPr>
        </p:nvCxnSpPr>
        <p:spPr>
          <a:xfrm flipH="1">
            <a:off x="6872605" y="2684780"/>
            <a:ext cx="738505" cy="0"/>
          </a:xfrm>
          <a:prstGeom prst="line">
            <a:avLst/>
          </a:prstGeom>
          <a:ln w="38100">
            <a:solidFill>
              <a:srgbClr val="9C0B1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右箭头 80"/>
          <p:cNvSpPr/>
          <p:nvPr/>
        </p:nvSpPr>
        <p:spPr>
          <a:xfrm>
            <a:off x="3961765" y="3322320"/>
            <a:ext cx="979170" cy="485775"/>
          </a:xfrm>
          <a:prstGeom prst="rightArrow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966595" y="2965450"/>
            <a:ext cx="5397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FSB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1593850" y="3206750"/>
            <a:ext cx="5397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FSB</a:t>
            </a:r>
            <a:endParaRPr lang="en-US" altLang="zh-CN"/>
          </a:p>
        </p:txBody>
      </p:sp>
    </p:spTree>
    <p:custDataLst>
      <p:tags r:id="rId19"/>
    </p:custDataLst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主存储器分配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一、进程的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系统进程总览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进程的实现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内存分配的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x86-64内存管理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DLM进程内分配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Linux进程间分配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Linux页面替换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三、系统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.2 进程的基本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操作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3.3 进程接口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</a:rPr>
              <a:t>/proc/meminfo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/>
          </a:p>
          <a:p>
            <a:pPr algn="ctr"/>
            <a:r>
              <a:rPr lang="zh-CN" altLang="en-US" sz="2000"/>
              <a:t>在</a:t>
            </a:r>
            <a:r>
              <a:rPr lang="en-US" altLang="zh-CN" sz="2000"/>
              <a:t>/proc/meminfo</a:t>
            </a:r>
            <a:r>
              <a:rPr lang="zh-CN" altLang="en-US" sz="2000"/>
              <a:t>下可以看到系统当前的内存资源消耗。</a:t>
            </a:r>
            <a:endParaRPr lang="zh-CN" altLang="en-US" sz="2000"/>
          </a:p>
          <a:p>
            <a:pPr algn="ctr"/>
            <a:r>
              <a:rPr lang="zh-CN" altLang="en-US" sz="2000"/>
              <a:t>有关</a:t>
            </a:r>
            <a:r>
              <a:rPr lang="en-US" altLang="zh-CN" sz="2000"/>
              <a:t>proc</a:t>
            </a:r>
            <a:r>
              <a:rPr lang="zh-CN" altLang="en-US" sz="2000"/>
              <a:t>（伪）文件系统，我们在后面再做</a:t>
            </a:r>
            <a:r>
              <a:rPr lang="zh-CN" altLang="en-US" sz="2000"/>
              <a:t>讲解。</a:t>
            </a:r>
            <a:endParaRPr lang="zh-CN" altLang="en-US" sz="2000"/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b="49908"/>
          <a:stretch>
            <a:fillRect/>
          </a:stretch>
        </p:blipFill>
        <p:spPr>
          <a:xfrm>
            <a:off x="923925" y="1875790"/>
            <a:ext cx="3752850" cy="447548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"/>
          <a:srcRect t="50100"/>
          <a:stretch>
            <a:fillRect/>
          </a:stretch>
        </p:blipFill>
        <p:spPr>
          <a:xfrm>
            <a:off x="5013325" y="1875790"/>
            <a:ext cx="3752850" cy="445833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主存储器分配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一、进程的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系统进程总览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进程的实现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内存分配的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x86-64内存管理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DLM进程内分配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Linux进程间分配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Linux页面替换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三、系统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.2 进程的基本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操作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3.3 进程接口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</a:rPr>
              <a:t>Linux页面替换</a:t>
            </a:r>
            <a:endParaRPr lang="en-US" altLang="zh-CN" sz="2000" b="1">
              <a:solidFill>
                <a:srgbClr val="9C0B15"/>
              </a:solidFill>
            </a:endParaRPr>
          </a:p>
          <a:p>
            <a:pPr algn="ctr"/>
            <a:endParaRPr lang="en-US" altLang="zh-CN" sz="2000"/>
          </a:p>
          <a:p>
            <a:pPr algn="l"/>
            <a:r>
              <a:rPr lang="en-US" altLang="zh-CN" sz="2000" b="1">
                <a:solidFill>
                  <a:srgbClr val="9C0B15"/>
                </a:solidFill>
              </a:rPr>
              <a:t>原则</a:t>
            </a:r>
            <a:r>
              <a:rPr lang="en-US" altLang="zh-CN" sz="2000"/>
              <a:t>		</a:t>
            </a:r>
            <a:r>
              <a:rPr lang="zh-CN" altLang="en-US" sz="2000"/>
              <a:t>提高内存的</a:t>
            </a:r>
            <a:r>
              <a:rPr lang="zh-CN" altLang="en-US" sz="2000">
                <a:solidFill>
                  <a:srgbClr val="9C0B15"/>
                </a:solidFill>
              </a:rPr>
              <a:t>利用率</a:t>
            </a:r>
            <a:r>
              <a:rPr lang="zh-CN" altLang="en-US" sz="2000"/>
              <a:t>，满足尽量多程序的内存分配，最大程度</a:t>
            </a:r>
            <a:r>
              <a:rPr lang="zh-CN" altLang="en-US" sz="2000">
                <a:solidFill>
                  <a:srgbClr val="9C0B15"/>
                </a:solidFill>
              </a:rPr>
              <a:t>减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>
                <a:solidFill>
                  <a:srgbClr val="9C0B15"/>
                </a:solidFill>
              </a:rPr>
              <a:t>少缺页异常的数量</a:t>
            </a:r>
            <a:r>
              <a:rPr lang="zh-CN" altLang="en-US" sz="2000"/>
              <a:t>。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l"/>
            <a:r>
              <a:rPr lang="en-US" altLang="zh-CN" sz="2000" b="1">
                <a:solidFill>
                  <a:srgbClr val="9C0B15"/>
                </a:solidFill>
              </a:rPr>
              <a:t>理想策略</a:t>
            </a:r>
            <a:r>
              <a:rPr lang="en-US" altLang="zh-CN" sz="2000"/>
              <a:t>	</a:t>
            </a:r>
            <a:r>
              <a:rPr lang="zh-CN" altLang="en-US" sz="2000"/>
              <a:t>如果能实现</a:t>
            </a:r>
            <a:r>
              <a:rPr lang="en-US" altLang="zh-CN" sz="2000"/>
              <a:t>FIFO</a:t>
            </a:r>
            <a:r>
              <a:rPr lang="zh-CN" altLang="en-US" sz="2000"/>
              <a:t>、</a:t>
            </a:r>
            <a:r>
              <a:rPr lang="en-US" altLang="zh-CN" sz="2000"/>
              <a:t>LRU</a:t>
            </a:r>
            <a:r>
              <a:rPr lang="zh-CN" altLang="en-US" sz="2000"/>
              <a:t>或者</a:t>
            </a:r>
            <a:r>
              <a:rPr lang="en-US" altLang="zh-CN" sz="2000"/>
              <a:t>LFU</a:t>
            </a:r>
            <a:r>
              <a:rPr lang="zh-CN" altLang="en-US" sz="2000"/>
              <a:t>就好了。当然，</a:t>
            </a:r>
            <a:r>
              <a:rPr lang="en-US" altLang="zh-CN" sz="2000"/>
              <a:t>LRU</a:t>
            </a:r>
            <a:r>
              <a:rPr lang="zh-CN" altLang="en-US" sz="2000"/>
              <a:t>和</a:t>
            </a:r>
            <a:r>
              <a:rPr lang="en-US" altLang="zh-CN" sz="2000"/>
              <a:t>LFU</a:t>
            </a:r>
            <a:r>
              <a:rPr lang="zh-CN" altLang="en-US" sz="2000"/>
              <a:t>又比</a:t>
            </a:r>
            <a:r>
              <a:rPr lang="en-US" altLang="zh-CN" sz="2000"/>
              <a:t>FIFO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好。如果都不行，就只能实现</a:t>
            </a:r>
            <a:r>
              <a:rPr lang="en-US" altLang="zh-CN" sz="2000"/>
              <a:t>RANDOM</a:t>
            </a:r>
            <a:r>
              <a:rPr lang="zh-CN" altLang="en-US" sz="2000"/>
              <a:t>了。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l"/>
            <a:r>
              <a:rPr lang="en-US" altLang="zh-CN" sz="2000" b="1">
                <a:solidFill>
                  <a:srgbClr val="9C0B15"/>
                </a:solidFill>
              </a:rPr>
              <a:t>硬件机制</a:t>
            </a:r>
            <a:r>
              <a:rPr lang="en-US" altLang="zh-CN" sz="2000"/>
              <a:t>	</a:t>
            </a:r>
            <a:r>
              <a:rPr lang="en-US" altLang="zh-CN" sz="2000" b="1">
                <a:solidFill>
                  <a:srgbClr val="9C0B15"/>
                </a:solidFill>
              </a:rPr>
              <a:t>缺页异常</a:t>
            </a:r>
            <a:r>
              <a:rPr lang="en-US" altLang="zh-CN" sz="2000"/>
              <a:t>	</a:t>
            </a:r>
            <a:r>
              <a:rPr lang="zh-CN" altLang="en-US" sz="2000"/>
              <a:t>当页表中没有某个页时，产生操作系统可截获</a:t>
            </a:r>
            <a:r>
              <a:rPr lang="en-US" altLang="zh-CN" sz="2000">
                <a:sym typeface="+mn-ea"/>
              </a:rPr>
              <a:t>				</a:t>
            </a:r>
            <a:r>
              <a:rPr lang="zh-CN" altLang="en-US" sz="2000"/>
              <a:t>并处理的异常。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l"/>
            <a:r>
              <a:rPr lang="en-US" altLang="zh-CN" sz="2000">
                <a:sym typeface="+mn-ea"/>
              </a:rPr>
              <a:t>		</a:t>
            </a:r>
            <a:r>
              <a:rPr lang="en-US" altLang="zh-CN" sz="2000" b="1">
                <a:solidFill>
                  <a:srgbClr val="9C0B15"/>
                </a:solidFill>
              </a:rPr>
              <a:t>访问位A	</a:t>
            </a:r>
            <a:r>
              <a:rPr lang="zh-CN" altLang="en-US" sz="2000"/>
              <a:t>当某个页被访问，其页表的访问位会被硬件置</a:t>
            </a:r>
            <a:r>
              <a:rPr lang="en-US" altLang="zh-CN" sz="2000">
                <a:sym typeface="+mn-ea"/>
              </a:rPr>
              <a:t>	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en-US" altLang="zh-CN" sz="2000">
                <a:sym typeface="+mn-ea"/>
              </a:rPr>
              <a:t>	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/>
              <a:t>位。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l"/>
            <a:r>
              <a:rPr lang="en-US" altLang="zh-CN" sz="2000">
                <a:sym typeface="+mn-ea"/>
              </a:rPr>
              <a:t>	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en-US" altLang="zh-CN" sz="2000" b="1">
                <a:solidFill>
                  <a:srgbClr val="9C0B15"/>
                </a:solidFill>
              </a:rPr>
              <a:t>脏位D</a:t>
            </a:r>
            <a:r>
              <a:rPr lang="en-US" altLang="zh-CN" sz="2000"/>
              <a:t>	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/>
              <a:t>当某个页被实际写入（内容遭修改），其页表</a:t>
            </a:r>
            <a:r>
              <a:rPr lang="en-US" altLang="zh-CN" sz="2000">
                <a:sym typeface="+mn-ea"/>
              </a:rPr>
              <a:t>	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en-US" altLang="zh-CN" sz="2000">
                <a:sym typeface="+mn-ea"/>
              </a:rPr>
              <a:t>	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/>
              <a:t>的脏位会被硬件置位。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l"/>
            <a:endParaRPr lang="zh-CN" altLang="en-US" sz="2000"/>
          </a:p>
          <a:p>
            <a:pPr algn="l"/>
            <a:endParaRPr lang="zh-CN" altLang="en-US" sz="2000"/>
          </a:p>
          <a:p>
            <a:pPr algn="l"/>
            <a:r>
              <a:rPr lang="en-US" altLang="zh-CN" sz="2000" b="1">
                <a:solidFill>
                  <a:srgbClr val="9C0B15"/>
                </a:solidFill>
              </a:rPr>
              <a:t>问题</a:t>
            </a:r>
            <a:r>
              <a:rPr lang="en-US" altLang="zh-CN" sz="2000"/>
              <a:t>		</a:t>
            </a:r>
            <a:r>
              <a:rPr lang="zh-CN" altLang="en-US" sz="2000"/>
              <a:t>用这些硬件机制怎么实现</a:t>
            </a:r>
            <a:r>
              <a:rPr lang="en-US" altLang="zh-CN" sz="2000"/>
              <a:t>FIFO</a:t>
            </a:r>
            <a:r>
              <a:rPr lang="zh-CN" altLang="en-US" sz="2000"/>
              <a:t>、</a:t>
            </a:r>
            <a:r>
              <a:rPr lang="en-US" altLang="zh-CN" sz="2000"/>
              <a:t>LRU</a:t>
            </a:r>
            <a:r>
              <a:rPr lang="zh-CN" altLang="en-US" sz="2000"/>
              <a:t>或</a:t>
            </a:r>
            <a:r>
              <a:rPr lang="en-US" altLang="zh-CN" sz="2000"/>
              <a:t>LFU</a:t>
            </a:r>
            <a:r>
              <a:rPr lang="zh-CN" altLang="en-US" sz="2000"/>
              <a:t>？</a:t>
            </a:r>
            <a:endParaRPr lang="zh-CN" altLang="en-US" sz="2000"/>
          </a:p>
          <a:p>
            <a:pPr algn="l"/>
            <a:endParaRPr lang="zh-CN" altLang="en-US" sz="2000"/>
          </a:p>
        </p:txBody>
      </p:sp>
    </p:spTree>
    <p:custDataLst>
      <p:tags r:id="rId2"/>
    </p:custData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主存储器分配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一、进程的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系统进程总览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进程的实现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内存分配的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x86-64内存管理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DLM进程内分配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Linux进程间分配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Linux页面替换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三、系统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.2 进程的基本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操作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3.3 进程接口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59391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</a:rPr>
              <a:t>Linux页面替换</a:t>
            </a:r>
            <a:endParaRPr lang="en-US" altLang="zh-CN" sz="2000" b="1">
              <a:solidFill>
                <a:srgbClr val="9C0B15"/>
              </a:solidFill>
            </a:endParaRPr>
          </a:p>
          <a:p>
            <a:pPr algn="ctr"/>
            <a:endParaRPr lang="en-US" altLang="zh-CN" sz="2000"/>
          </a:p>
          <a:p>
            <a:pPr algn="l"/>
            <a:r>
              <a:rPr lang="en-US" altLang="zh-CN" sz="2000" b="1">
                <a:solidFill>
                  <a:srgbClr val="9C0B15"/>
                </a:solidFill>
              </a:rPr>
              <a:t>LFU</a:t>
            </a:r>
            <a:r>
              <a:rPr lang="en-US" altLang="zh-CN" sz="2000"/>
              <a:t>		</a:t>
            </a:r>
            <a:r>
              <a:rPr lang="zh-CN" sz="2000"/>
              <a:t>不太好实现，因为</a:t>
            </a:r>
            <a:r>
              <a:rPr lang="zh-CN" altLang="en-US" sz="2000">
                <a:solidFill>
                  <a:srgbClr val="9C0B15"/>
                </a:solidFill>
              </a:rPr>
              <a:t>硬件没给我们提供访问频次计数</a:t>
            </a:r>
            <a:r>
              <a:rPr lang="zh-CN" altLang="en-US" sz="2000"/>
              <a:t>。如果要实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现的话，就必须在每次访问内存时候软件介入注明自己访问哪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些位置，这是不现实的。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l"/>
            <a:r>
              <a:rPr lang="en-US" altLang="zh-CN" sz="2000" b="1">
                <a:solidFill>
                  <a:srgbClr val="9C0B15"/>
                </a:solidFill>
              </a:rPr>
              <a:t>LRU</a:t>
            </a:r>
            <a:r>
              <a:rPr lang="en-US" altLang="zh-CN" sz="2000"/>
              <a:t>		</a:t>
            </a:r>
            <a:r>
              <a:rPr lang="zh-CN" sz="2000"/>
              <a:t>也不太好实现。</a:t>
            </a:r>
            <a:r>
              <a:rPr lang="en-US" altLang="zh-CN" sz="2000"/>
              <a:t>LRU</a:t>
            </a:r>
            <a:r>
              <a:rPr lang="zh-CN" altLang="en-US" sz="2000"/>
              <a:t>要求我们给</a:t>
            </a:r>
            <a:r>
              <a:rPr lang="zh-CN" altLang="en-US" sz="2000">
                <a:solidFill>
                  <a:srgbClr val="9C0B15"/>
                </a:solidFill>
              </a:rPr>
              <a:t>每个页面提供一个计时器，记录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</a:rPr>
              <a:t>其上一次访问以来经过了多少时间</a:t>
            </a:r>
            <a:r>
              <a:rPr lang="zh-CN" altLang="en-US" sz="2000"/>
              <a:t>。硬件上没给我们提供这种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计时器；考虑到页面的数量，软件实现也不现实。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l"/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更要命的是，</a:t>
            </a:r>
            <a:r>
              <a:rPr lang="en-US" altLang="zh-CN" sz="2000"/>
              <a:t>LFU</a:t>
            </a:r>
            <a:r>
              <a:rPr lang="zh-CN" altLang="en-US" sz="2000"/>
              <a:t>和</a:t>
            </a:r>
            <a:r>
              <a:rPr lang="en-US" altLang="zh-CN" sz="2000"/>
              <a:t>LRU</a:t>
            </a:r>
            <a:r>
              <a:rPr lang="zh-CN" altLang="en-US" sz="2000"/>
              <a:t>都要求在每次页面替换时</a:t>
            </a:r>
            <a:r>
              <a:rPr lang="zh-CN" altLang="en-US" sz="2000">
                <a:solidFill>
                  <a:srgbClr val="9C0B15"/>
                </a:solidFill>
              </a:rPr>
              <a:t>扫描所有页面，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</a:rPr>
              <a:t>然后找到那个频次最小或者访问经过时间最长的页面</a:t>
            </a:r>
            <a:r>
              <a:rPr lang="zh-CN" altLang="en-US" sz="2000"/>
              <a:t>。这就更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不现实了。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l"/>
            <a:r>
              <a:rPr lang="en-US" altLang="zh-CN" sz="2000" b="1">
                <a:solidFill>
                  <a:srgbClr val="9C0B15"/>
                </a:solidFill>
              </a:rPr>
              <a:t>问题</a:t>
            </a:r>
            <a:r>
              <a:rPr lang="en-US" altLang="zh-CN" sz="2000"/>
              <a:t>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LFU和LRU策略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因为缺乏相应的机制</a:t>
            </a:r>
            <a:r>
              <a:rPr lang="zh-CN" altLang="en-US" sz="2000">
                <a:sym typeface="+mn-ea"/>
              </a:rPr>
              <a:t>，都实现不了。那只能求助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于</a:t>
            </a:r>
            <a:r>
              <a:rPr lang="en-US" altLang="zh-CN" sz="2000">
                <a:sym typeface="+mn-ea"/>
              </a:rPr>
              <a:t>FIFO</a:t>
            </a:r>
            <a:r>
              <a:rPr lang="zh-CN" altLang="en-US" sz="2000">
                <a:sym typeface="+mn-ea"/>
              </a:rPr>
              <a:t>策略了。</a:t>
            </a:r>
            <a:r>
              <a:rPr lang="zh-CN" altLang="en-US" sz="2000">
                <a:solidFill>
                  <a:srgbClr val="9C0B15"/>
                </a:solidFill>
              </a:rPr>
              <a:t>FIFO策略需要哪些硬件机制</a:t>
            </a:r>
            <a:r>
              <a:rPr lang="zh-CN" altLang="en-US" sz="2000"/>
              <a:t>？它好实现吗？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l"/>
            <a:r>
              <a:rPr lang="en-US" altLang="zh-CN" sz="2000" b="1">
                <a:solidFill>
                  <a:srgbClr val="9C0B15"/>
                </a:solidFill>
                <a:sym typeface="+mn-ea"/>
              </a:rPr>
              <a:t>FIFO</a:t>
            </a:r>
            <a:r>
              <a:rPr lang="en-US" altLang="zh-CN" sz="2000">
                <a:sym typeface="+mn-ea"/>
              </a:rPr>
              <a:t>		</a:t>
            </a:r>
            <a:r>
              <a:rPr lang="en-US" sz="2000">
                <a:sym typeface="+mn-ea"/>
              </a:rPr>
              <a:t>FIFO</a:t>
            </a:r>
            <a:r>
              <a:rPr lang="zh-CN" altLang="en-US" sz="2000">
                <a:sym typeface="+mn-ea"/>
              </a:rPr>
              <a:t>肯定是能实现的。把页面组织成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一个链表或者环形缓冲区</a:t>
            </a:r>
            <a:r>
              <a:rPr lang="zh-CN" altLang="en-US" sz="2000">
                <a:sym typeface="+mn-ea"/>
              </a:rPr>
              <a:t>，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然后先进先出就可以，效率很高。</a:t>
            </a:r>
            <a:endParaRPr lang="zh-CN" altLang="en-US" sz="2000"/>
          </a:p>
        </p:txBody>
      </p:sp>
      <p:grpSp>
        <p:nvGrpSpPr>
          <p:cNvPr id="65" name="组合 64"/>
          <p:cNvGrpSpPr/>
          <p:nvPr/>
        </p:nvGrpSpPr>
        <p:grpSpPr>
          <a:xfrm>
            <a:off x="896620" y="6225540"/>
            <a:ext cx="7919720" cy="372110"/>
            <a:chOff x="1412" y="9804"/>
            <a:chExt cx="12472" cy="586"/>
          </a:xfrm>
        </p:grpSpPr>
        <p:sp>
          <p:nvSpPr>
            <p:cNvPr id="6" name="矩形 5"/>
            <p:cNvSpPr/>
            <p:nvPr/>
          </p:nvSpPr>
          <p:spPr>
            <a:xfrm>
              <a:off x="4232" y="9804"/>
              <a:ext cx="1153" cy="586"/>
            </a:xfrm>
            <a:prstGeom prst="rect">
              <a:avLst/>
            </a:prstGeom>
            <a:solidFill>
              <a:srgbClr val="00B050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chemeClr val="bg1"/>
                  </a:solidFill>
                  <a:sym typeface="+mn-ea"/>
                </a:rPr>
                <a:t>页面</a:t>
              </a:r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5" name="矩形 4"/>
            <p:cNvSpPr/>
            <p:nvPr/>
          </p:nvSpPr>
          <p:spPr>
            <a:xfrm>
              <a:off x="6357" y="9804"/>
              <a:ext cx="1153" cy="586"/>
            </a:xfrm>
            <a:prstGeom prst="rect">
              <a:avLst/>
            </a:prstGeom>
            <a:solidFill>
              <a:srgbClr val="00B050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chemeClr val="bg1"/>
                  </a:solidFill>
                  <a:sym typeface="+mn-ea"/>
                </a:rPr>
                <a:t>页面</a:t>
              </a:r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10607" y="9804"/>
              <a:ext cx="1153" cy="586"/>
            </a:xfrm>
            <a:prstGeom prst="rect">
              <a:avLst/>
            </a:prstGeom>
            <a:solidFill>
              <a:srgbClr val="00B050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chemeClr val="bg1"/>
                  </a:solidFill>
                  <a:sym typeface="+mn-ea"/>
                </a:rPr>
                <a:t>页面</a:t>
              </a:r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12732" y="9804"/>
              <a:ext cx="1153" cy="586"/>
            </a:xfrm>
            <a:prstGeom prst="rect">
              <a:avLst/>
            </a:prstGeom>
            <a:solidFill>
              <a:srgbClr val="7030A0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chemeClr val="bg1"/>
                  </a:solidFill>
                  <a:sym typeface="+mn-ea"/>
                </a:rPr>
                <a:t>淘汰</a:t>
              </a:r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1412" y="9804"/>
              <a:ext cx="1848" cy="586"/>
            </a:xfrm>
            <a:prstGeom prst="rect">
              <a:avLst/>
            </a:prstGeom>
            <a:solidFill>
              <a:srgbClr val="D02F35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chemeClr val="bg1"/>
                  </a:solidFill>
                  <a:sym typeface="+mn-ea"/>
                </a:rPr>
                <a:t>缺页异常</a:t>
              </a:r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cxnSp>
          <p:nvCxnSpPr>
            <p:cNvPr id="25" name="直接箭头连接符 24"/>
            <p:cNvCxnSpPr>
              <a:endCxn id="28" idx="1"/>
            </p:cNvCxnSpPr>
            <p:nvPr/>
          </p:nvCxnSpPr>
          <p:spPr>
            <a:xfrm>
              <a:off x="7509" y="10097"/>
              <a:ext cx="973" cy="0"/>
            </a:xfrm>
            <a:prstGeom prst="straightConnector1">
              <a:avLst/>
            </a:prstGeom>
            <a:ln w="63500">
              <a:solidFill>
                <a:srgbClr val="9C0B1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矩形 27"/>
            <p:cNvSpPr/>
            <p:nvPr/>
          </p:nvSpPr>
          <p:spPr>
            <a:xfrm>
              <a:off x="8482" y="9804"/>
              <a:ext cx="1153" cy="586"/>
            </a:xfrm>
            <a:prstGeom prst="rect">
              <a:avLst/>
            </a:prstGeom>
            <a:solidFill>
              <a:srgbClr val="00B050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>
                  <a:solidFill>
                    <a:schemeClr val="bg1"/>
                  </a:solidFill>
                  <a:sym typeface="+mn-ea"/>
                </a:rPr>
                <a:t>... ...</a:t>
              </a:r>
              <a:endParaRPr lang="en-US" altLang="zh-CN">
                <a:solidFill>
                  <a:schemeClr val="bg1"/>
                </a:solidFill>
                <a:sym typeface="+mn-ea"/>
              </a:endParaRPr>
            </a:p>
          </p:txBody>
        </p:sp>
        <p:cxnSp>
          <p:nvCxnSpPr>
            <p:cNvPr id="60" name="直接箭头连接符 59"/>
            <p:cNvCxnSpPr>
              <a:stCxn id="28" idx="3"/>
              <a:endCxn id="7" idx="1"/>
            </p:cNvCxnSpPr>
            <p:nvPr/>
          </p:nvCxnSpPr>
          <p:spPr>
            <a:xfrm>
              <a:off x="9635" y="10097"/>
              <a:ext cx="972" cy="0"/>
            </a:xfrm>
            <a:prstGeom prst="straightConnector1">
              <a:avLst/>
            </a:prstGeom>
            <a:ln w="63500">
              <a:solidFill>
                <a:srgbClr val="9C0B1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箭头连接符 60"/>
            <p:cNvCxnSpPr>
              <a:stCxn id="6" idx="3"/>
              <a:endCxn id="5" idx="1"/>
            </p:cNvCxnSpPr>
            <p:nvPr/>
          </p:nvCxnSpPr>
          <p:spPr>
            <a:xfrm>
              <a:off x="5385" y="10097"/>
              <a:ext cx="972" cy="0"/>
            </a:xfrm>
            <a:prstGeom prst="straightConnector1">
              <a:avLst/>
            </a:prstGeom>
            <a:ln w="63500">
              <a:solidFill>
                <a:srgbClr val="9C0B1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箭头连接符 61"/>
            <p:cNvCxnSpPr>
              <a:stCxn id="7" idx="3"/>
              <a:endCxn id="8" idx="1"/>
            </p:cNvCxnSpPr>
            <p:nvPr/>
          </p:nvCxnSpPr>
          <p:spPr>
            <a:xfrm>
              <a:off x="11760" y="10097"/>
              <a:ext cx="972" cy="0"/>
            </a:xfrm>
            <a:prstGeom prst="straightConnector1">
              <a:avLst/>
            </a:prstGeom>
            <a:ln w="63500">
              <a:solidFill>
                <a:srgbClr val="9C0B1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箭头连接符 62"/>
            <p:cNvCxnSpPr/>
            <p:nvPr/>
          </p:nvCxnSpPr>
          <p:spPr>
            <a:xfrm>
              <a:off x="3260" y="10097"/>
              <a:ext cx="972" cy="0"/>
            </a:xfrm>
            <a:prstGeom prst="straightConnector1">
              <a:avLst/>
            </a:prstGeom>
            <a:ln w="63500">
              <a:solidFill>
                <a:srgbClr val="9C0B1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2"/>
    </p:custData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主存储器分配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一、进程的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系统进程总览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进程的实现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内存分配的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x86-64内存管理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DLM进程内分配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Linux进程间分配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Linux页面替换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三、系统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.2 进程的基本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操作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3.3 进程接口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</a:rPr>
              <a:t>Linux页面替换</a:t>
            </a:r>
            <a:endParaRPr lang="en-US" altLang="zh-CN" sz="2000" b="1">
              <a:solidFill>
                <a:srgbClr val="9C0B15"/>
              </a:solidFill>
            </a:endParaRPr>
          </a:p>
          <a:p>
            <a:pPr algn="ctr"/>
            <a:endParaRPr lang="en-US" altLang="zh-CN" sz="2000"/>
          </a:p>
          <a:p>
            <a:pPr algn="l"/>
            <a:r>
              <a:rPr lang="en-US" altLang="zh-CN" sz="2000" b="1">
                <a:solidFill>
                  <a:srgbClr val="9C0B15"/>
                </a:solidFill>
              </a:rPr>
              <a:t>但是</a:t>
            </a:r>
            <a:r>
              <a:rPr lang="en-US" altLang="zh-CN" sz="2000"/>
              <a:t>		</a:t>
            </a:r>
            <a:r>
              <a:rPr lang="en-US" sz="2000"/>
              <a:t>FIFO</a:t>
            </a:r>
            <a:r>
              <a:rPr lang="zh-CN" altLang="en-US" sz="2000"/>
              <a:t>本质上没有利用程序的局部性，没有栈式性质，会产生</a:t>
            </a:r>
            <a:r>
              <a:rPr lang="en-US" altLang="zh-CN" sz="2000">
                <a:sym typeface="+mn-ea"/>
              </a:rPr>
              <a:t>		</a:t>
            </a:r>
            <a:r>
              <a:rPr lang="en-US" altLang="zh-CN" sz="2000"/>
              <a:t>Belady</a:t>
            </a:r>
            <a:r>
              <a:rPr lang="zh-CN" altLang="en-US" sz="2000"/>
              <a:t>异常。它比</a:t>
            </a:r>
            <a:r>
              <a:rPr lang="en-US" altLang="zh-CN" sz="2000"/>
              <a:t>RANDOM</a:t>
            </a:r>
            <a:r>
              <a:rPr lang="zh-CN" altLang="en-US" sz="2000"/>
              <a:t>好得有限。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l"/>
            <a:r>
              <a:rPr lang="en-US" altLang="zh-CN" sz="2000" b="1">
                <a:solidFill>
                  <a:srgbClr val="9C0B15"/>
                </a:solidFill>
              </a:rPr>
              <a:t>问题</a:t>
            </a:r>
            <a:r>
              <a:rPr lang="en-US" altLang="zh-CN" sz="2000"/>
              <a:t>		</a:t>
            </a:r>
            <a:r>
              <a:rPr lang="zh-CN" altLang="en-US" sz="2000">
                <a:sym typeface="+mn-ea"/>
              </a:rPr>
              <a:t>我们能否利用每个页的访问位</a:t>
            </a:r>
            <a:r>
              <a:rPr lang="en-US" altLang="zh-CN" sz="2000">
                <a:sym typeface="+mn-ea"/>
              </a:rPr>
              <a:t>A</a:t>
            </a:r>
            <a:r>
              <a:rPr lang="zh-CN" altLang="en-US" sz="2000">
                <a:sym typeface="+mn-ea"/>
              </a:rPr>
              <a:t>和脏位</a:t>
            </a:r>
            <a:r>
              <a:rPr lang="en-US" altLang="zh-CN" sz="2000">
                <a:sym typeface="+mn-ea"/>
              </a:rPr>
              <a:t>D</a:t>
            </a:r>
            <a:r>
              <a:rPr lang="zh-CN" altLang="en-US" sz="2000">
                <a:sym typeface="+mn-ea"/>
              </a:rPr>
              <a:t>来优化</a:t>
            </a:r>
            <a:r>
              <a:rPr lang="en-US" altLang="zh-CN" sz="2000">
                <a:sym typeface="+mn-ea"/>
              </a:rPr>
              <a:t>FIFO</a:t>
            </a:r>
            <a:r>
              <a:rPr lang="zh-CN" altLang="en-US" sz="2000">
                <a:sym typeface="+mn-ea"/>
              </a:rPr>
              <a:t>算法</a:t>
            </a:r>
            <a:r>
              <a:rPr lang="zh-CN" altLang="en-US" sz="2000"/>
              <a:t>？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l"/>
            <a:r>
              <a:rPr lang="en-US" altLang="zh-CN" sz="2000" b="1">
                <a:solidFill>
                  <a:srgbClr val="9C0B15"/>
                </a:solidFill>
                <a:sym typeface="+mn-ea"/>
              </a:rPr>
              <a:t>访问位A	</a:t>
            </a:r>
            <a:r>
              <a:rPr lang="zh-CN" altLang="en-US" sz="2000">
                <a:sym typeface="+mn-ea"/>
              </a:rPr>
              <a:t>访问位</a:t>
            </a:r>
            <a:r>
              <a:rPr lang="en-US" altLang="zh-CN" sz="2000">
                <a:sym typeface="+mn-ea"/>
              </a:rPr>
              <a:t>A</a:t>
            </a:r>
            <a:r>
              <a:rPr lang="zh-CN" altLang="en-US" sz="2000">
                <a:sym typeface="+mn-ea"/>
              </a:rPr>
              <a:t>是可以利用的。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如果我们在按FIFO规则淘汰页面时找到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一个访问位A不为0的页面，我们是把它的访问位清零后再塞到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队列开头去，直到我们找到一个访问位为0的页面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为止</a:t>
            </a:r>
            <a:r>
              <a:rPr lang="zh-CN" altLang="en-US" sz="2000">
                <a:sym typeface="+mn-ea"/>
              </a:rPr>
              <a:t>，这说明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它在被塞进队列里后自始至终都没被访问过，可以淘汰。</a:t>
            </a:r>
            <a:endParaRPr lang="zh-CN" altLang="en-US" sz="2000">
              <a:sym typeface="+mn-ea"/>
            </a:endParaRPr>
          </a:p>
          <a:p>
            <a:pPr algn="l"/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这样，就等于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给FIFO算法加上了一点LRU性质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r>
              <a:rPr lang="en-US" altLang="zh-CN" sz="2000" b="1">
                <a:solidFill>
                  <a:srgbClr val="9C0B15"/>
                </a:solidFill>
                <a:sym typeface="+mn-ea"/>
              </a:rPr>
              <a:t>问题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一个加入队列的页如果没有被访问，经过几轮回转后被淘汰？</a:t>
            </a:r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r>
              <a:rPr lang="en-US" altLang="zh-CN" sz="2000" b="1">
                <a:solidFill>
                  <a:srgbClr val="9C0B15"/>
                </a:solidFill>
                <a:sym typeface="+mn-ea"/>
              </a:rPr>
              <a:t>二次机会法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两次。第一次是</a:t>
            </a:r>
            <a:r>
              <a:rPr lang="en-US" altLang="zh-CN" sz="2000">
                <a:sym typeface="+mn-ea"/>
              </a:rPr>
              <a:t>A</a:t>
            </a:r>
            <a:r>
              <a:rPr lang="zh-CN" altLang="en-US" sz="2000">
                <a:sym typeface="+mn-ea"/>
              </a:rPr>
              <a:t>位被清零，第二次才是真正的淘汰。因此该方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法又称二次机会法。它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也称CLOCK法，因为扫描是轮转进行的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</p:txBody>
      </p:sp>
      <p:grpSp>
        <p:nvGrpSpPr>
          <p:cNvPr id="65" name="组合 64"/>
          <p:cNvGrpSpPr/>
          <p:nvPr/>
        </p:nvGrpSpPr>
        <p:grpSpPr>
          <a:xfrm>
            <a:off x="269240" y="4053840"/>
            <a:ext cx="9125585" cy="1055370"/>
            <a:chOff x="424" y="6539"/>
            <a:chExt cx="14371" cy="1662"/>
          </a:xfrm>
        </p:grpSpPr>
        <p:sp>
          <p:nvSpPr>
            <p:cNvPr id="6" name="矩形 5"/>
            <p:cNvSpPr/>
            <p:nvPr/>
          </p:nvSpPr>
          <p:spPr>
            <a:xfrm>
              <a:off x="4232" y="7615"/>
              <a:ext cx="1153" cy="586"/>
            </a:xfrm>
            <a:prstGeom prst="rect">
              <a:avLst/>
            </a:prstGeom>
            <a:solidFill>
              <a:srgbClr val="00B050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chemeClr val="bg1"/>
                  </a:solidFill>
                  <a:sym typeface="+mn-ea"/>
                </a:rPr>
                <a:t>页面</a:t>
              </a:r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5" name="矩形 4"/>
            <p:cNvSpPr/>
            <p:nvPr/>
          </p:nvSpPr>
          <p:spPr>
            <a:xfrm>
              <a:off x="6357" y="7615"/>
              <a:ext cx="1153" cy="586"/>
            </a:xfrm>
            <a:prstGeom prst="rect">
              <a:avLst/>
            </a:prstGeom>
            <a:solidFill>
              <a:srgbClr val="00B050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chemeClr val="bg1"/>
                  </a:solidFill>
                  <a:sym typeface="+mn-ea"/>
                </a:rPr>
                <a:t>页面</a:t>
              </a:r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10607" y="7615"/>
              <a:ext cx="1153" cy="586"/>
            </a:xfrm>
            <a:prstGeom prst="rect">
              <a:avLst/>
            </a:prstGeom>
            <a:solidFill>
              <a:srgbClr val="00B050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chemeClr val="bg1"/>
                  </a:solidFill>
                  <a:sym typeface="+mn-ea"/>
                </a:rPr>
                <a:t>页面</a:t>
              </a:r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13643" y="7615"/>
              <a:ext cx="1153" cy="586"/>
            </a:xfrm>
            <a:prstGeom prst="rect">
              <a:avLst/>
            </a:prstGeom>
            <a:solidFill>
              <a:srgbClr val="7030A0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chemeClr val="bg1"/>
                  </a:solidFill>
                  <a:sym typeface="+mn-ea"/>
                </a:rPr>
                <a:t>淘汰</a:t>
              </a:r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424" y="7615"/>
              <a:ext cx="1848" cy="586"/>
            </a:xfrm>
            <a:prstGeom prst="rect">
              <a:avLst/>
            </a:prstGeom>
            <a:solidFill>
              <a:srgbClr val="D02F35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chemeClr val="bg1"/>
                  </a:solidFill>
                  <a:sym typeface="+mn-ea"/>
                </a:rPr>
                <a:t>缺页异常</a:t>
              </a:r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cxnSp>
          <p:nvCxnSpPr>
            <p:cNvPr id="25" name="直接箭头连接符 24"/>
            <p:cNvCxnSpPr>
              <a:endCxn id="28" idx="1"/>
            </p:cNvCxnSpPr>
            <p:nvPr/>
          </p:nvCxnSpPr>
          <p:spPr>
            <a:xfrm>
              <a:off x="7509" y="7908"/>
              <a:ext cx="973" cy="0"/>
            </a:xfrm>
            <a:prstGeom prst="straightConnector1">
              <a:avLst/>
            </a:prstGeom>
            <a:ln w="63500">
              <a:solidFill>
                <a:srgbClr val="9C0B1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矩形 27"/>
            <p:cNvSpPr/>
            <p:nvPr/>
          </p:nvSpPr>
          <p:spPr>
            <a:xfrm>
              <a:off x="8482" y="7615"/>
              <a:ext cx="1153" cy="586"/>
            </a:xfrm>
            <a:prstGeom prst="rect">
              <a:avLst/>
            </a:prstGeom>
            <a:solidFill>
              <a:srgbClr val="00B050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>
                  <a:solidFill>
                    <a:schemeClr val="bg1"/>
                  </a:solidFill>
                  <a:sym typeface="+mn-ea"/>
                </a:rPr>
                <a:t>... ...</a:t>
              </a:r>
              <a:endParaRPr lang="en-US" altLang="zh-CN">
                <a:solidFill>
                  <a:schemeClr val="bg1"/>
                </a:solidFill>
                <a:sym typeface="+mn-ea"/>
              </a:endParaRPr>
            </a:p>
          </p:txBody>
        </p:sp>
        <p:cxnSp>
          <p:nvCxnSpPr>
            <p:cNvPr id="60" name="直接箭头连接符 59"/>
            <p:cNvCxnSpPr>
              <a:stCxn id="28" idx="3"/>
              <a:endCxn id="7" idx="1"/>
            </p:cNvCxnSpPr>
            <p:nvPr/>
          </p:nvCxnSpPr>
          <p:spPr>
            <a:xfrm>
              <a:off x="9635" y="7908"/>
              <a:ext cx="972" cy="0"/>
            </a:xfrm>
            <a:prstGeom prst="straightConnector1">
              <a:avLst/>
            </a:prstGeom>
            <a:ln w="63500">
              <a:solidFill>
                <a:srgbClr val="9C0B1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箭头连接符 60"/>
            <p:cNvCxnSpPr>
              <a:stCxn id="6" idx="3"/>
              <a:endCxn id="5" idx="1"/>
            </p:cNvCxnSpPr>
            <p:nvPr/>
          </p:nvCxnSpPr>
          <p:spPr>
            <a:xfrm>
              <a:off x="5385" y="7908"/>
              <a:ext cx="972" cy="0"/>
            </a:xfrm>
            <a:prstGeom prst="straightConnector1">
              <a:avLst/>
            </a:prstGeom>
            <a:ln w="63500">
              <a:solidFill>
                <a:srgbClr val="9C0B1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箭头连接符 61"/>
            <p:cNvCxnSpPr>
              <a:stCxn id="7" idx="3"/>
              <a:endCxn id="8" idx="1"/>
            </p:cNvCxnSpPr>
            <p:nvPr/>
          </p:nvCxnSpPr>
          <p:spPr>
            <a:xfrm>
              <a:off x="11760" y="7908"/>
              <a:ext cx="1883" cy="0"/>
            </a:xfrm>
            <a:prstGeom prst="straightConnector1">
              <a:avLst/>
            </a:prstGeom>
            <a:ln w="63500">
              <a:solidFill>
                <a:srgbClr val="9C0B1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箭头连接符 62"/>
            <p:cNvCxnSpPr>
              <a:stCxn id="15" idx="3"/>
            </p:cNvCxnSpPr>
            <p:nvPr/>
          </p:nvCxnSpPr>
          <p:spPr>
            <a:xfrm>
              <a:off x="2272" y="7908"/>
              <a:ext cx="1960" cy="0"/>
            </a:xfrm>
            <a:prstGeom prst="straightConnector1">
              <a:avLst/>
            </a:prstGeom>
            <a:ln w="63500">
              <a:solidFill>
                <a:srgbClr val="9C0B1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文本框 1"/>
            <p:cNvSpPr txBox="1"/>
            <p:nvPr/>
          </p:nvSpPr>
          <p:spPr>
            <a:xfrm>
              <a:off x="12404" y="7328"/>
              <a:ext cx="932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A=0</a:t>
              </a:r>
              <a:endParaRPr lang="en-US" altLang="zh-CN"/>
            </a:p>
          </p:txBody>
        </p:sp>
        <p:cxnSp>
          <p:nvCxnSpPr>
            <p:cNvPr id="4" name="肘形连接符 3"/>
            <p:cNvCxnSpPr>
              <a:stCxn id="7" idx="3"/>
              <a:endCxn id="6" idx="1"/>
            </p:cNvCxnSpPr>
            <p:nvPr>
              <p:custDataLst>
                <p:tags r:id="rId2"/>
              </p:custDataLst>
            </p:nvPr>
          </p:nvCxnSpPr>
          <p:spPr>
            <a:xfrm flipH="1">
              <a:off x="4232" y="7908"/>
              <a:ext cx="7528" cy="5"/>
            </a:xfrm>
            <a:prstGeom prst="bentConnector5">
              <a:avLst>
                <a:gd name="adj1" fmla="val -4981"/>
                <a:gd name="adj2" fmla="val -16740000"/>
                <a:gd name="adj3" fmla="val 107651"/>
              </a:avLst>
            </a:prstGeom>
            <a:ln w="63500">
              <a:solidFill>
                <a:srgbClr val="9C0B1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文本框 8"/>
            <p:cNvSpPr txBox="1"/>
            <p:nvPr>
              <p:custDataLst>
                <p:tags r:id="rId3"/>
              </p:custDataLst>
            </p:nvPr>
          </p:nvSpPr>
          <p:spPr>
            <a:xfrm>
              <a:off x="7075" y="6539"/>
              <a:ext cx="1841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A==1: A=0</a:t>
              </a:r>
              <a:endParaRPr lang="en-US" altLang="zh-CN"/>
            </a:p>
          </p:txBody>
        </p:sp>
        <p:sp>
          <p:nvSpPr>
            <p:cNvPr id="17" name="文本框 16"/>
            <p:cNvSpPr txBox="1"/>
            <p:nvPr>
              <p:custDataLst>
                <p:tags r:id="rId4"/>
              </p:custDataLst>
            </p:nvPr>
          </p:nvSpPr>
          <p:spPr>
            <a:xfrm>
              <a:off x="2486" y="7333"/>
              <a:ext cx="932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A=1</a:t>
              </a:r>
              <a:endParaRPr lang="en-US" altLang="zh-CN"/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3048000" y="3229610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>
                <a:sym typeface="+mn-ea"/>
              </a:rPr>
              <a:t>	</a:t>
            </a:r>
            <a:endParaRPr lang="en-US" altLang="zh-CN" sz="2000">
              <a:sym typeface="+mn-ea"/>
            </a:endParaRPr>
          </a:p>
        </p:txBody>
      </p:sp>
      <p:sp>
        <p:nvSpPr>
          <p:cNvPr id="66" name="右箭头标注 65"/>
          <p:cNvSpPr/>
          <p:nvPr/>
        </p:nvSpPr>
        <p:spPr>
          <a:xfrm>
            <a:off x="269240" y="2720975"/>
            <a:ext cx="1901825" cy="1701800"/>
          </a:xfrm>
          <a:prstGeom prst="rightArrowCallout">
            <a:avLst>
              <a:gd name="adj1" fmla="val 11764"/>
              <a:gd name="adj2" fmla="val 14886"/>
              <a:gd name="adj3" fmla="val 14253"/>
              <a:gd name="adj4" fmla="val 85037"/>
            </a:avLst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这种带有</a:t>
            </a:r>
            <a:r>
              <a:rPr lang="en-US" altLang="zh-CN"/>
              <a:t>LRU“</a:t>
            </a:r>
            <a:r>
              <a:rPr lang="zh-CN" altLang="en-US"/>
              <a:t>味</a:t>
            </a:r>
            <a:r>
              <a:rPr lang="en-US" altLang="zh-CN"/>
              <a:t>”</a:t>
            </a:r>
            <a:r>
              <a:rPr lang="zh-CN" altLang="en-US"/>
              <a:t>但又并非严格</a:t>
            </a:r>
            <a:r>
              <a:rPr lang="en-US" altLang="zh-CN"/>
              <a:t>LRU</a:t>
            </a:r>
            <a:r>
              <a:rPr lang="zh-CN" altLang="en-US"/>
              <a:t>的都可以称为伪（</a:t>
            </a:r>
            <a:r>
              <a:rPr lang="en-US" altLang="zh-CN"/>
              <a:t>P</a:t>
            </a:r>
            <a:r>
              <a:rPr lang="en-US" altLang="zh-CN"/>
              <a:t>seudo</a:t>
            </a:r>
            <a:r>
              <a:rPr lang="zh-CN" altLang="en-US"/>
              <a:t>）</a:t>
            </a:r>
            <a:r>
              <a:rPr lang="en-US" altLang="zh-CN"/>
              <a:t>LRU</a:t>
            </a:r>
            <a:r>
              <a:rPr lang="zh-CN" altLang="en-US"/>
              <a:t>，即</a:t>
            </a:r>
            <a:r>
              <a:rPr lang="en-US" altLang="zh-CN"/>
              <a:t>P-LRU</a:t>
            </a:r>
            <a:endParaRPr lang="en-US" altLang="zh-CN"/>
          </a:p>
        </p:txBody>
      </p:sp>
    </p:spTree>
    <p:custDataLst>
      <p:tags r:id="rId5"/>
    </p:custData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810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主存储器分配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一、进程的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0259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系统进程总览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进程的实现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内存分配的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x86-64内存管理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DLM进程内分配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Linux进程间分配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Linux页面替换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三、系统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.2 进程的基本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操作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3.3 进程接口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2471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二次机会法的优化</a:t>
            </a:r>
            <a:endParaRPr lang="en-US" altLang="zh-CN" sz="2000" b="1">
              <a:solidFill>
                <a:srgbClr val="9C0B15"/>
              </a:solidFill>
            </a:endParaRPr>
          </a:p>
          <a:p>
            <a:pPr algn="ctr"/>
            <a:endParaRPr lang="en-US" altLang="zh-CN" sz="2000"/>
          </a:p>
          <a:p>
            <a:pPr algn="l"/>
            <a:r>
              <a:rPr lang="en-US" altLang="zh-CN" sz="2000" b="1">
                <a:solidFill>
                  <a:srgbClr val="9C0B15"/>
                </a:solidFill>
              </a:rPr>
              <a:t>问题</a:t>
            </a:r>
            <a:r>
              <a:rPr lang="en-US" altLang="zh-CN" sz="2000"/>
              <a:t>		</a:t>
            </a:r>
            <a:r>
              <a:rPr lang="zh-CN" altLang="en-US" sz="2000"/>
              <a:t>我们仅仅利用了访问位</a:t>
            </a:r>
            <a:r>
              <a:rPr lang="en-US" altLang="zh-CN" sz="2000"/>
              <a:t>A</a:t>
            </a:r>
            <a:r>
              <a:rPr lang="zh-CN" altLang="en-US" sz="2000"/>
              <a:t>，脏位</a:t>
            </a:r>
            <a:r>
              <a:rPr lang="en-US" altLang="zh-CN" sz="2000"/>
              <a:t>D</a:t>
            </a:r>
            <a:r>
              <a:rPr lang="zh-CN" altLang="en-US" sz="2000"/>
              <a:t>没利用</a:t>
            </a:r>
            <a:r>
              <a:rPr lang="zh-CN" altLang="en-US" sz="2000">
                <a:sym typeface="+mn-ea"/>
              </a:rPr>
              <a:t>。如何利用它？</a:t>
            </a:r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r>
              <a:rPr lang="en-US" altLang="zh-CN" sz="2000" b="1">
                <a:solidFill>
                  <a:srgbClr val="9C0B15"/>
                </a:solidFill>
                <a:sym typeface="+mn-ea"/>
              </a:rPr>
              <a:t>脏位D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脏位</a:t>
            </a:r>
            <a:r>
              <a:rPr lang="en-US" altLang="zh-CN" sz="2000">
                <a:sym typeface="+mn-ea"/>
              </a:rPr>
              <a:t>D</a:t>
            </a:r>
            <a:r>
              <a:rPr lang="zh-CN" altLang="en-US" sz="2000">
                <a:sym typeface="+mn-ea"/>
              </a:rPr>
              <a:t>标志着页面是否被修改过。很多程序换入页面（比如</a:t>
            </a:r>
            <a:r>
              <a:rPr lang="en-US" altLang="zh-CN" sz="2000">
                <a:sym typeface="+mn-ea"/>
              </a:rPr>
              <a:t>.text		</a:t>
            </a:r>
            <a:r>
              <a:rPr lang="zh-CN" altLang="en-US" sz="2000">
                <a:sym typeface="+mn-ea"/>
              </a:rPr>
              <a:t>和</a:t>
            </a:r>
            <a:r>
              <a:rPr lang="en-US" altLang="zh-CN" sz="2000">
                <a:sym typeface="+mn-ea"/>
              </a:rPr>
              <a:t>.rodata</a:t>
            </a:r>
            <a:r>
              <a:rPr lang="zh-CN" altLang="en-US" sz="2000">
                <a:sym typeface="+mn-ea"/>
              </a:rPr>
              <a:t>）时，只是读取，并不修改它们，因此脏位</a:t>
            </a:r>
            <a:r>
              <a:rPr lang="en-US" altLang="zh-CN" sz="2000">
                <a:sym typeface="+mn-ea"/>
              </a:rPr>
              <a:t>D</a:t>
            </a:r>
            <a:r>
              <a:rPr lang="zh-CN" altLang="en-US" sz="2000">
                <a:sym typeface="+mn-ea"/>
              </a:rPr>
              <a:t>不置位。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这样，在把页面换出时，就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不需要将它们的内容写进外存</a:t>
            </a:r>
            <a:r>
              <a:rPr lang="zh-CN" altLang="en-US" sz="2000">
                <a:sym typeface="+mn-ea"/>
              </a:rPr>
              <a:t>，因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为外存上那个副本仍然是和内存中一样的。这就把页面交换的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开销减小了一半。</a:t>
            </a:r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r>
              <a:rPr lang="en-US" altLang="zh-CN" sz="2000" b="1">
                <a:solidFill>
                  <a:srgbClr val="9C0B15"/>
                </a:solidFill>
                <a:sym typeface="+mn-ea"/>
              </a:rPr>
              <a:t>观察</a:t>
            </a:r>
            <a:r>
              <a:rPr lang="en-US" altLang="zh-CN" sz="2000">
                <a:sym typeface="+mn-ea"/>
              </a:rPr>
              <a:t>		D==1</a:t>
            </a:r>
            <a:r>
              <a:rPr lang="zh-CN" altLang="en-US" sz="2000">
                <a:sym typeface="+mn-ea"/>
              </a:rPr>
              <a:t>的页面要替换，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开销是D==0的页面的一倍</a:t>
            </a:r>
            <a:r>
              <a:rPr lang="zh-CN" altLang="en-US" sz="2000">
                <a:sym typeface="+mn-ea"/>
              </a:rPr>
              <a:t>。况且，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如果程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序写了某个页面，未来很可能要读它</a:t>
            </a:r>
            <a:r>
              <a:rPr lang="zh-CN" altLang="en-US" sz="2000">
                <a:sym typeface="+mn-ea"/>
              </a:rPr>
              <a:t>。因此我们不是很情愿替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换</a:t>
            </a:r>
            <a:r>
              <a:rPr lang="en-US" altLang="zh-CN" sz="2000">
                <a:sym typeface="+mn-ea"/>
              </a:rPr>
              <a:t>D==1</a:t>
            </a:r>
            <a:r>
              <a:rPr lang="zh-CN" altLang="en-US" sz="2000">
                <a:sym typeface="+mn-ea"/>
              </a:rPr>
              <a:t>的那些页面。</a:t>
            </a:r>
            <a:endParaRPr lang="zh-CN" altLang="en-US" sz="2000">
              <a:sym typeface="+mn-ea"/>
            </a:endParaRPr>
          </a:p>
        </p:txBody>
      </p:sp>
      <p:grpSp>
        <p:nvGrpSpPr>
          <p:cNvPr id="83" name="组合 82"/>
          <p:cNvGrpSpPr/>
          <p:nvPr/>
        </p:nvGrpSpPr>
        <p:grpSpPr>
          <a:xfrm>
            <a:off x="190500" y="3416300"/>
            <a:ext cx="9264015" cy="1543685"/>
            <a:chOff x="300" y="4877"/>
            <a:chExt cx="14589" cy="2431"/>
          </a:xfrm>
        </p:grpSpPr>
        <p:sp>
          <p:nvSpPr>
            <p:cNvPr id="64" name="矩形 63"/>
            <p:cNvSpPr/>
            <p:nvPr>
              <p:custDataLst>
                <p:tags r:id="rId2"/>
              </p:custDataLst>
            </p:nvPr>
          </p:nvSpPr>
          <p:spPr>
            <a:xfrm>
              <a:off x="4108" y="5953"/>
              <a:ext cx="1153" cy="586"/>
            </a:xfrm>
            <a:prstGeom prst="rect">
              <a:avLst/>
            </a:prstGeom>
            <a:solidFill>
              <a:srgbClr val="00B050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chemeClr val="bg1"/>
                  </a:solidFill>
                  <a:sym typeface="+mn-ea"/>
                </a:rPr>
                <a:t>页面</a:t>
              </a:r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66" name="矩形 65"/>
            <p:cNvSpPr/>
            <p:nvPr>
              <p:custDataLst>
                <p:tags r:id="rId3"/>
              </p:custDataLst>
            </p:nvPr>
          </p:nvSpPr>
          <p:spPr>
            <a:xfrm>
              <a:off x="8358" y="5953"/>
              <a:ext cx="1153" cy="586"/>
            </a:xfrm>
            <a:prstGeom prst="rect">
              <a:avLst/>
            </a:prstGeom>
            <a:solidFill>
              <a:srgbClr val="00B050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chemeClr val="bg1"/>
                  </a:solidFill>
                  <a:sym typeface="+mn-ea"/>
                </a:rPr>
                <a:t>页面</a:t>
              </a:r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67" name="矩形 66"/>
            <p:cNvSpPr/>
            <p:nvPr>
              <p:custDataLst>
                <p:tags r:id="rId4"/>
              </p:custDataLst>
            </p:nvPr>
          </p:nvSpPr>
          <p:spPr>
            <a:xfrm>
              <a:off x="13005" y="5085"/>
              <a:ext cx="1884" cy="586"/>
            </a:xfrm>
            <a:prstGeom prst="rect">
              <a:avLst/>
            </a:prstGeom>
            <a:solidFill>
              <a:srgbClr val="7030A0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chemeClr val="bg1"/>
                  </a:solidFill>
                  <a:sym typeface="+mn-ea"/>
                </a:rPr>
                <a:t>保存</a:t>
              </a:r>
              <a:r>
                <a:rPr lang="en-US" altLang="zh-CN">
                  <a:solidFill>
                    <a:schemeClr val="bg1"/>
                  </a:solidFill>
                  <a:sym typeface="+mn-ea"/>
                </a:rPr>
                <a:t>-</a:t>
              </a:r>
              <a:r>
                <a:rPr lang="zh-CN" altLang="en-US">
                  <a:solidFill>
                    <a:schemeClr val="bg1"/>
                  </a:solidFill>
                  <a:sym typeface="+mn-ea"/>
                </a:rPr>
                <a:t>换入</a:t>
              </a:r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68" name="矩形 67"/>
            <p:cNvSpPr/>
            <p:nvPr>
              <p:custDataLst>
                <p:tags r:id="rId5"/>
              </p:custDataLst>
            </p:nvPr>
          </p:nvSpPr>
          <p:spPr>
            <a:xfrm>
              <a:off x="300" y="5953"/>
              <a:ext cx="1848" cy="586"/>
            </a:xfrm>
            <a:prstGeom prst="rect">
              <a:avLst/>
            </a:prstGeom>
            <a:solidFill>
              <a:srgbClr val="D02F35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chemeClr val="bg1"/>
                  </a:solidFill>
                  <a:sym typeface="+mn-ea"/>
                </a:rPr>
                <a:t>缺页异常</a:t>
              </a:r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70" name="矩形 69"/>
            <p:cNvSpPr/>
            <p:nvPr>
              <p:custDataLst>
                <p:tags r:id="rId6"/>
              </p:custDataLst>
            </p:nvPr>
          </p:nvSpPr>
          <p:spPr>
            <a:xfrm>
              <a:off x="6233" y="5953"/>
              <a:ext cx="1153" cy="586"/>
            </a:xfrm>
            <a:prstGeom prst="rect">
              <a:avLst/>
            </a:prstGeom>
            <a:solidFill>
              <a:srgbClr val="00B050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>
                  <a:solidFill>
                    <a:schemeClr val="bg1"/>
                  </a:solidFill>
                  <a:sym typeface="+mn-ea"/>
                </a:rPr>
                <a:t>... ...</a:t>
              </a:r>
              <a:endParaRPr lang="en-US" altLang="zh-CN">
                <a:solidFill>
                  <a:schemeClr val="bg1"/>
                </a:solidFill>
                <a:sym typeface="+mn-ea"/>
              </a:endParaRPr>
            </a:p>
          </p:txBody>
        </p:sp>
        <p:cxnSp>
          <p:nvCxnSpPr>
            <p:cNvPr id="71" name="直接箭头连接符 70"/>
            <p:cNvCxnSpPr>
              <a:stCxn id="70" idx="3"/>
              <a:endCxn id="66" idx="1"/>
            </p:cNvCxnSpPr>
            <p:nvPr>
              <p:custDataLst>
                <p:tags r:id="rId7"/>
              </p:custDataLst>
            </p:nvPr>
          </p:nvCxnSpPr>
          <p:spPr>
            <a:xfrm>
              <a:off x="7386" y="6246"/>
              <a:ext cx="972" cy="0"/>
            </a:xfrm>
            <a:prstGeom prst="straightConnector1">
              <a:avLst/>
            </a:prstGeom>
            <a:ln w="63500">
              <a:solidFill>
                <a:srgbClr val="9C0B1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箭头连接符 71"/>
            <p:cNvCxnSpPr>
              <a:stCxn id="64" idx="3"/>
              <a:endCxn id="65" idx="1"/>
            </p:cNvCxnSpPr>
            <p:nvPr>
              <p:custDataLst>
                <p:tags r:id="rId8"/>
              </p:custDataLst>
            </p:nvPr>
          </p:nvCxnSpPr>
          <p:spPr>
            <a:xfrm>
              <a:off x="5261" y="6246"/>
              <a:ext cx="972" cy="0"/>
            </a:xfrm>
            <a:prstGeom prst="straightConnector1">
              <a:avLst/>
            </a:prstGeom>
            <a:ln w="63500">
              <a:solidFill>
                <a:srgbClr val="9C0B1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肘形连接符 72"/>
            <p:cNvCxnSpPr>
              <a:stCxn id="66" idx="3"/>
            </p:cNvCxnSpPr>
            <p:nvPr>
              <p:custDataLst>
                <p:tags r:id="rId9"/>
              </p:custDataLst>
            </p:nvPr>
          </p:nvCxnSpPr>
          <p:spPr>
            <a:xfrm flipV="1">
              <a:off x="9511" y="5380"/>
              <a:ext cx="3494" cy="866"/>
            </a:xfrm>
            <a:prstGeom prst="bentConnector3">
              <a:avLst>
                <a:gd name="adj1" fmla="val 50000"/>
              </a:avLst>
            </a:prstGeom>
            <a:ln w="63500">
              <a:solidFill>
                <a:srgbClr val="9C0B1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箭头连接符 73"/>
            <p:cNvCxnSpPr>
              <a:stCxn id="68" idx="3"/>
            </p:cNvCxnSpPr>
            <p:nvPr>
              <p:custDataLst>
                <p:tags r:id="rId10"/>
              </p:custDataLst>
            </p:nvPr>
          </p:nvCxnSpPr>
          <p:spPr>
            <a:xfrm>
              <a:off x="2148" y="6246"/>
              <a:ext cx="1960" cy="0"/>
            </a:xfrm>
            <a:prstGeom prst="straightConnector1">
              <a:avLst/>
            </a:prstGeom>
            <a:ln w="63500">
              <a:solidFill>
                <a:srgbClr val="9C0B1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文本框 74"/>
            <p:cNvSpPr txBox="1"/>
            <p:nvPr>
              <p:custDataLst>
                <p:tags r:id="rId11"/>
              </p:custDataLst>
            </p:nvPr>
          </p:nvSpPr>
          <p:spPr>
            <a:xfrm>
              <a:off x="10117" y="5671"/>
              <a:ext cx="871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A=0</a:t>
              </a:r>
              <a:endParaRPr lang="en-US" altLang="zh-CN"/>
            </a:p>
          </p:txBody>
        </p:sp>
        <p:cxnSp>
          <p:nvCxnSpPr>
            <p:cNvPr id="76" name="肘形连接符 75"/>
            <p:cNvCxnSpPr>
              <a:stCxn id="66" idx="3"/>
              <a:endCxn id="64" idx="1"/>
            </p:cNvCxnSpPr>
            <p:nvPr>
              <p:custDataLst>
                <p:tags r:id="rId12"/>
              </p:custDataLst>
            </p:nvPr>
          </p:nvCxnSpPr>
          <p:spPr>
            <a:xfrm flipH="1">
              <a:off x="4108" y="6246"/>
              <a:ext cx="5403" cy="5"/>
            </a:xfrm>
            <a:prstGeom prst="bentConnector5">
              <a:avLst>
                <a:gd name="adj1" fmla="val -6941"/>
                <a:gd name="adj2" fmla="val -16760000"/>
                <a:gd name="adj3" fmla="val 106941"/>
              </a:avLst>
            </a:prstGeom>
            <a:ln w="63500">
              <a:solidFill>
                <a:srgbClr val="9C0B1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文本框 76"/>
            <p:cNvSpPr txBox="1"/>
            <p:nvPr>
              <p:custDataLst>
                <p:tags r:id="rId13"/>
              </p:custDataLst>
            </p:nvPr>
          </p:nvSpPr>
          <p:spPr>
            <a:xfrm>
              <a:off x="6039" y="4877"/>
              <a:ext cx="1841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A==1: A=0</a:t>
              </a:r>
              <a:endParaRPr lang="en-US" altLang="zh-CN"/>
            </a:p>
          </p:txBody>
        </p:sp>
        <p:sp>
          <p:nvSpPr>
            <p:cNvPr id="78" name="文本框 77"/>
            <p:cNvSpPr txBox="1"/>
            <p:nvPr>
              <p:custDataLst>
                <p:tags r:id="rId14"/>
              </p:custDataLst>
            </p:nvPr>
          </p:nvSpPr>
          <p:spPr>
            <a:xfrm>
              <a:off x="2362" y="5741"/>
              <a:ext cx="932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A=1</a:t>
              </a:r>
              <a:endParaRPr lang="en-US" altLang="zh-CN"/>
            </a:p>
            <a:p>
              <a:r>
                <a:rPr lang="en-US" altLang="zh-CN"/>
                <a:t>D=0</a:t>
              </a:r>
              <a:endParaRPr lang="en-US" altLang="zh-CN"/>
            </a:p>
          </p:txBody>
        </p:sp>
        <p:sp>
          <p:nvSpPr>
            <p:cNvPr id="79" name="矩形 78"/>
            <p:cNvSpPr/>
            <p:nvPr>
              <p:custDataLst>
                <p:tags r:id="rId15"/>
              </p:custDataLst>
            </p:nvPr>
          </p:nvSpPr>
          <p:spPr>
            <a:xfrm>
              <a:off x="13005" y="6722"/>
              <a:ext cx="1884" cy="586"/>
            </a:xfrm>
            <a:prstGeom prst="rect">
              <a:avLst/>
            </a:prstGeom>
            <a:solidFill>
              <a:srgbClr val="7030A0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chemeClr val="bg1"/>
                  </a:solidFill>
                  <a:sym typeface="+mn-ea"/>
                </a:rPr>
                <a:t>仅换入</a:t>
              </a:r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cxnSp>
          <p:nvCxnSpPr>
            <p:cNvPr id="80" name="肘形连接符 79"/>
            <p:cNvCxnSpPr>
              <a:stCxn id="66" idx="3"/>
              <a:endCxn id="79" idx="1"/>
            </p:cNvCxnSpPr>
            <p:nvPr>
              <p:custDataLst>
                <p:tags r:id="rId16"/>
              </p:custDataLst>
            </p:nvPr>
          </p:nvCxnSpPr>
          <p:spPr>
            <a:xfrm>
              <a:off x="9511" y="6246"/>
              <a:ext cx="3494" cy="769"/>
            </a:xfrm>
            <a:prstGeom prst="bentConnector3">
              <a:avLst>
                <a:gd name="adj1" fmla="val 50000"/>
              </a:avLst>
            </a:prstGeom>
            <a:ln w="63500">
              <a:solidFill>
                <a:srgbClr val="9C0B1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文本框 80"/>
            <p:cNvSpPr txBox="1"/>
            <p:nvPr>
              <p:custDataLst>
                <p:tags r:id="rId17"/>
              </p:custDataLst>
            </p:nvPr>
          </p:nvSpPr>
          <p:spPr>
            <a:xfrm>
              <a:off x="11474" y="4877"/>
              <a:ext cx="1057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D==1</a:t>
              </a:r>
              <a:endParaRPr lang="en-US" altLang="zh-CN"/>
            </a:p>
          </p:txBody>
        </p:sp>
        <p:sp>
          <p:nvSpPr>
            <p:cNvPr id="82" name="文本框 81"/>
            <p:cNvSpPr txBox="1"/>
            <p:nvPr>
              <p:custDataLst>
                <p:tags r:id="rId18"/>
              </p:custDataLst>
            </p:nvPr>
          </p:nvSpPr>
          <p:spPr>
            <a:xfrm>
              <a:off x="11474" y="6435"/>
              <a:ext cx="1057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D==0</a:t>
              </a:r>
              <a:endParaRPr lang="en-US" altLang="zh-CN"/>
            </a:p>
          </p:txBody>
        </p:sp>
      </p:grpSp>
    </p:spTree>
    <p:custDataLst>
      <p:tags r:id="rId19"/>
    </p:custData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810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主存储器分配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一、进程的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0259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系统进程总览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进程的实现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内存分配的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x86-64内存管理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DLM进程内分配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Linux进程间分配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Linux页面替换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三、系统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.2 进程的基本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操作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3.3 进程接口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改进的</a:t>
            </a:r>
            <a:r>
              <a:rPr lang="en-US" altLang="zh-CN" sz="2000" b="1">
                <a:solidFill>
                  <a:srgbClr val="9C0B15"/>
                </a:solidFill>
              </a:rPr>
              <a:t>CLOCK</a:t>
            </a:r>
            <a:r>
              <a:rPr lang="zh-CN" altLang="en-US" sz="2000" b="1">
                <a:solidFill>
                  <a:srgbClr val="9C0B15"/>
                </a:solidFill>
              </a:rPr>
              <a:t>算法（有些人把这个叫做二次机会法，它实际上是</a:t>
            </a:r>
            <a:r>
              <a:rPr lang="zh-CN" altLang="en-US" sz="2000" b="1">
                <a:solidFill>
                  <a:srgbClr val="9C0B15"/>
                </a:solidFill>
              </a:rPr>
              <a:t>三次机会）</a:t>
            </a:r>
            <a:endParaRPr lang="en-US" altLang="zh-CN" sz="2000" b="1">
              <a:solidFill>
                <a:srgbClr val="9C0B15"/>
              </a:solidFill>
            </a:endParaRPr>
          </a:p>
          <a:p>
            <a:pPr algn="ctr"/>
            <a:endParaRPr lang="en-US" altLang="zh-CN" sz="2000"/>
          </a:p>
          <a:p>
            <a:pPr algn="l"/>
            <a:r>
              <a:rPr lang="en-US" altLang="zh-CN" sz="2000" b="1">
                <a:solidFill>
                  <a:srgbClr val="9C0B15"/>
                </a:solidFill>
                <a:sym typeface="+mn-ea"/>
              </a:rPr>
              <a:t>解决方案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对</a:t>
            </a:r>
            <a:r>
              <a:rPr lang="en-US" altLang="zh-CN" sz="2000">
                <a:sym typeface="+mn-ea"/>
              </a:rPr>
              <a:t>D==1</a:t>
            </a:r>
            <a:r>
              <a:rPr lang="zh-CN" altLang="en-US" sz="2000">
                <a:sym typeface="+mn-ea"/>
              </a:rPr>
              <a:t>的页面，我们甚至可以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再多给一次机会</a:t>
            </a:r>
            <a:r>
              <a:rPr lang="zh-CN" altLang="en-US" sz="2000">
                <a:sym typeface="+mn-ea"/>
              </a:rPr>
              <a:t>，将其</a:t>
            </a:r>
            <a:r>
              <a:rPr lang="en-US" altLang="zh-CN" sz="2000">
                <a:sym typeface="+mn-ea"/>
              </a:rPr>
              <a:t>D</a:t>
            </a:r>
            <a:r>
              <a:rPr lang="zh-CN" altLang="en-US" sz="2000">
                <a:sym typeface="+mn-ea"/>
              </a:rPr>
              <a:t>位清零，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并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在其它地方记录下它的实际修改状态</a:t>
            </a:r>
            <a:r>
              <a:rPr lang="zh-CN" altLang="en-US" sz="2000">
                <a:sym typeface="+mn-ea"/>
              </a:rPr>
              <a:t>（因为我们把</a:t>
            </a:r>
            <a:r>
              <a:rPr lang="en-US" altLang="zh-CN" sz="2000">
                <a:sym typeface="+mn-ea"/>
              </a:rPr>
              <a:t>D</a:t>
            </a:r>
            <a:r>
              <a:rPr lang="zh-CN" altLang="en-US" sz="2000">
                <a:sym typeface="+mn-ea"/>
              </a:rPr>
              <a:t>位置</a:t>
            </a:r>
            <a:r>
              <a:rPr lang="en-US" altLang="zh-CN" sz="2000">
                <a:sym typeface="+mn-ea"/>
              </a:rPr>
              <a:t>0		</a:t>
            </a:r>
            <a:r>
              <a:rPr lang="zh-CN" altLang="en-US" sz="2000">
                <a:sym typeface="+mn-ea"/>
              </a:rPr>
              <a:t>了），然后再插到链表开头。</a:t>
            </a:r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这就相当于最多给了一个页面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三次机会</a:t>
            </a:r>
            <a:r>
              <a:rPr lang="zh-CN" altLang="en-US" sz="2000">
                <a:sym typeface="+mn-ea"/>
              </a:rPr>
              <a:t>，更贴近实际了。</a:t>
            </a:r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/>
            <a:r>
              <a:rPr lang="en-US" altLang="zh-CN" sz="2000" b="1">
                <a:solidFill>
                  <a:srgbClr val="9C0B15"/>
                </a:solidFill>
                <a:sym typeface="+mn-ea"/>
              </a:rPr>
              <a:t>问题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之前讨论都的是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主存储器满</a:t>
            </a:r>
            <a:r>
              <a:rPr lang="zh-CN" altLang="en-US" sz="2000">
                <a:sym typeface="+mn-ea"/>
              </a:rPr>
              <a:t>时的页面替换情况，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任何一个进程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退出，它的所有页面都被立即释放并调配给其它进程，从而保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证内存的利用率</a:t>
            </a:r>
            <a:r>
              <a:rPr lang="zh-CN" altLang="en-US" sz="2000">
                <a:sym typeface="+mn-ea"/>
              </a:rPr>
              <a:t>。但在现代计算机中，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物理页面往往是有剩的</a:t>
            </a:r>
            <a:r>
              <a:rPr lang="zh-CN" altLang="en-US" sz="2000">
                <a:sym typeface="+mn-ea"/>
              </a:rPr>
              <a:t>。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这时候，</a:t>
            </a:r>
            <a:r>
              <a:rPr lang="zh-CN" altLang="en-US" sz="2000">
                <a:sym typeface="+mn-ea"/>
              </a:rPr>
              <a:t>如果一</a:t>
            </a:r>
            <a:r>
              <a:rPr lang="zh-CN" altLang="en-US" sz="2000">
                <a:sym typeface="+mn-ea"/>
              </a:rPr>
              <a:t>个</a:t>
            </a:r>
            <a:r>
              <a:rPr lang="zh-CN" altLang="en-US" sz="2000">
                <a:sym typeface="+mn-ea"/>
              </a:rPr>
              <a:t>进程退出，它的页面就要立刻被回收吗？</a:t>
            </a:r>
            <a:endParaRPr lang="zh-CN" altLang="en-US" sz="2000">
              <a:sym typeface="+mn-ea"/>
            </a:endParaRPr>
          </a:p>
          <a:p>
            <a:pPr algn="l"/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提示：考虑程序加载的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动态链接库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261620" y="2541270"/>
            <a:ext cx="9264015" cy="2099310"/>
            <a:chOff x="300" y="4002"/>
            <a:chExt cx="14589" cy="3306"/>
          </a:xfrm>
        </p:grpSpPr>
        <p:sp>
          <p:nvSpPr>
            <p:cNvPr id="64" name="矩形 63"/>
            <p:cNvSpPr/>
            <p:nvPr>
              <p:custDataLst>
                <p:tags r:id="rId2"/>
              </p:custDataLst>
            </p:nvPr>
          </p:nvSpPr>
          <p:spPr>
            <a:xfrm>
              <a:off x="4108" y="5953"/>
              <a:ext cx="1153" cy="586"/>
            </a:xfrm>
            <a:prstGeom prst="rect">
              <a:avLst/>
            </a:prstGeom>
            <a:solidFill>
              <a:srgbClr val="00B050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chemeClr val="bg1"/>
                  </a:solidFill>
                  <a:sym typeface="+mn-ea"/>
                </a:rPr>
                <a:t>页面</a:t>
              </a:r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67" name="矩形 66"/>
            <p:cNvSpPr/>
            <p:nvPr>
              <p:custDataLst>
                <p:tags r:id="rId3"/>
              </p:custDataLst>
            </p:nvPr>
          </p:nvSpPr>
          <p:spPr>
            <a:xfrm>
              <a:off x="13005" y="5085"/>
              <a:ext cx="1884" cy="586"/>
            </a:xfrm>
            <a:prstGeom prst="rect">
              <a:avLst/>
            </a:prstGeom>
            <a:solidFill>
              <a:srgbClr val="7030A0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chemeClr val="bg1"/>
                  </a:solidFill>
                  <a:sym typeface="+mn-ea"/>
                </a:rPr>
                <a:t>保存</a:t>
              </a:r>
              <a:r>
                <a:rPr lang="en-US" altLang="zh-CN">
                  <a:solidFill>
                    <a:schemeClr val="bg1"/>
                  </a:solidFill>
                  <a:sym typeface="+mn-ea"/>
                </a:rPr>
                <a:t>-</a:t>
              </a:r>
              <a:r>
                <a:rPr lang="zh-CN" altLang="en-US">
                  <a:solidFill>
                    <a:schemeClr val="bg1"/>
                  </a:solidFill>
                  <a:sym typeface="+mn-ea"/>
                </a:rPr>
                <a:t>换入</a:t>
              </a:r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68" name="矩形 67"/>
            <p:cNvSpPr/>
            <p:nvPr>
              <p:custDataLst>
                <p:tags r:id="rId4"/>
              </p:custDataLst>
            </p:nvPr>
          </p:nvSpPr>
          <p:spPr>
            <a:xfrm>
              <a:off x="300" y="5953"/>
              <a:ext cx="1848" cy="586"/>
            </a:xfrm>
            <a:prstGeom prst="rect">
              <a:avLst/>
            </a:prstGeom>
            <a:solidFill>
              <a:srgbClr val="D02F35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chemeClr val="bg1"/>
                  </a:solidFill>
                  <a:sym typeface="+mn-ea"/>
                </a:rPr>
                <a:t>缺页异常</a:t>
              </a:r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cxnSp>
          <p:nvCxnSpPr>
            <p:cNvPr id="73" name="肘形连接符 72"/>
            <p:cNvCxnSpPr>
              <a:stCxn id="64" idx="3"/>
            </p:cNvCxnSpPr>
            <p:nvPr>
              <p:custDataLst>
                <p:tags r:id="rId5"/>
              </p:custDataLst>
            </p:nvPr>
          </p:nvCxnSpPr>
          <p:spPr>
            <a:xfrm flipV="1">
              <a:off x="5261" y="5380"/>
              <a:ext cx="7744" cy="866"/>
            </a:xfrm>
            <a:prstGeom prst="bentConnector3">
              <a:avLst>
                <a:gd name="adj1" fmla="val 50000"/>
              </a:avLst>
            </a:prstGeom>
            <a:ln w="63500">
              <a:solidFill>
                <a:srgbClr val="9C0B1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箭头连接符 73"/>
            <p:cNvCxnSpPr>
              <a:stCxn id="68" idx="3"/>
            </p:cNvCxnSpPr>
            <p:nvPr>
              <p:custDataLst>
                <p:tags r:id="rId6"/>
              </p:custDataLst>
            </p:nvPr>
          </p:nvCxnSpPr>
          <p:spPr>
            <a:xfrm>
              <a:off x="2148" y="6246"/>
              <a:ext cx="1960" cy="0"/>
            </a:xfrm>
            <a:prstGeom prst="straightConnector1">
              <a:avLst/>
            </a:prstGeom>
            <a:ln w="63500">
              <a:solidFill>
                <a:srgbClr val="9C0B1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文本框 74"/>
            <p:cNvSpPr txBox="1"/>
            <p:nvPr>
              <p:custDataLst>
                <p:tags r:id="rId7"/>
              </p:custDataLst>
            </p:nvPr>
          </p:nvSpPr>
          <p:spPr>
            <a:xfrm>
              <a:off x="6085" y="5671"/>
              <a:ext cx="1117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D==0</a:t>
              </a:r>
              <a:endParaRPr lang="en-US" altLang="zh-CN"/>
            </a:p>
          </p:txBody>
        </p:sp>
        <p:cxnSp>
          <p:nvCxnSpPr>
            <p:cNvPr id="76" name="肘形连接符 75"/>
            <p:cNvCxnSpPr>
              <a:stCxn id="64" idx="3"/>
              <a:endCxn id="64" idx="1"/>
            </p:cNvCxnSpPr>
            <p:nvPr>
              <p:custDataLst>
                <p:tags r:id="rId8"/>
              </p:custDataLst>
            </p:nvPr>
          </p:nvCxnSpPr>
          <p:spPr>
            <a:xfrm flipH="1">
              <a:off x="4108" y="6246"/>
              <a:ext cx="1153" cy="5"/>
            </a:xfrm>
            <a:prstGeom prst="bentConnector5">
              <a:avLst>
                <a:gd name="adj1" fmla="val -47267"/>
                <a:gd name="adj2" fmla="val -15520000"/>
                <a:gd name="adj3" fmla="val 152645"/>
              </a:avLst>
            </a:prstGeom>
            <a:ln w="63500">
              <a:solidFill>
                <a:srgbClr val="9C0B1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文本框 76"/>
            <p:cNvSpPr txBox="1"/>
            <p:nvPr>
              <p:custDataLst>
                <p:tags r:id="rId9"/>
              </p:custDataLst>
            </p:nvPr>
          </p:nvSpPr>
          <p:spPr>
            <a:xfrm>
              <a:off x="3718" y="4912"/>
              <a:ext cx="1841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D==1: D=0</a:t>
              </a:r>
              <a:endParaRPr lang="en-US" altLang="zh-CN"/>
            </a:p>
          </p:txBody>
        </p:sp>
        <p:sp>
          <p:nvSpPr>
            <p:cNvPr id="78" name="文本框 77"/>
            <p:cNvSpPr txBox="1"/>
            <p:nvPr>
              <p:custDataLst>
                <p:tags r:id="rId10"/>
              </p:custDataLst>
            </p:nvPr>
          </p:nvSpPr>
          <p:spPr>
            <a:xfrm>
              <a:off x="2148" y="5741"/>
              <a:ext cx="1226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/>
                <a:t>A=1</a:t>
              </a:r>
              <a:endParaRPr lang="en-US" altLang="zh-CN"/>
            </a:p>
            <a:p>
              <a:pPr algn="ctr"/>
              <a:r>
                <a:rPr lang="en-US" altLang="zh-CN"/>
                <a:t>D=0/1</a:t>
              </a:r>
              <a:endParaRPr lang="zh-CN" altLang="en-US"/>
            </a:p>
          </p:txBody>
        </p:sp>
        <p:sp>
          <p:nvSpPr>
            <p:cNvPr id="79" name="矩形 78"/>
            <p:cNvSpPr/>
            <p:nvPr>
              <p:custDataLst>
                <p:tags r:id="rId11"/>
              </p:custDataLst>
            </p:nvPr>
          </p:nvSpPr>
          <p:spPr>
            <a:xfrm>
              <a:off x="13005" y="6722"/>
              <a:ext cx="1884" cy="586"/>
            </a:xfrm>
            <a:prstGeom prst="rect">
              <a:avLst/>
            </a:prstGeom>
            <a:solidFill>
              <a:srgbClr val="7030A0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chemeClr val="bg1"/>
                  </a:solidFill>
                  <a:sym typeface="+mn-ea"/>
                </a:rPr>
                <a:t>仅换入</a:t>
              </a:r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cxnSp>
          <p:nvCxnSpPr>
            <p:cNvPr id="80" name="肘形连接符 79"/>
            <p:cNvCxnSpPr>
              <a:stCxn id="64" idx="3"/>
              <a:endCxn id="79" idx="1"/>
            </p:cNvCxnSpPr>
            <p:nvPr>
              <p:custDataLst>
                <p:tags r:id="rId12"/>
              </p:custDataLst>
            </p:nvPr>
          </p:nvCxnSpPr>
          <p:spPr>
            <a:xfrm>
              <a:off x="5261" y="6246"/>
              <a:ext cx="7744" cy="769"/>
            </a:xfrm>
            <a:prstGeom prst="bentConnector3">
              <a:avLst>
                <a:gd name="adj1" fmla="val 50000"/>
              </a:avLst>
            </a:prstGeom>
            <a:ln w="63500">
              <a:solidFill>
                <a:srgbClr val="9C0B1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文本框 80"/>
            <p:cNvSpPr txBox="1"/>
            <p:nvPr>
              <p:custDataLst>
                <p:tags r:id="rId13"/>
              </p:custDataLst>
            </p:nvPr>
          </p:nvSpPr>
          <p:spPr>
            <a:xfrm>
              <a:off x="9476" y="4800"/>
              <a:ext cx="324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/>
                <a:t>换入后曾经</a:t>
              </a:r>
              <a:r>
                <a:rPr lang="en-US" altLang="zh-CN"/>
                <a:t>D==1</a:t>
              </a:r>
              <a:r>
                <a:rPr lang="zh-CN" altLang="en-US"/>
                <a:t>过</a:t>
              </a:r>
              <a:endParaRPr lang="zh-CN" altLang="en-US"/>
            </a:p>
          </p:txBody>
        </p:sp>
        <p:cxnSp>
          <p:nvCxnSpPr>
            <p:cNvPr id="4" name="肘形连接符 3"/>
            <p:cNvCxnSpPr>
              <a:stCxn id="64" idx="3"/>
              <a:endCxn id="64" idx="1"/>
            </p:cNvCxnSpPr>
            <p:nvPr>
              <p:custDataLst>
                <p:tags r:id="rId14"/>
              </p:custDataLst>
            </p:nvPr>
          </p:nvCxnSpPr>
          <p:spPr>
            <a:xfrm flipH="1">
              <a:off x="4108" y="6246"/>
              <a:ext cx="1153" cy="5"/>
            </a:xfrm>
            <a:prstGeom prst="bentConnector5">
              <a:avLst>
                <a:gd name="adj1" fmla="val -190546"/>
                <a:gd name="adj2" fmla="val -34360000"/>
                <a:gd name="adj3" fmla="val 152558"/>
              </a:avLst>
            </a:prstGeom>
            <a:ln w="63500">
              <a:solidFill>
                <a:srgbClr val="9C0B1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文本框 4"/>
            <p:cNvSpPr txBox="1"/>
            <p:nvPr>
              <p:custDataLst>
                <p:tags r:id="rId15"/>
              </p:custDataLst>
            </p:nvPr>
          </p:nvSpPr>
          <p:spPr>
            <a:xfrm>
              <a:off x="4550" y="4002"/>
              <a:ext cx="1905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A==1: A=0</a:t>
              </a:r>
              <a:endParaRPr lang="zh-CN" altLang="en-US"/>
            </a:p>
          </p:txBody>
        </p:sp>
        <p:sp>
          <p:nvSpPr>
            <p:cNvPr id="6" name="文本框 5"/>
            <p:cNvSpPr txBox="1"/>
            <p:nvPr>
              <p:custDataLst>
                <p:tags r:id="rId16"/>
              </p:custDataLst>
            </p:nvPr>
          </p:nvSpPr>
          <p:spPr>
            <a:xfrm>
              <a:off x="7783" y="5666"/>
              <a:ext cx="1117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A==0</a:t>
              </a:r>
              <a:endParaRPr lang="en-US" altLang="zh-CN"/>
            </a:p>
          </p:txBody>
        </p:sp>
        <p:sp>
          <p:nvSpPr>
            <p:cNvPr id="7" name="文本框 6"/>
            <p:cNvSpPr txBox="1"/>
            <p:nvPr>
              <p:custDataLst>
                <p:tags r:id="rId17"/>
              </p:custDataLst>
            </p:nvPr>
          </p:nvSpPr>
          <p:spPr>
            <a:xfrm>
              <a:off x="9569" y="6435"/>
              <a:ext cx="3055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/>
                <a:t>换入后</a:t>
              </a:r>
              <a:r>
                <a:rPr lang="en-US" altLang="zh-CN"/>
                <a:t>D</a:t>
              </a:r>
              <a:r>
                <a:rPr lang="zh-CN"/>
                <a:t>一直为</a:t>
              </a:r>
              <a:r>
                <a:rPr lang="en-US" altLang="zh-CN"/>
                <a:t>0</a:t>
              </a:r>
              <a:endParaRPr lang="en-US" altLang="zh-CN"/>
            </a:p>
          </p:txBody>
        </p:sp>
      </p:grpSp>
    </p:spTree>
    <p:custDataLst>
      <p:tags r:id="rId18"/>
    </p:custData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主存储器分配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一、进程的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系统进程总览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进程的实现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内存分配的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x86-64内存管理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DLM进程内分配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Linux进程间分配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Linux页面替换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三、系统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.2 进程的基本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操作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3.3 进程接口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页面共用与缓存</a:t>
            </a:r>
            <a:endParaRPr lang="en-US" altLang="zh-CN" sz="2000" b="1">
              <a:solidFill>
                <a:srgbClr val="9C0B15"/>
              </a:solidFill>
            </a:endParaRPr>
          </a:p>
          <a:p>
            <a:pPr algn="ctr"/>
            <a:endParaRPr lang="en-US" altLang="zh-CN" sz="2000"/>
          </a:p>
          <a:p>
            <a:pPr algn="l"/>
            <a:r>
              <a:rPr lang="en-US" altLang="zh-CN" sz="2000" b="1">
                <a:solidFill>
                  <a:srgbClr val="9C0B15"/>
                </a:solidFill>
              </a:rPr>
              <a:t>页面共用</a:t>
            </a:r>
            <a:r>
              <a:rPr lang="en-US" altLang="zh-CN" sz="2000"/>
              <a:t>	</a:t>
            </a:r>
            <a:r>
              <a:rPr lang="zh-CN" sz="2000"/>
              <a:t>两个进程可以</a:t>
            </a:r>
            <a:r>
              <a:rPr lang="zh-CN" altLang="en-US" sz="2000">
                <a:solidFill>
                  <a:srgbClr val="9C0B15"/>
                </a:solidFill>
              </a:rPr>
              <a:t>安全地共用一些只读页面，哪怕它们不知道这些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</a:rPr>
              <a:t>页面被共用</a:t>
            </a:r>
            <a:r>
              <a:rPr lang="zh-CN" altLang="en-US" sz="2000"/>
              <a:t>：</a:t>
            </a:r>
            <a:r>
              <a:rPr lang="zh-CN" altLang="en-US" sz="2000">
                <a:sym typeface="+mn-ea"/>
              </a:rPr>
              <a:t>比如，</a:t>
            </a:r>
            <a:r>
              <a:rPr lang="zh-CN" altLang="en-US" sz="2000"/>
              <a:t>两个程序都加载了某个（使用位置无关代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码的）动态链接库，但其</a:t>
            </a:r>
            <a:r>
              <a:rPr lang="en-US" altLang="zh-CN" sz="2000"/>
              <a:t>.text</a:t>
            </a:r>
            <a:r>
              <a:rPr lang="zh-CN" altLang="en-US" sz="2000"/>
              <a:t>段和</a:t>
            </a:r>
            <a:r>
              <a:rPr lang="en-US" altLang="zh-CN" sz="2000"/>
              <a:t>.rodata</a:t>
            </a:r>
            <a:r>
              <a:rPr lang="zh-CN" altLang="en-US" sz="2000"/>
              <a:t>段皆只需加载一份，并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被两个进程的虚拟地址空间同时引用。</a:t>
            </a:r>
            <a:endParaRPr lang="zh-CN" altLang="en-US" sz="2000"/>
          </a:p>
          <a:p>
            <a:pPr algn="l"/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换言之，如果一个进程加载过某些只读页面，</a:t>
            </a:r>
            <a:r>
              <a:rPr lang="zh-CN" altLang="en-US" sz="2000">
                <a:solidFill>
                  <a:srgbClr val="9C0B15"/>
                </a:solidFill>
              </a:rPr>
              <a:t>其它进程再加载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同样的页面</a:t>
            </a:r>
            <a:r>
              <a:rPr lang="zh-CN" altLang="en-US" sz="2000">
                <a:solidFill>
                  <a:srgbClr val="9C0B15"/>
                </a:solidFill>
              </a:rPr>
              <a:t>时就只需要将同样的物理页面添加进自己的映射，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</a:rPr>
              <a:t>不需要再分配新的物理内存了</a:t>
            </a:r>
            <a:r>
              <a:rPr lang="zh-CN" altLang="en-US" sz="2000"/>
              <a:t>。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l"/>
            <a:r>
              <a:rPr lang="en-US" altLang="zh-CN" sz="2000" b="1">
                <a:solidFill>
                  <a:srgbClr val="9C0B15"/>
                </a:solidFill>
              </a:rPr>
              <a:t>页面缓存</a:t>
            </a:r>
            <a:r>
              <a:rPr lang="en-US" altLang="zh-CN" sz="2000"/>
              <a:t>	</a:t>
            </a:r>
            <a:r>
              <a:rPr lang="zh-CN" altLang="en-US" sz="2000"/>
              <a:t>进程退出时，操作系统</a:t>
            </a:r>
            <a:r>
              <a:rPr lang="zh-CN" altLang="en-US" sz="2000">
                <a:solidFill>
                  <a:srgbClr val="9C0B15"/>
                </a:solidFill>
              </a:rPr>
              <a:t>并不会立刻释放它的物理内存页</a:t>
            </a:r>
            <a:r>
              <a:rPr lang="zh-CN" altLang="en-US" sz="2000"/>
              <a:t>（</a:t>
            </a:r>
            <a:r>
              <a:rPr lang="zh-CN" altLang="en-US" sz="2000">
                <a:sym typeface="+mn-ea"/>
              </a:rPr>
              <a:t>尤其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是那些包含动态链接库的页面</a:t>
            </a:r>
            <a:r>
              <a:rPr lang="zh-CN" altLang="en-US" sz="2000"/>
              <a:t>），</a:t>
            </a:r>
            <a:r>
              <a:rPr lang="zh-CN" altLang="en-US" sz="2000">
                <a:solidFill>
                  <a:srgbClr val="9C0B15"/>
                </a:solidFill>
              </a:rPr>
              <a:t>即便它们没有被任何其它进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</a:rPr>
              <a:t>程引用</a:t>
            </a:r>
            <a:r>
              <a:rPr lang="zh-CN" altLang="en-US" sz="2000"/>
              <a:t>。这是考虑到</a:t>
            </a:r>
            <a:r>
              <a:rPr lang="zh-CN" altLang="en-US" sz="2000">
                <a:solidFill>
                  <a:srgbClr val="9C0B15"/>
                </a:solidFill>
              </a:rPr>
              <a:t>长期调度的工作集：一个刚退出的程序可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</a:rPr>
              <a:t>能在不远的未来被再次启动，而且刚引用过的动态链接库在很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</a:rPr>
              <a:t>靠近的未来可能会再次被引用</a:t>
            </a:r>
            <a:r>
              <a:rPr lang="zh-CN" altLang="en-US" sz="2000"/>
              <a:t>。</a:t>
            </a:r>
            <a:endParaRPr lang="zh-CN" altLang="en-US" sz="2000"/>
          </a:p>
          <a:p>
            <a:pPr algn="l"/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这样，如果另一个用到了同样内容页面的进程被启动，它就可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以</a:t>
            </a:r>
            <a:r>
              <a:rPr lang="zh-CN" altLang="en-US" sz="2000">
                <a:solidFill>
                  <a:srgbClr val="9C0B15"/>
                </a:solidFill>
              </a:rPr>
              <a:t>直接拿着之前加载好的页面使用</a:t>
            </a:r>
            <a:r>
              <a:rPr lang="zh-CN" altLang="en-US" sz="2000"/>
              <a:t>，而非再产生缺页异常了。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l"/>
            <a:r>
              <a:rPr lang="en-US" altLang="zh-CN" sz="2000" b="1">
                <a:solidFill>
                  <a:srgbClr val="9C0B15"/>
                </a:solidFill>
              </a:rPr>
              <a:t>问题</a:t>
            </a:r>
            <a:r>
              <a:rPr lang="en-US" altLang="zh-CN" sz="2000"/>
              <a:t>		</a:t>
            </a:r>
            <a:r>
              <a:rPr lang="zh-CN" altLang="en-US" sz="2000"/>
              <a:t>上述机制减少了强制缺失还是容量缺失？你能想出几个非常有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利于上述机制发挥的</a:t>
            </a:r>
            <a:r>
              <a:rPr lang="zh-CN" altLang="en-US" sz="2000">
                <a:solidFill>
                  <a:srgbClr val="9C0B15"/>
                </a:solidFill>
              </a:rPr>
              <a:t>具体场景</a:t>
            </a:r>
            <a:r>
              <a:rPr lang="zh-CN" altLang="en-US" sz="2000"/>
              <a:t>吗？</a:t>
            </a:r>
            <a:endParaRPr lang="zh-CN" altLang="en-US" sz="2000"/>
          </a:p>
          <a:p>
            <a:pPr algn="l"/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提示：软件编译、文档编辑、游戏娱乐</a:t>
            </a:r>
            <a:endParaRPr lang="zh-CN" altLang="en-US" sz="2000"/>
          </a:p>
        </p:txBody>
      </p:sp>
    </p:spTree>
    <p:custDataLst>
      <p:tags r:id="rId2"/>
    </p:custDataLst>
  </p:cSld>
  <p:clrMapOvr>
    <a:masterClrMapping/>
  </p:clrMapOvr>
  <p:transition spd="med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主存储器分配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一、进程的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系统进程总览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进程的实现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内存分配的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x86-64内存管理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DLM进程内分配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Linux进程间分配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Linux页面替换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三、系统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.2 进程的基本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操作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3.3 进程接口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页面共用与缓存</a:t>
            </a:r>
            <a:endParaRPr lang="en-US" altLang="zh-CN" sz="2000" b="1">
              <a:solidFill>
                <a:srgbClr val="9C0B15"/>
              </a:solidFill>
            </a:endParaRPr>
          </a:p>
          <a:p>
            <a:pPr algn="ctr"/>
            <a:endParaRPr lang="en-US" altLang="zh-CN" sz="2000"/>
          </a:p>
          <a:p>
            <a:pPr algn="l"/>
            <a:r>
              <a:rPr lang="en-US" altLang="zh-CN" sz="2000" b="1">
                <a:solidFill>
                  <a:srgbClr val="9C0B15"/>
                </a:solidFill>
              </a:rPr>
              <a:t>问题</a:t>
            </a:r>
            <a:r>
              <a:rPr lang="en-US" altLang="zh-CN" sz="2000"/>
              <a:t>		</a:t>
            </a:r>
            <a:r>
              <a:rPr lang="zh-CN" sz="2000"/>
              <a:t>页面共用和缓存要怎么加入到页面替换策略中？进程请求新页</a:t>
            </a:r>
            <a:r>
              <a:rPr lang="en-US" altLang="zh-CN" sz="2000">
                <a:sym typeface="+mn-ea"/>
              </a:rPr>
              <a:t>		</a:t>
            </a:r>
            <a:r>
              <a:rPr lang="zh-CN" sz="2000"/>
              <a:t>面，或者分页时要调入页面，优先替换掉哪些页面？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l"/>
            <a:r>
              <a:rPr lang="en-US" altLang="zh-CN" sz="2000" b="1">
                <a:solidFill>
                  <a:srgbClr val="9C0B15"/>
                </a:solidFill>
              </a:rPr>
              <a:t>直觉</a:t>
            </a:r>
            <a:r>
              <a:rPr lang="en-US" altLang="zh-CN" sz="2000"/>
              <a:t>		</a:t>
            </a:r>
            <a:r>
              <a:rPr lang="zh-CN" altLang="en-US" sz="2000"/>
              <a:t>被多个进程共</a:t>
            </a:r>
            <a:r>
              <a:rPr lang="zh-CN" sz="2000">
                <a:sym typeface="+mn-ea"/>
              </a:rPr>
              <a:t>用</a:t>
            </a:r>
            <a:r>
              <a:rPr lang="zh-CN" altLang="en-US" sz="2000"/>
              <a:t>的那些页面</a:t>
            </a:r>
            <a:r>
              <a:rPr lang="zh-CN" altLang="en-US" sz="2000">
                <a:solidFill>
                  <a:srgbClr val="9C0B15"/>
                </a:solidFill>
              </a:rPr>
              <a:t>影响面很广</a:t>
            </a:r>
            <a:r>
              <a:rPr lang="zh-CN" altLang="en-US" sz="2000"/>
              <a:t>，一旦把它们替换出去，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对多个进程都造成影响。另外，</a:t>
            </a:r>
            <a:r>
              <a:rPr lang="zh-CN" altLang="en-US" sz="2000">
                <a:solidFill>
                  <a:srgbClr val="9C0B15"/>
                </a:solidFill>
              </a:rPr>
              <a:t>缓存中包含的是暂时没人引用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</a:rPr>
              <a:t>的库和数据</a:t>
            </a:r>
            <a:r>
              <a:rPr lang="zh-CN" altLang="en-US" sz="2000"/>
              <a:t>，因此优先替换掉它们比较好。</a:t>
            </a:r>
            <a:endParaRPr lang="zh-CN" altLang="en-US" sz="20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rcRect t="905" b="2699"/>
          <a:stretch>
            <a:fillRect/>
          </a:stretch>
        </p:blipFill>
        <p:spPr>
          <a:xfrm>
            <a:off x="2490470" y="2778125"/>
            <a:ext cx="5240655" cy="392366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主存储器分配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一、进程的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系统进程总览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进程的实现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内存分配的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x86-64内存管理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DLM进程内分配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Linux进程间分配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Linux页面替换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三、系统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.2 进程的基本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操作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3.3 进程接口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62471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页面共用与缓存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</a:rPr>
              <a:t>https://elixir.bootlin.com/linux/v6.3-rc3/source/mm/vmscan.c</a:t>
            </a:r>
            <a:endParaRPr lang="en-US" altLang="zh-CN" sz="2000" b="1">
              <a:solidFill>
                <a:srgbClr val="9C0B15"/>
              </a:solidFill>
            </a:endParaRPr>
          </a:p>
          <a:p>
            <a:pPr algn="ctr"/>
            <a:endParaRPr lang="en-US" altLang="zh-CN" sz="2000"/>
          </a:p>
          <a:p>
            <a:pPr algn="l"/>
            <a:r>
              <a:rPr lang="zh-CN" altLang="en-US" sz="2000" b="1">
                <a:solidFill>
                  <a:srgbClr val="9C0B15"/>
                </a:solidFill>
              </a:rPr>
              <a:t>双队列</a:t>
            </a:r>
            <a:r>
              <a:rPr lang="en-US" altLang="zh-CN" sz="2000" b="1">
                <a:solidFill>
                  <a:srgbClr val="9C0B15"/>
                </a:solidFill>
              </a:rPr>
              <a:t>PLRU</a:t>
            </a:r>
            <a:r>
              <a:rPr lang="en-US" altLang="zh-CN" sz="2000"/>
              <a:t>	</a:t>
            </a:r>
            <a:r>
              <a:rPr lang="zh-CN" sz="2000"/>
              <a:t>维持两个队列，一个是活跃页所在的的队列，另一个是不活跃</a:t>
            </a:r>
            <a:r>
              <a:rPr lang="en-US" altLang="zh-CN" sz="2000">
                <a:sym typeface="+mn-ea"/>
              </a:rPr>
              <a:t>		</a:t>
            </a:r>
            <a:r>
              <a:rPr lang="zh-CN" sz="2000"/>
              <a:t>的页所在的队列。当要淘汰页面时，从不活跃的页所在的队列</a:t>
            </a:r>
            <a:r>
              <a:rPr lang="en-US" altLang="zh-CN" sz="2000">
                <a:sym typeface="+mn-ea"/>
              </a:rPr>
              <a:t>		</a:t>
            </a:r>
            <a:r>
              <a:rPr lang="zh-CN" sz="2000"/>
              <a:t>中进行淘汰。</a:t>
            </a:r>
            <a:r>
              <a:rPr lang="zh-CN" altLang="en-US" sz="2000">
                <a:solidFill>
                  <a:srgbClr val="9C0B15"/>
                </a:solidFill>
              </a:rPr>
              <a:t>活跃队列中的页总是慢慢地被淘汰进入不活跃的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</a:rPr>
              <a:t>队列，如果在不活跃的队列中它还是很久未访问，才会被淘汰</a:t>
            </a:r>
            <a:r>
              <a:rPr lang="zh-CN" sz="2000"/>
              <a:t>。</a:t>
            </a:r>
            <a:endParaRPr lang="zh-CN" sz="2000"/>
          </a:p>
          <a:p>
            <a:pPr algn="l"/>
            <a:r>
              <a:rPr lang="en-US" altLang="zh-CN" sz="2000">
                <a:sym typeface="+mn-ea"/>
              </a:rPr>
              <a:t>		</a:t>
            </a:r>
            <a:r>
              <a:rPr lang="zh-CN" sz="2000"/>
              <a:t>当然，如果一个在不活跃队列中的页被访问到了，</a:t>
            </a:r>
            <a:r>
              <a:rPr lang="zh-CN" altLang="en-US" sz="2000">
                <a:solidFill>
                  <a:srgbClr val="9C0B15"/>
                </a:solidFill>
              </a:rPr>
              <a:t>它就立即被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</a:rPr>
              <a:t>提升到活跃队列去</a:t>
            </a:r>
            <a:r>
              <a:rPr lang="zh-CN" sz="2000"/>
              <a:t>。</a:t>
            </a:r>
            <a:endParaRPr lang="zh-CN" sz="2000"/>
          </a:p>
          <a:p>
            <a:pPr algn="l"/>
            <a:endParaRPr lang="zh-CN" altLang="en-US" sz="2000"/>
          </a:p>
          <a:p>
            <a:pPr algn="l"/>
            <a:endParaRPr lang="zh-CN" altLang="en-US" sz="2000"/>
          </a:p>
          <a:p>
            <a:pPr algn="l"/>
            <a:endParaRPr lang="zh-CN" altLang="en-US" sz="2000"/>
          </a:p>
          <a:p>
            <a:pPr algn="l"/>
            <a:endParaRPr lang="zh-CN" altLang="en-US" sz="2000"/>
          </a:p>
          <a:p>
            <a:pPr algn="l"/>
            <a:endParaRPr lang="zh-CN" altLang="en-US" sz="2000"/>
          </a:p>
          <a:p>
            <a:pPr algn="l"/>
            <a:endParaRPr lang="zh-CN" altLang="en-US" sz="2000"/>
          </a:p>
          <a:p>
            <a:pPr algn="l"/>
            <a:endParaRPr lang="zh-CN" altLang="en-US" sz="2000"/>
          </a:p>
          <a:p>
            <a:pPr algn="l"/>
            <a:endParaRPr lang="zh-CN" altLang="en-US" sz="2000"/>
          </a:p>
          <a:p>
            <a:pPr algn="l"/>
            <a:endParaRPr lang="zh-CN" altLang="en-US" sz="2000"/>
          </a:p>
          <a:p>
            <a:pPr algn="l"/>
            <a:r>
              <a:rPr lang="zh-CN" altLang="en-US" sz="2000" b="1">
                <a:solidFill>
                  <a:srgbClr val="9C0B15"/>
                </a:solidFill>
              </a:rPr>
              <a:t>问题</a:t>
            </a:r>
            <a:r>
              <a:rPr lang="en-US" altLang="zh-CN" sz="2000"/>
              <a:t>		</a:t>
            </a:r>
            <a:r>
              <a:rPr lang="zh-CN" altLang="en-US" sz="2000"/>
              <a:t>这看起来和单队列不是一样吗？无非把一个队列拆了两截。我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们还可以拆成更多截。</a:t>
            </a:r>
            <a:endParaRPr lang="zh-CN" altLang="en-US" sz="2000"/>
          </a:p>
        </p:txBody>
      </p:sp>
      <p:grpSp>
        <p:nvGrpSpPr>
          <p:cNvPr id="62" name="组合 61"/>
          <p:cNvGrpSpPr/>
          <p:nvPr/>
        </p:nvGrpSpPr>
        <p:grpSpPr>
          <a:xfrm>
            <a:off x="1981200" y="3145155"/>
            <a:ext cx="5490845" cy="2164080"/>
            <a:chOff x="3120" y="4643"/>
            <a:chExt cx="8647" cy="3408"/>
          </a:xfrm>
        </p:grpSpPr>
        <p:sp>
          <p:nvSpPr>
            <p:cNvPr id="64" name="矩形 63"/>
            <p:cNvSpPr/>
            <p:nvPr>
              <p:custDataLst>
                <p:tags r:id="rId2"/>
              </p:custDataLst>
            </p:nvPr>
          </p:nvSpPr>
          <p:spPr>
            <a:xfrm>
              <a:off x="6928" y="5829"/>
              <a:ext cx="2548" cy="586"/>
            </a:xfrm>
            <a:prstGeom prst="rect">
              <a:avLst/>
            </a:prstGeom>
            <a:solidFill>
              <a:srgbClr val="00B050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chemeClr val="bg1"/>
                  </a:solidFill>
                  <a:sym typeface="+mn-ea"/>
                </a:rPr>
                <a:t>活跃页面</a:t>
              </a:r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68" name="矩形 67"/>
            <p:cNvSpPr/>
            <p:nvPr>
              <p:custDataLst>
                <p:tags r:id="rId3"/>
              </p:custDataLst>
            </p:nvPr>
          </p:nvSpPr>
          <p:spPr>
            <a:xfrm>
              <a:off x="3120" y="5829"/>
              <a:ext cx="1848" cy="586"/>
            </a:xfrm>
            <a:prstGeom prst="rect">
              <a:avLst/>
            </a:prstGeom>
            <a:solidFill>
              <a:srgbClr val="D02F35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chemeClr val="bg1"/>
                  </a:solidFill>
                  <a:sym typeface="+mn-ea"/>
                </a:rPr>
                <a:t>缺页异常</a:t>
              </a:r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78" name="文本框 77"/>
            <p:cNvSpPr txBox="1"/>
            <p:nvPr>
              <p:custDataLst>
                <p:tags r:id="rId4"/>
              </p:custDataLst>
            </p:nvPr>
          </p:nvSpPr>
          <p:spPr>
            <a:xfrm>
              <a:off x="4968" y="5542"/>
              <a:ext cx="1226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/>
                <a:t>A=1</a:t>
              </a:r>
              <a:endParaRPr lang="en-US" altLang="zh-CN"/>
            </a:p>
          </p:txBody>
        </p:sp>
        <p:sp>
          <p:nvSpPr>
            <p:cNvPr id="79" name="矩形 78"/>
            <p:cNvSpPr/>
            <p:nvPr>
              <p:custDataLst>
                <p:tags r:id="rId5"/>
              </p:custDataLst>
            </p:nvPr>
          </p:nvSpPr>
          <p:spPr>
            <a:xfrm>
              <a:off x="3120" y="7465"/>
              <a:ext cx="1884" cy="586"/>
            </a:xfrm>
            <a:prstGeom prst="rect">
              <a:avLst/>
            </a:prstGeom>
            <a:solidFill>
              <a:srgbClr val="7030A0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chemeClr val="bg1"/>
                  </a:solidFill>
                  <a:sym typeface="+mn-ea"/>
                </a:rPr>
                <a:t>淘汰</a:t>
              </a:r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cxnSp>
          <p:nvCxnSpPr>
            <p:cNvPr id="2" name="肘形连接符 1"/>
            <p:cNvCxnSpPr>
              <a:stCxn id="64" idx="3"/>
              <a:endCxn id="64" idx="1"/>
            </p:cNvCxnSpPr>
            <p:nvPr>
              <p:custDataLst>
                <p:tags r:id="rId6"/>
              </p:custDataLst>
            </p:nvPr>
          </p:nvCxnSpPr>
          <p:spPr>
            <a:xfrm flipH="1">
              <a:off x="6928" y="6122"/>
              <a:ext cx="2548" cy="5"/>
            </a:xfrm>
            <a:prstGeom prst="bentConnector5">
              <a:avLst>
                <a:gd name="adj1" fmla="val -35321"/>
                <a:gd name="adj2" fmla="val -17380000"/>
                <a:gd name="adj3" fmla="val 127472"/>
              </a:avLst>
            </a:prstGeom>
            <a:ln w="63500">
              <a:solidFill>
                <a:srgbClr val="9C0B1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文本框 4"/>
            <p:cNvSpPr txBox="1"/>
            <p:nvPr>
              <p:custDataLst>
                <p:tags r:id="rId7"/>
              </p:custDataLst>
            </p:nvPr>
          </p:nvSpPr>
          <p:spPr>
            <a:xfrm>
              <a:off x="7250" y="4643"/>
              <a:ext cx="1905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A==1: A=0</a:t>
              </a:r>
              <a:endParaRPr lang="zh-CN" altLang="en-US"/>
            </a:p>
          </p:txBody>
        </p:sp>
        <p:sp>
          <p:nvSpPr>
            <p:cNvPr id="6" name="文本框 5"/>
            <p:cNvSpPr txBox="1"/>
            <p:nvPr>
              <p:custDataLst>
                <p:tags r:id="rId8"/>
              </p:custDataLst>
            </p:nvPr>
          </p:nvSpPr>
          <p:spPr>
            <a:xfrm>
              <a:off x="10635" y="5547"/>
              <a:ext cx="1133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A==0</a:t>
              </a:r>
              <a:endParaRPr lang="en-US" altLang="zh-CN"/>
            </a:p>
          </p:txBody>
        </p:sp>
        <p:sp>
          <p:nvSpPr>
            <p:cNvPr id="9" name="矩形 8"/>
            <p:cNvSpPr/>
            <p:nvPr>
              <p:custDataLst>
                <p:tags r:id="rId9"/>
              </p:custDataLst>
            </p:nvPr>
          </p:nvSpPr>
          <p:spPr>
            <a:xfrm>
              <a:off x="6928" y="7465"/>
              <a:ext cx="2476" cy="586"/>
            </a:xfrm>
            <a:prstGeom prst="rect">
              <a:avLst/>
            </a:prstGeom>
            <a:solidFill>
              <a:srgbClr val="00B050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chemeClr val="bg1"/>
                  </a:solidFill>
                  <a:sym typeface="+mn-ea"/>
                </a:rPr>
                <a:t>不活跃页面</a:t>
              </a:r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cxnSp>
          <p:nvCxnSpPr>
            <p:cNvPr id="15" name="肘形连接符 14"/>
            <p:cNvCxnSpPr>
              <a:stCxn id="64" idx="3"/>
              <a:endCxn id="9" idx="3"/>
            </p:cNvCxnSpPr>
            <p:nvPr>
              <p:custDataLst>
                <p:tags r:id="rId10"/>
              </p:custDataLst>
            </p:nvPr>
          </p:nvCxnSpPr>
          <p:spPr>
            <a:xfrm flipH="1">
              <a:off x="9404" y="6122"/>
              <a:ext cx="72" cy="1636"/>
            </a:xfrm>
            <a:prstGeom prst="bentConnector3">
              <a:avLst>
                <a:gd name="adj1" fmla="val -3287499"/>
              </a:avLst>
            </a:prstGeom>
            <a:ln w="63500">
              <a:solidFill>
                <a:srgbClr val="9C0B1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文本框 16"/>
            <p:cNvSpPr txBox="1"/>
            <p:nvPr>
              <p:custDataLst>
                <p:tags r:id="rId11"/>
              </p:custDataLst>
            </p:nvPr>
          </p:nvSpPr>
          <p:spPr>
            <a:xfrm>
              <a:off x="6298" y="6650"/>
              <a:ext cx="1936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A==</a:t>
              </a:r>
              <a:r>
                <a:rPr lang="en-US"/>
                <a:t>1: </a:t>
              </a:r>
              <a:r>
                <a:rPr lang="en-US" altLang="zh-CN"/>
                <a:t>A=0</a:t>
              </a:r>
              <a:endParaRPr lang="en-US" altLang="zh-CN"/>
            </a:p>
          </p:txBody>
        </p:sp>
        <p:cxnSp>
          <p:nvCxnSpPr>
            <p:cNvPr id="25" name="肘形连接符 24"/>
            <p:cNvCxnSpPr>
              <a:stCxn id="9" idx="1"/>
              <a:endCxn id="64" idx="1"/>
            </p:cNvCxnSpPr>
            <p:nvPr>
              <p:custDataLst>
                <p:tags r:id="rId12"/>
              </p:custDataLst>
            </p:nvPr>
          </p:nvCxnSpPr>
          <p:spPr>
            <a:xfrm rot="10800000" flipH="1">
              <a:off x="6928" y="6122"/>
              <a:ext cx="5" cy="1636"/>
            </a:xfrm>
            <a:prstGeom prst="bentConnector3">
              <a:avLst>
                <a:gd name="adj1" fmla="val -13980000"/>
              </a:avLst>
            </a:prstGeom>
            <a:ln w="63500">
              <a:solidFill>
                <a:srgbClr val="9C0B1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文本框 25"/>
            <p:cNvSpPr txBox="1"/>
            <p:nvPr>
              <p:custDataLst>
                <p:tags r:id="rId13"/>
              </p:custDataLst>
            </p:nvPr>
          </p:nvSpPr>
          <p:spPr>
            <a:xfrm>
              <a:off x="5061" y="7194"/>
              <a:ext cx="1133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A==0</a:t>
              </a:r>
              <a:endParaRPr lang="en-US" altLang="zh-CN"/>
            </a:p>
          </p:txBody>
        </p:sp>
        <p:cxnSp>
          <p:nvCxnSpPr>
            <p:cNvPr id="28" name="直接箭头连接符 27"/>
            <p:cNvCxnSpPr>
              <a:endCxn id="64" idx="1"/>
            </p:cNvCxnSpPr>
            <p:nvPr>
              <p:custDataLst>
                <p:tags r:id="rId14"/>
              </p:custDataLst>
            </p:nvPr>
          </p:nvCxnSpPr>
          <p:spPr>
            <a:xfrm>
              <a:off x="4968" y="6122"/>
              <a:ext cx="1960" cy="0"/>
            </a:xfrm>
            <a:prstGeom prst="straightConnector1">
              <a:avLst/>
            </a:prstGeom>
            <a:ln w="63500">
              <a:solidFill>
                <a:srgbClr val="9C0B1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箭头连接符 59"/>
            <p:cNvCxnSpPr>
              <a:stCxn id="9" idx="1"/>
            </p:cNvCxnSpPr>
            <p:nvPr>
              <p:custDataLst>
                <p:tags r:id="rId15"/>
              </p:custDataLst>
            </p:nvPr>
          </p:nvCxnSpPr>
          <p:spPr>
            <a:xfrm flipH="1">
              <a:off x="5004" y="7758"/>
              <a:ext cx="1924" cy="16"/>
            </a:xfrm>
            <a:prstGeom prst="straightConnector1">
              <a:avLst/>
            </a:prstGeom>
            <a:ln w="63500">
              <a:solidFill>
                <a:srgbClr val="9C0B1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16"/>
    </p:custData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主存储器分配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一、进程的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系统进程总览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进程的实现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内存分配的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x86-64内存管理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DLM进程内分配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Linux进程间分配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Linux页面替换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三、系统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.2 进程的基本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操作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3.3 进程接口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34766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页面共用与缓存（</a:t>
            </a:r>
            <a:r>
              <a:rPr lang="en-US" altLang="zh-CN" sz="2000" b="1">
                <a:solidFill>
                  <a:srgbClr val="9C0B15"/>
                </a:solidFill>
              </a:rPr>
              <a:t>kswapd</a:t>
            </a:r>
            <a:r>
              <a:rPr lang="zh-CN" altLang="en-US" sz="2000" b="1">
                <a:solidFill>
                  <a:srgbClr val="9C0B15"/>
                </a:solidFill>
              </a:rPr>
              <a:t>）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</a:rPr>
              <a:t>https://elixir.bootlin.com/linux/v6.3-rc3/source/mm/vmscan.c#L7644</a:t>
            </a:r>
            <a:endParaRPr lang="en-US" altLang="zh-CN" sz="2000" b="1">
              <a:solidFill>
                <a:srgbClr val="9C0B15"/>
              </a:solidFill>
            </a:endParaRPr>
          </a:p>
          <a:p>
            <a:pPr algn="ctr">
              <a:buClrTx/>
              <a:buSzTx/>
              <a:buFontTx/>
            </a:pPr>
            <a:endParaRPr lang="en-US" altLang="zh-CN" sz="2000" b="1">
              <a:solidFill>
                <a:srgbClr val="9C0B15"/>
              </a:solidFill>
            </a:endParaRPr>
          </a:p>
          <a:p>
            <a:pPr algn="l"/>
            <a:r>
              <a:rPr lang="zh-CN" altLang="en-US" sz="2000" b="1">
                <a:solidFill>
                  <a:srgbClr val="9C0B15"/>
                </a:solidFill>
              </a:rPr>
              <a:t>原因</a:t>
            </a:r>
            <a:r>
              <a:rPr lang="en-US" altLang="zh-CN" sz="2000"/>
              <a:t>	</a:t>
            </a:r>
            <a:r>
              <a:rPr lang="zh-CN" sz="2000">
                <a:sym typeface="+mn-ea"/>
              </a:rPr>
              <a:t>现实中的操作系统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都不是简单的二次机会法</a:t>
            </a:r>
            <a:r>
              <a:rPr lang="zh-CN" sz="2000">
                <a:sym typeface="+mn-ea"/>
              </a:rPr>
              <a:t>，而是针对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不同性质的页采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取不同的替换策略</a:t>
            </a:r>
            <a:r>
              <a:rPr lang="zh-CN" sz="2000">
                <a:sym typeface="+mn-ea"/>
              </a:rPr>
              <a:t>。比如，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更不情愿替换那些多进程共用的只读页，或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者更倾向于替换那些没进程使用的缓存页</a:t>
            </a:r>
            <a:r>
              <a:rPr lang="zh-CN" sz="2000">
                <a:sym typeface="+mn-ea"/>
              </a:rPr>
              <a:t>。这些策略都需要遍历队列，</a:t>
            </a:r>
            <a:r>
              <a:rPr lang="en-US" altLang="zh-CN" sz="2000">
                <a:sym typeface="+mn-ea"/>
              </a:rPr>
              <a:t>	</a:t>
            </a:r>
            <a:r>
              <a:rPr lang="zh-CN" sz="2000">
                <a:sym typeface="+mn-ea"/>
              </a:rPr>
              <a:t>还需要考虑一个页多久没有使用；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替换某种页的倾向性越高，能容忍它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不被访问的时间就越短。</a:t>
            </a:r>
            <a:endParaRPr lang="zh-CN" altLang="en-US" sz="2000">
              <a:sym typeface="+mn-ea"/>
            </a:endParaRPr>
          </a:p>
          <a:p>
            <a:pPr algn="l"/>
            <a:r>
              <a:rPr lang="zh-CN" altLang="en-US" sz="2000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/>
              <a:t>使用多个队列后，</a:t>
            </a:r>
            <a:r>
              <a:rPr lang="zh-CN" altLang="en-US" sz="2000">
                <a:solidFill>
                  <a:srgbClr val="9C0B15"/>
                </a:solidFill>
              </a:rPr>
              <a:t>不同队列中的页的活跃度不同，相当于把页按照队列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>
                <a:solidFill>
                  <a:srgbClr val="9C0B15"/>
                </a:solidFill>
              </a:rPr>
              <a:t>分代。</a:t>
            </a:r>
            <a:r>
              <a:rPr lang="zh-CN" sz="2000"/>
              <a:t>对于不同的队列可采取不同的替换或</a:t>
            </a:r>
            <a:r>
              <a:rPr lang="zh-CN" sz="2000">
                <a:sym typeface="+mn-ea"/>
              </a:rPr>
              <a:t>升降级策</a:t>
            </a:r>
            <a:r>
              <a:rPr lang="zh-CN" sz="2000"/>
              <a:t>略；若定期记录访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</a:t>
            </a:r>
            <a:r>
              <a:rPr lang="zh-CN" sz="2000"/>
              <a:t>问位</a:t>
            </a:r>
            <a:r>
              <a:rPr lang="en-US" altLang="zh-CN" sz="2000"/>
              <a:t>A</a:t>
            </a:r>
            <a:r>
              <a:rPr lang="zh-CN" altLang="en-US" sz="2000"/>
              <a:t>的</a:t>
            </a:r>
            <a:r>
              <a:rPr lang="zh-CN" altLang="en-US" sz="2000"/>
              <a:t>置位频次，</a:t>
            </a:r>
            <a:r>
              <a:rPr lang="zh-CN" sz="2000"/>
              <a:t>甚至可具备一定的</a:t>
            </a:r>
            <a:r>
              <a:rPr lang="en-US" altLang="zh-CN" sz="2000"/>
              <a:t>LFU</a:t>
            </a:r>
            <a:r>
              <a:rPr lang="zh-CN" altLang="en-US" sz="2000"/>
              <a:t>性质</a:t>
            </a:r>
            <a:r>
              <a:rPr lang="zh-CN" sz="2000"/>
              <a:t>。</a:t>
            </a:r>
            <a:endParaRPr lang="zh-CN" altLang="en-US" sz="2000"/>
          </a:p>
        </p:txBody>
      </p:sp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3197225" y="3820160"/>
            <a:ext cx="3726815" cy="372110"/>
          </a:xfrm>
          <a:prstGeom prst="rect">
            <a:avLst/>
          </a:prstGeom>
          <a:solidFill>
            <a:srgbClr val="D02F35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bg1"/>
                </a:solidFill>
                <a:sym typeface="+mn-ea"/>
              </a:rPr>
              <a:t>最活跃页面</a:t>
            </a:r>
            <a:endParaRPr lang="zh-CN" altLang="en-US" b="1">
              <a:solidFill>
                <a:schemeClr val="bg1"/>
              </a:solidFill>
              <a:sym typeface="+mn-ea"/>
            </a:endParaRPr>
          </a:p>
        </p:txBody>
      </p:sp>
      <p:sp>
        <p:nvSpPr>
          <p:cNvPr id="7" name="矩形 6"/>
          <p:cNvSpPr/>
          <p:nvPr>
            <p:custDataLst>
              <p:tags r:id="rId3"/>
            </p:custDataLst>
          </p:nvPr>
        </p:nvSpPr>
        <p:spPr>
          <a:xfrm>
            <a:off x="3197225" y="4625340"/>
            <a:ext cx="3726815" cy="372110"/>
          </a:xfrm>
          <a:prstGeom prst="rect">
            <a:avLst/>
          </a:prstGeom>
          <a:solidFill>
            <a:schemeClr val="accent2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bg1"/>
                </a:solidFill>
                <a:sym typeface="+mn-ea"/>
              </a:rPr>
              <a:t>比较活跃页面</a:t>
            </a:r>
            <a:endParaRPr lang="zh-CN" altLang="en-US" b="1">
              <a:solidFill>
                <a:schemeClr val="bg1"/>
              </a:solidFill>
              <a:sym typeface="+mn-ea"/>
            </a:endParaRPr>
          </a:p>
        </p:txBody>
      </p:sp>
      <p:sp>
        <p:nvSpPr>
          <p:cNvPr id="8" name="矩形 7"/>
          <p:cNvSpPr/>
          <p:nvPr>
            <p:custDataLst>
              <p:tags r:id="rId4"/>
            </p:custDataLst>
          </p:nvPr>
        </p:nvSpPr>
        <p:spPr>
          <a:xfrm>
            <a:off x="3197225" y="5430520"/>
            <a:ext cx="3726815" cy="372110"/>
          </a:xfrm>
          <a:prstGeom prst="rect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bg1"/>
                </a:solidFill>
                <a:sym typeface="+mn-ea"/>
              </a:rPr>
              <a:t>不甚活跃页面</a:t>
            </a:r>
            <a:endParaRPr lang="zh-CN" altLang="en-US" b="1">
              <a:solidFill>
                <a:schemeClr val="bg1"/>
              </a:solidFill>
              <a:sym typeface="+mn-ea"/>
            </a:endParaRPr>
          </a:p>
        </p:txBody>
      </p:sp>
      <p:sp>
        <p:nvSpPr>
          <p:cNvPr id="61" name="矩形 60"/>
          <p:cNvSpPr/>
          <p:nvPr>
            <p:custDataLst>
              <p:tags r:id="rId5"/>
            </p:custDataLst>
          </p:nvPr>
        </p:nvSpPr>
        <p:spPr>
          <a:xfrm>
            <a:off x="3197225" y="6235700"/>
            <a:ext cx="3726815" cy="372110"/>
          </a:xfrm>
          <a:prstGeom prst="rect">
            <a:avLst/>
          </a:prstGeom>
          <a:solidFill>
            <a:srgbClr val="0070C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bg1"/>
                </a:solidFill>
                <a:sym typeface="+mn-ea"/>
              </a:rPr>
              <a:t>最不活跃页面</a:t>
            </a:r>
            <a:endParaRPr lang="zh-CN" altLang="en-US" b="1">
              <a:solidFill>
                <a:schemeClr val="bg1"/>
              </a:solidFill>
              <a:sym typeface="+mn-ea"/>
            </a:endParaRPr>
          </a:p>
        </p:txBody>
      </p:sp>
      <p:cxnSp>
        <p:nvCxnSpPr>
          <p:cNvPr id="63" name="直接箭头连接符 62"/>
          <p:cNvCxnSpPr/>
          <p:nvPr>
            <p:custDataLst>
              <p:tags r:id="rId6"/>
            </p:custDataLst>
          </p:nvPr>
        </p:nvCxnSpPr>
        <p:spPr>
          <a:xfrm>
            <a:off x="1952625" y="4006215"/>
            <a:ext cx="1244600" cy="0"/>
          </a:xfrm>
          <a:prstGeom prst="straightConnector1">
            <a:avLst/>
          </a:prstGeom>
          <a:ln w="63500">
            <a:solidFill>
              <a:srgbClr val="9C0B1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箭头连接符 64"/>
          <p:cNvCxnSpPr/>
          <p:nvPr>
            <p:custDataLst>
              <p:tags r:id="rId7"/>
            </p:custDataLst>
          </p:nvPr>
        </p:nvCxnSpPr>
        <p:spPr>
          <a:xfrm>
            <a:off x="1952625" y="4811395"/>
            <a:ext cx="1244600" cy="0"/>
          </a:xfrm>
          <a:prstGeom prst="straightConnector1">
            <a:avLst/>
          </a:prstGeom>
          <a:ln w="63500">
            <a:solidFill>
              <a:srgbClr val="9C0B1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/>
          <p:cNvCxnSpPr/>
          <p:nvPr>
            <p:custDataLst>
              <p:tags r:id="rId8"/>
            </p:custDataLst>
          </p:nvPr>
        </p:nvCxnSpPr>
        <p:spPr>
          <a:xfrm>
            <a:off x="1952625" y="5616575"/>
            <a:ext cx="1244600" cy="0"/>
          </a:xfrm>
          <a:prstGeom prst="straightConnector1">
            <a:avLst/>
          </a:prstGeom>
          <a:ln w="63500">
            <a:solidFill>
              <a:srgbClr val="9C0B1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箭头连接符 66"/>
          <p:cNvCxnSpPr/>
          <p:nvPr>
            <p:custDataLst>
              <p:tags r:id="rId9"/>
            </p:custDataLst>
          </p:nvPr>
        </p:nvCxnSpPr>
        <p:spPr>
          <a:xfrm>
            <a:off x="1952625" y="6421120"/>
            <a:ext cx="1244600" cy="0"/>
          </a:xfrm>
          <a:prstGeom prst="straightConnector1">
            <a:avLst/>
          </a:prstGeom>
          <a:ln w="63500">
            <a:solidFill>
              <a:srgbClr val="9C0B1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箭头连接符 71"/>
          <p:cNvCxnSpPr/>
          <p:nvPr>
            <p:custDataLst>
              <p:tags r:id="rId10"/>
            </p:custDataLst>
          </p:nvPr>
        </p:nvCxnSpPr>
        <p:spPr>
          <a:xfrm>
            <a:off x="6924040" y="6421120"/>
            <a:ext cx="1244600" cy="0"/>
          </a:xfrm>
          <a:prstGeom prst="straightConnector1">
            <a:avLst/>
          </a:prstGeom>
          <a:ln w="63500">
            <a:solidFill>
              <a:srgbClr val="9C0B1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本框 72"/>
          <p:cNvSpPr txBox="1"/>
          <p:nvPr>
            <p:custDataLst>
              <p:tags r:id="rId11"/>
            </p:custDataLst>
          </p:nvPr>
        </p:nvSpPr>
        <p:spPr>
          <a:xfrm>
            <a:off x="7221220" y="6052820"/>
            <a:ext cx="6508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淘汰</a:t>
            </a:r>
            <a:endParaRPr lang="zh-CN" altLang="en-US"/>
          </a:p>
        </p:txBody>
      </p:sp>
      <p:sp>
        <p:nvSpPr>
          <p:cNvPr id="75" name="文本框 74"/>
          <p:cNvSpPr txBox="1"/>
          <p:nvPr>
            <p:custDataLst>
              <p:tags r:id="rId12"/>
            </p:custDataLst>
          </p:nvPr>
        </p:nvSpPr>
        <p:spPr>
          <a:xfrm>
            <a:off x="1835150" y="6052820"/>
            <a:ext cx="11398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缓存页面</a:t>
            </a:r>
            <a:endParaRPr lang="zh-CN" altLang="en-US"/>
          </a:p>
        </p:txBody>
      </p:sp>
      <p:sp>
        <p:nvSpPr>
          <p:cNvPr id="76" name="文本框 75"/>
          <p:cNvSpPr txBox="1"/>
          <p:nvPr>
            <p:custDataLst>
              <p:tags r:id="rId13"/>
            </p:custDataLst>
          </p:nvPr>
        </p:nvSpPr>
        <p:spPr>
          <a:xfrm>
            <a:off x="1835150" y="4443095"/>
            <a:ext cx="11398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常规页面</a:t>
            </a:r>
            <a:endParaRPr lang="zh-CN" altLang="en-US"/>
          </a:p>
        </p:txBody>
      </p:sp>
      <p:sp>
        <p:nvSpPr>
          <p:cNvPr id="77" name="文本框 76"/>
          <p:cNvSpPr txBox="1"/>
          <p:nvPr>
            <p:custDataLst>
              <p:tags r:id="rId14"/>
            </p:custDataLst>
          </p:nvPr>
        </p:nvSpPr>
        <p:spPr>
          <a:xfrm>
            <a:off x="1835150" y="3637915"/>
            <a:ext cx="11398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共用页面</a:t>
            </a:r>
            <a:endParaRPr lang="zh-CN" altLang="en-US"/>
          </a:p>
        </p:txBody>
      </p:sp>
      <p:cxnSp>
        <p:nvCxnSpPr>
          <p:cNvPr id="80" name="直接箭头连接符 79"/>
          <p:cNvCxnSpPr>
            <a:stCxn id="4" idx="2"/>
            <a:endCxn id="7" idx="0"/>
          </p:cNvCxnSpPr>
          <p:nvPr>
            <p:custDataLst>
              <p:tags r:id="rId15"/>
            </p:custDataLst>
          </p:nvPr>
        </p:nvCxnSpPr>
        <p:spPr>
          <a:xfrm>
            <a:off x="5060950" y="4192270"/>
            <a:ext cx="0" cy="433070"/>
          </a:xfrm>
          <a:prstGeom prst="straightConnector1">
            <a:avLst/>
          </a:prstGeom>
          <a:ln w="38100">
            <a:solidFill>
              <a:srgbClr val="D02F35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接箭头连接符 80"/>
          <p:cNvCxnSpPr/>
          <p:nvPr>
            <p:custDataLst>
              <p:tags r:id="rId16"/>
            </p:custDataLst>
          </p:nvPr>
        </p:nvCxnSpPr>
        <p:spPr>
          <a:xfrm>
            <a:off x="5060950" y="5802630"/>
            <a:ext cx="0" cy="433070"/>
          </a:xfrm>
          <a:prstGeom prst="straightConnector1">
            <a:avLst/>
          </a:prstGeom>
          <a:ln w="38100">
            <a:solidFill>
              <a:srgbClr val="D02F35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箭头连接符 81"/>
          <p:cNvCxnSpPr/>
          <p:nvPr>
            <p:custDataLst>
              <p:tags r:id="rId17"/>
            </p:custDataLst>
          </p:nvPr>
        </p:nvCxnSpPr>
        <p:spPr>
          <a:xfrm>
            <a:off x="5060950" y="4997450"/>
            <a:ext cx="0" cy="433070"/>
          </a:xfrm>
          <a:prstGeom prst="straightConnector1">
            <a:avLst/>
          </a:prstGeom>
          <a:ln w="38100">
            <a:solidFill>
              <a:srgbClr val="D02F35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文本框 82"/>
          <p:cNvSpPr txBox="1"/>
          <p:nvPr>
            <p:custDataLst>
              <p:tags r:id="rId18"/>
            </p:custDataLst>
          </p:nvPr>
        </p:nvSpPr>
        <p:spPr>
          <a:xfrm>
            <a:off x="1835150" y="5248275"/>
            <a:ext cx="11398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文件页面</a:t>
            </a:r>
            <a:endParaRPr lang="zh-CN" altLang="en-US"/>
          </a:p>
        </p:txBody>
      </p:sp>
      <p:sp>
        <p:nvSpPr>
          <p:cNvPr id="84" name="文本框 83"/>
          <p:cNvSpPr txBox="1"/>
          <p:nvPr>
            <p:custDataLst>
              <p:tags r:id="rId19"/>
            </p:custDataLst>
          </p:nvPr>
        </p:nvSpPr>
        <p:spPr>
          <a:xfrm>
            <a:off x="5131435" y="4257040"/>
            <a:ext cx="20897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按访问情况升降级</a:t>
            </a:r>
            <a:endParaRPr lang="zh-CN" altLang="en-US"/>
          </a:p>
        </p:txBody>
      </p:sp>
      <p:sp>
        <p:nvSpPr>
          <p:cNvPr id="85" name="文本框 84"/>
          <p:cNvSpPr txBox="1"/>
          <p:nvPr>
            <p:custDataLst>
              <p:tags r:id="rId20"/>
            </p:custDataLst>
          </p:nvPr>
        </p:nvSpPr>
        <p:spPr>
          <a:xfrm>
            <a:off x="5131435" y="5062220"/>
            <a:ext cx="20897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按访问情况升降级</a:t>
            </a:r>
            <a:endParaRPr lang="zh-CN" altLang="en-US"/>
          </a:p>
        </p:txBody>
      </p:sp>
      <p:sp>
        <p:nvSpPr>
          <p:cNvPr id="86" name="文本框 85"/>
          <p:cNvSpPr txBox="1"/>
          <p:nvPr>
            <p:custDataLst>
              <p:tags r:id="rId21"/>
            </p:custDataLst>
          </p:nvPr>
        </p:nvSpPr>
        <p:spPr>
          <a:xfrm>
            <a:off x="5131435" y="5867400"/>
            <a:ext cx="20897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按访问情况升降级</a:t>
            </a:r>
            <a:endParaRPr lang="zh-CN" altLang="en-US"/>
          </a:p>
        </p:txBody>
      </p:sp>
    </p:spTree>
    <p:custDataLst>
      <p:tags r:id="rId22"/>
    </p:custData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主存储器分配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一、进程的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系统进程总览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进程的实现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内存分配的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x86-64内存管理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DLM进程内分配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Linux进程间分配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Linux页面替换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三、系统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.2 进程的基本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操作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3.3 进程接口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59391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页面替换的其它知识</a:t>
            </a:r>
            <a:endParaRPr lang="en-US" altLang="zh-CN" sz="2000" b="1">
              <a:solidFill>
                <a:srgbClr val="9C0B15"/>
              </a:solidFill>
            </a:endParaRPr>
          </a:p>
          <a:p>
            <a:pPr algn="ctr"/>
            <a:endParaRPr lang="en-US" altLang="zh-CN" sz="2000"/>
          </a:p>
          <a:p>
            <a:pPr algn="l"/>
            <a:r>
              <a:rPr lang="en-US" altLang="zh-CN" sz="2000" b="1">
                <a:solidFill>
                  <a:srgbClr val="9C0B15"/>
                </a:solidFill>
              </a:rPr>
              <a:t>分页文件</a:t>
            </a:r>
            <a:r>
              <a:rPr lang="en-US" altLang="zh-CN" sz="2000"/>
              <a:t>	Windows</a:t>
            </a:r>
            <a:r>
              <a:rPr lang="zh-CN" altLang="en-US" sz="2000"/>
              <a:t>将交换出来的页面组织成一个</a:t>
            </a:r>
            <a:r>
              <a:rPr lang="zh-CN" altLang="en-US" sz="2000">
                <a:solidFill>
                  <a:srgbClr val="9C0B15"/>
                </a:solidFill>
              </a:rPr>
              <a:t>文件pagefile.sys</a:t>
            </a:r>
            <a:r>
              <a:rPr lang="zh-CN" altLang="en-US" sz="2000"/>
              <a:t>放在文件</a:t>
            </a:r>
            <a:endParaRPr lang="zh-CN" altLang="en-US" sz="2000"/>
          </a:p>
          <a:p>
            <a:pPr algn="l"/>
            <a:r>
              <a:rPr lang="en-US" altLang="zh-CN" sz="2000" b="1">
                <a:solidFill>
                  <a:srgbClr val="9C0B15"/>
                </a:solidFill>
              </a:rPr>
              <a:t>vs.</a:t>
            </a:r>
            <a:r>
              <a:rPr lang="en-US" altLang="zh-CN" sz="2000"/>
              <a:t>		</a:t>
            </a:r>
            <a:r>
              <a:rPr lang="zh-CN" altLang="en-US" sz="2000">
                <a:sym typeface="+mn-ea"/>
              </a:rPr>
              <a:t>系统上，称之为</a:t>
            </a:r>
            <a:r>
              <a:rPr lang="en-US" altLang="zh-CN" sz="2000">
                <a:sym typeface="+mn-ea"/>
              </a:rPr>
              <a:t>“</a:t>
            </a:r>
            <a:r>
              <a:rPr lang="zh-CN" altLang="en-US" sz="2000">
                <a:sym typeface="+mn-ea"/>
              </a:rPr>
              <a:t>分页文件</a:t>
            </a:r>
            <a:r>
              <a:rPr lang="en-US" altLang="zh-CN" sz="2000">
                <a:sym typeface="+mn-ea"/>
              </a:rPr>
              <a:t>”</a:t>
            </a:r>
            <a:r>
              <a:rPr lang="zh-CN" altLang="en-US" sz="2000">
                <a:sym typeface="+mn-ea"/>
              </a:rPr>
              <a:t>。</a:t>
            </a:r>
            <a:r>
              <a:rPr lang="en-US" altLang="zh-CN" sz="2000">
                <a:sym typeface="+mn-ea"/>
              </a:rPr>
              <a:t>Linux</a:t>
            </a:r>
            <a:r>
              <a:rPr lang="zh-CN" altLang="en-US" sz="2000">
                <a:sym typeface="+mn-ea"/>
              </a:rPr>
              <a:t>的做法则有不同，在硬盘上创</a:t>
            </a:r>
            <a:endParaRPr lang="en-US" altLang="zh-CN" sz="2000"/>
          </a:p>
          <a:p>
            <a:pPr algn="l"/>
            <a:r>
              <a:rPr lang="en-US" altLang="zh-CN" sz="2000" b="1">
                <a:solidFill>
                  <a:srgbClr val="9C0B15"/>
                </a:solidFill>
              </a:rPr>
              <a:t>交换分区</a:t>
            </a:r>
            <a:r>
              <a:rPr lang="en-US" altLang="zh-CN" sz="2000"/>
              <a:t>	</a:t>
            </a:r>
            <a:r>
              <a:rPr lang="zh-CN" altLang="en-US" sz="2000">
                <a:sym typeface="+mn-ea"/>
              </a:rPr>
              <a:t>建一个连续的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分区swap</a:t>
            </a:r>
            <a:r>
              <a:rPr lang="zh-CN" altLang="en-US" sz="2000">
                <a:sym typeface="+mn-ea"/>
              </a:rPr>
              <a:t>来存放这些页面，称之为</a:t>
            </a:r>
            <a:r>
              <a:rPr lang="en-US" altLang="zh-CN" sz="2000">
                <a:sym typeface="+mn-ea"/>
              </a:rPr>
              <a:t>“</a:t>
            </a:r>
            <a:r>
              <a:rPr lang="zh-CN" altLang="en-US" sz="2000">
                <a:sym typeface="+mn-ea"/>
              </a:rPr>
              <a:t>交换分区</a:t>
            </a:r>
            <a:r>
              <a:rPr lang="en-US" altLang="zh-CN" sz="2000">
                <a:sym typeface="+mn-ea"/>
              </a:rPr>
              <a:t>”</a:t>
            </a:r>
            <a:r>
              <a:rPr lang="zh-CN" altLang="en-US" sz="2000">
                <a:sym typeface="+mn-ea"/>
              </a:rPr>
              <a:t>。这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两种方法的目的是一致的，但组织形式有所不同。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l"/>
            <a:r>
              <a:rPr lang="en-US" altLang="zh-CN" sz="2000" b="1">
                <a:solidFill>
                  <a:srgbClr val="9C0B15"/>
                </a:solidFill>
              </a:rPr>
              <a:t>问题</a:t>
            </a:r>
            <a:r>
              <a:rPr lang="en-US" altLang="zh-CN" sz="2000"/>
              <a:t>		</a:t>
            </a:r>
            <a:r>
              <a:rPr lang="zh-CN" altLang="en-US" sz="2000"/>
              <a:t>分页文件和交换分区的优劣势各有哪些？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l"/>
            <a:endParaRPr lang="zh-CN" altLang="en-US" sz="2000"/>
          </a:p>
          <a:p>
            <a:pPr algn="l"/>
            <a:endParaRPr lang="zh-CN" altLang="en-US" sz="2000"/>
          </a:p>
          <a:p>
            <a:pPr algn="l"/>
            <a:r>
              <a:rPr lang="en-US" altLang="zh-CN" sz="2000" b="1">
                <a:solidFill>
                  <a:srgbClr val="9C0B15"/>
                </a:solidFill>
              </a:rPr>
              <a:t>放到外存</a:t>
            </a:r>
            <a:r>
              <a:rPr lang="en-US" altLang="zh-CN" sz="2000"/>
              <a:t>	</a:t>
            </a:r>
            <a:r>
              <a:rPr lang="zh-CN" altLang="en-US" sz="2000"/>
              <a:t>传统上，操作系统会将交换出来的页面放进外存。但是实际观</a:t>
            </a:r>
            <a:endParaRPr lang="zh-CN" altLang="en-US" sz="2000"/>
          </a:p>
          <a:p>
            <a:pPr algn="l"/>
            <a:r>
              <a:rPr lang="en-US" altLang="zh-CN" sz="2000" b="1">
                <a:solidFill>
                  <a:srgbClr val="9C0B15"/>
                </a:solidFill>
                <a:sym typeface="+mn-ea"/>
              </a:rPr>
              <a:t>vs.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察可以发现，部分页面的内容的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重复性很高</a:t>
            </a:r>
            <a:r>
              <a:rPr lang="zh-CN" altLang="en-US" sz="2000">
                <a:sym typeface="+mn-ea"/>
              </a:rPr>
              <a:t>，因此可以将这些</a:t>
            </a:r>
            <a:endParaRPr lang="en-US" altLang="zh-CN" sz="2000"/>
          </a:p>
          <a:p>
            <a:pPr algn="l"/>
            <a:r>
              <a:rPr lang="en-US" altLang="zh-CN" sz="2000" b="1">
                <a:solidFill>
                  <a:srgbClr val="9C0B15"/>
                </a:solidFill>
                <a:sym typeface="+mn-ea"/>
              </a:rPr>
              <a:t>内存压缩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/>
              <a:t>页面</a:t>
            </a:r>
            <a:r>
              <a:rPr lang="zh-CN" altLang="en-US" sz="2000">
                <a:solidFill>
                  <a:srgbClr val="9C0B15"/>
                </a:solidFill>
              </a:rPr>
              <a:t>压缩一下，减小体积，然后仍然放在内存中</a:t>
            </a:r>
            <a:r>
              <a:rPr lang="zh-CN" altLang="en-US" sz="2000"/>
              <a:t>。当然，此时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它们无法被直接使用了，一旦被引用到，需要解压出来到真正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的物理页才能使用。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l"/>
            <a:r>
              <a:rPr lang="en-US" altLang="zh-CN" sz="2000" b="1">
                <a:solidFill>
                  <a:srgbClr val="9C0B15"/>
                </a:solidFill>
              </a:rPr>
              <a:t>问题</a:t>
            </a:r>
            <a:r>
              <a:rPr lang="en-US" altLang="zh-CN" sz="2000"/>
              <a:t>		</a:t>
            </a:r>
            <a:r>
              <a:rPr lang="zh-CN" altLang="en-US" sz="2000"/>
              <a:t>将页面压缩后放进内存与把它直接放到外存有什么优势和劣势？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你能想出结合这两方面优势的折中方案吗？</a:t>
            </a:r>
            <a:endParaRPr lang="zh-CN" altLang="en-US" sz="2000"/>
          </a:p>
        </p:txBody>
      </p:sp>
    </p:spTree>
    <p:custDataLst>
      <p:tags r:id="rId2"/>
    </p:custData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图片 99"/>
          <p:cNvPicPr/>
          <p:nvPr/>
        </p:nvPicPr>
        <p:blipFill>
          <a:blip r:embed="rId1"/>
          <a:srcRect l="1744" t="3898" r="1359" b="4639"/>
          <a:stretch>
            <a:fillRect/>
          </a:stretch>
        </p:blipFill>
        <p:spPr>
          <a:xfrm>
            <a:off x="1530985" y="2840990"/>
            <a:ext cx="6725285" cy="388302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2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主存储器分配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一、进程的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系统进程总览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进程的实现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内存分配的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x86-64内存管理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DLM进程内分配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Linux进程间分配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Linux页面替换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三、系统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.2 进程的基本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操作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3.3 进程接口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页面替换的其它知识</a:t>
            </a:r>
            <a:endParaRPr lang="en-US" altLang="zh-CN" sz="2000" b="1">
              <a:solidFill>
                <a:srgbClr val="9C0B15"/>
              </a:solidFill>
            </a:endParaRPr>
          </a:p>
          <a:p>
            <a:pPr algn="ctr"/>
            <a:endParaRPr lang="en-US" altLang="zh-CN" sz="2000"/>
          </a:p>
          <a:p>
            <a:r>
              <a:rPr lang="en-US" altLang="zh-CN" sz="2000" b="1">
                <a:solidFill>
                  <a:srgbClr val="9C0B15"/>
                </a:solidFill>
              </a:rPr>
              <a:t>非易失内存</a:t>
            </a:r>
            <a:r>
              <a:rPr lang="en-US" altLang="zh-CN" sz="2000"/>
              <a:t>	</a:t>
            </a:r>
            <a:r>
              <a:rPr lang="zh-CN" sz="2000"/>
              <a:t>目前有一些新存储技术，如</a:t>
            </a:r>
            <a:r>
              <a:rPr lang="zh-CN" altLang="en-US" sz="2000">
                <a:solidFill>
                  <a:srgbClr val="9C0B15"/>
                </a:solidFill>
              </a:rPr>
              <a:t>相变内存、忆阻器等</a:t>
            </a:r>
            <a:r>
              <a:rPr lang="zh-CN" sz="2000"/>
              <a:t>，它们具备</a:t>
            </a:r>
            <a:r>
              <a:rPr lang="zh-CN" altLang="en-US" sz="2000">
                <a:solidFill>
                  <a:srgbClr val="9C0B15"/>
                </a:solidFill>
              </a:rPr>
              <a:t>可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</a:rPr>
              <a:t>快速随机访问的能力，只不过比传统内存稍慢；容量比内存远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</a:rPr>
              <a:t>要大，但比外存要小；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在断电后</a:t>
            </a:r>
            <a:r>
              <a:rPr lang="zh-CN" altLang="en-US" sz="2000">
                <a:solidFill>
                  <a:srgbClr val="9C0B15"/>
                </a:solidFill>
              </a:rPr>
              <a:t>它们的内容也像外存那样不丢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</a:rPr>
              <a:t>失</a:t>
            </a:r>
            <a:r>
              <a:rPr lang="zh-CN" sz="2000"/>
              <a:t>。</a:t>
            </a:r>
            <a:endParaRPr lang="zh-CN" sz="2000"/>
          </a:p>
          <a:p>
            <a:endParaRPr lang="zh-CN" altLang="en-US" sz="2000"/>
          </a:p>
          <a:p>
            <a:r>
              <a:rPr lang="en-US" altLang="zh-CN" sz="2000" b="1">
                <a:solidFill>
                  <a:srgbClr val="9C0B15"/>
                </a:solidFill>
              </a:rPr>
              <a:t>问题</a:t>
            </a:r>
            <a:r>
              <a:rPr lang="en-US" altLang="zh-CN" sz="2000"/>
              <a:t>		</a:t>
            </a:r>
            <a:r>
              <a:rPr lang="zh-CN" altLang="en-US" sz="2000"/>
              <a:t>从页面交换的角度出发，如何利用这些新存储器来提升系统性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能？</a:t>
            </a:r>
            <a:endParaRPr lang="zh-CN" altLang="en-US" sz="2000"/>
          </a:p>
        </p:txBody>
      </p:sp>
    </p:spTree>
    <p:custDataLst>
      <p:tags r:id="rId3"/>
    </p:custData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主存储器分配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一、进程的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系统进程总览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进程的实现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内存分配的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x86-64内存管理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DLM进程内分配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Linux进程间分配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Linux页面替换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三、系统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3.2 进程的基本操作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3.3 进程接口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实例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56311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进程的操作</a:t>
            </a:r>
            <a:endParaRPr lang="en-US" altLang="zh-CN" sz="2000" b="1">
              <a:solidFill>
                <a:srgbClr val="9C0B15"/>
              </a:solidFill>
            </a:endParaRPr>
          </a:p>
          <a:p>
            <a:pPr algn="ctr"/>
            <a:endParaRPr lang="en-US" altLang="zh-CN" sz="2000"/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</a:rPr>
              <a:t>基本操作</a:t>
            </a:r>
            <a:endParaRPr lang="en-US" altLang="zh-CN" sz="2000" b="1">
              <a:solidFill>
                <a:srgbClr val="9C0B15"/>
              </a:solidFill>
            </a:endParaRPr>
          </a:p>
          <a:p>
            <a:r>
              <a:rPr lang="en-US" altLang="zh-CN" sz="2000">
                <a:sym typeface="+mn-ea"/>
              </a:rPr>
              <a:t>	</a:t>
            </a:r>
            <a:r>
              <a:rPr lang="en-US" altLang="zh-CN" sz="2000" b="1">
                <a:solidFill>
                  <a:srgbClr val="9C0B15"/>
                </a:solidFill>
              </a:rPr>
              <a:t>创建</a:t>
            </a:r>
            <a:r>
              <a:rPr lang="en-US" altLang="zh-CN" sz="2000"/>
              <a:t>		</a:t>
            </a:r>
            <a:r>
              <a:rPr lang="zh-CN" sz="2000"/>
              <a:t>通知操作系统建立一个新的虚拟地址空间。</a:t>
            </a:r>
            <a:endParaRPr lang="zh-CN" altLang="en-US" sz="2000"/>
          </a:p>
          <a:p>
            <a:r>
              <a:rPr lang="en-US" altLang="zh-CN" sz="2000">
                <a:sym typeface="+mn-ea"/>
              </a:rPr>
              <a:t>	</a:t>
            </a:r>
            <a:r>
              <a:rPr lang="en-US" altLang="zh-CN" sz="2000" b="1">
                <a:solidFill>
                  <a:srgbClr val="9C0B15"/>
                </a:solidFill>
              </a:rPr>
              <a:t>销毁</a:t>
            </a:r>
            <a:r>
              <a:rPr lang="en-US" altLang="zh-CN" sz="2000"/>
              <a:t>		</a:t>
            </a:r>
            <a:r>
              <a:rPr lang="zh-CN" sz="2000"/>
              <a:t>通知操作系统销毁虚拟地址空间。</a:t>
            </a:r>
            <a:endParaRPr lang="zh-CN" altLang="en-US" sz="2000"/>
          </a:p>
          <a:p>
            <a:r>
              <a:rPr lang="en-US" altLang="zh-CN" sz="2000">
                <a:sym typeface="+mn-ea"/>
              </a:rPr>
              <a:t>	</a:t>
            </a:r>
            <a:r>
              <a:rPr lang="en-US" altLang="zh-CN" sz="2000" b="1">
                <a:solidFill>
                  <a:srgbClr val="9C0B15"/>
                </a:solidFill>
              </a:rPr>
              <a:t>分配资源</a:t>
            </a:r>
            <a:r>
              <a:rPr lang="en-US" altLang="zh-CN" sz="2000"/>
              <a:t>	</a:t>
            </a:r>
            <a:r>
              <a:rPr lang="zh-CN" altLang="en-US" sz="2000"/>
              <a:t>给进程分配更多资源。</a:t>
            </a:r>
            <a:endParaRPr lang="zh-CN" altLang="en-US" sz="2000"/>
          </a:p>
          <a:p>
            <a:endParaRPr lang="zh-CN" altLang="en-US" sz="2000"/>
          </a:p>
          <a:p>
            <a:endParaRPr lang="zh-CN" altLang="en-US" sz="2000"/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</a:rPr>
              <a:t>其它操作</a:t>
            </a:r>
            <a:endParaRPr lang="en-US" altLang="zh-CN" sz="2000" b="1">
              <a:solidFill>
                <a:srgbClr val="9C0B15"/>
              </a:solidFill>
            </a:endParaRPr>
          </a:p>
          <a:p>
            <a:r>
              <a:rPr lang="en-US" altLang="zh-CN" sz="2000">
                <a:sym typeface="+mn-ea"/>
              </a:rPr>
              <a:t>	</a:t>
            </a:r>
            <a:r>
              <a:rPr lang="en-US" altLang="zh-CN" sz="2000" b="1">
                <a:solidFill>
                  <a:srgbClr val="9C0B15"/>
                </a:solidFill>
              </a:rPr>
              <a:t>等待</a:t>
            </a:r>
            <a:r>
              <a:rPr lang="en-US" altLang="zh-CN" sz="2000"/>
              <a:t>		</a:t>
            </a:r>
            <a:r>
              <a:rPr lang="zh-CN" altLang="en-US" sz="2000"/>
              <a:t>等待另一个进程被销毁（也即其主线程终止）。</a:t>
            </a:r>
            <a:endParaRPr lang="zh-CN" altLang="en-US" sz="2000"/>
          </a:p>
          <a:p>
            <a:r>
              <a:rPr lang="en-US" altLang="zh-CN" sz="2000">
                <a:sym typeface="+mn-ea"/>
              </a:rPr>
              <a:t>	</a:t>
            </a:r>
            <a:r>
              <a:rPr lang="en-US" altLang="zh-CN" sz="2000" b="1">
                <a:solidFill>
                  <a:srgbClr val="9C0B15"/>
                </a:solidFill>
              </a:rPr>
              <a:t>复制</a:t>
            </a:r>
            <a:r>
              <a:rPr lang="en-US" altLang="zh-CN" sz="2000"/>
              <a:t>		</a:t>
            </a:r>
            <a:r>
              <a:rPr lang="zh-CN" altLang="en-US" sz="2000"/>
              <a:t>产生一个当前进程的副本，或者加载其它程序覆盖当前</a:t>
            </a:r>
            <a:r>
              <a:rPr lang="en-US" altLang="zh-CN" sz="2000">
                <a:sym typeface="+mn-ea"/>
              </a:rPr>
              <a:t>			</a:t>
            </a:r>
            <a:r>
              <a:rPr lang="zh-CN" altLang="en-US" sz="2000"/>
              <a:t>进程。</a:t>
            </a:r>
            <a:endParaRPr lang="zh-CN" altLang="en-US" sz="2000"/>
          </a:p>
          <a:p>
            <a:r>
              <a:rPr lang="en-US" altLang="zh-CN" sz="2000">
                <a:sym typeface="+mn-ea"/>
              </a:rPr>
              <a:t>	</a:t>
            </a:r>
            <a:r>
              <a:rPr lang="en-US" altLang="zh-CN" sz="2000" b="1">
                <a:solidFill>
                  <a:srgbClr val="9C0B15"/>
                </a:solidFill>
              </a:rPr>
              <a:t>设置特权</a:t>
            </a:r>
            <a:r>
              <a:rPr lang="en-US" altLang="zh-CN" sz="2000"/>
              <a:t>	</a:t>
            </a:r>
            <a:r>
              <a:rPr lang="zh-CN" altLang="en-US" sz="2000"/>
              <a:t>赋予（</a:t>
            </a:r>
            <a:r>
              <a:rPr lang="en-US" altLang="zh-CN" sz="2000"/>
              <a:t>Grant</a:t>
            </a:r>
            <a:r>
              <a:rPr lang="zh-CN" altLang="en-US" sz="2000"/>
              <a:t>）或撤销（</a:t>
            </a:r>
            <a:r>
              <a:rPr lang="en-US" altLang="zh-CN" sz="2000"/>
              <a:t>Revoke</a:t>
            </a:r>
            <a:r>
              <a:rPr lang="zh-CN" altLang="en-US" sz="2000"/>
              <a:t>）进程的某些权限。</a:t>
            </a:r>
            <a:endParaRPr lang="zh-CN" altLang="en-US" sz="2000"/>
          </a:p>
          <a:p>
            <a:r>
              <a:rPr lang="en-US" altLang="zh-CN" sz="2000">
                <a:sym typeface="+mn-ea"/>
              </a:rPr>
              <a:t>	</a:t>
            </a:r>
            <a:r>
              <a:rPr lang="en-US" altLang="zh-CN" sz="2000" b="1">
                <a:solidFill>
                  <a:srgbClr val="9C0B15"/>
                </a:solidFill>
              </a:rPr>
              <a:t>设置</a:t>
            </a:r>
            <a:r>
              <a:rPr lang="zh-CN" altLang="en-US" sz="2000" b="1">
                <a:solidFill>
                  <a:srgbClr val="9C0B15"/>
                </a:solidFill>
              </a:rPr>
              <a:t>策略</a:t>
            </a:r>
            <a:r>
              <a:rPr lang="en-US" altLang="zh-CN" sz="2000"/>
              <a:t>	</a:t>
            </a:r>
            <a:r>
              <a:rPr lang="zh-CN" altLang="en-US" sz="2000"/>
              <a:t>对进程</a:t>
            </a:r>
            <a:r>
              <a:rPr lang="zh-CN" altLang="en-US" sz="2000">
                <a:sym typeface="+mn-ea"/>
              </a:rPr>
              <a:t>设置</a:t>
            </a:r>
            <a:r>
              <a:rPr lang="zh-CN" altLang="en-US" sz="2000"/>
              <a:t>资源总量限制或资源分配优先级等等。不</a:t>
            </a:r>
            <a:r>
              <a:rPr lang="zh-CN" altLang="en-US" sz="2000">
                <a:sym typeface="+mn-ea"/>
              </a:rPr>
              <a:t>要</a:t>
            </a:r>
            <a:r>
              <a:rPr lang="en-US" altLang="zh-CN" sz="2000">
                <a:sym typeface="+mn-ea"/>
              </a:rPr>
              <a:t>			</a:t>
            </a:r>
            <a:r>
              <a:rPr lang="zh-CN" altLang="en-US" sz="2000"/>
              <a:t>把这个优先级和线程的优先级搞混了，这里主要是指</a:t>
            </a:r>
            <a:r>
              <a:rPr lang="zh-CN" altLang="en-US" sz="2000">
                <a:sym typeface="+mn-ea"/>
              </a:rPr>
              <a:t>分</a:t>
            </a:r>
            <a:r>
              <a:rPr lang="en-US" altLang="zh-CN" sz="2000">
                <a:sym typeface="+mn-ea"/>
              </a:rPr>
              <a:t>			</a:t>
            </a:r>
            <a:r>
              <a:rPr lang="zh-CN" altLang="en-US" sz="2000"/>
              <a:t>配物理内存（或其他空间资源）时是否优先照顾它的</a:t>
            </a:r>
            <a:r>
              <a:rPr lang="zh-CN" altLang="en-US" sz="2000">
                <a:sym typeface="+mn-ea"/>
              </a:rPr>
              <a:t>请</a:t>
            </a:r>
            <a:r>
              <a:rPr lang="en-US" altLang="zh-CN" sz="2000">
                <a:sym typeface="+mn-ea"/>
              </a:rPr>
              <a:t>			</a:t>
            </a:r>
            <a:r>
              <a:rPr lang="zh-CN" altLang="en-US" sz="2000"/>
              <a:t>求。当然，也有以进程为单位一次性设置其全部线程优</a:t>
            </a:r>
            <a:r>
              <a:rPr lang="en-US" altLang="zh-CN" sz="2000">
                <a:sym typeface="+mn-ea"/>
              </a:rPr>
              <a:t>			</a:t>
            </a:r>
            <a:r>
              <a:rPr lang="zh-CN" altLang="en-US" sz="2000"/>
              <a:t>先级的</a:t>
            </a:r>
            <a:r>
              <a:rPr lang="en-US" altLang="zh-CN" sz="2000"/>
              <a:t>API</a:t>
            </a:r>
            <a:r>
              <a:rPr lang="zh-CN" altLang="en-US" sz="2000"/>
              <a:t>。</a:t>
            </a:r>
            <a:endParaRPr lang="zh-CN" altLang="en-US" sz="2000"/>
          </a:p>
        </p:txBody>
      </p:sp>
    </p:spTree>
    <p:custDataLst>
      <p:tags r:id="rId2"/>
    </p:custData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主存储器分配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一、进程的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系统进程总览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进程的实现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内存分配的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x86-64内存管理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DLM进程内分配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Linux进程间分配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Linux页面替换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三、系统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3.2 进程的基本操作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3.3 进程接口实例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进程接口实例</a:t>
            </a:r>
            <a:endParaRPr lang="zh-CN" altLang="en-US" sz="2000"/>
          </a:p>
        </p:txBody>
      </p:sp>
      <p:graphicFrame>
        <p:nvGraphicFramePr>
          <p:cNvPr id="5" name="表格 4"/>
          <p:cNvGraphicFramePr/>
          <p:nvPr>
            <p:custDataLst>
              <p:tags r:id="rId2"/>
            </p:custDataLst>
          </p:nvPr>
        </p:nvGraphicFramePr>
        <p:xfrm>
          <a:off x="333375" y="1059815"/>
          <a:ext cx="9121140" cy="580072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778760"/>
                <a:gridCol w="3622040"/>
                <a:gridCol w="2720340"/>
              </a:tblGrid>
              <a:tr h="4800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latin typeface="+mn-ea"/>
                          <a:cs typeface="+mn-ea"/>
                        </a:rPr>
                        <a:t>Linux</a:t>
                      </a:r>
                      <a:r>
                        <a:rPr lang="zh-CN" altLang="en-US" sz="1800">
                          <a:latin typeface="+mn-ea"/>
                          <a:cs typeface="+mn-ea"/>
                        </a:rPr>
                        <a:t>原生接口</a:t>
                      </a:r>
                      <a:endParaRPr lang="zh-CN" altLang="en-US" sz="1800">
                        <a:latin typeface="+mn-ea"/>
                        <a:cs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latin typeface="+mn-ea"/>
                          <a:cs typeface="+mn-ea"/>
                          <a:sym typeface="+mn-ea"/>
                        </a:rPr>
                        <a:t>Windows</a:t>
                      </a:r>
                      <a:r>
                        <a:rPr lang="zh-CN" altLang="en-US" sz="1800">
                          <a:latin typeface="+mn-ea"/>
                          <a:cs typeface="+mn-ea"/>
                          <a:sym typeface="+mn-ea"/>
                        </a:rPr>
                        <a:t>原生接口</a:t>
                      </a:r>
                      <a:endParaRPr lang="zh-CN" altLang="en-US" sz="1800">
                        <a:latin typeface="+mn-ea"/>
                        <a:cs typeface="+mn-ea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>
                          <a:latin typeface="+mn-ea"/>
                        </a:rPr>
                        <a:t>功能</a:t>
                      </a:r>
                      <a:endParaRPr lang="zh-CN" altLang="en-US" sz="1800">
                        <a:latin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8006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+mn-ea"/>
                          <a:cs typeface="思源黑体 CN Regular" panose="020B0500000000000000" charset="-122"/>
                        </a:rPr>
                        <a:t>vfork+exec</a:t>
                      </a:r>
                      <a:r>
                        <a:rPr lang="zh-CN" altLang="en-US" sz="1800">
                          <a:latin typeface="+mn-ea"/>
                          <a:cs typeface="思源黑体 CN Regular" panose="020B0500000000000000" charset="-122"/>
                        </a:rPr>
                        <a:t>函数族</a:t>
                      </a:r>
                      <a:endParaRPr lang="zh-CN" altLang="en-US" sz="1800">
                        <a:latin typeface="+mn-ea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+mn-ea"/>
                          <a:cs typeface="思源黑体 CN Regular" panose="020B0500000000000000" charset="-122"/>
                        </a:rPr>
                        <a:t>Create</a:t>
                      </a:r>
                      <a:r>
                        <a:rPr lang="en-US" altLang="zh-CN" sz="1800">
                          <a:latin typeface="+mn-ea"/>
                          <a:cs typeface="思源黑体 CN Regular" panose="020B0500000000000000" charset="-122"/>
                        </a:rPr>
                        <a:t>Process</a:t>
                      </a:r>
                      <a:endParaRPr lang="en-US" altLang="zh-CN" sz="1800">
                        <a:latin typeface="+mn-ea"/>
                        <a:cs typeface="思源黑体 CN Regular" panose="020B0500000000000000" charset="-122"/>
                      </a:endParaRPr>
                    </a:p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+mn-ea"/>
                          <a:cs typeface="思源黑体 CN Regular" panose="020B0500000000000000" charset="-122"/>
                        </a:rPr>
                        <a:t>CreateProcessAsUser</a:t>
                      </a:r>
                      <a:endParaRPr lang="en-US" altLang="zh-CN" sz="1800">
                        <a:latin typeface="+mn-ea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sz="1800">
                          <a:latin typeface="+mn-ea"/>
                          <a:cs typeface="思源黑体 CN Regular" panose="020B0500000000000000" charset="-122"/>
                        </a:rPr>
                        <a:t>创建进程</a:t>
                      </a:r>
                      <a:endParaRPr lang="zh-CN" sz="1800">
                        <a:latin typeface="+mn-ea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8006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+mn-ea"/>
                          <a:cs typeface="思源黑体 CN Regular" panose="020B0500000000000000" charset="-122"/>
                        </a:rPr>
                        <a:t>exit</a:t>
                      </a:r>
                      <a:endParaRPr lang="en-US" altLang="zh-CN" sz="1800">
                        <a:latin typeface="+mn-ea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+mn-ea"/>
                          <a:cs typeface="思源黑体 CN Regular" panose="020B0500000000000000" charset="-122"/>
                          <a:sym typeface="+mn-ea"/>
                        </a:rPr>
                        <a:t>ExitProcess</a:t>
                      </a:r>
                      <a:endParaRPr lang="en-US" altLang="zh-CN" sz="1800">
                        <a:latin typeface="+mn-ea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+mn-ea"/>
                          <a:cs typeface="思源黑体 CN Regular" panose="020B0500000000000000" charset="-122"/>
                        </a:rPr>
                        <a:t>销毁进程</a:t>
                      </a:r>
                      <a:endParaRPr lang="zh-CN" altLang="en-US" sz="1800">
                        <a:latin typeface="+mn-ea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53594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+mn-ea"/>
                          <a:cs typeface="思源黑体 CN Regular" panose="020B0500000000000000" charset="-122"/>
                        </a:rPr>
                        <a:t>waitpid</a:t>
                      </a:r>
                      <a:r>
                        <a:rPr lang="en-US" altLang="zh-CN" sz="1800">
                          <a:latin typeface="+mn-ea"/>
                          <a:cs typeface="思源黑体 CN Regular" panose="020B0500000000000000" charset="-122"/>
                        </a:rPr>
                        <a:t>/wait4</a:t>
                      </a:r>
                      <a:endParaRPr lang="en-US" altLang="zh-CN" sz="1800">
                        <a:latin typeface="+mn-ea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+mn-ea"/>
                          <a:cs typeface="思源黑体 CN Regular" panose="020B0500000000000000" charset="-122"/>
                          <a:sym typeface="+mn-ea"/>
                        </a:rPr>
                        <a:t>WaitForSingleObject</a:t>
                      </a:r>
                      <a:endParaRPr lang="zh-CN" altLang="en-US" sz="1800">
                        <a:latin typeface="+mn-ea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sz="1800">
                          <a:latin typeface="+mn-ea"/>
                          <a:cs typeface="思源黑体 CN Regular" panose="020B0500000000000000" charset="-122"/>
                        </a:rPr>
                        <a:t>等待进程</a:t>
                      </a:r>
                      <a:endParaRPr lang="zh-CN" sz="1800">
                        <a:latin typeface="+mn-ea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53594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+mn-ea"/>
                          <a:cs typeface="思源黑体 CN Regular" panose="020B0500000000000000" charset="-122"/>
                        </a:rPr>
                        <a:t>fork/clone</a:t>
                      </a:r>
                      <a:endParaRPr lang="en-US" altLang="zh-CN" sz="1800">
                        <a:latin typeface="+mn-ea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+mn-ea"/>
                          <a:cs typeface="思源黑体 CN Regular" panose="020B0500000000000000" charset="-122"/>
                          <a:sym typeface="+mn-ea"/>
                        </a:rPr>
                        <a:t>Create</a:t>
                      </a:r>
                      <a:r>
                        <a:rPr lang="en-US" altLang="zh-CN" sz="1800">
                          <a:latin typeface="+mn-ea"/>
                          <a:cs typeface="思源黑体 CN Regular" panose="020B0500000000000000" charset="-122"/>
                          <a:sym typeface="+mn-ea"/>
                        </a:rPr>
                        <a:t>Process</a:t>
                      </a:r>
                      <a:endParaRPr lang="en-US" altLang="zh-CN" sz="1800">
                        <a:latin typeface="+mn-ea"/>
                        <a:cs typeface="思源黑体 CN Regular" panose="020B0500000000000000" charset="-122"/>
                        <a:sym typeface="+mn-ea"/>
                      </a:endParaRPr>
                    </a:p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800">
                          <a:latin typeface="+mn-ea"/>
                          <a:cs typeface="思源黑体 CN Regular" panose="020B0500000000000000" charset="-122"/>
                        </a:rPr>
                        <a:t>+</a:t>
                      </a:r>
                      <a:r>
                        <a:rPr lang="zh-CN" altLang="en-US" sz="1800">
                          <a:latin typeface="+mn-ea"/>
                          <a:cs typeface="思源黑体 CN Regular" panose="020B0500000000000000" charset="-122"/>
                        </a:rPr>
                        <a:t>其它系统调用</a:t>
                      </a:r>
                      <a:endParaRPr lang="zh-CN" altLang="en-US" sz="1800">
                        <a:latin typeface="+mn-ea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+mn-ea"/>
                          <a:cs typeface="思源黑体 CN Regular" panose="020B0500000000000000" charset="-122"/>
                          <a:sym typeface="+mn-ea"/>
                        </a:rPr>
                        <a:t>复制进程</a:t>
                      </a:r>
                      <a:endParaRPr lang="zh-CN" altLang="en-US" sz="1800">
                        <a:latin typeface="+mn-ea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64008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+mn-ea"/>
                          <a:cs typeface="思源黑体 CN Regular" panose="020B0500000000000000" charset="-122"/>
                          <a:sym typeface="+mn-ea"/>
                        </a:rPr>
                        <a:t>（继承用户权限）</a:t>
                      </a:r>
                      <a:endParaRPr lang="zh-CN" altLang="en-US" sz="1800">
                        <a:latin typeface="+mn-ea"/>
                        <a:cs typeface="思源黑体 CN Regular" panose="020B0500000000000000" charset="-122"/>
                        <a:sym typeface="+mn-ea"/>
                      </a:endParaRPr>
                    </a:p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+mn-ea"/>
                          <a:cs typeface="思源黑体 CN Regular" panose="020B0500000000000000" charset="-122"/>
                          <a:sym typeface="+mn-ea"/>
                        </a:rPr>
                        <a:t>capset</a:t>
                      </a:r>
                      <a:endParaRPr lang="en-US" altLang="zh-CN" sz="1800">
                        <a:latin typeface="+mn-ea"/>
                        <a:cs typeface="思源黑体 CN Regular" panose="020B0500000000000000" charset="-122"/>
                        <a:sym typeface="+mn-ea"/>
                      </a:endParaRPr>
                    </a:p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+mn-ea"/>
                          <a:cs typeface="思源黑体 CN Regular" panose="020B0500000000000000" charset="-122"/>
                          <a:sym typeface="+mn-ea"/>
                        </a:rPr>
                        <a:t>ptrace</a:t>
                      </a:r>
                      <a:endParaRPr lang="en-US" altLang="zh-CN" sz="1800">
                        <a:latin typeface="+mn-ea"/>
                        <a:cs typeface="思源黑体 CN Regular" panose="020B0500000000000000" charset="-122"/>
                        <a:sym typeface="+mn-ea"/>
                      </a:endParaRPr>
                    </a:p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+mn-ea"/>
                          <a:cs typeface="思源黑体 CN Regular" panose="020B0500000000000000" charset="-122"/>
                          <a:sym typeface="+mn-ea"/>
                        </a:rPr>
                        <a:t>mprotect</a:t>
                      </a:r>
                      <a:endParaRPr lang="en-US" altLang="zh-CN" sz="1800">
                        <a:latin typeface="+mn-ea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+mn-ea"/>
                          <a:cs typeface="思源黑体 CN Regular" panose="020B0500000000000000" charset="-122"/>
                          <a:sym typeface="+mn-ea"/>
                        </a:rPr>
                        <a:t>（继承用户权限）</a:t>
                      </a:r>
                      <a:endParaRPr lang="en-US" altLang="zh-CN" sz="1800">
                        <a:latin typeface="+mn-ea"/>
                        <a:cs typeface="思源黑体 CN Regular" panose="020B0500000000000000" charset="-122"/>
                      </a:endParaRPr>
                    </a:p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+mn-ea"/>
                          <a:cs typeface="思源黑体 CN Regular" panose="020B0500000000000000" charset="-122"/>
                        </a:rPr>
                        <a:t>SetSecurityInfo</a:t>
                      </a:r>
                      <a:endParaRPr lang="en-US" altLang="zh-CN" sz="1800">
                        <a:latin typeface="+mn-ea"/>
                        <a:cs typeface="思源黑体 CN Regular" panose="020B0500000000000000" charset="-122"/>
                      </a:endParaRPr>
                    </a:p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+mn-ea"/>
                          <a:cs typeface="思源黑体 CN Regular" panose="020B0500000000000000" charset="-122"/>
                        </a:rPr>
                        <a:t>SetProcessValidCallTargets</a:t>
                      </a:r>
                      <a:endParaRPr lang="en-US" altLang="zh-CN" sz="1800">
                        <a:latin typeface="+mn-ea"/>
                        <a:cs typeface="思源黑体 CN Regular" panose="020B0500000000000000" charset="-122"/>
                      </a:endParaRPr>
                    </a:p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+mn-ea"/>
                          <a:cs typeface="思源黑体 CN Regular" panose="020B0500000000000000" charset="-122"/>
                        </a:rPr>
                        <a:t>SetProcessDEPPolicy</a:t>
                      </a:r>
                      <a:endParaRPr lang="en-US" altLang="zh-CN" sz="1800">
                        <a:latin typeface="+mn-ea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+mn-ea"/>
                          <a:cs typeface="思源黑体 CN Regular" panose="020B0500000000000000" charset="-122"/>
                        </a:rPr>
                        <a:t>设置特权</a:t>
                      </a:r>
                      <a:endParaRPr lang="zh-CN" altLang="en-US" sz="1800">
                        <a:latin typeface="+mn-ea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53594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+mn-ea"/>
                          <a:cs typeface="思源黑体 CN Regular" panose="020B0500000000000000" charset="-122"/>
                          <a:sym typeface="+mn-ea"/>
                        </a:rPr>
                        <a:t>setrlimit</a:t>
                      </a:r>
                      <a:endParaRPr lang="en-US" altLang="zh-CN" sz="1800">
                        <a:latin typeface="+mn-ea"/>
                        <a:cs typeface="思源黑体 CN Regular" panose="020B0500000000000000" charset="-122"/>
                        <a:sym typeface="+mn-ea"/>
                      </a:endParaRPr>
                    </a:p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+mn-ea"/>
                          <a:cs typeface="思源黑体 CN Regular" panose="020B0500000000000000" charset="-122"/>
                        </a:rPr>
                        <a:t>madvise</a:t>
                      </a:r>
                      <a:endParaRPr lang="en-US" altLang="zh-CN" sz="1800">
                        <a:latin typeface="+mn-ea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+mn-ea"/>
                          <a:cs typeface="思源黑体 CN Regular" panose="020B0500000000000000" charset="-122"/>
                        </a:rPr>
                        <a:t>SetProcessWorkingSetSize</a:t>
                      </a:r>
                      <a:endParaRPr lang="en-US" altLang="zh-CN" sz="1800">
                        <a:latin typeface="+mn-ea"/>
                        <a:cs typeface="思源黑体 CN Regular" panose="020B0500000000000000" charset="-122"/>
                      </a:endParaRPr>
                    </a:p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+mn-ea"/>
                          <a:cs typeface="思源黑体 CN Regular" panose="020B0500000000000000" charset="-122"/>
                        </a:rPr>
                        <a:t>SetProcessAffinityMask</a:t>
                      </a:r>
                      <a:endParaRPr lang="en-US" altLang="zh-CN" sz="1800">
                        <a:latin typeface="+mn-ea"/>
                        <a:cs typeface="思源黑体 CN Regular" panose="020B0500000000000000" charset="-122"/>
                      </a:endParaRPr>
                    </a:p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+mn-ea"/>
                          <a:cs typeface="思源黑体 CN Regular" panose="020B0500000000000000" charset="-122"/>
                        </a:rPr>
                        <a:t>SetProcessPriorityBoost</a:t>
                      </a:r>
                      <a:endParaRPr lang="en-US" altLang="zh-CN" sz="1800">
                        <a:latin typeface="+mn-ea"/>
                        <a:cs typeface="思源黑体 CN Regular" panose="020B0500000000000000" charset="-122"/>
                      </a:endParaRPr>
                    </a:p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+mn-ea"/>
                          <a:cs typeface="思源黑体 CN Regular" panose="020B0500000000000000" charset="-122"/>
                        </a:rPr>
                        <a:t>SetProcessInformation</a:t>
                      </a:r>
                      <a:endParaRPr lang="en-US" altLang="zh-CN" sz="1800">
                        <a:latin typeface="+mn-ea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+mn-ea"/>
                          <a:cs typeface="思源黑体 CN Regular" panose="020B0500000000000000" charset="-122"/>
                        </a:rPr>
                        <a:t>设置策略</a:t>
                      </a:r>
                      <a:endParaRPr lang="zh-CN" altLang="en-US" sz="1800">
                        <a:latin typeface="+mn-ea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主存储器分配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一、进程的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系统进程总览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进程的实现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内存分配的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x86-64内存管理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DLM进程内分配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Linux进程间分配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Linux页面替换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三、系统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.2 进程的基本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操作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3.3 进程接口实例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Text Box 2"/>
          <p:cNvSpPr txBox="1"/>
          <p:nvPr/>
        </p:nvSpPr>
        <p:spPr>
          <a:xfrm>
            <a:off x="428625" y="140335"/>
            <a:ext cx="8930640" cy="6369685"/>
          </a:xfrm>
          <a:prstGeom prst="rect">
            <a:avLst/>
          </a:prstGeom>
          <a:noFill/>
          <a:ln w="12700">
            <a:noFill/>
          </a:ln>
        </p:spPr>
        <p:txBody>
          <a:bodyPr wrap="square" anchor="t" anchorCtr="0">
            <a:spAutoFit/>
          </a:bodyPr>
          <a:p>
            <a:pPr algn="ctr">
              <a:spcBef>
                <a:spcPct val="20000"/>
              </a:spcBef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8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号作业：第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7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周</a:t>
            </a: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ctr">
              <a:spcBef>
                <a:spcPct val="20000"/>
              </a:spcBef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r>
              <a:rPr lang="zh-CN" altLang="en-US" sz="2000" b="1">
                <a:sym typeface="+mn-ea"/>
              </a:rPr>
              <a:t>题目一</a:t>
            </a:r>
            <a:r>
              <a:rPr lang="zh-CN" sz="2000">
                <a:sym typeface="+mn-ea"/>
              </a:rPr>
              <a:t> 为什么</a:t>
            </a:r>
            <a:r>
              <a:rPr lang="en-US" altLang="zh-CN" sz="2000">
                <a:sym typeface="+mn-ea"/>
              </a:rPr>
              <a:t>end_brk</a:t>
            </a:r>
            <a:r>
              <a:rPr lang="zh-CN" altLang="en-US" sz="2000">
                <a:sym typeface="+mn-ea"/>
              </a:rPr>
              <a:t>一旦增加，一般是不会回落的？你能想出一种场景，如果不进行荒野保护，会导致不必要的</a:t>
            </a:r>
            <a:r>
              <a:rPr lang="en-US" altLang="zh-CN" sz="2000">
                <a:sym typeface="+mn-ea"/>
              </a:rPr>
              <a:t>brk</a:t>
            </a:r>
            <a:r>
              <a:rPr lang="zh-CN" altLang="en-US" sz="2000">
                <a:sym typeface="+mn-ea"/>
              </a:rPr>
              <a:t>上移</a:t>
            </a:r>
            <a:r>
              <a:rPr lang="zh-CN" altLang="en-US" sz="2000">
                <a:sym typeface="+mn-ea"/>
              </a:rPr>
              <a:t>吗？</a:t>
            </a:r>
            <a:endParaRPr lang="zh-CN" altLang="en-US" sz="2000"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endParaRPr lang="en-US" altLang="zh-CN" sz="2000" b="1">
              <a:solidFill>
                <a:srgbClr val="9C0B15"/>
              </a:solidFill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r>
              <a:rPr lang="zh-CN" altLang="en-US" sz="2000" b="1">
                <a:sym typeface="+mn-ea"/>
              </a:rPr>
              <a:t>题目二</a:t>
            </a:r>
            <a:r>
              <a:rPr lang="en-US" altLang="zh-CN" sz="2000">
                <a:sym typeface="+mn-ea"/>
              </a:rPr>
              <a:t> </a:t>
            </a:r>
            <a:r>
              <a:rPr lang="zh-CN" sz="2000">
                <a:sym typeface="+mn-ea"/>
              </a:rPr>
              <a:t>除了</a:t>
            </a:r>
            <a:r>
              <a:rPr lang="en-US" altLang="zh-CN" sz="2000">
                <a:sym typeface="+mn-ea"/>
              </a:rPr>
              <a:t>sbrk</a:t>
            </a:r>
            <a:r>
              <a:rPr lang="zh-CN" altLang="en-US" sz="2000">
                <a:sym typeface="+mn-ea"/>
              </a:rPr>
              <a:t>以外，还有什么方法能增加堆的大小</a:t>
            </a:r>
            <a:r>
              <a:rPr lang="zh-CN" sz="2000">
                <a:sym typeface="+mn-ea"/>
              </a:rPr>
              <a:t>？它与</a:t>
            </a:r>
            <a:r>
              <a:rPr lang="en-US" altLang="zh-CN" sz="2000">
                <a:sym typeface="+mn-ea"/>
              </a:rPr>
              <a:t>sbrk</a:t>
            </a:r>
            <a:r>
              <a:rPr lang="zh-CN" altLang="en-US" sz="2000">
                <a:sym typeface="+mn-ea"/>
              </a:rPr>
              <a:t>有何区别？</a:t>
            </a:r>
            <a:endParaRPr lang="zh-CN" altLang="en-US" sz="2000"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r>
              <a:rPr lang="zh-CN" altLang="en-US" sz="2000" b="1">
                <a:sym typeface="+mn-ea"/>
              </a:rPr>
              <a:t>题目三</a:t>
            </a:r>
            <a:r>
              <a:rPr lang="zh-CN" sz="2000">
                <a:sym typeface="+mn-ea"/>
              </a:rPr>
              <a:t> </a:t>
            </a:r>
            <a:r>
              <a:rPr lang="en-US" altLang="zh-CN" sz="2000">
                <a:sym typeface="+mn-ea"/>
              </a:rPr>
              <a:t>Linux</a:t>
            </a:r>
            <a:r>
              <a:rPr lang="zh-CN" altLang="en-US" sz="2000">
                <a:sym typeface="+mn-ea"/>
              </a:rPr>
              <a:t>内核在运行时，本身的内核对象（如</a:t>
            </a:r>
            <a:r>
              <a:rPr lang="en-US" altLang="zh-CN" sz="2000">
                <a:sym typeface="+mn-ea"/>
              </a:rPr>
              <a:t>task_struct</a:t>
            </a:r>
            <a:r>
              <a:rPr lang="zh-CN" altLang="en-US" sz="2000">
                <a:sym typeface="+mn-ea"/>
              </a:rPr>
              <a:t>、</a:t>
            </a:r>
            <a:r>
              <a:rPr lang="en-US" altLang="zh-CN" sz="2000">
                <a:sym typeface="+mn-ea"/>
              </a:rPr>
              <a:t>mm_struct</a:t>
            </a:r>
            <a:r>
              <a:rPr lang="zh-CN" altLang="en-US" sz="2000">
                <a:sym typeface="+mn-ea"/>
              </a:rPr>
              <a:t>和页表等）也会消耗一定的内存，这些内存我们称之为内核内存。</a:t>
            </a:r>
            <a:r>
              <a:rPr lang="en-US" altLang="zh-CN" sz="2000">
                <a:sym typeface="+mn-ea"/>
              </a:rPr>
              <a:t>Linux</a:t>
            </a:r>
            <a:r>
              <a:rPr lang="zh-CN" altLang="en-US" sz="2000">
                <a:sym typeface="+mn-ea"/>
              </a:rPr>
              <a:t>最常见的内核内存的分配器叫什么名字？它是怎么设计的？</a:t>
            </a:r>
            <a:r>
              <a:rPr lang="zh-CN" altLang="en-US" sz="2000">
                <a:sym typeface="+mn-ea"/>
              </a:rPr>
              <a:t>它和</a:t>
            </a:r>
            <a:r>
              <a:rPr lang="en-US" altLang="zh-CN" sz="2000">
                <a:sym typeface="+mn-ea"/>
              </a:rPr>
              <a:t>dlmalloc</a:t>
            </a:r>
            <a:r>
              <a:rPr lang="zh-CN" altLang="en-US" sz="2000">
                <a:sym typeface="+mn-ea"/>
              </a:rPr>
              <a:t>有何异同？</a:t>
            </a:r>
            <a:endParaRPr lang="zh-CN" altLang="en-US" sz="2000"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endParaRPr lang="en-US" altLang="zh-CN" sz="2000" b="1">
              <a:solidFill>
                <a:srgbClr val="9C0B15"/>
              </a:solidFill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r>
              <a:rPr lang="zh-CN" altLang="en-US" sz="2000" b="1">
                <a:sym typeface="+mn-ea"/>
              </a:rPr>
              <a:t>题目四</a:t>
            </a:r>
            <a:r>
              <a:rPr lang="zh-CN" sz="2000">
                <a:sym typeface="+mn-ea"/>
              </a:rPr>
              <a:t> 查询</a:t>
            </a:r>
            <a:r>
              <a:rPr lang="en-US" altLang="zh-CN" sz="2000">
                <a:sym typeface="+mn-ea"/>
              </a:rPr>
              <a:t>Linux</a:t>
            </a:r>
            <a:r>
              <a:rPr lang="zh-CN" altLang="en-US" sz="2000">
                <a:sym typeface="+mn-ea"/>
              </a:rPr>
              <a:t>源代码和相关资料，请简述</a:t>
            </a:r>
            <a:r>
              <a:rPr lang="en-US" altLang="zh-CN" sz="2000">
                <a:sym typeface="+mn-ea"/>
              </a:rPr>
              <a:t>Linux</a:t>
            </a:r>
            <a:r>
              <a:rPr lang="zh-CN" altLang="en-US" sz="2000">
                <a:sym typeface="+mn-ea"/>
              </a:rPr>
              <a:t>是如何管理其</a:t>
            </a:r>
            <a:r>
              <a:rPr lang="en-US" altLang="zh-CN" sz="2000">
                <a:sym typeface="+mn-ea"/>
              </a:rPr>
              <a:t>PCID</a:t>
            </a:r>
            <a:r>
              <a:rPr lang="zh-CN" altLang="en-US" sz="2000">
                <a:sym typeface="+mn-ea"/>
              </a:rPr>
              <a:t>的，并简述该机制如何能够</a:t>
            </a:r>
            <a:r>
              <a:rPr lang="zh-CN" altLang="en-US" sz="2000">
                <a:sym typeface="+mn-ea"/>
              </a:rPr>
              <a:t>帮助避免</a:t>
            </a:r>
            <a:r>
              <a:rPr lang="en-US" altLang="zh-CN" sz="2000">
                <a:sym typeface="+mn-ea"/>
              </a:rPr>
              <a:t>Meltdown</a:t>
            </a:r>
            <a:r>
              <a:rPr lang="zh-CN" altLang="en-US" sz="2000">
                <a:sym typeface="+mn-ea"/>
              </a:rPr>
              <a:t>漏洞。</a:t>
            </a:r>
            <a:endParaRPr lang="zh-CN" altLang="en-US" sz="2000"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r>
              <a:rPr lang="zh-CN" altLang="en-US" sz="2000" b="1">
                <a:sym typeface="+mn-ea"/>
              </a:rPr>
              <a:t>题目五</a:t>
            </a:r>
            <a:r>
              <a:rPr lang="zh-CN" sz="2000">
                <a:sym typeface="+mn-ea"/>
              </a:rPr>
              <a:t> 查找资料，说明</a:t>
            </a:r>
            <a:r>
              <a:rPr lang="en-US" altLang="zh-CN" sz="2000">
                <a:sym typeface="+mn-ea"/>
              </a:rPr>
              <a:t>CXL.mem</a:t>
            </a:r>
            <a:r>
              <a:rPr lang="zh-CN" altLang="en-US" sz="2000">
                <a:sym typeface="+mn-ea"/>
              </a:rPr>
              <a:t>协议的主要用途。由它组成的系统是</a:t>
            </a:r>
            <a:r>
              <a:rPr lang="en-US" altLang="zh-CN" sz="2000">
                <a:sym typeface="+mn-ea"/>
              </a:rPr>
              <a:t>UMA</a:t>
            </a:r>
            <a:r>
              <a:rPr lang="zh-CN" altLang="en-US" sz="2000">
                <a:sym typeface="+mn-ea"/>
              </a:rPr>
              <a:t>还是</a:t>
            </a:r>
            <a:r>
              <a:rPr lang="en-US" altLang="zh-CN" sz="2000">
                <a:sym typeface="+mn-ea"/>
              </a:rPr>
              <a:t>NUMA</a:t>
            </a:r>
            <a:r>
              <a:rPr lang="zh-CN" altLang="en-US" sz="2000">
                <a:sym typeface="+mn-ea"/>
              </a:rPr>
              <a:t>？为什么？</a:t>
            </a:r>
            <a:endParaRPr lang="zh-CN" altLang="en-US" sz="2000"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r>
              <a:rPr lang="zh-CN" altLang="en-US" sz="2000" b="1">
                <a:sym typeface="+mn-ea"/>
              </a:rPr>
              <a:t>题目六</a:t>
            </a:r>
            <a:r>
              <a:rPr lang="en-US" altLang="zh-CN" sz="2000">
                <a:sym typeface="+mn-ea"/>
              </a:rPr>
              <a:t> </a:t>
            </a:r>
            <a:r>
              <a:rPr lang="zh-CN" altLang="en-US" sz="2000">
                <a:sym typeface="+mn-ea"/>
              </a:rPr>
              <a:t>结合页面缓存机制，请解释为何将页面分配给新进程之前需要清零。</a:t>
            </a:r>
            <a:endParaRPr lang="zh-CN" altLang="en-US" sz="2000"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p:transition spd="med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主存储器分配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一、进程的</a:t>
                      </a: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实现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系统进程总览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进程的实现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内存分配的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实现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2.1 x86-64内存管理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2.2 DLM进程内分配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2.3 Linux进程间分配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2.4 Linux页面替换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三、系统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进程接口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.2 进程的基本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操作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3.3 进程接口实例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Text Box 2"/>
          <p:cNvSpPr txBox="1"/>
          <p:nvPr/>
        </p:nvSpPr>
        <p:spPr>
          <a:xfrm>
            <a:off x="428625" y="140335"/>
            <a:ext cx="8930640" cy="6369685"/>
          </a:xfrm>
          <a:prstGeom prst="rect">
            <a:avLst/>
          </a:prstGeom>
          <a:noFill/>
          <a:ln w="12700">
            <a:noFill/>
          </a:ln>
        </p:spPr>
        <p:txBody>
          <a:bodyPr wrap="square" anchor="t" anchorCtr="0">
            <a:spAutoFit/>
          </a:bodyPr>
          <a:p>
            <a:pPr algn="ctr">
              <a:spcBef>
                <a:spcPct val="20000"/>
              </a:spcBef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8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号作业：第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7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周</a:t>
            </a: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ctr">
              <a:spcBef>
                <a:spcPct val="20000"/>
              </a:spcBef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r>
              <a:rPr lang="zh-CN" altLang="en-US" sz="2000" b="1">
                <a:sym typeface="+mn-ea"/>
              </a:rPr>
              <a:t>题目七</a:t>
            </a:r>
            <a:r>
              <a:rPr lang="zh-CN" sz="2000">
                <a:sym typeface="+mn-ea"/>
              </a:rPr>
              <a:t> </a:t>
            </a:r>
            <a:r>
              <a:rPr lang="en-US" sz="2000">
                <a:sym typeface="+mn-ea"/>
              </a:rPr>
              <a:t>Linux</a:t>
            </a:r>
            <a:r>
              <a:rPr lang="zh-CN" altLang="en-US" sz="2000">
                <a:sym typeface="+mn-ea"/>
              </a:rPr>
              <a:t>的</a:t>
            </a:r>
            <a:r>
              <a:rPr lang="en-US" altLang="zh-CN" sz="2000">
                <a:sym typeface="+mn-ea"/>
              </a:rPr>
              <a:t>fork</a:t>
            </a:r>
            <a:r>
              <a:rPr lang="zh-CN" altLang="en-US" sz="2000">
                <a:sym typeface="+mn-ea"/>
              </a:rPr>
              <a:t>（或</a:t>
            </a:r>
            <a:r>
              <a:rPr lang="en-US" altLang="zh-CN" sz="2000">
                <a:sym typeface="+mn-ea"/>
              </a:rPr>
              <a:t>clone</a:t>
            </a:r>
            <a:r>
              <a:rPr lang="zh-CN" altLang="en-US" sz="2000">
                <a:sym typeface="+mn-ea"/>
              </a:rPr>
              <a:t>）系统调用是具体如何复制进程的？这和请求分页有何相似之处？</a:t>
            </a:r>
            <a:endParaRPr lang="zh-CN" altLang="en-US" sz="2000"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r>
              <a:rPr lang="zh-CN" altLang="en-US" sz="2000" b="1">
                <a:sym typeface="+mn-ea"/>
              </a:rPr>
              <a:t>题目八</a:t>
            </a:r>
            <a:r>
              <a:rPr lang="en-US" altLang="zh-CN" sz="2000">
                <a:sym typeface="+mn-ea"/>
              </a:rPr>
              <a:t> Linux</a:t>
            </a:r>
            <a:r>
              <a:rPr lang="zh-CN" altLang="en-US" sz="2000">
                <a:sym typeface="+mn-ea"/>
              </a:rPr>
              <a:t>的</a:t>
            </a:r>
            <a:r>
              <a:rPr lang="en-US" altLang="zh-CN" sz="2000">
                <a:sym typeface="+mn-ea"/>
              </a:rPr>
              <a:t>exec</a:t>
            </a:r>
            <a:r>
              <a:rPr lang="zh-CN" altLang="en-US" sz="2000">
                <a:sym typeface="+mn-ea"/>
              </a:rPr>
              <a:t>函数族具体包括哪些函数？它们之间的细节差异是什么？</a:t>
            </a:r>
            <a:endParaRPr lang="zh-CN" altLang="en-US" sz="2000"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endParaRPr lang="en-US" altLang="zh-CN" sz="2000" b="1">
              <a:solidFill>
                <a:srgbClr val="9C0B15"/>
              </a:solidFill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r>
              <a:rPr lang="zh-CN" altLang="en-US" sz="2000" b="1">
                <a:sym typeface="+mn-ea"/>
              </a:rPr>
              <a:t>题目九</a:t>
            </a:r>
            <a:r>
              <a:rPr lang="en-US" altLang="zh-CN" sz="2000">
                <a:sym typeface="+mn-ea"/>
              </a:rPr>
              <a:t> Linux</a:t>
            </a:r>
            <a:r>
              <a:rPr lang="zh-CN" altLang="en-US" sz="2000">
                <a:sym typeface="+mn-ea"/>
              </a:rPr>
              <a:t>中的</a:t>
            </a:r>
            <a:r>
              <a:rPr lang="en-US" altLang="zh-CN" sz="2000">
                <a:sym typeface="+mn-ea"/>
              </a:rPr>
              <a:t>fork</a:t>
            </a:r>
            <a:r>
              <a:rPr lang="zh-CN" altLang="en-US" sz="2000">
                <a:sym typeface="+mn-ea"/>
              </a:rPr>
              <a:t>和</a:t>
            </a:r>
            <a:r>
              <a:rPr lang="en-US" altLang="zh-CN" sz="2000">
                <a:sym typeface="+mn-ea"/>
              </a:rPr>
              <a:t>vfork</a:t>
            </a:r>
            <a:r>
              <a:rPr lang="zh-CN" altLang="en-US" sz="2000">
                <a:sym typeface="+mn-ea"/>
              </a:rPr>
              <a:t>有什么区别？为什么在调用</a:t>
            </a:r>
            <a:r>
              <a:rPr lang="en-US" altLang="zh-CN" sz="2000">
                <a:sym typeface="+mn-ea"/>
              </a:rPr>
              <a:t>exec</a:t>
            </a:r>
            <a:r>
              <a:rPr lang="zh-CN" altLang="en-US" sz="2000">
                <a:sym typeface="+mn-ea"/>
              </a:rPr>
              <a:t>函数族之前，我们惯用</a:t>
            </a:r>
            <a:r>
              <a:rPr lang="en-US" altLang="zh-CN" sz="2000">
                <a:sym typeface="+mn-ea"/>
              </a:rPr>
              <a:t>vfork</a:t>
            </a:r>
            <a:r>
              <a:rPr lang="zh-CN" altLang="en-US" sz="2000">
                <a:sym typeface="+mn-ea"/>
              </a:rPr>
              <a:t>而不是</a:t>
            </a:r>
            <a:r>
              <a:rPr lang="en-US" altLang="zh-CN" sz="2000">
                <a:sym typeface="+mn-ea"/>
              </a:rPr>
              <a:t>fork</a:t>
            </a:r>
            <a:r>
              <a:rPr lang="zh-CN" altLang="en-US" sz="2000">
                <a:sym typeface="+mn-ea"/>
              </a:rPr>
              <a:t>？</a:t>
            </a:r>
            <a:endParaRPr lang="zh-CN" altLang="en-US" sz="2000"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r>
              <a:rPr lang="zh-CN" altLang="en-US" sz="2000" b="1">
                <a:sym typeface="+mn-ea"/>
              </a:rPr>
              <a:t>题目十</a:t>
            </a:r>
            <a:r>
              <a:rPr lang="en-US" altLang="zh-CN" sz="2000">
                <a:sym typeface="+mn-ea"/>
              </a:rPr>
              <a:t> </a:t>
            </a:r>
            <a:r>
              <a:rPr lang="zh-CN" altLang="en-US" sz="2000">
                <a:sym typeface="+mn-ea"/>
              </a:rPr>
              <a:t>查阅内存盘（</a:t>
            </a:r>
            <a:r>
              <a:rPr lang="en-US" altLang="zh-CN" sz="2000">
                <a:sym typeface="+mn-ea"/>
              </a:rPr>
              <a:t>RAMDISK</a:t>
            </a:r>
            <a:r>
              <a:rPr lang="zh-CN" altLang="en-US" sz="2000">
                <a:sym typeface="+mn-ea"/>
              </a:rPr>
              <a:t>）相关资料，并回答它与普通磁盘有什么异同点。将分页文件（</a:t>
            </a:r>
            <a:r>
              <a:rPr lang="en-US" altLang="zh-CN" sz="2000">
                <a:sym typeface="+mn-ea"/>
              </a:rPr>
              <a:t>pagefile.sys</a:t>
            </a:r>
            <a:r>
              <a:rPr lang="zh-CN" altLang="en-US" sz="2000">
                <a:sym typeface="+mn-ea"/>
              </a:rPr>
              <a:t>）放在内存盘上来加速其读写有意义吗？为什么？（可假设机器安装</a:t>
            </a:r>
            <a:r>
              <a:rPr lang="en-US" altLang="zh-CN" sz="2000">
                <a:sym typeface="+mn-ea"/>
              </a:rPr>
              <a:t>32GB</a:t>
            </a:r>
            <a:r>
              <a:rPr lang="zh-CN" altLang="en-US" sz="2000">
                <a:sym typeface="+mn-ea"/>
              </a:rPr>
              <a:t>物理内存，并分别考虑安装</a:t>
            </a:r>
            <a:r>
              <a:rPr lang="en-US" altLang="zh-CN" sz="2000">
                <a:sym typeface="+mn-ea"/>
              </a:rPr>
              <a:t>32</a:t>
            </a:r>
            <a:r>
              <a:rPr lang="zh-CN" altLang="en-US" sz="2000">
                <a:sym typeface="+mn-ea"/>
              </a:rPr>
              <a:t>位和</a:t>
            </a:r>
            <a:r>
              <a:rPr lang="en-US" altLang="zh-CN" sz="2000">
                <a:sym typeface="+mn-ea"/>
              </a:rPr>
              <a:t>64</a:t>
            </a:r>
            <a:r>
              <a:rPr lang="zh-CN" altLang="en-US" sz="2000">
                <a:sym typeface="+mn-ea"/>
              </a:rPr>
              <a:t>位系统的情况。）</a:t>
            </a:r>
            <a:endParaRPr lang="zh-CN" altLang="en-US" sz="2000"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endParaRPr lang="en-US" altLang="zh-CN" sz="2000"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r>
              <a:rPr lang="zh-CN" altLang="en-US" sz="2000" b="1">
                <a:sym typeface="+mn-ea"/>
              </a:rPr>
              <a:t>题目十一</a:t>
            </a:r>
            <a:r>
              <a:rPr lang="en-US" altLang="zh-CN" sz="2000">
                <a:sym typeface="+mn-ea"/>
              </a:rPr>
              <a:t> </a:t>
            </a:r>
            <a:r>
              <a:rPr lang="zh-CN" altLang="en-US" sz="2000">
                <a:sym typeface="+mn-ea"/>
              </a:rPr>
              <a:t>请简述</a:t>
            </a:r>
            <a:r>
              <a:rPr lang="zh-CN" altLang="en-US" sz="2000">
                <a:sym typeface="+mn-ea"/>
              </a:rPr>
              <a:t>如何通过</a:t>
            </a:r>
            <a:r>
              <a:rPr lang="en-US" altLang="zh-CN" sz="2000">
                <a:sym typeface="+mn-ea"/>
              </a:rPr>
              <a:t>madvise</a:t>
            </a:r>
            <a:r>
              <a:rPr lang="zh-CN" altLang="en-US" sz="2000">
                <a:sym typeface="+mn-ea"/>
              </a:rPr>
              <a:t>系统调用</a:t>
            </a:r>
            <a:r>
              <a:rPr lang="zh-CN" altLang="en-US" sz="2000">
                <a:sym typeface="+mn-ea"/>
              </a:rPr>
              <a:t>提高请求分页系统的性能。</a:t>
            </a:r>
            <a:endParaRPr lang="zh-CN" altLang="en-US" sz="2000"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r>
              <a:rPr lang="zh-CN" altLang="en-US" sz="2000" b="1">
                <a:sym typeface="+mn-ea"/>
              </a:rPr>
              <a:t>题目十二</a:t>
            </a:r>
            <a:r>
              <a:rPr lang="en-US" altLang="zh-CN" sz="2000">
                <a:sym typeface="+mn-ea"/>
              </a:rPr>
              <a:t> </a:t>
            </a:r>
            <a:r>
              <a:rPr lang="zh-CN" altLang="en-US" sz="2000">
                <a:sym typeface="+mn-ea"/>
              </a:rPr>
              <a:t>查询</a:t>
            </a:r>
            <a:r>
              <a:rPr lang="en-US" altLang="zh-CN" sz="2000">
                <a:sym typeface="+mn-ea"/>
              </a:rPr>
              <a:t>Linux</a:t>
            </a:r>
            <a:r>
              <a:rPr lang="zh-CN" altLang="en-US" sz="2000">
                <a:sym typeface="+mn-ea"/>
              </a:rPr>
              <a:t>中进程树的概念，并说明系统中的其它进程是如何由</a:t>
            </a:r>
            <a:r>
              <a:rPr lang="en-US" altLang="zh-CN" sz="2000">
                <a:sym typeface="+mn-ea"/>
              </a:rPr>
              <a:t>init</a:t>
            </a:r>
            <a:r>
              <a:rPr lang="zh-CN" altLang="en-US" sz="2000">
                <a:sym typeface="+mn-ea"/>
              </a:rPr>
              <a:t>进程产生的，以及父进程提早退出后留下的僵尸子进程是如何由</a:t>
            </a:r>
            <a:r>
              <a:rPr lang="en-US" altLang="zh-CN" sz="2000">
                <a:sym typeface="+mn-ea"/>
              </a:rPr>
              <a:t>init</a:t>
            </a:r>
            <a:r>
              <a:rPr lang="zh-CN" altLang="en-US" sz="2000">
                <a:sym typeface="+mn-ea"/>
              </a:rPr>
              <a:t>收尾的。</a:t>
            </a:r>
            <a:endParaRPr lang="zh-CN" altLang="en-US" sz="2000"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p:transition spd="med"/>
</p:sld>
</file>

<file path=ppt/tags/tag1.xml><?xml version="1.0" encoding="utf-8"?>
<p:tagLst xmlns:p="http://schemas.openxmlformats.org/presentationml/2006/main">
  <p:tag name="TIMING" val="|0.3|0.8|0.7|0.7|1.2|1.3"/>
</p:tagLst>
</file>

<file path=ppt/tags/tag2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TIMING" val="|0.6|0.8|1.2|0.9|0.6|1.1|0.7|0.6|0.8|0.4|1"/>
</p:tagLst>
</file>

<file path=ppt/tags/tag6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TIMING" val="|0.6|0.8|1.2|0.9|0.6|1.1|0.7|0.6|0.8|0.4|1"/>
</p:tagLst>
</file>

<file path=ppt/tags/tag9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10.xml><?xml version="1.0" encoding="utf-8"?>
<p:tagLst xmlns:p="http://schemas.openxmlformats.org/presentationml/2006/main">
  <p:tag name="KSO_WM_UNIT_TABLE_BEAUTIFY" val="smartTable{a8b21506-2bba-49b1-9e39-8012d08ce0ce}"/>
  <p:tag name="TABLE_ENDDRAG_ORIGIN_RECT" val="726*190"/>
  <p:tag name="TABLE_ENDDRAG_RECT" val="26*53*726*190"/>
  <p:tag name="KSO_WM_BEAUTIFY_FLAG" val=""/>
</p:tagLst>
</file>

<file path=ppt/tags/tag11.xml><?xml version="1.0" encoding="utf-8"?>
<p:tagLst xmlns:p="http://schemas.openxmlformats.org/presentationml/2006/main">
  <p:tag name="KSO_WM_BEAUTIFY_FLAG" val=""/>
  <p:tag name="KSO_WM_UNIT_PLACING_PICTURE_USER_VIEWPORT" val="{&quot;height&quot;:4137,&quot;width&quot;:14537}"/>
</p:tagLst>
</file>

<file path=ppt/tags/tag12.xml><?xml version="1.0" encoding="utf-8"?>
<p:tagLst xmlns:p="http://schemas.openxmlformats.org/presentationml/2006/main">
  <p:tag name="TIMING" val="|0.6|0.8|1.2|0.9|0.6|1.1|0.7|0.6|0.8|0.4|1"/>
</p:tagLst>
</file>

<file path=ppt/tags/tag13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TIMING" val="|0.6|0.8|1.2|0.9|0.6|1.1|0.7|0.6|0.8|0.4|1"/>
</p:tagLst>
</file>

<file path=ppt/tags/tag27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28.xml><?xml version="1.0" encoding="utf-8"?>
<p:tagLst xmlns:p="http://schemas.openxmlformats.org/presentationml/2006/main">
  <p:tag name="TIMING" val="|0.6|0.8|1.2|0.9|0.6|1.1|0.7|0.6|0.8|0.4|1"/>
</p:tagLst>
</file>

<file path=ppt/tags/tag29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30.xml><?xml version="1.0" encoding="utf-8"?>
<p:tagLst xmlns:p="http://schemas.openxmlformats.org/presentationml/2006/main">
  <p:tag name="TIMING" val="|0.6|0.8|1.2|0.9|0.6|1.1|0.7|0.6|0.8|0.4|1"/>
</p:tagLst>
</file>

<file path=ppt/tags/tag31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TIMING" val="|0.6|0.8|1.2|0.9|0.6|1.1|0.7|0.6|0.8|0.4|1"/>
</p:tagLst>
</file>

<file path=ppt/tags/tag41.xml><?xml version="1.0" encoding="utf-8"?>
<p:tagLst xmlns:p="http://schemas.openxmlformats.org/presentationml/2006/main">
  <p:tag name="TABLE_ENDDRAG_ORIGIN_RECT" val="285*241"/>
  <p:tag name="TABLE_ENDDRAG_RECT" val="366*326*285*241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TIMING" val="|0.6|0.8|1.2|0.9|0.6|1.1|0.7|0.6|0.8|0.4|1"/>
</p:tagLst>
</file>

<file path=ppt/tags/tag60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61.xml><?xml version="1.0" encoding="utf-8"?>
<p:tagLst xmlns:p="http://schemas.openxmlformats.org/presentationml/2006/main">
  <p:tag name="TIMING" val="|0.6|0.8|1.2|0.9|0.6|1.1|0.7|0.6|0.8|0.4|1"/>
</p:tagLst>
</file>

<file path=ppt/tags/tag62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63.xml><?xml version="1.0" encoding="utf-8"?>
<p:tagLst xmlns:p="http://schemas.openxmlformats.org/presentationml/2006/main">
  <p:tag name="TIMING" val="|0.6|0.8|1.2|0.9|0.6|1.1|0.7|0.6|0.8|0.4|1"/>
</p:tagLst>
</file>

<file path=ppt/tags/tag64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65.xml><?xml version="1.0" encoding="utf-8"?>
<p:tagLst xmlns:p="http://schemas.openxmlformats.org/presentationml/2006/main">
  <p:tag name="TIMING" val="|0.6|0.8|1.2|0.9|0.6|1.1|0.7|0.6|0.8|0.4|1"/>
</p:tagLst>
</file>

<file path=ppt/tags/tag66.xml><?xml version="1.0" encoding="utf-8"?>
<p:tagLst xmlns:p="http://schemas.openxmlformats.org/presentationml/2006/main">
  <p:tag name="TABLE_ENDDRAG_ORIGIN_RECT" val="285*241"/>
  <p:tag name="TABLE_ENDDRAG_RECT" val="366*326*285*241"/>
</p:tagLst>
</file>

<file path=ppt/tags/tag67.xml><?xml version="1.0" encoding="utf-8"?>
<p:tagLst xmlns:p="http://schemas.openxmlformats.org/presentationml/2006/main">
  <p:tag name="TIMING" val="|0.6|0.8|1.2|0.9|0.6|1.1|0.7|0.6|0.8|0.4|1"/>
</p:tagLst>
</file>

<file path=ppt/tags/tag68.xml><?xml version="1.0" encoding="utf-8"?>
<p:tagLst xmlns:p="http://schemas.openxmlformats.org/presentationml/2006/main">
  <p:tag name="TABLE_ENDDRAG_ORIGIN_RECT" val="285*241"/>
  <p:tag name="TABLE_ENDDRAG_RECT" val="366*326*285*241"/>
</p:tagLst>
</file>

<file path=ppt/tags/tag69.xml><?xml version="1.0" encoding="utf-8"?>
<p:tagLst xmlns:p="http://schemas.openxmlformats.org/presentationml/2006/main">
  <p:tag name="TIMING" val="|0.6|0.8|1.2|0.9|0.6|1.1|0.7|0.6|0.8|0.4|1"/>
</p:tagLst>
</file>

<file path=ppt/tags/tag70.xml><?xml version="1.0" encoding="utf-8"?>
<p:tagLst xmlns:p="http://schemas.openxmlformats.org/presentationml/2006/main">
  <p:tag name="TABLE_ENDDRAG_ORIGIN_RECT" val="285*241"/>
  <p:tag name="TABLE_ENDDRAG_RECT" val="366*326*285*241"/>
</p:tagLst>
</file>

<file path=ppt/tags/tag71.xml><?xml version="1.0" encoding="utf-8"?>
<p:tagLst xmlns:p="http://schemas.openxmlformats.org/presentationml/2006/main">
  <p:tag name="TIMING" val="|0.6|0.8|1.2|0.9|0.6|1.1|0.7|0.6|0.8|0.4|1"/>
</p:tagLst>
</file>

<file path=ppt/tags/tag72.xml><?xml version="1.0" encoding="utf-8"?>
<p:tagLst xmlns:p="http://schemas.openxmlformats.org/presentationml/2006/main">
  <p:tag name="TABLE_ENDDRAG_ORIGIN_RECT" val="285*241"/>
  <p:tag name="TABLE_ENDDRAG_RECT" val="366*326*285*241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TIMING" val="|0.6|0.8|1.2|0.9|0.6|1.1|0.7|0.6|0.8|0.4|1"/>
</p:tagLst>
</file>

<file path=ppt/tags/tag78.xml><?xml version="1.0" encoding="utf-8"?>
<p:tagLst xmlns:p="http://schemas.openxmlformats.org/presentationml/2006/main">
  <p:tag name="TABLE_ENDDRAG_ORIGIN_RECT" val="285*241"/>
  <p:tag name="TABLE_ENDDRAG_RECT" val="366*326*285*241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TIMING" val="|0.6|0.8|1.2|0.9|0.6|1.1|0.7|0.6|0.8|0.4|1"/>
</p:tagLst>
</file>

<file path=ppt/tags/tag83.xml><?xml version="1.0" encoding="utf-8"?>
<p:tagLst xmlns:p="http://schemas.openxmlformats.org/presentationml/2006/main">
  <p:tag name="TABLE_ENDDRAG_ORIGIN_RECT" val="285*241"/>
  <p:tag name="TABLE_ENDDRAG_RECT" val="366*326*285*241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TIMING" val="|0.6|0.8|1.2|0.9|0.6|1.1|0.7|0.6|0.8|0.4|1"/>
</p:tagLst>
</file>

<file path=ppt/tags/tag87.xml><?xml version="1.0" encoding="utf-8"?>
<p:tagLst xmlns:p="http://schemas.openxmlformats.org/presentationml/2006/main">
  <p:tag name="TABLE_ENDDRAG_ORIGIN_RECT" val="285*241"/>
  <p:tag name="TABLE_ENDDRAG_RECT" val="366*326*285*241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UNIT_TABLE_BEAUTIFY" val="smartTable{0d5ecfe4-3400-4740-87cf-b4af81cb0847}"/>
  <p:tag name="TABLE_ENDDRAG_ORIGIN_RECT" val="730*147"/>
  <p:tag name="TABLE_ENDDRAG_RECT" val="27*23*730*147"/>
  <p:tag name="KSO_WM_BEAUTIFY_FLAG" val=""/>
</p:tagLst>
</file>

<file path=ppt/tags/tag90.xml><?xml version="1.0" encoding="utf-8"?>
<p:tagLst xmlns:p="http://schemas.openxmlformats.org/presentationml/2006/main">
  <p:tag name="TIMING" val="|0.6|0.8|1.2|0.9|0.6|1.1|0.7|0.6|0.8|0.4|1"/>
</p:tagLst>
</file>

<file path=ppt/tags/tag91.xml><?xml version="1.0" encoding="utf-8"?>
<p:tagLst xmlns:p="http://schemas.openxmlformats.org/presentationml/2006/main">
  <p:tag name="TABLE_ENDDRAG_ORIGIN_RECT" val="285*241"/>
  <p:tag name="TABLE_ENDDRAG_RECT" val="366*326*285*241"/>
</p:tagLst>
</file>

<file path=ppt/tags/tag92.xml><?xml version="1.0" encoding="utf-8"?>
<p:tagLst xmlns:p="http://schemas.openxmlformats.org/presentationml/2006/main">
  <p:tag name="KSO_WM_UNIT_TABLE_BEAUTIFY" val="smartTable{0d5ecfe4-3400-4740-87cf-b4af81cb0847}"/>
  <p:tag name="TABLE_ENDDRAG_ORIGIN_RECT" val="730*147"/>
  <p:tag name="TABLE_ENDDRAG_RECT" val="27*23*730*147"/>
  <p:tag name="KSO_WM_BEAUTIFY_FLAG" val=""/>
</p:tagLst>
</file>

<file path=ppt/tags/tag93.xml><?xml version="1.0" encoding="utf-8"?>
<p:tagLst xmlns:p="http://schemas.openxmlformats.org/presentationml/2006/main">
  <p:tag name="TIMING" val="|0.6|0.8|1.2|0.9|0.6|1.1|0.7|0.6|0.8|0.4|1"/>
</p:tagLst>
</file>

<file path=ppt/tags/tag94.xml><?xml version="1.0" encoding="utf-8"?>
<p:tagLst xmlns:p="http://schemas.openxmlformats.org/presentationml/2006/main">
  <p:tag name="TABLE_ENDDRAG_ORIGIN_RECT" val="285*241"/>
  <p:tag name="TABLE_ENDDRAG_RECT" val="366*326*285*241"/>
</p:tagLst>
</file>

<file path=ppt/tags/tag95.xml><?xml version="1.0" encoding="utf-8"?>
<p:tagLst xmlns:p="http://schemas.openxmlformats.org/presentationml/2006/main">
  <p:tag name="KSO_WM_UNIT_TABLE_BEAUTIFY" val="smartTable{0d5ecfe4-3400-4740-87cf-b4af81cb0847}"/>
  <p:tag name="TABLE_ENDDRAG_ORIGIN_RECT" val="730*147"/>
  <p:tag name="TABLE_ENDDRAG_RECT" val="27*23*730*147"/>
  <p:tag name="KSO_WM_BEAUTIFY_FLAG" val=""/>
</p:tagLst>
</file>

<file path=ppt/tags/tag96.xml><?xml version="1.0" encoding="utf-8"?>
<p:tagLst xmlns:p="http://schemas.openxmlformats.org/presentationml/2006/main">
  <p:tag name="TIMING" val="|0.6|0.8|1.2|0.9|0.6|1.1|0.7|0.6|0.8|0.4|1"/>
</p:tagLst>
</file>

<file path=ppt/tags/tag97.xml><?xml version="1.0" encoding="utf-8"?>
<p:tagLst xmlns:p="http://schemas.openxmlformats.org/presentationml/2006/main">
  <p:tag name="TABLE_ENDDRAG_ORIGIN_RECT" val="285*241"/>
  <p:tag name="TABLE_ENDDRAG_RECT" val="366*326*285*241"/>
</p:tagLst>
</file>

<file path=ppt/tags/tag98.xml><?xml version="1.0" encoding="utf-8"?>
<p:tagLst xmlns:p="http://schemas.openxmlformats.org/presentationml/2006/main">
  <p:tag name="TIMING" val="|0.6|0.8|1.2|0.9|0.6|1.1|0.7|0.6|0.8|0.4|1"/>
</p:tagLst>
</file>

<file path=ppt/tags/tag99.xml><?xml version="1.0" encoding="utf-8"?>
<p:tagLst xmlns:p="http://schemas.openxmlformats.org/presentationml/2006/main">
  <p:tag name="TABLE_ENDDRAG_ORIGIN_RECT" val="285*241"/>
  <p:tag name="TABLE_ENDDRAG_RECT" val="366*326*285*241"/>
</p:tagLst>
</file>

<file path=ppt/tags/tag100.xml><?xml version="1.0" encoding="utf-8"?>
<p:tagLst xmlns:p="http://schemas.openxmlformats.org/presentationml/2006/main">
  <p:tag name="TIMING" val="|0.6|0.8|1.2|0.9|0.6|1.1|0.7|0.6|0.8|0.4|1"/>
</p:tagLst>
</file>

<file path=ppt/tags/tag101.xml><?xml version="1.0" encoding="utf-8"?>
<p:tagLst xmlns:p="http://schemas.openxmlformats.org/presentationml/2006/main">
  <p:tag name="TABLE_ENDDRAG_ORIGIN_RECT" val="285*241"/>
  <p:tag name="TABLE_ENDDRAG_RECT" val="366*326*285*241"/>
</p:tagLst>
</file>

<file path=ppt/tags/tag102.xml><?xml version="1.0" encoding="utf-8"?>
<p:tagLst xmlns:p="http://schemas.openxmlformats.org/presentationml/2006/main">
  <p:tag name="KSO_WM_UNIT_TABLE_BEAUTIFY" val="smartTable{0d5ecfe4-3400-4740-87cf-b4af81cb0847}"/>
  <p:tag name="TABLE_ENDDRAG_ORIGIN_RECT" val="730*147"/>
  <p:tag name="TABLE_ENDDRAG_RECT" val="27*23*730*147"/>
  <p:tag name="KSO_WM_BEAUTIFY_FLAG" val=""/>
</p:tagLst>
</file>

<file path=ppt/tags/tag103.xml><?xml version="1.0" encoding="utf-8"?>
<p:tagLst xmlns:p="http://schemas.openxmlformats.org/presentationml/2006/main">
  <p:tag name="KSO_WM_UNIT_TABLE_BEAUTIFY" val="smartTable{5e84f8a0-4d65-4535-9e8d-b7e310e535d5}"/>
  <p:tag name="TABLE_ENDDRAG_ORIGIN_RECT" val="730*147"/>
  <p:tag name="TABLE_ENDDRAG_RECT" val="27*23*730*147"/>
  <p:tag name="KSO_WM_BEAUTIFY_FLAG" val=""/>
</p:tagLst>
</file>

<file path=ppt/tags/tag104.xml><?xml version="1.0" encoding="utf-8"?>
<p:tagLst xmlns:p="http://schemas.openxmlformats.org/presentationml/2006/main">
  <p:tag name="TIMING" val="|0.6|0.8|1.2|0.9|0.6|1.1|0.7|0.6|0.8|0.4|1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TABLE_ENDDRAG_ORIGIN_RECT" val="285*241"/>
  <p:tag name="TABLE_ENDDRAG_RECT" val="366*326*285*241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TIMING" val="|0.6|0.8|1.2|0.9|0.6|1.1|0.7|0.6|0.8|0.4|1"/>
</p:tagLst>
</file>

<file path=ppt/tags/tag115.xml><?xml version="1.0" encoding="utf-8"?>
<p:tagLst xmlns:p="http://schemas.openxmlformats.org/presentationml/2006/main">
  <p:tag name="TABLE_ENDDRAG_ORIGIN_RECT" val="285*241"/>
  <p:tag name="TABLE_ENDDRAG_RECT" val="366*326*285*241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TIMING" val="|0.6|0.8|1.2|0.9|0.6|1.1|0.7|0.6|0.8|0.4|1"/>
</p:tagLst>
</file>

<file path=ppt/tags/tag137.xml><?xml version="1.0" encoding="utf-8"?>
<p:tagLst xmlns:p="http://schemas.openxmlformats.org/presentationml/2006/main">
  <p:tag name="TABLE_ENDDRAG_ORIGIN_RECT" val="285*241"/>
  <p:tag name="TABLE_ENDDRAG_RECT" val="366*326*285*241"/>
</p:tagLst>
</file>

<file path=ppt/tags/tag138.xml><?xml version="1.0" encoding="utf-8"?>
<p:tagLst xmlns:p="http://schemas.openxmlformats.org/presentationml/2006/main">
  <p:tag name="TIMING" val="|0.6|0.8|1.2|0.9|0.6|1.1|0.7|0.6|0.8|0.4|1"/>
</p:tagLst>
</file>

<file path=ppt/tags/tag139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140.xml><?xml version="1.0" encoding="utf-8"?>
<p:tagLst xmlns:p="http://schemas.openxmlformats.org/presentationml/2006/main">
  <p:tag name="TIMING" val="|0.6|0.8|1.2|0.9|0.6|1.1|0.7|0.6|0.8|0.4|1"/>
</p:tagLst>
</file>

<file path=ppt/tags/tag141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BEAUTIFY_FLAG" val=""/>
</p:tagLst>
</file>

<file path=ppt/tags/tag169.xml><?xml version="1.0" encoding="utf-8"?>
<p:tagLst xmlns:p="http://schemas.openxmlformats.org/presentationml/2006/main">
  <p:tag name="TIMING" val="|0.6|0.8|1.2|0.9|0.6|1.1|0.7|0.6|0.8|0.4|1"/>
</p:tagLst>
</file>

<file path=ppt/tags/tag170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171.xml><?xml version="1.0" encoding="utf-8"?>
<p:tagLst xmlns:p="http://schemas.openxmlformats.org/presentationml/2006/main">
  <p:tag name="KSO_WM_BEAUTIFY_FLAG" val=""/>
</p:tagLst>
</file>

<file path=ppt/tags/tag172.xml><?xml version="1.0" encoding="utf-8"?>
<p:tagLst xmlns:p="http://schemas.openxmlformats.org/presentationml/2006/main">
  <p:tag name="KSO_WM_BEAUTIFY_FLAG" val=""/>
</p:tagLst>
</file>

<file path=ppt/tags/tag173.xml><?xml version="1.0" encoding="utf-8"?>
<p:tagLst xmlns:p="http://schemas.openxmlformats.org/presentationml/2006/main">
  <p:tag name="KSO_WM_BEAUTIFY_FLAG" val=""/>
</p:tagLst>
</file>

<file path=ppt/tags/tag174.xml><?xml version="1.0" encoding="utf-8"?>
<p:tagLst xmlns:p="http://schemas.openxmlformats.org/presentationml/2006/main">
  <p:tag name="KSO_WM_BEAUTIFY_FLAG" val=""/>
</p:tagLst>
</file>

<file path=ppt/tags/tag175.xml><?xml version="1.0" encoding="utf-8"?>
<p:tagLst xmlns:p="http://schemas.openxmlformats.org/presentationml/2006/main">
  <p:tag name="KSO_WM_BEAUTIFY_FLAG" val=""/>
</p:tagLst>
</file>

<file path=ppt/tags/tag176.xml><?xml version="1.0" encoding="utf-8"?>
<p:tagLst xmlns:p="http://schemas.openxmlformats.org/presentationml/2006/main">
  <p:tag name="KSO_WM_BEAUTIFY_FLAG" val=""/>
</p:tagLst>
</file>

<file path=ppt/tags/tag177.xml><?xml version="1.0" encoding="utf-8"?>
<p:tagLst xmlns:p="http://schemas.openxmlformats.org/presentationml/2006/main">
  <p:tag name="KSO_WM_BEAUTIFY_FLAG" val=""/>
</p:tagLst>
</file>

<file path=ppt/tags/tag178.xml><?xml version="1.0" encoding="utf-8"?>
<p:tagLst xmlns:p="http://schemas.openxmlformats.org/presentationml/2006/main">
  <p:tag name="KSO_WM_BEAUTIFY_FLAG" val=""/>
</p:tagLst>
</file>

<file path=ppt/tags/tag179.xml><?xml version="1.0" encoding="utf-8"?>
<p:tagLst xmlns:p="http://schemas.openxmlformats.org/presentationml/2006/main">
  <p:tag name="KSO_WM_BEAUTIFY_FLAG" val=""/>
</p:tagLst>
</file>

<file path=ppt/tags/tag180.xml><?xml version="1.0" encoding="utf-8"?>
<p:tagLst xmlns:p="http://schemas.openxmlformats.org/presentationml/2006/main">
  <p:tag name="KSO_WM_BEAUTIFY_FLAG" val=""/>
</p:tagLst>
</file>

<file path=ppt/tags/tag181.xml><?xml version="1.0" encoding="utf-8"?>
<p:tagLst xmlns:p="http://schemas.openxmlformats.org/presentationml/2006/main">
  <p:tag name="KSO_WM_BEAUTIFY_FLAG" val=""/>
</p:tagLst>
</file>

<file path=ppt/tags/tag182.xml><?xml version="1.0" encoding="utf-8"?>
<p:tagLst xmlns:p="http://schemas.openxmlformats.org/presentationml/2006/main">
  <p:tag name="KSO_WM_BEAUTIFY_FLAG" val=""/>
</p:tagLst>
</file>

<file path=ppt/tags/tag183.xml><?xml version="1.0" encoding="utf-8"?>
<p:tagLst xmlns:p="http://schemas.openxmlformats.org/presentationml/2006/main">
  <p:tag name="KSO_WM_BEAUTIFY_FLAG" val=""/>
</p:tagLst>
</file>

<file path=ppt/tags/tag184.xml><?xml version="1.0" encoding="utf-8"?>
<p:tagLst xmlns:p="http://schemas.openxmlformats.org/presentationml/2006/main">
  <p:tag name="KSO_WM_BEAUTIFY_FLAG" val=""/>
</p:tagLst>
</file>

<file path=ppt/tags/tag185.xml><?xml version="1.0" encoding="utf-8"?>
<p:tagLst xmlns:p="http://schemas.openxmlformats.org/presentationml/2006/main">
  <p:tag name="KSO_WM_BEAUTIFY_FLAG" val=""/>
</p:tagLst>
</file>

<file path=ppt/tags/tag186.xml><?xml version="1.0" encoding="utf-8"?>
<p:tagLst xmlns:p="http://schemas.openxmlformats.org/presentationml/2006/main">
  <p:tag name="KSO_WM_BEAUTIFY_FLAG" val=""/>
</p:tagLst>
</file>

<file path=ppt/tags/tag187.xml><?xml version="1.0" encoding="utf-8"?>
<p:tagLst xmlns:p="http://schemas.openxmlformats.org/presentationml/2006/main">
  <p:tag name="KSO_WM_BEAUTIFY_FLAG" val=""/>
</p:tagLst>
</file>

<file path=ppt/tags/tag188.xml><?xml version="1.0" encoding="utf-8"?>
<p:tagLst xmlns:p="http://schemas.openxmlformats.org/presentationml/2006/main">
  <p:tag name="KSO_WM_BEAUTIFY_FLAG" val=""/>
</p:tagLst>
</file>

<file path=ppt/tags/tag189.xml><?xml version="1.0" encoding="utf-8"?>
<p:tagLst xmlns:p="http://schemas.openxmlformats.org/presentationml/2006/main">
  <p:tag name="KSO_WM_BEAUTIFY_FLAG" val=""/>
</p:tagLst>
</file>

<file path=ppt/tags/tag190.xml><?xml version="1.0" encoding="utf-8"?>
<p:tagLst xmlns:p="http://schemas.openxmlformats.org/presentationml/2006/main">
  <p:tag name="KSO_WM_BEAUTIFY_FLAG" val=""/>
</p:tagLst>
</file>

<file path=ppt/tags/tag191.xml><?xml version="1.0" encoding="utf-8"?>
<p:tagLst xmlns:p="http://schemas.openxmlformats.org/presentationml/2006/main">
  <p:tag name="KSO_WM_BEAUTIFY_FLAG" val=""/>
</p:tagLst>
</file>

<file path=ppt/tags/tag192.xml><?xml version="1.0" encoding="utf-8"?>
<p:tagLst xmlns:p="http://schemas.openxmlformats.org/presentationml/2006/main">
  <p:tag name="KSO_WM_BEAUTIFY_FLAG" val=""/>
</p:tagLst>
</file>

<file path=ppt/tags/tag193.xml><?xml version="1.0" encoding="utf-8"?>
<p:tagLst xmlns:p="http://schemas.openxmlformats.org/presentationml/2006/main">
  <p:tag name="KSO_WM_BEAUTIFY_FLAG" val=""/>
</p:tagLst>
</file>

<file path=ppt/tags/tag194.xml><?xml version="1.0" encoding="utf-8"?>
<p:tagLst xmlns:p="http://schemas.openxmlformats.org/presentationml/2006/main">
  <p:tag name="KSO_WM_BEAUTIFY_FLAG" val=""/>
</p:tagLst>
</file>

<file path=ppt/tags/tag195.xml><?xml version="1.0" encoding="utf-8"?>
<p:tagLst xmlns:p="http://schemas.openxmlformats.org/presentationml/2006/main">
  <p:tag name="KSO_WM_BEAUTIFY_FLAG" val=""/>
</p:tagLst>
</file>

<file path=ppt/tags/tag196.xml><?xml version="1.0" encoding="utf-8"?>
<p:tagLst xmlns:p="http://schemas.openxmlformats.org/presentationml/2006/main">
  <p:tag name="KSO_WM_BEAUTIFY_FLAG" val=""/>
</p:tagLst>
</file>

<file path=ppt/tags/tag197.xml><?xml version="1.0" encoding="utf-8"?>
<p:tagLst xmlns:p="http://schemas.openxmlformats.org/presentationml/2006/main">
  <p:tag name="KSO_WM_BEAUTIFY_FLAG" val=""/>
</p:tagLst>
</file>

<file path=ppt/tags/tag198.xml><?xml version="1.0" encoding="utf-8"?>
<p:tagLst xmlns:p="http://schemas.openxmlformats.org/presentationml/2006/main">
  <p:tag name="KSO_WM_BEAUTIFY_FLAG" val=""/>
</p:tagLst>
</file>

<file path=ppt/tags/tag199.xml><?xml version="1.0" encoding="utf-8"?>
<p:tagLst xmlns:p="http://schemas.openxmlformats.org/presentationml/2006/main">
  <p:tag name="KSO_WM_BEAUTIFY_FLAG" val=""/>
</p:tagLst>
</file>

<file path=ppt/tags/tag200.xml><?xml version="1.0" encoding="utf-8"?>
<p:tagLst xmlns:p="http://schemas.openxmlformats.org/presentationml/2006/main">
  <p:tag name="KSO_WM_BEAUTIFY_FLAG" val=""/>
</p:tagLst>
</file>

<file path=ppt/tags/tag201.xml><?xml version="1.0" encoding="utf-8"?>
<p:tagLst xmlns:p="http://schemas.openxmlformats.org/presentationml/2006/main">
  <p:tag name="KSO_WM_BEAUTIFY_FLAG" val=""/>
</p:tagLst>
</file>

<file path=ppt/tags/tag202.xml><?xml version="1.0" encoding="utf-8"?>
<p:tagLst xmlns:p="http://schemas.openxmlformats.org/presentationml/2006/main">
  <p:tag name="KSO_WM_BEAUTIFY_FLAG" val=""/>
</p:tagLst>
</file>

<file path=ppt/tags/tag203.xml><?xml version="1.0" encoding="utf-8"?>
<p:tagLst xmlns:p="http://schemas.openxmlformats.org/presentationml/2006/main">
  <p:tag name="KSO_WM_BEAUTIFY_FLAG" val=""/>
</p:tagLst>
</file>

<file path=ppt/tags/tag204.xml><?xml version="1.0" encoding="utf-8"?>
<p:tagLst xmlns:p="http://schemas.openxmlformats.org/presentationml/2006/main">
  <p:tag name="TIMING" val="|0.6|0.8|1.2|0.9|0.6|1.1|0.7|0.6|0.8|0.4|1"/>
</p:tagLst>
</file>

<file path=ppt/tags/tag205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206.xml><?xml version="1.0" encoding="utf-8"?>
<p:tagLst xmlns:p="http://schemas.openxmlformats.org/presentationml/2006/main">
  <p:tag name="KSO_WM_BEAUTIFY_FLAG" val=""/>
</p:tagLst>
</file>

<file path=ppt/tags/tag207.xml><?xml version="1.0" encoding="utf-8"?>
<p:tagLst xmlns:p="http://schemas.openxmlformats.org/presentationml/2006/main">
  <p:tag name="KSO_WM_BEAUTIFY_FLAG" val=""/>
</p:tagLst>
</file>

<file path=ppt/tags/tag208.xml><?xml version="1.0" encoding="utf-8"?>
<p:tagLst xmlns:p="http://schemas.openxmlformats.org/presentationml/2006/main">
  <p:tag name="KSO_WM_BEAUTIFY_FLAG" val=""/>
</p:tagLst>
</file>

<file path=ppt/tags/tag209.xml><?xml version="1.0" encoding="utf-8"?>
<p:tagLst xmlns:p="http://schemas.openxmlformats.org/presentationml/2006/main">
  <p:tag name="KSO_WM_BEAUTIFY_FLAG" val=""/>
</p:tagLst>
</file>

<file path=ppt/tags/tag210.xml><?xml version="1.0" encoding="utf-8"?>
<p:tagLst xmlns:p="http://schemas.openxmlformats.org/presentationml/2006/main">
  <p:tag name="KSO_WM_BEAUTIFY_FLAG" val=""/>
</p:tagLst>
</file>

<file path=ppt/tags/tag211.xml><?xml version="1.0" encoding="utf-8"?>
<p:tagLst xmlns:p="http://schemas.openxmlformats.org/presentationml/2006/main">
  <p:tag name="KSO_WM_BEAUTIFY_FLAG" val=""/>
</p:tagLst>
</file>

<file path=ppt/tags/tag212.xml><?xml version="1.0" encoding="utf-8"?>
<p:tagLst xmlns:p="http://schemas.openxmlformats.org/presentationml/2006/main">
  <p:tag name="KSO_WM_BEAUTIFY_FLAG" val=""/>
</p:tagLst>
</file>

<file path=ppt/tags/tag213.xml><?xml version="1.0" encoding="utf-8"?>
<p:tagLst xmlns:p="http://schemas.openxmlformats.org/presentationml/2006/main">
  <p:tag name="KSO_WM_BEAUTIFY_FLAG" val=""/>
</p:tagLst>
</file>

<file path=ppt/tags/tag214.xml><?xml version="1.0" encoding="utf-8"?>
<p:tagLst xmlns:p="http://schemas.openxmlformats.org/presentationml/2006/main">
  <p:tag name="KSO_WM_BEAUTIFY_FLAG" val=""/>
</p:tagLst>
</file>

<file path=ppt/tags/tag215.xml><?xml version="1.0" encoding="utf-8"?>
<p:tagLst xmlns:p="http://schemas.openxmlformats.org/presentationml/2006/main">
  <p:tag name="KSO_WM_BEAUTIFY_FLAG" val=""/>
</p:tagLst>
</file>

<file path=ppt/tags/tag216.xml><?xml version="1.0" encoding="utf-8"?>
<p:tagLst xmlns:p="http://schemas.openxmlformats.org/presentationml/2006/main">
  <p:tag name="KSO_WM_BEAUTIFY_FLAG" val=""/>
</p:tagLst>
</file>

<file path=ppt/tags/tag217.xml><?xml version="1.0" encoding="utf-8"?>
<p:tagLst xmlns:p="http://schemas.openxmlformats.org/presentationml/2006/main">
  <p:tag name="KSO_WM_BEAUTIFY_FLAG" val=""/>
</p:tagLst>
</file>

<file path=ppt/tags/tag218.xml><?xml version="1.0" encoding="utf-8"?>
<p:tagLst xmlns:p="http://schemas.openxmlformats.org/presentationml/2006/main">
  <p:tag name="KSO_WM_BEAUTIFY_FLAG" val=""/>
</p:tagLst>
</file>

<file path=ppt/tags/tag219.xml><?xml version="1.0" encoding="utf-8"?>
<p:tagLst xmlns:p="http://schemas.openxmlformats.org/presentationml/2006/main">
  <p:tag name="KSO_WM_BEAUTIFY_FLAG" val=""/>
</p:tagLst>
</file>

<file path=ppt/tags/tag220.xml><?xml version="1.0" encoding="utf-8"?>
<p:tagLst xmlns:p="http://schemas.openxmlformats.org/presentationml/2006/main">
  <p:tag name="KSO_WM_BEAUTIFY_FLAG" val=""/>
</p:tagLst>
</file>

<file path=ppt/tags/tag221.xml><?xml version="1.0" encoding="utf-8"?>
<p:tagLst xmlns:p="http://schemas.openxmlformats.org/presentationml/2006/main">
  <p:tag name="KSO_WM_BEAUTIFY_FLAG" val=""/>
</p:tagLst>
</file>

<file path=ppt/tags/tag222.xml><?xml version="1.0" encoding="utf-8"?>
<p:tagLst xmlns:p="http://schemas.openxmlformats.org/presentationml/2006/main">
  <p:tag name="KSO_WM_BEAUTIFY_FLAG" val=""/>
</p:tagLst>
</file>

<file path=ppt/tags/tag223.xml><?xml version="1.0" encoding="utf-8"?>
<p:tagLst xmlns:p="http://schemas.openxmlformats.org/presentationml/2006/main">
  <p:tag name="KSO_WM_BEAUTIFY_FLAG" val=""/>
</p:tagLst>
</file>

<file path=ppt/tags/tag224.xml><?xml version="1.0" encoding="utf-8"?>
<p:tagLst xmlns:p="http://schemas.openxmlformats.org/presentationml/2006/main">
  <p:tag name="KSO_WM_BEAUTIFY_FLAG" val=""/>
</p:tagLst>
</file>

<file path=ppt/tags/tag225.xml><?xml version="1.0" encoding="utf-8"?>
<p:tagLst xmlns:p="http://schemas.openxmlformats.org/presentationml/2006/main">
  <p:tag name="KSO_WM_BEAUTIFY_FLAG" val=""/>
</p:tagLst>
</file>

<file path=ppt/tags/tag226.xml><?xml version="1.0" encoding="utf-8"?>
<p:tagLst xmlns:p="http://schemas.openxmlformats.org/presentationml/2006/main">
  <p:tag name="KSO_WM_BEAUTIFY_FLAG" val=""/>
</p:tagLst>
</file>

<file path=ppt/tags/tag227.xml><?xml version="1.0" encoding="utf-8"?>
<p:tagLst xmlns:p="http://schemas.openxmlformats.org/presentationml/2006/main">
  <p:tag name="KSO_WM_BEAUTIFY_FLAG" val=""/>
</p:tagLst>
</file>

<file path=ppt/tags/tag228.xml><?xml version="1.0" encoding="utf-8"?>
<p:tagLst xmlns:p="http://schemas.openxmlformats.org/presentationml/2006/main">
  <p:tag name="KSO_WM_BEAUTIFY_FLAG" val=""/>
</p:tagLst>
</file>

<file path=ppt/tags/tag229.xml><?xml version="1.0" encoding="utf-8"?>
<p:tagLst xmlns:p="http://schemas.openxmlformats.org/presentationml/2006/main">
  <p:tag name="KSO_WM_BEAUTIFY_FLAG" val=""/>
</p:tagLst>
</file>

<file path=ppt/tags/tag230.xml><?xml version="1.0" encoding="utf-8"?>
<p:tagLst xmlns:p="http://schemas.openxmlformats.org/presentationml/2006/main">
  <p:tag name="KSO_WM_BEAUTIFY_FLAG" val=""/>
</p:tagLst>
</file>

<file path=ppt/tags/tag231.xml><?xml version="1.0" encoding="utf-8"?>
<p:tagLst xmlns:p="http://schemas.openxmlformats.org/presentationml/2006/main">
  <p:tag name="KSO_WM_BEAUTIFY_FLAG" val=""/>
</p:tagLst>
</file>

<file path=ppt/tags/tag232.xml><?xml version="1.0" encoding="utf-8"?>
<p:tagLst xmlns:p="http://schemas.openxmlformats.org/presentationml/2006/main">
  <p:tag name="KSO_WM_BEAUTIFY_FLAG" val=""/>
</p:tagLst>
</file>

<file path=ppt/tags/tag233.xml><?xml version="1.0" encoding="utf-8"?>
<p:tagLst xmlns:p="http://schemas.openxmlformats.org/presentationml/2006/main">
  <p:tag name="KSO_WM_BEAUTIFY_FLAG" val=""/>
</p:tagLst>
</file>

<file path=ppt/tags/tag234.xml><?xml version="1.0" encoding="utf-8"?>
<p:tagLst xmlns:p="http://schemas.openxmlformats.org/presentationml/2006/main">
  <p:tag name="KSO_WM_BEAUTIFY_FLAG" val=""/>
</p:tagLst>
</file>

<file path=ppt/tags/tag235.xml><?xml version="1.0" encoding="utf-8"?>
<p:tagLst xmlns:p="http://schemas.openxmlformats.org/presentationml/2006/main">
  <p:tag name="KSO_WM_BEAUTIFY_FLAG" val=""/>
</p:tagLst>
</file>

<file path=ppt/tags/tag236.xml><?xml version="1.0" encoding="utf-8"?>
<p:tagLst xmlns:p="http://schemas.openxmlformats.org/presentationml/2006/main">
  <p:tag name="KSO_WM_BEAUTIFY_FLAG" val=""/>
</p:tagLst>
</file>

<file path=ppt/tags/tag237.xml><?xml version="1.0" encoding="utf-8"?>
<p:tagLst xmlns:p="http://schemas.openxmlformats.org/presentationml/2006/main">
  <p:tag name="KSO_WM_BEAUTIFY_FLAG" val=""/>
</p:tagLst>
</file>

<file path=ppt/tags/tag238.xml><?xml version="1.0" encoding="utf-8"?>
<p:tagLst xmlns:p="http://schemas.openxmlformats.org/presentationml/2006/main">
  <p:tag name="KSO_WM_BEAUTIFY_FLAG" val=""/>
</p:tagLst>
</file>

<file path=ppt/tags/tag239.xml><?xml version="1.0" encoding="utf-8"?>
<p:tagLst xmlns:p="http://schemas.openxmlformats.org/presentationml/2006/main">
  <p:tag name="TIMING" val="|0.6|0.8|1.2|0.9|0.6|1.1|0.7|0.6|0.8|0.4|1"/>
</p:tagLst>
</file>

<file path=ppt/tags/tag240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241.xml><?xml version="1.0" encoding="utf-8"?>
<p:tagLst xmlns:p="http://schemas.openxmlformats.org/presentationml/2006/main">
  <p:tag name="TIMING" val="|0.6|0.8|1.2|0.9|0.6|1.1|0.7|0.6|0.8|0.4|1"/>
</p:tagLst>
</file>

<file path=ppt/tags/tag242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243.xml><?xml version="1.0" encoding="utf-8"?>
<p:tagLst xmlns:p="http://schemas.openxmlformats.org/presentationml/2006/main">
  <p:tag name="TIMING" val="|0.6|0.8|1.2|0.9|0.6|1.1|0.7|0.6|0.8|0.4|1"/>
</p:tagLst>
</file>

<file path=ppt/tags/tag244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245.xml><?xml version="1.0" encoding="utf-8"?>
<p:tagLst xmlns:p="http://schemas.openxmlformats.org/presentationml/2006/main">
  <p:tag name="KSO_WM_BEAUTIFY_FLAG" val=""/>
</p:tagLst>
</file>

<file path=ppt/tags/tag246.xml><?xml version="1.0" encoding="utf-8"?>
<p:tagLst xmlns:p="http://schemas.openxmlformats.org/presentationml/2006/main">
  <p:tag name="KSO_WM_BEAUTIFY_FLAG" val=""/>
</p:tagLst>
</file>

<file path=ppt/tags/tag247.xml><?xml version="1.0" encoding="utf-8"?>
<p:tagLst xmlns:p="http://schemas.openxmlformats.org/presentationml/2006/main">
  <p:tag name="KSO_WM_BEAUTIFY_FLAG" val=""/>
</p:tagLst>
</file>

<file path=ppt/tags/tag248.xml><?xml version="1.0" encoding="utf-8"?>
<p:tagLst xmlns:p="http://schemas.openxmlformats.org/presentationml/2006/main">
  <p:tag name="KSO_WM_BEAUTIFY_FLAG" val=""/>
</p:tagLst>
</file>

<file path=ppt/tags/tag249.xml><?xml version="1.0" encoding="utf-8"?>
<p:tagLst xmlns:p="http://schemas.openxmlformats.org/presentationml/2006/main">
  <p:tag name="KSO_WM_BEAUTIFY_FLAG" val=""/>
</p:tagLst>
</file>

<file path=ppt/tags/tag250.xml><?xml version="1.0" encoding="utf-8"?>
<p:tagLst xmlns:p="http://schemas.openxmlformats.org/presentationml/2006/main">
  <p:tag name="KSO_WM_BEAUTIFY_FLAG" val=""/>
</p:tagLst>
</file>

<file path=ppt/tags/tag251.xml><?xml version="1.0" encoding="utf-8"?>
<p:tagLst xmlns:p="http://schemas.openxmlformats.org/presentationml/2006/main">
  <p:tag name="TIMING" val="|0.6|0.8|1.2|0.9|0.6|1.1|0.7|0.6|0.8|0.4|1"/>
</p:tagLst>
</file>

<file path=ppt/tags/tag252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253.xml><?xml version="1.0" encoding="utf-8"?>
<p:tagLst xmlns:p="http://schemas.openxmlformats.org/presentationml/2006/main">
  <p:tag name="TIMING" val="|0.6|0.8|1.2|0.9|0.6|1.1|0.7|0.6|0.8|0.4|1"/>
</p:tagLst>
</file>

<file path=ppt/tags/tag254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255.xml><?xml version="1.0" encoding="utf-8"?>
<p:tagLst xmlns:p="http://schemas.openxmlformats.org/presentationml/2006/main">
  <p:tag name="TIMING" val="|0.6|0.8|1.2|0.9|0.6|1.1|0.7|0.6|0.8|0.4|1"/>
</p:tagLst>
</file>

<file path=ppt/tags/tag256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257.xml><?xml version="1.0" encoding="utf-8"?>
<p:tagLst xmlns:p="http://schemas.openxmlformats.org/presentationml/2006/main">
  <p:tag name="KSO_WM_BEAUTIFY_FLAG" val=""/>
</p:tagLst>
</file>

<file path=ppt/tags/tag258.xml><?xml version="1.0" encoding="utf-8"?>
<p:tagLst xmlns:p="http://schemas.openxmlformats.org/presentationml/2006/main">
  <p:tag name="TIMING" val="|0.6|0.8|1.2|0.9|0.6|1.1|0.7|0.6|0.8|0.4|1"/>
</p:tagLst>
</file>

<file path=ppt/tags/tag259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260.xml><?xml version="1.0" encoding="utf-8"?>
<p:tagLst xmlns:p="http://schemas.openxmlformats.org/presentationml/2006/main">
  <p:tag name="TIMING" val="|0.6|0.8|1.2|0.9|0.6|1.1|0.7|0.6|0.8|0.4|1"/>
</p:tagLst>
</file>

<file path=ppt/tags/tag261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262.xml><?xml version="1.0" encoding="utf-8"?>
<p:tagLst xmlns:p="http://schemas.openxmlformats.org/presentationml/2006/main">
  <p:tag name="KSO_WM_BEAUTIFY_FLAG" val=""/>
</p:tagLst>
</file>

<file path=ppt/tags/tag263.xml><?xml version="1.0" encoding="utf-8"?>
<p:tagLst xmlns:p="http://schemas.openxmlformats.org/presentationml/2006/main">
  <p:tag name="TIMING" val="|0.6|0.8|1.2|0.9|0.6|1.1|0.7|0.6|0.8|0.4|1"/>
</p:tagLst>
</file>

<file path=ppt/tags/tag264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265.xml><?xml version="1.0" encoding="utf-8"?>
<p:tagLst xmlns:p="http://schemas.openxmlformats.org/presentationml/2006/main">
  <p:tag name="TIMING" val="|0.6|0.8|1.2|0.9|0.6|1.1|0.7|0.6|0.8|0.4|1"/>
</p:tagLst>
</file>

<file path=ppt/tags/tag266.xml><?xml version="1.0" encoding="utf-8"?>
<p:tagLst xmlns:p="http://schemas.openxmlformats.org/presentationml/2006/main">
  <p:tag name="TABLE_ENDDRAG_ORIGIN_RECT" val="285*241"/>
  <p:tag name="TABLE_ENDDRAG_RECT" val="366*326*285*241"/>
</p:tagLst>
</file>

<file path=ppt/tags/tag267.xml><?xml version="1.0" encoding="utf-8"?>
<p:tagLst xmlns:p="http://schemas.openxmlformats.org/presentationml/2006/main">
  <p:tag name="KSO_WM_BEAUTIFY_FLAG" val=""/>
</p:tagLst>
</file>

<file path=ppt/tags/tag268.xml><?xml version="1.0" encoding="utf-8"?>
<p:tagLst xmlns:p="http://schemas.openxmlformats.org/presentationml/2006/main">
  <p:tag name="KSO_WM_BEAUTIFY_FLAG" val=""/>
</p:tagLst>
</file>

<file path=ppt/tags/tag269.xml><?xml version="1.0" encoding="utf-8"?>
<p:tagLst xmlns:p="http://schemas.openxmlformats.org/presentationml/2006/main">
  <p:tag name="KSO_WM_BEAUTIFY_FLAG" val=""/>
</p:tagLst>
</file>

<file path=ppt/tags/tag270.xml><?xml version="1.0" encoding="utf-8"?>
<p:tagLst xmlns:p="http://schemas.openxmlformats.org/presentationml/2006/main">
  <p:tag name="KSO_WM_BEAUTIFY_FLAG" val=""/>
</p:tagLst>
</file>

<file path=ppt/tags/tag271.xml><?xml version="1.0" encoding="utf-8"?>
<p:tagLst xmlns:p="http://schemas.openxmlformats.org/presentationml/2006/main">
  <p:tag name="KSO_WM_BEAUTIFY_FLAG" val=""/>
</p:tagLst>
</file>

<file path=ppt/tags/tag272.xml><?xml version="1.0" encoding="utf-8"?>
<p:tagLst xmlns:p="http://schemas.openxmlformats.org/presentationml/2006/main">
  <p:tag name="KSO_WM_BEAUTIFY_FLAG" val=""/>
</p:tagLst>
</file>

<file path=ppt/tags/tag273.xml><?xml version="1.0" encoding="utf-8"?>
<p:tagLst xmlns:p="http://schemas.openxmlformats.org/presentationml/2006/main">
  <p:tag name="KSO_WM_BEAUTIFY_FLAG" val=""/>
</p:tagLst>
</file>

<file path=ppt/tags/tag274.xml><?xml version="1.0" encoding="utf-8"?>
<p:tagLst xmlns:p="http://schemas.openxmlformats.org/presentationml/2006/main">
  <p:tag name="KSO_WM_BEAUTIFY_FLAG" val=""/>
</p:tagLst>
</file>

<file path=ppt/tags/tag275.xml><?xml version="1.0" encoding="utf-8"?>
<p:tagLst xmlns:p="http://schemas.openxmlformats.org/presentationml/2006/main">
  <p:tag name="KSO_WM_BEAUTIFY_FLAG" val=""/>
</p:tagLst>
</file>

<file path=ppt/tags/tag276.xml><?xml version="1.0" encoding="utf-8"?>
<p:tagLst xmlns:p="http://schemas.openxmlformats.org/presentationml/2006/main">
  <p:tag name="KSO_WM_BEAUTIFY_FLAG" val=""/>
</p:tagLst>
</file>

<file path=ppt/tags/tag277.xml><?xml version="1.0" encoding="utf-8"?>
<p:tagLst xmlns:p="http://schemas.openxmlformats.org/presentationml/2006/main">
  <p:tag name="TIMING" val="|0.6|0.8|1.2|0.9|0.6|1.1|0.7|0.6|0.8|0.4|1"/>
</p:tagLst>
</file>

<file path=ppt/tags/tag278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279.xml><?xml version="1.0" encoding="utf-8"?>
<p:tagLst xmlns:p="http://schemas.openxmlformats.org/presentationml/2006/main">
  <p:tag name="KSO_WM_BEAUTIFY_FLAG" val=""/>
</p:tagLst>
</file>

<file path=ppt/tags/tag280.xml><?xml version="1.0" encoding="utf-8"?>
<p:tagLst xmlns:p="http://schemas.openxmlformats.org/presentationml/2006/main">
  <p:tag name="KSO_WM_BEAUTIFY_FLAG" val=""/>
</p:tagLst>
</file>

<file path=ppt/tags/tag281.xml><?xml version="1.0" encoding="utf-8"?>
<p:tagLst xmlns:p="http://schemas.openxmlformats.org/presentationml/2006/main">
  <p:tag name="KSO_WM_BEAUTIFY_FLAG" val=""/>
</p:tagLst>
</file>

<file path=ppt/tags/tag282.xml><?xml version="1.0" encoding="utf-8"?>
<p:tagLst xmlns:p="http://schemas.openxmlformats.org/presentationml/2006/main">
  <p:tag name="KSO_WM_BEAUTIFY_FLAG" val=""/>
</p:tagLst>
</file>

<file path=ppt/tags/tag283.xml><?xml version="1.0" encoding="utf-8"?>
<p:tagLst xmlns:p="http://schemas.openxmlformats.org/presentationml/2006/main">
  <p:tag name="KSO_WM_BEAUTIFY_FLAG" val=""/>
</p:tagLst>
</file>

<file path=ppt/tags/tag284.xml><?xml version="1.0" encoding="utf-8"?>
<p:tagLst xmlns:p="http://schemas.openxmlformats.org/presentationml/2006/main">
  <p:tag name="KSO_WM_BEAUTIFY_FLAG" val=""/>
</p:tagLst>
</file>

<file path=ppt/tags/tag285.xml><?xml version="1.0" encoding="utf-8"?>
<p:tagLst xmlns:p="http://schemas.openxmlformats.org/presentationml/2006/main">
  <p:tag name="KSO_WM_BEAUTIFY_FLAG" val=""/>
</p:tagLst>
</file>

<file path=ppt/tags/tag286.xml><?xml version="1.0" encoding="utf-8"?>
<p:tagLst xmlns:p="http://schemas.openxmlformats.org/presentationml/2006/main">
  <p:tag name="KSO_WM_BEAUTIFY_FLAG" val=""/>
</p:tagLst>
</file>

<file path=ppt/tags/tag287.xml><?xml version="1.0" encoding="utf-8"?>
<p:tagLst xmlns:p="http://schemas.openxmlformats.org/presentationml/2006/main">
  <p:tag name="KSO_WM_BEAUTIFY_FLAG" val=""/>
</p:tagLst>
</file>

<file path=ppt/tags/tag288.xml><?xml version="1.0" encoding="utf-8"?>
<p:tagLst xmlns:p="http://schemas.openxmlformats.org/presentationml/2006/main">
  <p:tag name="KSO_WM_BEAUTIFY_FLAG" val=""/>
</p:tagLst>
</file>

<file path=ppt/tags/tag289.xml><?xml version="1.0" encoding="utf-8"?>
<p:tagLst xmlns:p="http://schemas.openxmlformats.org/presentationml/2006/main">
  <p:tag name="KSO_WM_BEAUTIFY_FLAG" val=""/>
</p:tagLst>
</file>

<file path=ppt/tags/tag290.xml><?xml version="1.0" encoding="utf-8"?>
<p:tagLst xmlns:p="http://schemas.openxmlformats.org/presentationml/2006/main">
  <p:tag name="KSO_WM_BEAUTIFY_FLAG" val=""/>
</p:tagLst>
</file>

<file path=ppt/tags/tag291.xml><?xml version="1.0" encoding="utf-8"?>
<p:tagLst xmlns:p="http://schemas.openxmlformats.org/presentationml/2006/main">
  <p:tag name="KSO_WM_BEAUTIFY_FLAG" val=""/>
</p:tagLst>
</file>

<file path=ppt/tags/tag292.xml><?xml version="1.0" encoding="utf-8"?>
<p:tagLst xmlns:p="http://schemas.openxmlformats.org/presentationml/2006/main">
  <p:tag name="KSO_WM_BEAUTIFY_FLAG" val=""/>
</p:tagLst>
</file>

<file path=ppt/tags/tag293.xml><?xml version="1.0" encoding="utf-8"?>
<p:tagLst xmlns:p="http://schemas.openxmlformats.org/presentationml/2006/main">
  <p:tag name="KSO_WM_BEAUTIFY_FLAG" val=""/>
</p:tagLst>
</file>

<file path=ppt/tags/tag294.xml><?xml version="1.0" encoding="utf-8"?>
<p:tagLst xmlns:p="http://schemas.openxmlformats.org/presentationml/2006/main">
  <p:tag name="KSO_WM_BEAUTIFY_FLAG" val=""/>
</p:tagLst>
</file>

<file path=ppt/tags/tag295.xml><?xml version="1.0" encoding="utf-8"?>
<p:tagLst xmlns:p="http://schemas.openxmlformats.org/presentationml/2006/main">
  <p:tag name="KSO_WM_BEAUTIFY_FLAG" val=""/>
</p:tagLst>
</file>

<file path=ppt/tags/tag296.xml><?xml version="1.0" encoding="utf-8"?>
<p:tagLst xmlns:p="http://schemas.openxmlformats.org/presentationml/2006/main">
  <p:tag name="TIMING" val="|0.6|0.8|1.2|0.9|0.6|1.1|0.7|0.6|0.8|0.4|1"/>
</p:tagLst>
</file>

<file path=ppt/tags/tag297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298.xml><?xml version="1.0" encoding="utf-8"?>
<p:tagLst xmlns:p="http://schemas.openxmlformats.org/presentationml/2006/main">
  <p:tag name="KSO_WM_BEAUTIFY_FLAG" val=""/>
</p:tagLst>
</file>

<file path=ppt/tags/tag299.xml><?xml version="1.0" encoding="utf-8"?>
<p:tagLst xmlns:p="http://schemas.openxmlformats.org/presentationml/2006/main">
  <p:tag name="KSO_WM_BEAUTIFY_FLAG" val=""/>
</p:tagLst>
</file>

<file path=ppt/tags/tag300.xml><?xml version="1.0" encoding="utf-8"?>
<p:tagLst xmlns:p="http://schemas.openxmlformats.org/presentationml/2006/main">
  <p:tag name="TIMING" val="|0.6|0.8|1.2|0.9|0.6|1.1|0.7|0.6|0.8|0.4|1"/>
</p:tagLst>
</file>

<file path=ppt/tags/tag301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302.xml><?xml version="1.0" encoding="utf-8"?>
<p:tagLst xmlns:p="http://schemas.openxmlformats.org/presentationml/2006/main">
  <p:tag name="TIMING" val="|0.6|0.8|1.2|0.9|0.6|1.1|0.7|0.6|0.8|0.4|1"/>
</p:tagLst>
</file>

<file path=ppt/tags/tag303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304.xml><?xml version="1.0" encoding="utf-8"?>
<p:tagLst xmlns:p="http://schemas.openxmlformats.org/presentationml/2006/main">
  <p:tag name="TIMING" val="|0.6|0.8|1.2|0.9|0.6|1.1|0.7|0.6|0.8|0.4|1"/>
</p:tagLst>
</file>

<file path=ppt/tags/tag305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306.xml><?xml version="1.0" encoding="utf-8"?>
<p:tagLst xmlns:p="http://schemas.openxmlformats.org/presentationml/2006/main">
  <p:tag name="KSO_WM_BEAUTIFY_FLAG" val=""/>
</p:tagLst>
</file>

<file path=ppt/tags/tag307.xml><?xml version="1.0" encoding="utf-8"?>
<p:tagLst xmlns:p="http://schemas.openxmlformats.org/presentationml/2006/main">
  <p:tag name="KSO_WM_BEAUTIFY_FLAG" val=""/>
</p:tagLst>
</file>

<file path=ppt/tags/tag308.xml><?xml version="1.0" encoding="utf-8"?>
<p:tagLst xmlns:p="http://schemas.openxmlformats.org/presentationml/2006/main">
  <p:tag name="KSO_WM_BEAUTIFY_FLAG" val=""/>
</p:tagLst>
</file>

<file path=ppt/tags/tag309.xml><?xml version="1.0" encoding="utf-8"?>
<p:tagLst xmlns:p="http://schemas.openxmlformats.org/presentationml/2006/main">
  <p:tag name="TIMING" val="|0.6|0.8|1.2|0.9|0.6|1.1|0.7|0.6|0.8|0.4|1"/>
</p:tagLst>
</file>

<file path=ppt/tags/tag310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311.xml><?xml version="1.0" encoding="utf-8"?>
<p:tagLst xmlns:p="http://schemas.openxmlformats.org/presentationml/2006/main">
  <p:tag name="KSO_WM_BEAUTIFY_FLAG" val=""/>
</p:tagLst>
</file>

<file path=ppt/tags/tag312.xml><?xml version="1.0" encoding="utf-8"?>
<p:tagLst xmlns:p="http://schemas.openxmlformats.org/presentationml/2006/main">
  <p:tag name="KSO_WM_BEAUTIFY_FLAG" val=""/>
</p:tagLst>
</file>

<file path=ppt/tags/tag313.xml><?xml version="1.0" encoding="utf-8"?>
<p:tagLst xmlns:p="http://schemas.openxmlformats.org/presentationml/2006/main">
  <p:tag name="KSO_WM_BEAUTIFY_FLAG" val=""/>
</p:tagLst>
</file>

<file path=ppt/tags/tag314.xml><?xml version="1.0" encoding="utf-8"?>
<p:tagLst xmlns:p="http://schemas.openxmlformats.org/presentationml/2006/main">
  <p:tag name="KSO_WM_BEAUTIFY_FLAG" val=""/>
</p:tagLst>
</file>

<file path=ppt/tags/tag315.xml><?xml version="1.0" encoding="utf-8"?>
<p:tagLst xmlns:p="http://schemas.openxmlformats.org/presentationml/2006/main">
  <p:tag name="KSO_WM_BEAUTIFY_FLAG" val=""/>
</p:tagLst>
</file>

<file path=ppt/tags/tag316.xml><?xml version="1.0" encoding="utf-8"?>
<p:tagLst xmlns:p="http://schemas.openxmlformats.org/presentationml/2006/main">
  <p:tag name="KSO_WM_BEAUTIFY_FLAG" val=""/>
</p:tagLst>
</file>

<file path=ppt/tags/tag317.xml><?xml version="1.0" encoding="utf-8"?>
<p:tagLst xmlns:p="http://schemas.openxmlformats.org/presentationml/2006/main">
  <p:tag name="KSO_WM_BEAUTIFY_FLAG" val=""/>
</p:tagLst>
</file>

<file path=ppt/tags/tag318.xml><?xml version="1.0" encoding="utf-8"?>
<p:tagLst xmlns:p="http://schemas.openxmlformats.org/presentationml/2006/main">
  <p:tag name="KSO_WM_BEAUTIFY_FLAG" val=""/>
</p:tagLst>
</file>

<file path=ppt/tags/tag319.xml><?xml version="1.0" encoding="utf-8"?>
<p:tagLst xmlns:p="http://schemas.openxmlformats.org/presentationml/2006/main">
  <p:tag name="KSO_WM_BEAUTIFY_FLAG" val=""/>
</p:tagLst>
</file>

<file path=ppt/tags/tag320.xml><?xml version="1.0" encoding="utf-8"?>
<p:tagLst xmlns:p="http://schemas.openxmlformats.org/presentationml/2006/main">
  <p:tag name="KSO_WM_BEAUTIFY_FLAG" val=""/>
</p:tagLst>
</file>

<file path=ppt/tags/tag321.xml><?xml version="1.0" encoding="utf-8"?>
<p:tagLst xmlns:p="http://schemas.openxmlformats.org/presentationml/2006/main">
  <p:tag name="KSO_WM_BEAUTIFY_FLAG" val=""/>
</p:tagLst>
</file>

<file path=ppt/tags/tag322.xml><?xml version="1.0" encoding="utf-8"?>
<p:tagLst xmlns:p="http://schemas.openxmlformats.org/presentationml/2006/main">
  <p:tag name="KSO_WM_BEAUTIFY_FLAG" val=""/>
</p:tagLst>
</file>

<file path=ppt/tags/tag323.xml><?xml version="1.0" encoding="utf-8"?>
<p:tagLst xmlns:p="http://schemas.openxmlformats.org/presentationml/2006/main">
  <p:tag name="KSO_WM_BEAUTIFY_FLAG" val=""/>
</p:tagLst>
</file>

<file path=ppt/tags/tag324.xml><?xml version="1.0" encoding="utf-8"?>
<p:tagLst xmlns:p="http://schemas.openxmlformats.org/presentationml/2006/main">
  <p:tag name="KSO_WM_BEAUTIFY_FLAG" val=""/>
</p:tagLst>
</file>

<file path=ppt/tags/tag325.xml><?xml version="1.0" encoding="utf-8"?>
<p:tagLst xmlns:p="http://schemas.openxmlformats.org/presentationml/2006/main">
  <p:tag name="KSO_WM_BEAUTIFY_FLAG" val=""/>
</p:tagLst>
</file>

<file path=ppt/tags/tag326.xml><?xml version="1.0" encoding="utf-8"?>
<p:tagLst xmlns:p="http://schemas.openxmlformats.org/presentationml/2006/main">
  <p:tag name="KSO_WM_BEAUTIFY_FLAG" val=""/>
</p:tagLst>
</file>

<file path=ppt/tags/tag327.xml><?xml version="1.0" encoding="utf-8"?>
<p:tagLst xmlns:p="http://schemas.openxmlformats.org/presentationml/2006/main">
  <p:tag name="KSO_WM_BEAUTIFY_FLAG" val=""/>
</p:tagLst>
</file>

<file path=ppt/tags/tag328.xml><?xml version="1.0" encoding="utf-8"?>
<p:tagLst xmlns:p="http://schemas.openxmlformats.org/presentationml/2006/main">
  <p:tag name="TIMING" val="|0.6|0.8|1.2|0.9|0.6|1.1|0.7|0.6|0.8|0.4|1"/>
</p:tagLst>
</file>

<file path=ppt/tags/tag329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330.xml><?xml version="1.0" encoding="utf-8"?>
<p:tagLst xmlns:p="http://schemas.openxmlformats.org/presentationml/2006/main">
  <p:tag name="KSO_WM_BEAUTIFY_FLAG" val=""/>
</p:tagLst>
</file>

<file path=ppt/tags/tag331.xml><?xml version="1.0" encoding="utf-8"?>
<p:tagLst xmlns:p="http://schemas.openxmlformats.org/presentationml/2006/main">
  <p:tag name="KSO_WM_BEAUTIFY_FLAG" val=""/>
</p:tagLst>
</file>

<file path=ppt/tags/tag332.xml><?xml version="1.0" encoding="utf-8"?>
<p:tagLst xmlns:p="http://schemas.openxmlformats.org/presentationml/2006/main">
  <p:tag name="KSO_WM_BEAUTIFY_FLAG" val=""/>
</p:tagLst>
</file>

<file path=ppt/tags/tag333.xml><?xml version="1.0" encoding="utf-8"?>
<p:tagLst xmlns:p="http://schemas.openxmlformats.org/presentationml/2006/main">
  <p:tag name="KSO_WM_BEAUTIFY_FLAG" val=""/>
</p:tagLst>
</file>

<file path=ppt/tags/tag334.xml><?xml version="1.0" encoding="utf-8"?>
<p:tagLst xmlns:p="http://schemas.openxmlformats.org/presentationml/2006/main">
  <p:tag name="KSO_WM_BEAUTIFY_FLAG" val=""/>
</p:tagLst>
</file>

<file path=ppt/tags/tag335.xml><?xml version="1.0" encoding="utf-8"?>
<p:tagLst xmlns:p="http://schemas.openxmlformats.org/presentationml/2006/main">
  <p:tag name="KSO_WM_BEAUTIFY_FLAG" val=""/>
</p:tagLst>
</file>

<file path=ppt/tags/tag336.xml><?xml version="1.0" encoding="utf-8"?>
<p:tagLst xmlns:p="http://schemas.openxmlformats.org/presentationml/2006/main">
  <p:tag name="KSO_WM_BEAUTIFY_FLAG" val=""/>
</p:tagLst>
</file>

<file path=ppt/tags/tag337.xml><?xml version="1.0" encoding="utf-8"?>
<p:tagLst xmlns:p="http://schemas.openxmlformats.org/presentationml/2006/main">
  <p:tag name="KSO_WM_BEAUTIFY_FLAG" val=""/>
</p:tagLst>
</file>

<file path=ppt/tags/tag338.xml><?xml version="1.0" encoding="utf-8"?>
<p:tagLst xmlns:p="http://schemas.openxmlformats.org/presentationml/2006/main">
  <p:tag name="KSO_WM_BEAUTIFY_FLAG" val=""/>
</p:tagLst>
</file>

<file path=ppt/tags/tag339.xml><?xml version="1.0" encoding="utf-8"?>
<p:tagLst xmlns:p="http://schemas.openxmlformats.org/presentationml/2006/main">
  <p:tag name="KSO_WM_BEAUTIFY_FLAG" val=""/>
</p:tagLst>
</file>

<file path=ppt/tags/tag340.xml><?xml version="1.0" encoding="utf-8"?>
<p:tagLst xmlns:p="http://schemas.openxmlformats.org/presentationml/2006/main">
  <p:tag name="KSO_WM_BEAUTIFY_FLAG" val=""/>
</p:tagLst>
</file>

<file path=ppt/tags/tag341.xml><?xml version="1.0" encoding="utf-8"?>
<p:tagLst xmlns:p="http://schemas.openxmlformats.org/presentationml/2006/main">
  <p:tag name="KSO_WM_BEAUTIFY_FLAG" val=""/>
</p:tagLst>
</file>

<file path=ppt/tags/tag342.xml><?xml version="1.0" encoding="utf-8"?>
<p:tagLst xmlns:p="http://schemas.openxmlformats.org/presentationml/2006/main">
  <p:tag name="KSO_WM_BEAUTIFY_FLAG" val=""/>
</p:tagLst>
</file>

<file path=ppt/tags/tag343.xml><?xml version="1.0" encoding="utf-8"?>
<p:tagLst xmlns:p="http://schemas.openxmlformats.org/presentationml/2006/main">
  <p:tag name="KSO_WM_BEAUTIFY_FLAG" val=""/>
</p:tagLst>
</file>

<file path=ppt/tags/tag344.xml><?xml version="1.0" encoding="utf-8"?>
<p:tagLst xmlns:p="http://schemas.openxmlformats.org/presentationml/2006/main">
  <p:tag name="KSO_WM_BEAUTIFY_FLAG" val=""/>
</p:tagLst>
</file>

<file path=ppt/tags/tag345.xml><?xml version="1.0" encoding="utf-8"?>
<p:tagLst xmlns:p="http://schemas.openxmlformats.org/presentationml/2006/main">
  <p:tag name="KSO_WM_BEAUTIFY_FLAG" val=""/>
</p:tagLst>
</file>

<file path=ppt/tags/tag346.xml><?xml version="1.0" encoding="utf-8"?>
<p:tagLst xmlns:p="http://schemas.openxmlformats.org/presentationml/2006/main">
  <p:tag name="TIMING" val="|0.6|0.8|1.2|0.9|0.6|1.1|0.7|0.6|0.8|0.4|1"/>
</p:tagLst>
</file>

<file path=ppt/tags/tag347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348.xml><?xml version="1.0" encoding="utf-8"?>
<p:tagLst xmlns:p="http://schemas.openxmlformats.org/presentationml/2006/main">
  <p:tag name="TIMING" val="|0.6|0.8|1.2|0.9|0.6|1.1|0.7|0.6|0.8|0.4|1"/>
</p:tagLst>
</file>

<file path=ppt/tags/tag349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350.xml><?xml version="1.0" encoding="utf-8"?>
<p:tagLst xmlns:p="http://schemas.openxmlformats.org/presentationml/2006/main">
  <p:tag name="TIMING" val="|0.6|0.8|1.2|0.9|0.6|1.1|0.7|0.6|0.8|0.4|1"/>
</p:tagLst>
</file>

<file path=ppt/tags/tag351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352.xml><?xml version="1.0" encoding="utf-8"?>
<p:tagLst xmlns:p="http://schemas.openxmlformats.org/presentationml/2006/main">
  <p:tag name="KSO_WM_BEAUTIFY_FLAG" val=""/>
</p:tagLst>
</file>

<file path=ppt/tags/tag353.xml><?xml version="1.0" encoding="utf-8"?>
<p:tagLst xmlns:p="http://schemas.openxmlformats.org/presentationml/2006/main">
  <p:tag name="KSO_WM_BEAUTIFY_FLAG" val=""/>
</p:tagLst>
</file>

<file path=ppt/tags/tag354.xml><?xml version="1.0" encoding="utf-8"?>
<p:tagLst xmlns:p="http://schemas.openxmlformats.org/presentationml/2006/main">
  <p:tag name="KSO_WM_BEAUTIFY_FLAG" val=""/>
</p:tagLst>
</file>

<file path=ppt/tags/tag355.xml><?xml version="1.0" encoding="utf-8"?>
<p:tagLst xmlns:p="http://schemas.openxmlformats.org/presentationml/2006/main">
  <p:tag name="KSO_WM_BEAUTIFY_FLAG" val=""/>
</p:tagLst>
</file>

<file path=ppt/tags/tag356.xml><?xml version="1.0" encoding="utf-8"?>
<p:tagLst xmlns:p="http://schemas.openxmlformats.org/presentationml/2006/main">
  <p:tag name="KSO_WM_BEAUTIFY_FLAG" val=""/>
</p:tagLst>
</file>

<file path=ppt/tags/tag357.xml><?xml version="1.0" encoding="utf-8"?>
<p:tagLst xmlns:p="http://schemas.openxmlformats.org/presentationml/2006/main">
  <p:tag name="KSO_WM_BEAUTIFY_FLAG" val=""/>
</p:tagLst>
</file>

<file path=ppt/tags/tag358.xml><?xml version="1.0" encoding="utf-8"?>
<p:tagLst xmlns:p="http://schemas.openxmlformats.org/presentationml/2006/main">
  <p:tag name="KSO_WM_BEAUTIFY_FLAG" val=""/>
</p:tagLst>
</file>

<file path=ppt/tags/tag359.xml><?xml version="1.0" encoding="utf-8"?>
<p:tagLst xmlns:p="http://schemas.openxmlformats.org/presentationml/2006/main">
  <p:tag name="KSO_WM_BEAUTIFY_FLAG" val=""/>
</p:tagLst>
</file>

<file path=ppt/tags/tag360.xml><?xml version="1.0" encoding="utf-8"?>
<p:tagLst xmlns:p="http://schemas.openxmlformats.org/presentationml/2006/main">
  <p:tag name="KSO_WM_BEAUTIFY_FLAG" val=""/>
</p:tagLst>
</file>

<file path=ppt/tags/tag361.xml><?xml version="1.0" encoding="utf-8"?>
<p:tagLst xmlns:p="http://schemas.openxmlformats.org/presentationml/2006/main">
  <p:tag name="KSO_WM_BEAUTIFY_FLAG" val=""/>
</p:tagLst>
</file>

<file path=ppt/tags/tag362.xml><?xml version="1.0" encoding="utf-8"?>
<p:tagLst xmlns:p="http://schemas.openxmlformats.org/presentationml/2006/main">
  <p:tag name="KSO_WM_BEAUTIFY_FLAG" val=""/>
</p:tagLst>
</file>

<file path=ppt/tags/tag363.xml><?xml version="1.0" encoding="utf-8"?>
<p:tagLst xmlns:p="http://schemas.openxmlformats.org/presentationml/2006/main">
  <p:tag name="KSO_WM_BEAUTIFY_FLAG" val=""/>
</p:tagLst>
</file>

<file path=ppt/tags/tag364.xml><?xml version="1.0" encoding="utf-8"?>
<p:tagLst xmlns:p="http://schemas.openxmlformats.org/presentationml/2006/main">
  <p:tag name="KSO_WM_BEAUTIFY_FLAG" val=""/>
</p:tagLst>
</file>

<file path=ppt/tags/tag365.xml><?xml version="1.0" encoding="utf-8"?>
<p:tagLst xmlns:p="http://schemas.openxmlformats.org/presentationml/2006/main">
  <p:tag name="KSO_WM_BEAUTIFY_FLAG" val=""/>
</p:tagLst>
</file>

<file path=ppt/tags/tag366.xml><?xml version="1.0" encoding="utf-8"?>
<p:tagLst xmlns:p="http://schemas.openxmlformats.org/presentationml/2006/main">
  <p:tag name="TIMING" val="|0.6|0.8|1.2|0.9|0.6|1.1|0.7|0.6|0.8|0.4|1"/>
</p:tagLst>
</file>

<file path=ppt/tags/tag367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368.xml><?xml version="1.0" encoding="utf-8"?>
<p:tagLst xmlns:p="http://schemas.openxmlformats.org/presentationml/2006/main">
  <p:tag name="KSO_WM_BEAUTIFY_FLAG" val=""/>
</p:tagLst>
</file>

<file path=ppt/tags/tag369.xml><?xml version="1.0" encoding="utf-8"?>
<p:tagLst xmlns:p="http://schemas.openxmlformats.org/presentationml/2006/main">
  <p:tag name="KSO_WM_BEAUTIFY_FLAG" val=""/>
</p:tagLst>
</file>

<file path=ppt/tags/tag370.xml><?xml version="1.0" encoding="utf-8"?>
<p:tagLst xmlns:p="http://schemas.openxmlformats.org/presentationml/2006/main">
  <p:tag name="KSO_WM_BEAUTIFY_FLAG" val=""/>
</p:tagLst>
</file>

<file path=ppt/tags/tag371.xml><?xml version="1.0" encoding="utf-8"?>
<p:tagLst xmlns:p="http://schemas.openxmlformats.org/presentationml/2006/main">
  <p:tag name="KSO_WM_BEAUTIFY_FLAG" val=""/>
</p:tagLst>
</file>

<file path=ppt/tags/tag372.xml><?xml version="1.0" encoding="utf-8"?>
<p:tagLst xmlns:p="http://schemas.openxmlformats.org/presentationml/2006/main">
  <p:tag name="KSO_WM_BEAUTIFY_FLAG" val=""/>
</p:tagLst>
</file>

<file path=ppt/tags/tag373.xml><?xml version="1.0" encoding="utf-8"?>
<p:tagLst xmlns:p="http://schemas.openxmlformats.org/presentationml/2006/main">
  <p:tag name="KSO_WM_BEAUTIFY_FLAG" val=""/>
</p:tagLst>
</file>

<file path=ppt/tags/tag374.xml><?xml version="1.0" encoding="utf-8"?>
<p:tagLst xmlns:p="http://schemas.openxmlformats.org/presentationml/2006/main">
  <p:tag name="KSO_WM_BEAUTIFY_FLAG" val=""/>
</p:tagLst>
</file>

<file path=ppt/tags/tag375.xml><?xml version="1.0" encoding="utf-8"?>
<p:tagLst xmlns:p="http://schemas.openxmlformats.org/presentationml/2006/main">
  <p:tag name="KSO_WM_BEAUTIFY_FLAG" val=""/>
</p:tagLst>
</file>

<file path=ppt/tags/tag376.xml><?xml version="1.0" encoding="utf-8"?>
<p:tagLst xmlns:p="http://schemas.openxmlformats.org/presentationml/2006/main">
  <p:tag name="KSO_WM_BEAUTIFY_FLAG" val=""/>
</p:tagLst>
</file>

<file path=ppt/tags/tag377.xml><?xml version="1.0" encoding="utf-8"?>
<p:tagLst xmlns:p="http://schemas.openxmlformats.org/presentationml/2006/main">
  <p:tag name="KSO_WM_BEAUTIFY_FLAG" val=""/>
</p:tagLst>
</file>

<file path=ppt/tags/tag378.xml><?xml version="1.0" encoding="utf-8"?>
<p:tagLst xmlns:p="http://schemas.openxmlformats.org/presentationml/2006/main">
  <p:tag name="KSO_WM_BEAUTIFY_FLAG" val=""/>
</p:tagLst>
</file>

<file path=ppt/tags/tag379.xml><?xml version="1.0" encoding="utf-8"?>
<p:tagLst xmlns:p="http://schemas.openxmlformats.org/presentationml/2006/main">
  <p:tag name="KSO_WM_BEAUTIFY_FLAG" val=""/>
</p:tagLst>
</file>

<file path=ppt/tags/tag380.xml><?xml version="1.0" encoding="utf-8"?>
<p:tagLst xmlns:p="http://schemas.openxmlformats.org/presentationml/2006/main">
  <p:tag name="KSO_WM_BEAUTIFY_FLAG" val=""/>
</p:tagLst>
</file>

<file path=ppt/tags/tag381.xml><?xml version="1.0" encoding="utf-8"?>
<p:tagLst xmlns:p="http://schemas.openxmlformats.org/presentationml/2006/main">
  <p:tag name="KSO_WM_BEAUTIFY_FLAG" val=""/>
</p:tagLst>
</file>

<file path=ppt/tags/tag382.xml><?xml version="1.0" encoding="utf-8"?>
<p:tagLst xmlns:p="http://schemas.openxmlformats.org/presentationml/2006/main">
  <p:tag name="KSO_WM_BEAUTIFY_FLAG" val=""/>
</p:tagLst>
</file>

<file path=ppt/tags/tag383.xml><?xml version="1.0" encoding="utf-8"?>
<p:tagLst xmlns:p="http://schemas.openxmlformats.org/presentationml/2006/main">
  <p:tag name="KSO_WM_BEAUTIFY_FLAG" val=""/>
</p:tagLst>
</file>

<file path=ppt/tags/tag384.xml><?xml version="1.0" encoding="utf-8"?>
<p:tagLst xmlns:p="http://schemas.openxmlformats.org/presentationml/2006/main">
  <p:tag name="KSO_WM_BEAUTIFY_FLAG" val=""/>
</p:tagLst>
</file>

<file path=ppt/tags/tag385.xml><?xml version="1.0" encoding="utf-8"?>
<p:tagLst xmlns:p="http://schemas.openxmlformats.org/presentationml/2006/main">
  <p:tag name="KSO_WM_BEAUTIFY_FLAG" val=""/>
</p:tagLst>
</file>

<file path=ppt/tags/tag386.xml><?xml version="1.0" encoding="utf-8"?>
<p:tagLst xmlns:p="http://schemas.openxmlformats.org/presentationml/2006/main">
  <p:tag name="KSO_WM_BEAUTIFY_FLAG" val=""/>
</p:tagLst>
</file>

<file path=ppt/tags/tag387.xml><?xml version="1.0" encoding="utf-8"?>
<p:tagLst xmlns:p="http://schemas.openxmlformats.org/presentationml/2006/main">
  <p:tag name="KSO_WM_BEAUTIFY_FLAG" val=""/>
</p:tagLst>
</file>

<file path=ppt/tags/tag388.xml><?xml version="1.0" encoding="utf-8"?>
<p:tagLst xmlns:p="http://schemas.openxmlformats.org/presentationml/2006/main">
  <p:tag name="TIMING" val="|0.6|0.8|1.2|0.9|0.6|1.1|0.7|0.6|0.8|0.4|1"/>
</p:tagLst>
</file>

<file path=ppt/tags/tag389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390.xml><?xml version="1.0" encoding="utf-8"?>
<p:tagLst xmlns:p="http://schemas.openxmlformats.org/presentationml/2006/main">
  <p:tag name="TIMING" val="|0.6|0.8|1.2|0.9|0.6|1.1|0.7|0.6|0.8|0.4|1"/>
</p:tagLst>
</file>

<file path=ppt/tags/tag391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392.xml><?xml version="1.0" encoding="utf-8"?>
<p:tagLst xmlns:p="http://schemas.openxmlformats.org/presentationml/2006/main">
  <p:tag name="TIMING" val="|0.6|0.8|1.2|0.9|0.6|1.1|0.7|0.6|0.8|0.4|1"/>
</p:tagLst>
</file>

<file path=ppt/tags/tag393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394.xml><?xml version="1.0" encoding="utf-8"?>
<p:tagLst xmlns:p="http://schemas.openxmlformats.org/presentationml/2006/main">
  <p:tag name="TIMING" val="|0.6|0.8|1.2|0.9|0.6|1.1|0.7|0.6|0.8|0.4|1"/>
</p:tagLst>
</file>

<file path=ppt/tags/tag395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396.xml><?xml version="1.0" encoding="utf-8"?>
<p:tagLst xmlns:p="http://schemas.openxmlformats.org/presentationml/2006/main">
  <p:tag name="KSO_WM_UNIT_TABLE_BEAUTIFY" val="smartTable{a8b21506-2bba-49b1-9e39-8012d08ce0ce}"/>
  <p:tag name="TABLE_ENDDRAG_ORIGIN_RECT" val="718*456"/>
  <p:tag name="TABLE_ENDDRAG_RECT" val="26*53*718*456"/>
  <p:tag name="KSO_WM_BEAUTIFY_FLAG" val=""/>
</p:tagLst>
</file>

<file path=ppt/tags/tag397.xml><?xml version="1.0" encoding="utf-8"?>
<p:tagLst xmlns:p="http://schemas.openxmlformats.org/presentationml/2006/main">
  <p:tag name="TIMING" val="|0.6|0.8|1.2|0.9|0.6|1.1|0.7|0.6|0.8|0.4|1"/>
</p:tagLst>
</file>

<file path=ppt/tags/tag398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399.xml><?xml version="1.0" encoding="utf-8"?>
<p:tagLst xmlns:p="http://schemas.openxmlformats.org/presentationml/2006/main">
  <p:tag name="TIMING" val="|0.6|0.8|1.2|0.9|0.6|1.1|0.7|0.6|0.8|0.4|1"/>
</p:tagLst>
</file>

<file path=ppt/tags/tag400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401.xml><?xml version="1.0" encoding="utf-8"?>
<p:tagLst xmlns:p="http://schemas.openxmlformats.org/presentationml/2006/main">
  <p:tag name="TIMING" val="|0.6|0.8|1.2|0.9|0.6|1.1|0.7|0.6|0.8|0.4|1"/>
</p:tagLst>
</file>

<file path=ppt/tags/tag402.xml><?xml version="1.0" encoding="utf-8"?>
<p:tagLst xmlns:p="http://schemas.openxmlformats.org/presentationml/2006/main">
  <p:tag name="COMMONDATA" val="eyJoZGlkIjoiYWEwMGE1NWI5YzQ1ZTYxZmY0OTNkMmVjYzk0YWI1NTEifQ=="/>
  <p:tag name="KSO_WPP_MARK_KEY" val="b648bd06-0c48-48d1-88e9-75114c59f56c"/>
  <p:tag name="commondata" val="eyJoZGlkIjoiNGY1OTNlYzdlMWQ2NDQ3ODU2NzFhYmIzMTgyYzM0ZGM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D02F35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27124</Words>
  <Application>WPS 演示</Application>
  <PresentationFormat>宽屏</PresentationFormat>
  <Paragraphs>3121</Paragraphs>
  <Slides>58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58</vt:i4>
      </vt:variant>
    </vt:vector>
  </HeadingPairs>
  <TitlesOfParts>
    <vt:vector size="72" baseType="lpstr">
      <vt:lpstr>Arial</vt:lpstr>
      <vt:lpstr>宋体</vt:lpstr>
      <vt:lpstr>Wingdings</vt:lpstr>
      <vt:lpstr>Calibri</vt:lpstr>
      <vt:lpstr>等线</vt:lpstr>
      <vt:lpstr>华文楷体</vt:lpstr>
      <vt:lpstr>思源黑体 CN Regular</vt:lpstr>
      <vt:lpstr>纤黑体</vt:lpstr>
      <vt:lpstr>黑体</vt:lpstr>
      <vt:lpstr>微软雅黑</vt:lpstr>
      <vt:lpstr>Arial Unicode MS</vt:lpstr>
      <vt:lpstr>纤黑体</vt:lpstr>
      <vt:lpstr>方正大黑体_GBK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Think</dc:creator>
  <cp:lastModifiedBy>风暴鸟</cp:lastModifiedBy>
  <cp:revision>1859</cp:revision>
  <dcterms:created xsi:type="dcterms:W3CDTF">2020-07-23T10:11:00Z</dcterms:created>
  <dcterms:modified xsi:type="dcterms:W3CDTF">2026-04-13T10:14:20Z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5A1EE12111F04212A09581045797DBEA</vt:lpwstr>
  </property>
</Properties>
</file>