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2"/>
  </p:handoutMasterIdLst>
  <p:sldIdLst>
    <p:sldId id="256" r:id="rId3"/>
    <p:sldId id="4792" r:id="rId5"/>
    <p:sldId id="4847" r:id="rId6"/>
    <p:sldId id="4848" r:id="rId7"/>
    <p:sldId id="4849" r:id="rId8"/>
    <p:sldId id="4850" r:id="rId9"/>
    <p:sldId id="4851" r:id="rId10"/>
    <p:sldId id="4852" r:id="rId11"/>
    <p:sldId id="4853" r:id="rId12"/>
    <p:sldId id="4854" r:id="rId13"/>
    <p:sldId id="4855" r:id="rId14"/>
    <p:sldId id="4858" r:id="rId15"/>
    <p:sldId id="4859" r:id="rId16"/>
    <p:sldId id="4860" r:id="rId17"/>
    <p:sldId id="4862" r:id="rId18"/>
    <p:sldId id="4863" r:id="rId19"/>
    <p:sldId id="4864" r:id="rId20"/>
    <p:sldId id="4865" r:id="rId21"/>
    <p:sldId id="4866" r:id="rId22"/>
    <p:sldId id="4867" r:id="rId23"/>
    <p:sldId id="4868" r:id="rId24"/>
    <p:sldId id="4869" r:id="rId25"/>
    <p:sldId id="4877" r:id="rId26"/>
    <p:sldId id="4871" r:id="rId27"/>
    <p:sldId id="4875" r:id="rId28"/>
    <p:sldId id="4872" r:id="rId29"/>
    <p:sldId id="4873" r:id="rId30"/>
    <p:sldId id="4876" r:id="rId31"/>
    <p:sldId id="4895" r:id="rId32"/>
    <p:sldId id="4896" r:id="rId33"/>
    <p:sldId id="4878" r:id="rId34"/>
    <p:sldId id="4879" r:id="rId35"/>
    <p:sldId id="4880" r:id="rId36"/>
    <p:sldId id="4881" r:id="rId37"/>
    <p:sldId id="4882" r:id="rId38"/>
    <p:sldId id="4883" r:id="rId39"/>
    <p:sldId id="4884" r:id="rId40"/>
    <p:sldId id="4886" r:id="rId41"/>
    <p:sldId id="4887" r:id="rId42"/>
    <p:sldId id="4888" r:id="rId43"/>
    <p:sldId id="4889" r:id="rId44"/>
    <p:sldId id="4890" r:id="rId45"/>
    <p:sldId id="4891" r:id="rId46"/>
    <p:sldId id="4917" r:id="rId47"/>
    <p:sldId id="4918" r:id="rId48"/>
    <p:sldId id="4919" r:id="rId49"/>
    <p:sldId id="4894" r:id="rId50"/>
    <p:sldId id="4861" r:id="rId51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7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妍洁" initials="王妍洁" lastIdx="3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B15"/>
    <a:srgbClr val="D02F35"/>
    <a:srgbClr val="CD858A"/>
    <a:srgbClr val="8BA8D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8" y="36"/>
      </p:cViewPr>
      <p:guideLst>
        <p:guide orient="horz" pos="2169"/>
        <p:guide pos="37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gs" Target="tags/tag366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这门课的目的</a:t>
            </a:r>
            <a:r>
              <a:rPr lang="zh-CN" altLang="en-US"/>
              <a:t>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圆: 空心 11"/>
          <p:cNvSpPr/>
          <p:nvPr userDrawn="1"/>
        </p:nvSpPr>
        <p:spPr>
          <a:xfrm>
            <a:off x="11604170" y="6385918"/>
            <a:ext cx="1248229" cy="1248229"/>
          </a:xfrm>
          <a:prstGeom prst="donut">
            <a:avLst>
              <a:gd name="adj" fmla="val 21798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>
                <a:latin typeface="Calibri" panose="020F0502020204030204" charset="0"/>
                <a:ea typeface="等线" panose="02010600030101010101" charset="-122"/>
                <a:cs typeface="+mn-cs"/>
              </a:rPr>
            </a:fld>
            <a:endParaRPr lang="en-US" altLang="zh-CN" strike="noStrike" noProof="1">
              <a:ea typeface="等线" panose="02010600030101010101" charset="-122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9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tags" Target="../tags/tag14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81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tags" Target="../tags/tag16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7" Type="http://schemas.openxmlformats.org/officeDocument/2006/relationships/notesSlide" Target="../notesSlides/notesSlide16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16.xml"/><Relationship Id="rId34" Type="http://schemas.openxmlformats.org/officeDocument/2006/relationships/tags" Target="../tags/tag215.xml"/><Relationship Id="rId33" Type="http://schemas.openxmlformats.org/officeDocument/2006/relationships/tags" Target="../tags/tag214.xml"/><Relationship Id="rId32" Type="http://schemas.openxmlformats.org/officeDocument/2006/relationships/tags" Target="../tags/tag213.xml"/><Relationship Id="rId31" Type="http://schemas.openxmlformats.org/officeDocument/2006/relationships/tags" Target="../tags/tag212.xml"/><Relationship Id="rId30" Type="http://schemas.openxmlformats.org/officeDocument/2006/relationships/tags" Target="../tags/tag211.xml"/><Relationship Id="rId3" Type="http://schemas.openxmlformats.org/officeDocument/2006/relationships/tags" Target="../tags/tag184.xml"/><Relationship Id="rId29" Type="http://schemas.openxmlformats.org/officeDocument/2006/relationships/tags" Target="../tags/tag210.xml"/><Relationship Id="rId28" Type="http://schemas.openxmlformats.org/officeDocument/2006/relationships/tags" Target="../tags/tag209.xml"/><Relationship Id="rId27" Type="http://schemas.openxmlformats.org/officeDocument/2006/relationships/tags" Target="../tags/tag208.xml"/><Relationship Id="rId26" Type="http://schemas.openxmlformats.org/officeDocument/2006/relationships/tags" Target="../tags/tag207.xml"/><Relationship Id="rId25" Type="http://schemas.openxmlformats.org/officeDocument/2006/relationships/tags" Target="../tags/tag206.xml"/><Relationship Id="rId24" Type="http://schemas.openxmlformats.org/officeDocument/2006/relationships/tags" Target="../tags/tag205.xml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tags" Target="../tags/tag183.xml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tags" Target="../tags/tag197.xml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tags" Target="../tags/tag18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39.xml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2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tags" Target="../tags/tag24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80.xml"/><Relationship Id="rId13" Type="http://schemas.openxmlformats.org/officeDocument/2006/relationships/tags" Target="../tags/tag279.xml"/><Relationship Id="rId12" Type="http://schemas.openxmlformats.org/officeDocument/2006/relationships/tags" Target="../tags/tag278.xml"/><Relationship Id="rId11" Type="http://schemas.openxmlformats.org/officeDocument/2006/relationships/tags" Target="../tags/tag277.xml"/><Relationship Id="rId10" Type="http://schemas.openxmlformats.org/officeDocument/2006/relationships/tags" Target="../tags/tag276.xml"/><Relationship Id="rId1" Type="http://schemas.openxmlformats.org/officeDocument/2006/relationships/tags" Target="../tags/tag26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7" Type="http://schemas.openxmlformats.org/officeDocument/2006/relationships/notesSlide" Target="../notesSlides/notesSlide2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295.xml"/><Relationship Id="rId14" Type="http://schemas.openxmlformats.org/officeDocument/2006/relationships/tags" Target="../tags/tag294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tags" Target="../tags/tag28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7.xml"/><Relationship Id="rId1" Type="http://schemas.openxmlformats.org/officeDocument/2006/relationships/tags" Target="../tags/tag296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1.xml"/><Relationship Id="rId4" Type="http://schemas.openxmlformats.org/officeDocument/2006/relationships/tags" Target="../tags/tag300.xml"/><Relationship Id="rId3" Type="http://schemas.openxmlformats.org/officeDocument/2006/relationships/tags" Target="../tags/tag299.xml"/><Relationship Id="rId2" Type="http://schemas.openxmlformats.org/officeDocument/2006/relationships/image" Target="../media/image2.png"/><Relationship Id="rId1" Type="http://schemas.openxmlformats.org/officeDocument/2006/relationships/tags" Target="../tags/tag298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4.xml"/><Relationship Id="rId3" Type="http://schemas.openxmlformats.org/officeDocument/2006/relationships/image" Target="../media/image3.png"/><Relationship Id="rId2" Type="http://schemas.openxmlformats.org/officeDocument/2006/relationships/tags" Target="../tags/tag303.xml"/><Relationship Id="rId1" Type="http://schemas.openxmlformats.org/officeDocument/2006/relationships/tags" Target="../tags/tag30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7.xml"/><Relationship Id="rId3" Type="http://schemas.openxmlformats.org/officeDocument/2006/relationships/image" Target="../media/image4.png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9.xml"/><Relationship Id="rId2" Type="http://schemas.openxmlformats.org/officeDocument/2006/relationships/image" Target="../media/image5.png"/><Relationship Id="rId1" Type="http://schemas.openxmlformats.org/officeDocument/2006/relationships/tags" Target="../tags/tag308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tags" Target="../tags/tag319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5.xml"/><Relationship Id="rId1" Type="http://schemas.openxmlformats.org/officeDocument/2006/relationships/tags" Target="../tags/tag32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7.xml"/><Relationship Id="rId1" Type="http://schemas.openxmlformats.org/officeDocument/2006/relationships/tags" Target="../tags/tag326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tags" Target="../tags/tag328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tags" Target="../tags/tag331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" Type="http://schemas.openxmlformats.org/officeDocument/2006/relationships/tags" Target="../tags/tag337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4.xml"/><Relationship Id="rId1" Type="http://schemas.openxmlformats.org/officeDocument/2006/relationships/tags" Target="../tags/tag343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6.xml"/><Relationship Id="rId1" Type="http://schemas.openxmlformats.org/officeDocument/2006/relationships/tags" Target="../tags/tag345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8.xml"/><Relationship Id="rId1" Type="http://schemas.openxmlformats.org/officeDocument/2006/relationships/tags" Target="../tags/tag34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0.xml"/><Relationship Id="rId1" Type="http://schemas.openxmlformats.org/officeDocument/2006/relationships/tags" Target="../tags/tag349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2.xml"/><Relationship Id="rId1" Type="http://schemas.openxmlformats.org/officeDocument/2006/relationships/tags" Target="../tags/tag35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0.xml"/><Relationship Id="rId1" Type="http://schemas.openxmlformats.org/officeDocument/2006/relationships/tags" Target="../tags/tag359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2.xml"/><Relationship Id="rId1" Type="http://schemas.openxmlformats.org/officeDocument/2006/relationships/tags" Target="../tags/tag361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tags" Target="../tags/tag3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9712960" y="-2204720"/>
            <a:ext cx="11268075" cy="11268075"/>
          </a:xfrm>
          <a:prstGeom prst="ellipse">
            <a:avLst/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: 空心 9"/>
          <p:cNvSpPr/>
          <p:nvPr/>
        </p:nvSpPr>
        <p:spPr>
          <a:xfrm>
            <a:off x="571500" y="6216650"/>
            <a:ext cx="1282700" cy="1282700"/>
          </a:xfrm>
          <a:prstGeom prst="donut">
            <a:avLst>
              <a:gd name="adj" fmla="val 17079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533368" y="-314812"/>
            <a:ext cx="584775" cy="58477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34036" y="2450322"/>
            <a:ext cx="8754538" cy="15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操作系统</a:t>
            </a:r>
            <a:endParaRPr lang="zh-CN" altLang="en-US" sz="48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简单程序的结构（</a:t>
            </a:r>
            <a:r>
              <a:rPr lang="en-US" altLang="zh-CN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2</a:t>
            </a:r>
            <a:r>
              <a:rPr lang="zh-CN" altLang="en-US" sz="3200" b="1" spc="300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</a:rPr>
              <a:t>学时）</a:t>
            </a:r>
            <a:endParaRPr lang="zh-CN" altLang="en-US" sz="3200" b="1" spc="3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66595" y="4857750"/>
            <a:ext cx="2438400" cy="405130"/>
          </a:xfrm>
          <a:prstGeom prst="roundRect">
            <a:avLst>
              <a:gd name="adj" fmla="val 50000"/>
            </a:avLst>
          </a:prstGeom>
          <a:solidFill>
            <a:srgbClr val="9C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主讲人</a:t>
            </a:r>
            <a:r>
              <a:rPr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：</a:t>
            </a:r>
            <a:r>
              <a:rPr lang="zh-CN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潘润宇</a:t>
            </a:r>
            <a:endParaRPr lang="zh-CN" sz="20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3595" y="4857750"/>
            <a:ext cx="3055620" cy="405130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时间：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202</a:t>
            </a:r>
            <a:r>
              <a:rPr 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6</a:t>
            </a:r>
            <a:r>
              <a:rPr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年</a:t>
            </a:r>
            <a:r>
              <a:rPr lang="zh-CN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春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季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学期</a:t>
            </a:r>
            <a:endParaRPr lang="zh-CN" altLang="en-US" sz="20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276860" y="429895"/>
            <a:ext cx="3893820" cy="102870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5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1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2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5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6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8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sp>
        <p:nvSpPr>
          <p:cNvPr id="57" name="文本框 56"/>
          <p:cNvSpPr txBox="1"/>
          <p:nvPr/>
        </p:nvSpPr>
        <p:spPr>
          <a:xfrm>
            <a:off x="1367155" y="4196715"/>
            <a:ext cx="66681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9C0B15"/>
                </a:solidFill>
                <a:latin typeface="华文楷体" panose="02010600040101010101" charset="-122"/>
                <a:ea typeface="华文楷体" panose="02010600040101010101" charset="-122"/>
              </a:rPr>
              <a:t>千载文脉凝风骨，根植山大盛芳华</a:t>
            </a:r>
            <a:endParaRPr lang="zh-CN" altLang="en-US" b="1">
              <a:solidFill>
                <a:srgbClr val="9C0B15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5454" t="16281" r="18136" b="20815"/>
          <a:stretch>
            <a:fillRect/>
          </a:stretch>
        </p:blipFill>
        <p:spPr>
          <a:xfrm>
            <a:off x="7983855" y="0"/>
            <a:ext cx="1918335" cy="1744345"/>
          </a:xfrm>
          <a:prstGeom prst="ellipse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代码段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运行时视图简介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运行时视图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程序在执行时的主存储器布局。也叫运行时布局。</a:t>
            </a:r>
            <a:endParaRPr lang="zh-CN" sz="2000"/>
          </a:p>
        </p:txBody>
      </p:sp>
      <p:sp>
        <p:nvSpPr>
          <p:cNvPr id="2" name="矩形 1"/>
          <p:cNvSpPr/>
          <p:nvPr/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>
            <p:custDataLst>
              <p:tags r:id="rId10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>
            <p:custDataLst>
              <p:tags r:id="rId11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>
            <p:custDataLst>
              <p:tags r:id="rId12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>
            <p:custDataLst>
              <p:tags r:id="rId13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</a:t>
            </a:r>
            <a:r>
              <a:rPr lang="en-US" altLang="zh-CN">
                <a:solidFill>
                  <a:schemeClr val="tx1"/>
                </a:solidFill>
              </a:rPr>
              <a:t>Runtime </a:t>
            </a:r>
            <a:r>
              <a:rPr lang="zh-CN" altLang="en-US">
                <a:solidFill>
                  <a:schemeClr val="tx1"/>
                </a:solidFill>
              </a:rPr>
              <a:t>View）实现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4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</a:t>
                      </a: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代码段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代码段（</a:t>
            </a:r>
            <a:r>
              <a:rPr lang="en-US" altLang="zh-CN" sz="2000" b="1">
                <a:solidFill>
                  <a:srgbClr val="9C0B15"/>
                </a:solidFill>
              </a:rPr>
              <a:t>.text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代码段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sz="2000"/>
              <a:t>存放程序的可执行指令，所有的执行都在代码段发生。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椭圆 82"/>
          <p:cNvSpPr/>
          <p:nvPr>
            <p:custDataLst>
              <p:tags r:id="rId15"/>
            </p:custDataLst>
          </p:nvPr>
        </p:nvSpPr>
        <p:spPr>
          <a:xfrm>
            <a:off x="1931670" y="1269365"/>
            <a:ext cx="1930400" cy="117665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数据段（</a:t>
            </a:r>
            <a:r>
              <a:rPr lang="en-US" altLang="zh-CN" sz="2000" b="1">
                <a:solidFill>
                  <a:srgbClr val="9C0B15"/>
                </a:solidFill>
              </a:rPr>
              <a:t>.data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数据段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sz="2000"/>
              <a:t>存放程序的数据，又可以细分成三类。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1931035" y="2446655"/>
            <a:ext cx="1930400" cy="282638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只读数据段（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.rodata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只读数据段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存放程序中的含初值常量。这些常量在程序运行途中不得修改。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2446655"/>
            <a:ext cx="1930400" cy="477520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读写数据段（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.rwdata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读写数据段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存放程序中的含初值常量。这些常量在程序运行可以修改。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3815080"/>
            <a:ext cx="1930400" cy="800100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零初始化数据段（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.zidata/.bss - Block Started by Symbol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零初始化</a:t>
            </a:r>
            <a:r>
              <a:rPr lang="zh-CN" altLang="en-US" sz="2000" b="1">
                <a:solidFill>
                  <a:srgbClr val="9C0B15"/>
                </a:solidFill>
              </a:rPr>
              <a:t>数据段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存放程序中的不含初值（初始化为</a:t>
            </a:r>
            <a:r>
              <a:rPr lang="en-US" altLang="zh-CN" sz="2000"/>
              <a:t>0</a:t>
            </a:r>
            <a:r>
              <a:rPr lang="zh-CN" altLang="en-US" sz="2000"/>
              <a:t>的</a:t>
            </a:r>
            <a:r>
              <a:rPr lang="zh-CN" sz="2000"/>
              <a:t>）可修改常量。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4615180"/>
            <a:ext cx="1930400" cy="599440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堆段与栈段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堆段（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.heap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堆</a:t>
            </a:r>
            <a:r>
              <a:rPr lang="zh-CN" altLang="en-US" sz="2000" b="1">
                <a:solidFill>
                  <a:srgbClr val="9C0B15"/>
                </a:solidFill>
              </a:rPr>
              <a:t>段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sz="2000"/>
              <a:t>存放程序的堆，也即动态分配内存时内存的来源。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5214620"/>
            <a:ext cx="1930400" cy="70421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堆段与栈段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栈段（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.stack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栈段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sz="2000"/>
              <a:t>存放程序的运行栈，以供过程调用时保存和恢复上下文。</a:t>
            </a:r>
            <a:endParaRPr lang="zh-CN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1268730"/>
            <a:ext cx="1930400" cy="1177290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2446020"/>
            <a:ext cx="1930400" cy="477520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3815080"/>
            <a:ext cx="1930400" cy="80010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4615180"/>
            <a:ext cx="1930400" cy="599440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214620"/>
            <a:ext cx="1930400" cy="70421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5918835"/>
            <a:ext cx="1930400" cy="70421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1268730"/>
            <a:ext cx="1930400" cy="1177290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2446655"/>
            <a:ext cx="1930400" cy="276796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214620"/>
            <a:ext cx="1930400" cy="140843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1268730"/>
            <a:ext cx="1930400" cy="165544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3815080"/>
            <a:ext cx="1930400" cy="280860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1269365"/>
            <a:ext cx="1597025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1269365"/>
            <a:ext cx="1732280" cy="53549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15"/>
            </p:custDataLst>
          </p:nvPr>
        </p:nvSpPr>
        <p:spPr>
          <a:xfrm>
            <a:off x="3861435" y="5918835"/>
            <a:ext cx="1930400" cy="70421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堆段与栈段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示例程序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r>
              <a:rPr lang="en-US" altLang="zh-CN" sz="2000" b="1"/>
              <a:t>#include "memory.h"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>
                <a:solidFill>
                  <a:schemeClr val="accent4"/>
                </a:solidFill>
              </a:rPr>
              <a:t>const char* str = "World";	</a:t>
            </a:r>
            <a:endParaRPr lang="en-US" altLang="zh-CN" sz="2000" b="1">
              <a:solidFill>
                <a:schemeClr val="accent4"/>
              </a:solidFill>
            </a:endParaRPr>
          </a:p>
          <a:p>
            <a:r>
              <a:rPr lang="en-US" altLang="zh-CN" sz="2000" b="1">
                <a:solidFill>
                  <a:srgbClr val="00B0F0"/>
                </a:solidFill>
              </a:rPr>
              <a:t>char dst[16] = {'H','e','l','l','o',' '};</a:t>
            </a:r>
            <a:endParaRPr lang="en-US" altLang="zh-CN" sz="2000" b="1">
              <a:solidFill>
                <a:srgbClr val="00B0F0"/>
              </a:solidFill>
            </a:endParaRPr>
          </a:p>
          <a:p>
            <a:r>
              <a:rPr lang="en-US" altLang="zh-CN" sz="2000" b="1">
                <a:solidFill>
                  <a:schemeClr val="accent6"/>
                </a:solidFill>
              </a:rPr>
              <a:t>char final;</a:t>
            </a:r>
            <a:endParaRPr lang="en-US" altLang="zh-CN" sz="2000" b="1">
              <a:solidFill>
                <a:schemeClr val="accent6"/>
              </a:solidFill>
            </a:endParaRPr>
          </a:p>
          <a:p>
            <a:endParaRPr lang="en-US" altLang="zh-CN" sz="2000" b="1"/>
          </a:p>
          <a:p>
            <a:r>
              <a:rPr lang="en-US" altLang="zh-CN" sz="2000" b="1">
                <a:solidFill>
                  <a:srgbClr val="FF0000"/>
                </a:solidFill>
              </a:rPr>
              <a:t>int main(void)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</a:rPr>
              <a:t>{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7030A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</a:rPr>
              <a:t>int count;</a:t>
            </a:r>
            <a:endParaRPr lang="en-US" altLang="zh-CN" sz="2000" b="1">
              <a:solidFill>
                <a:srgbClr val="7030A0"/>
              </a:solidFill>
            </a:endParaRPr>
          </a:p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50"/>
                </a:solidFill>
              </a:rPr>
              <a:t>char* mem = malloc(16);</a:t>
            </a:r>
            <a:endParaRPr lang="en-US" altLang="zh-CN" sz="2000" b="1">
              <a:solidFill>
                <a:srgbClr val="00B050"/>
              </a:solidFill>
            </a:endParaRPr>
          </a:p>
          <a:p>
            <a:endParaRPr lang="en-US" altLang="zh-CN" sz="2000" b="1"/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strcpy(&amp;dst[6], src);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strcpy(mem, dst);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for(count=0; count&lt;11; count++)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</a:rPr>
              <a:t>final += dst[count];</a:t>
            </a:r>
            <a:endParaRPr lang="en-US" altLang="zh-CN" sz="2000" b="1">
              <a:solidFill>
                <a:srgbClr val="FF0000"/>
              </a:solidFill>
            </a:endParaRPr>
          </a:p>
          <a:p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free(mem);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return final;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</a:rPr>
              <a:t>}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en-US" altLang="zh-CN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堆段与栈段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示例程序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r>
              <a:rPr lang="en-US" altLang="zh-CN" sz="2000" b="1"/>
              <a:t>#include "memory.h"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>
                <a:solidFill>
                  <a:schemeClr val="accent4"/>
                </a:solidFill>
              </a:rPr>
              <a:t>const char* str = "World";				//.rodata</a:t>
            </a:r>
            <a:endParaRPr lang="en-US" altLang="zh-CN" sz="2000" b="1">
              <a:solidFill>
                <a:schemeClr val="accent4"/>
              </a:solidFill>
            </a:endParaRPr>
          </a:p>
          <a:p>
            <a:r>
              <a:rPr lang="en-US" altLang="zh-CN" sz="2000" b="1">
                <a:solidFill>
                  <a:srgbClr val="00B0F0"/>
                </a:solidFill>
              </a:rPr>
              <a:t>char dst[16] = {'H','e','l','l','o',' '};			//.rwdata</a:t>
            </a:r>
            <a:endParaRPr lang="en-US" altLang="zh-CN" sz="2000" b="1">
              <a:solidFill>
                <a:srgbClr val="00B0F0"/>
              </a:solidFill>
            </a:endParaRPr>
          </a:p>
          <a:p>
            <a:r>
              <a:rPr lang="en-US" altLang="zh-CN" sz="2000" b="1">
                <a:solidFill>
                  <a:schemeClr val="accent6"/>
                </a:solidFill>
              </a:rPr>
              <a:t>char final;					//.zidata(.bss)</a:t>
            </a:r>
            <a:endParaRPr lang="en-US" altLang="zh-CN" sz="2000" b="1">
              <a:solidFill>
                <a:schemeClr val="accent6"/>
              </a:solidFill>
            </a:endParaRPr>
          </a:p>
          <a:p>
            <a:endParaRPr lang="en-US" altLang="zh-CN" sz="2000" b="1"/>
          </a:p>
          <a:p>
            <a:r>
              <a:rPr lang="en-US" altLang="zh-CN" sz="2000" b="1">
                <a:solidFill>
                  <a:srgbClr val="FF0000"/>
                </a:solidFill>
              </a:rPr>
              <a:t>int main(void)					//.text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</a:rPr>
              <a:t>{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7030A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</a:rPr>
              <a:t>int count;				//.stack</a:t>
            </a:r>
            <a:endParaRPr lang="en-US" altLang="zh-CN" sz="2000" b="1">
              <a:solidFill>
                <a:srgbClr val="7030A0"/>
              </a:solidFill>
            </a:endParaRPr>
          </a:p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50"/>
                </a:solidFill>
              </a:rPr>
              <a:t>char* mem = malloc(16);			//.heap</a:t>
            </a:r>
            <a:endParaRPr lang="en-US" altLang="zh-CN" sz="2000" b="1">
              <a:solidFill>
                <a:srgbClr val="00B050"/>
              </a:solidFill>
            </a:endParaRPr>
          </a:p>
          <a:p>
            <a:endParaRPr lang="en-US" altLang="zh-CN" sz="2000" b="1"/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strcpy(&amp;dst[6], src);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strcpy(mem, dst);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for(count=0; count&lt;11; count++)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	</a:t>
            </a:r>
            <a:r>
              <a:rPr lang="en-US" altLang="zh-CN" sz="2000" b="1">
                <a:solidFill>
                  <a:srgbClr val="FF0000"/>
                </a:solidFill>
              </a:rPr>
              <a:t>final += dst[count];</a:t>
            </a:r>
            <a:endParaRPr lang="en-US" altLang="zh-CN" sz="2000" b="1">
              <a:solidFill>
                <a:srgbClr val="FF0000"/>
              </a:solidFill>
            </a:endParaRPr>
          </a:p>
          <a:p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free(mem);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</a:rPr>
              <a:t>return final;</a:t>
            </a:r>
            <a:endParaRPr lang="en-US" altLang="zh-CN" sz="2000" b="1">
              <a:solidFill>
                <a:srgbClr val="FF0000"/>
              </a:solidFill>
            </a:endParaRPr>
          </a:p>
          <a:p>
            <a:r>
              <a:rPr lang="en-US" altLang="zh-CN" sz="2000" b="1">
                <a:solidFill>
                  <a:srgbClr val="FF0000"/>
                </a:solidFill>
              </a:rPr>
              <a:t>}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...</a:t>
            </a:r>
            <a:r>
              <a:rPr lang="zh-CN" altLang="en-US" sz="2000" b="1">
                <a:solidFill>
                  <a:srgbClr val="9C0B15"/>
                </a:solidFill>
              </a:rPr>
              <a:t>然而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上电状态</a:t>
            </a:r>
            <a:r>
              <a:rPr lang="zh-CN" sz="2000"/>
              <a:t>	与外存不同，</a:t>
            </a:r>
            <a:r>
              <a:rPr lang="zh-CN" altLang="en-US" sz="2000">
                <a:solidFill>
                  <a:srgbClr val="9C0B15"/>
                </a:solidFill>
              </a:rPr>
              <a:t>内存在刚通电时内容是空的</a:t>
            </a:r>
            <a:r>
              <a:rPr lang="zh-CN" sz="2000"/>
              <a:t>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sz="2000"/>
              <a:t>至少哪些段需要放在</a:t>
            </a:r>
            <a:r>
              <a:rPr lang="en-US" altLang="zh-CN" sz="2000"/>
              <a:t>RAM</a:t>
            </a:r>
            <a:r>
              <a:rPr lang="zh-CN" sz="2000"/>
              <a:t>里面？提示：要求</a:t>
            </a:r>
            <a:r>
              <a:rPr lang="zh-CN" altLang="en-US" sz="2000">
                <a:solidFill>
                  <a:srgbClr val="9C0B15"/>
                </a:solidFill>
              </a:rPr>
              <a:t>可读写</a:t>
            </a:r>
            <a:r>
              <a:rPr lang="zh-CN" sz="2000"/>
              <a:t>属性。</a:t>
            </a:r>
            <a:endParaRPr lang="zh-CN" sz="2000"/>
          </a:p>
        </p:txBody>
      </p:sp>
      <p:grpSp>
        <p:nvGrpSpPr>
          <p:cNvPr id="9" name="组合 8"/>
          <p:cNvGrpSpPr/>
          <p:nvPr/>
        </p:nvGrpSpPr>
        <p:grpSpPr>
          <a:xfrm>
            <a:off x="334010" y="1853565"/>
            <a:ext cx="9120505" cy="4770120"/>
            <a:chOff x="526" y="1998"/>
            <a:chExt cx="14363" cy="8433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6081" y="1998"/>
              <a:ext cx="3040" cy="1854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.text</a:t>
              </a:r>
              <a:endParaRPr lang="en-US" altLang="zh-CN"/>
            </a:p>
          </p:txBody>
        </p:sp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6081" y="3852"/>
              <a:ext cx="3040" cy="752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.rodata</a:t>
              </a:r>
              <a:endParaRPr lang="en-US" altLang="zh-CN"/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6081" y="6008"/>
              <a:ext cx="3040" cy="1260"/>
            </a:xfrm>
            <a:prstGeom prst="rect">
              <a:avLst/>
            </a:prstGeom>
            <a:solidFill>
              <a:schemeClr val="accent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.rwdata</a:t>
              </a:r>
              <a:endParaRPr lang="en-US" altLang="zh-CN"/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6081" y="7268"/>
              <a:ext cx="3040" cy="944"/>
            </a:xfrm>
            <a:prstGeom prst="rect">
              <a:avLst/>
            </a:prstGeom>
            <a:solidFill>
              <a:schemeClr val="accent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.zidata/.bss</a:t>
              </a:r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6081" y="8212"/>
              <a:ext cx="3040" cy="1109"/>
            </a:xfrm>
            <a:prstGeom prst="rect">
              <a:avLst/>
            </a:prstGeom>
            <a:solidFill>
              <a:srgbClr val="002060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.heap</a:t>
              </a:r>
              <a:endParaRPr lang="en-US" altLang="zh-CN"/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6081" y="9321"/>
              <a:ext cx="3040" cy="1109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.stack</a:t>
              </a:r>
              <a:endParaRPr lang="en-US" altLang="zh-CN"/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3041" y="1998"/>
              <a:ext cx="3040" cy="1854"/>
            </a:xfrm>
            <a:prstGeom prst="rect">
              <a:avLst/>
            </a:prstGeom>
            <a:solidFill>
              <a:srgbClr val="D02F35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代码段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Code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9"/>
              </p:custDataLst>
            </p:nvPr>
          </p:nvSpPr>
          <p:spPr>
            <a:xfrm>
              <a:off x="3041" y="3853"/>
              <a:ext cx="3040" cy="435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数据段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Data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10"/>
              </p:custDataLst>
            </p:nvPr>
          </p:nvSpPr>
          <p:spPr>
            <a:xfrm>
              <a:off x="3041" y="8212"/>
              <a:ext cx="3040" cy="2218"/>
            </a:xfrm>
            <a:prstGeom prst="rect">
              <a:avLst/>
            </a:prstGeom>
            <a:solidFill>
              <a:schemeClr val="accent6">
                <a:alpha val="75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堆段与栈段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Heap/Stack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矩形 61"/>
            <p:cNvSpPr/>
            <p:nvPr>
              <p:custDataLst>
                <p:tags r:id="rId11"/>
              </p:custDataLst>
            </p:nvPr>
          </p:nvSpPr>
          <p:spPr>
            <a:xfrm>
              <a:off x="9121" y="1998"/>
              <a:ext cx="3040" cy="2607"/>
            </a:xfrm>
            <a:prstGeom prst="rect">
              <a:avLst/>
            </a:prstGeom>
            <a:solidFill>
              <a:schemeClr val="accent2">
                <a:alpha val="75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0x08000000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只读段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0x083FFFFF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>
              <p:custDataLst>
                <p:tags r:id="rId12"/>
              </p:custDataLst>
            </p:nvPr>
          </p:nvSpPr>
          <p:spPr>
            <a:xfrm>
              <a:off x="9121" y="6008"/>
              <a:ext cx="3040" cy="4423"/>
            </a:xfrm>
            <a:prstGeom prst="rect">
              <a:avLst/>
            </a:prstGeom>
            <a:solidFill>
              <a:srgbClr val="7030A0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0x20000000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读写段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0x207FFFFF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5" name="矩形 64"/>
            <p:cNvSpPr/>
            <p:nvPr>
              <p:custDataLst>
                <p:tags r:id="rId13"/>
              </p:custDataLst>
            </p:nvPr>
          </p:nvSpPr>
          <p:spPr>
            <a:xfrm>
              <a:off x="526" y="1999"/>
              <a:ext cx="2515" cy="8433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逻辑布局（Logical View）设计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14"/>
              </p:custDataLst>
            </p:nvPr>
          </p:nvSpPr>
          <p:spPr>
            <a:xfrm>
              <a:off x="12161" y="1999"/>
              <a:ext cx="2728" cy="8433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运行时布局（Runtime View）实现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椭圆 24"/>
          <p:cNvSpPr/>
          <p:nvPr>
            <p:custDataLst>
              <p:tags r:id="rId15"/>
            </p:custDataLst>
          </p:nvPr>
        </p:nvSpPr>
        <p:spPr>
          <a:xfrm>
            <a:off x="3861435" y="4121785"/>
            <a:ext cx="3860800" cy="250126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...</a:t>
            </a:r>
            <a:r>
              <a:rPr lang="zh-CN" altLang="en-US" sz="2000" b="1">
                <a:solidFill>
                  <a:srgbClr val="9C0B15"/>
                </a:solidFill>
              </a:rPr>
              <a:t>然而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上电状态</a:t>
            </a:r>
            <a:r>
              <a:rPr lang="zh-CN" sz="2000"/>
              <a:t>	与外存不同，</a:t>
            </a:r>
            <a:r>
              <a:rPr lang="zh-CN" altLang="en-US" sz="2000">
                <a:solidFill>
                  <a:srgbClr val="9C0B15"/>
                </a:solidFill>
              </a:rPr>
              <a:t>内存在刚通电时内容是空的</a:t>
            </a:r>
            <a:r>
              <a:rPr lang="zh-CN" sz="2000"/>
              <a:t>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sz="2000"/>
              <a:t>那么，只读段呢？能从外存直接运行代码吗？</a:t>
            </a:r>
            <a:endParaRPr lang="zh-CN" sz="2000"/>
          </a:p>
        </p:txBody>
      </p:sp>
      <p:grpSp>
        <p:nvGrpSpPr>
          <p:cNvPr id="9" name="组合 8"/>
          <p:cNvGrpSpPr/>
          <p:nvPr/>
        </p:nvGrpSpPr>
        <p:grpSpPr>
          <a:xfrm>
            <a:off x="334010" y="1853565"/>
            <a:ext cx="9120505" cy="4770120"/>
            <a:chOff x="526" y="1998"/>
            <a:chExt cx="14363" cy="8433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6081" y="1998"/>
              <a:ext cx="3040" cy="1854"/>
            </a:xfrm>
            <a:prstGeom prst="rect">
              <a:avLst/>
            </a:prstGeom>
            <a:solidFill>
              <a:srgbClr val="D02F35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.text</a:t>
              </a:r>
              <a:endParaRPr lang="en-US" altLang="zh-CN"/>
            </a:p>
          </p:txBody>
        </p:sp>
        <p:sp>
          <p:nvSpPr>
            <p:cNvPr id="4" name="矩形 3"/>
            <p:cNvSpPr/>
            <p:nvPr>
              <p:custDataLst>
                <p:tags r:id="rId3"/>
              </p:custDataLst>
            </p:nvPr>
          </p:nvSpPr>
          <p:spPr>
            <a:xfrm>
              <a:off x="6081" y="3852"/>
              <a:ext cx="3040" cy="752"/>
            </a:xfrm>
            <a:prstGeom prst="rect">
              <a:avLst/>
            </a:prstGeom>
            <a:solidFill>
              <a:schemeClr val="accent2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.rodata</a:t>
              </a:r>
              <a:endParaRPr lang="en-US" altLang="zh-CN"/>
            </a:p>
          </p:txBody>
        </p: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6081" y="6008"/>
              <a:ext cx="3040" cy="1260"/>
            </a:xfrm>
            <a:prstGeom prst="rect">
              <a:avLst/>
            </a:prstGeom>
            <a:solidFill>
              <a:schemeClr val="accent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.rwdata</a:t>
              </a:r>
              <a:endParaRPr lang="en-US" altLang="zh-CN"/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6081" y="7268"/>
              <a:ext cx="3040" cy="944"/>
            </a:xfrm>
            <a:prstGeom prst="rect">
              <a:avLst/>
            </a:prstGeom>
            <a:solidFill>
              <a:schemeClr val="accent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.zidata/.bss</a:t>
              </a:r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6081" y="8212"/>
              <a:ext cx="3040" cy="1109"/>
            </a:xfrm>
            <a:prstGeom prst="rect">
              <a:avLst/>
            </a:prstGeom>
            <a:solidFill>
              <a:srgbClr val="002060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.heap</a:t>
              </a:r>
              <a:endParaRPr lang="en-US" altLang="zh-CN"/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6081" y="9321"/>
              <a:ext cx="3040" cy="1109"/>
            </a:xfrm>
            <a:prstGeom prst="rect">
              <a:avLst/>
            </a:prstGeom>
            <a:solidFill>
              <a:srgbClr val="00B050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.stack</a:t>
              </a:r>
              <a:endParaRPr lang="en-US" altLang="zh-CN"/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3041" y="1998"/>
              <a:ext cx="3040" cy="1854"/>
            </a:xfrm>
            <a:prstGeom prst="rect">
              <a:avLst/>
            </a:prstGeom>
            <a:solidFill>
              <a:srgbClr val="D02F35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代码段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Code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9"/>
              </p:custDataLst>
            </p:nvPr>
          </p:nvSpPr>
          <p:spPr>
            <a:xfrm>
              <a:off x="3041" y="3853"/>
              <a:ext cx="3040" cy="435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数据段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Data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10"/>
              </p:custDataLst>
            </p:nvPr>
          </p:nvSpPr>
          <p:spPr>
            <a:xfrm>
              <a:off x="3041" y="8212"/>
              <a:ext cx="3040" cy="2218"/>
            </a:xfrm>
            <a:prstGeom prst="rect">
              <a:avLst/>
            </a:prstGeom>
            <a:solidFill>
              <a:schemeClr val="accent6">
                <a:alpha val="75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堆段与栈段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（</a:t>
              </a:r>
              <a:r>
                <a:rPr lang="en-US" altLang="zh-CN">
                  <a:solidFill>
                    <a:schemeClr val="tx1"/>
                  </a:solidFill>
                </a:rPr>
                <a:t>Heap/Stack</a:t>
              </a:r>
              <a:r>
                <a:rPr lang="zh-CN" altLang="en-US">
                  <a:solidFill>
                    <a:schemeClr val="tx1"/>
                  </a:solidFill>
                </a:rPr>
                <a:t>）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矩形 61"/>
            <p:cNvSpPr/>
            <p:nvPr>
              <p:custDataLst>
                <p:tags r:id="rId11"/>
              </p:custDataLst>
            </p:nvPr>
          </p:nvSpPr>
          <p:spPr>
            <a:xfrm>
              <a:off x="9121" y="1998"/>
              <a:ext cx="3040" cy="2607"/>
            </a:xfrm>
            <a:prstGeom prst="rect">
              <a:avLst/>
            </a:prstGeom>
            <a:solidFill>
              <a:schemeClr val="accent2">
                <a:alpha val="75000"/>
              </a:scheme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0x08000000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只读段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0x083FFFFF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>
              <p:custDataLst>
                <p:tags r:id="rId12"/>
              </p:custDataLst>
            </p:nvPr>
          </p:nvSpPr>
          <p:spPr>
            <a:xfrm>
              <a:off x="9121" y="6008"/>
              <a:ext cx="3040" cy="4423"/>
            </a:xfrm>
            <a:prstGeom prst="rect">
              <a:avLst/>
            </a:prstGeom>
            <a:solidFill>
              <a:srgbClr val="7030A0">
                <a:alpha val="50000"/>
              </a:srgbClr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0x20000000</a:t>
              </a:r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endParaRPr lang="en-US" altLang="zh-CN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读写段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0x207FFFFF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65" name="矩形 64"/>
            <p:cNvSpPr/>
            <p:nvPr>
              <p:custDataLst>
                <p:tags r:id="rId13"/>
              </p:custDataLst>
            </p:nvPr>
          </p:nvSpPr>
          <p:spPr>
            <a:xfrm>
              <a:off x="526" y="1999"/>
              <a:ext cx="2515" cy="8433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逻辑布局（Logical View）设计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14"/>
              </p:custDataLst>
            </p:nvPr>
          </p:nvSpPr>
          <p:spPr>
            <a:xfrm>
              <a:off x="12161" y="1999"/>
              <a:ext cx="2728" cy="8433"/>
            </a:xfrm>
            <a:prstGeom prst="rect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运行时布局（Runtime View）实现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椭圆 24"/>
          <p:cNvSpPr/>
          <p:nvPr>
            <p:custDataLst>
              <p:tags r:id="rId15"/>
            </p:custDataLst>
          </p:nvPr>
        </p:nvSpPr>
        <p:spPr>
          <a:xfrm>
            <a:off x="3861435" y="1854200"/>
            <a:ext cx="3860800" cy="1474470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9C0B15"/>
                </a:solidFill>
              </a:rPr>
              <a:t>...</a:t>
            </a:r>
            <a:r>
              <a:rPr lang="zh-CN" altLang="en-US" sz="2000" b="1">
                <a:solidFill>
                  <a:srgbClr val="9C0B15"/>
                </a:solidFill>
              </a:rPr>
              <a:t>然而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上电状态</a:t>
            </a:r>
            <a:r>
              <a:rPr lang="zh-CN" sz="2000"/>
              <a:t>	与外存不同，</a:t>
            </a:r>
            <a:r>
              <a:rPr lang="zh-CN" altLang="en-US" sz="2000">
                <a:solidFill>
                  <a:srgbClr val="9C0B15"/>
                </a:solidFill>
              </a:rPr>
              <a:t>内存在刚通电时内容是空的</a:t>
            </a:r>
            <a:r>
              <a:rPr lang="zh-CN" sz="2000"/>
              <a:t>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/>
              <a:t>		</a:t>
            </a:r>
            <a:r>
              <a:rPr lang="zh-CN" sz="2000"/>
              <a:t>那么，只读段呢？能从外存直接运行代码吗？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sz="2000"/>
              <a:t>一般不行，除非外存是特制的，允许以特殊方式在总线上按字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读取，也即可原位执行（</a:t>
            </a:r>
            <a:r>
              <a:rPr lang="en-US" altLang="zh-CN" sz="2000"/>
              <a:t>XIP</a:t>
            </a:r>
            <a:r>
              <a:rPr lang="zh-CN" altLang="en-US" sz="2000"/>
              <a:t>，</a:t>
            </a:r>
            <a:r>
              <a:rPr lang="en-US" altLang="zh-CN" sz="2000"/>
              <a:t>eXecute-In-Place</a:t>
            </a:r>
            <a:r>
              <a:rPr lang="zh-CN" sz="2000"/>
              <a:t>）。这在</a:t>
            </a:r>
            <a:r>
              <a:rPr lang="zh-CN" altLang="en-US" sz="2000">
                <a:solidFill>
                  <a:srgbClr val="9C0B15"/>
                </a:solidFill>
              </a:rPr>
              <a:t>小型嵌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入式设备</a:t>
            </a:r>
            <a:r>
              <a:rPr lang="zh-CN" sz="2000"/>
              <a:t>中（</a:t>
            </a:r>
            <a:r>
              <a:rPr lang="en-US" altLang="zh-CN" sz="2000"/>
              <a:t>Flash</a:t>
            </a:r>
            <a:r>
              <a:rPr lang="zh-CN" sz="2000"/>
              <a:t>）很常见。在这种场合，我们可以假设代码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段已经到位了，由代码段去加载其它段。但如果代码段也没加</a:t>
            </a:r>
            <a:r>
              <a:rPr lang="en-US" altLang="zh-CN" sz="2000">
                <a:sym typeface="+mn-ea"/>
              </a:rPr>
              <a:t>		</a:t>
            </a:r>
            <a:r>
              <a:rPr lang="zh-CN" sz="2000"/>
              <a:t>载呢？</a:t>
            </a:r>
            <a:endParaRPr lang="zh-CN" sz="2000"/>
          </a:p>
          <a:p>
            <a:pPr algn="l">
              <a:buClrTx/>
              <a:buSzTx/>
              <a:buFontTx/>
            </a:pPr>
            <a:endParaRPr lang="en-US" alt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程序的装入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/>
              <a:t>这意味着内存中现在</a:t>
            </a:r>
            <a:r>
              <a:rPr lang="zh-CN" altLang="en-US" sz="2000">
                <a:solidFill>
                  <a:srgbClr val="9C0B15"/>
                </a:solidFill>
              </a:rPr>
              <a:t>没有任何与这个程序相关的东西</a:t>
            </a:r>
            <a:r>
              <a:rPr lang="zh-CN" altLang="en-US" sz="2000"/>
              <a:t>。因此，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需要操作系统从外存读取程序文件的</a:t>
            </a:r>
            <a:r>
              <a:rPr lang="zh-CN" altLang="en-US" sz="2000">
                <a:solidFill>
                  <a:srgbClr val="9C0B15"/>
                </a:solidFill>
              </a:rPr>
              <a:t>逻辑段</a:t>
            </a:r>
            <a:r>
              <a:rPr lang="zh-CN" altLang="en-US" sz="2000"/>
              <a:t>，并按照其属性装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入内存中。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外存上的程序</a:t>
            </a:r>
            <a:r>
              <a:rPr lang="en-US" altLang="zh-CN" sz="2000"/>
              <a:t>	</a:t>
            </a:r>
            <a:r>
              <a:rPr lang="zh-CN" altLang="en-US" sz="2000"/>
              <a:t>程序在外存上又是如何保存的呢？</a:t>
            </a:r>
            <a:r>
              <a:rPr lang="zh-CN" altLang="en-US" sz="2000">
                <a:solidFill>
                  <a:srgbClr val="9C0B15"/>
                </a:solidFill>
              </a:rPr>
              <a:t>哪些段是必须保存的</a:t>
            </a:r>
            <a:r>
              <a:rPr lang="zh-CN" altLang="en-US" sz="2000"/>
              <a:t>？除了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保存这些段的内容，还必须保存这些段的什么信息？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510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可执行文件（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Executable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可执行文件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程序在外存上的储存方式，本质是保存了程序的逻辑布局的描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sz="2000"/>
              <a:t>述。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程序的装入</a:t>
            </a:r>
            <a:r>
              <a:rPr lang="en-US" altLang="zh-CN" sz="2000"/>
              <a:t>	</a:t>
            </a:r>
            <a:r>
              <a:rPr lang="zh-CN" altLang="en-US" sz="2000">
                <a:sym typeface="+mn-ea"/>
              </a:rPr>
              <a:t>操作系统读取外存上的可执行文件中对程序逻辑布局的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描述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Description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，在内存中生成程序的物理布局的一个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实例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Instance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的过程。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3861435" y="2785110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3861435" y="3629025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3861435" y="4610100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5"/>
            </p:custDataLst>
          </p:nvPr>
        </p:nvSpPr>
        <p:spPr>
          <a:xfrm>
            <a:off x="3861435" y="5184140"/>
            <a:ext cx="1930400" cy="42989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6"/>
            </p:custDataLst>
          </p:nvPr>
        </p:nvSpPr>
        <p:spPr>
          <a:xfrm>
            <a:off x="3861435" y="5613400"/>
            <a:ext cx="1930400" cy="50482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7"/>
            </p:custDataLst>
          </p:nvPr>
        </p:nvSpPr>
        <p:spPr>
          <a:xfrm>
            <a:off x="3861435" y="6118225"/>
            <a:ext cx="1930400" cy="50482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6" name="矩形 75"/>
          <p:cNvSpPr/>
          <p:nvPr>
            <p:custDataLst>
              <p:tags r:id="rId8"/>
            </p:custDataLst>
          </p:nvPr>
        </p:nvSpPr>
        <p:spPr>
          <a:xfrm>
            <a:off x="1931035" y="2785110"/>
            <a:ext cx="1930400" cy="843915"/>
          </a:xfrm>
          <a:prstGeom prst="rect">
            <a:avLst/>
          </a:prstGeom>
          <a:solidFill>
            <a:srgbClr val="D02F35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Code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9"/>
            </p:custDataLst>
          </p:nvPr>
        </p:nvSpPr>
        <p:spPr>
          <a:xfrm>
            <a:off x="1931035" y="3629660"/>
            <a:ext cx="1930400" cy="1984375"/>
          </a:xfrm>
          <a:prstGeom prst="rect">
            <a:avLst/>
          </a:prstGeom>
          <a:solidFill>
            <a:schemeClr val="accent5">
              <a:alpha val="5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Data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10"/>
            </p:custDataLst>
          </p:nvPr>
        </p:nvSpPr>
        <p:spPr>
          <a:xfrm>
            <a:off x="1931035" y="5613400"/>
            <a:ext cx="1930400" cy="1009650"/>
          </a:xfrm>
          <a:prstGeom prst="rect">
            <a:avLst/>
          </a:prstGeom>
          <a:solidFill>
            <a:schemeClr val="accent6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堆段与栈段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Heap/Stack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5791835" y="2785110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5791835" y="4610100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>
            <p:custDataLst>
              <p:tags r:id="rId13"/>
            </p:custDataLst>
          </p:nvPr>
        </p:nvSpPr>
        <p:spPr>
          <a:xfrm>
            <a:off x="334010" y="2785745"/>
            <a:ext cx="1597025" cy="383857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逻辑布局（Logical View）设计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>
            <p:custDataLst>
              <p:tags r:id="rId14"/>
            </p:custDataLst>
          </p:nvPr>
        </p:nvSpPr>
        <p:spPr>
          <a:xfrm>
            <a:off x="7722235" y="2785745"/>
            <a:ext cx="1732280" cy="383857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运行时布局（Runtime View）实现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椭圆 24"/>
          <p:cNvSpPr/>
          <p:nvPr>
            <p:custDataLst>
              <p:tags r:id="rId15"/>
            </p:custDataLst>
          </p:nvPr>
        </p:nvSpPr>
        <p:spPr>
          <a:xfrm>
            <a:off x="3861435" y="2785745"/>
            <a:ext cx="1930400" cy="2398395"/>
          </a:xfrm>
          <a:prstGeom prst="ellipse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6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3185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可执行文件（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Executable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可执行文件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sz="2000"/>
              <a:t>程序在外存上的储存方式，本质是保存了程序的逻辑布局的描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sz="2000"/>
              <a:t>述。</a:t>
            </a:r>
            <a:endParaRPr lang="zh-CN" sz="2000"/>
          </a:p>
          <a:p>
            <a:pPr algn="l">
              <a:buClrTx/>
              <a:buSzTx/>
              <a:buFontTx/>
            </a:pPr>
            <a:endParaRPr lang="zh-CN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程序的装入</a:t>
            </a:r>
            <a:r>
              <a:rPr lang="en-US" altLang="zh-CN" sz="2000"/>
              <a:t>	</a:t>
            </a:r>
            <a:r>
              <a:rPr lang="zh-CN" altLang="en-US" sz="2000"/>
              <a:t>操作系统读取外存上的可执行文件中对程序逻辑布局的</a:t>
            </a:r>
            <a:r>
              <a:rPr lang="zh-CN" altLang="en-US" sz="2000">
                <a:solidFill>
                  <a:srgbClr val="9C0B15"/>
                </a:solidFill>
              </a:rPr>
              <a:t>描述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（</a:t>
            </a:r>
            <a:r>
              <a:rPr lang="en-US" altLang="zh-CN" sz="2000">
                <a:solidFill>
                  <a:srgbClr val="9C0B15"/>
                </a:solidFill>
              </a:rPr>
              <a:t>Description</a:t>
            </a:r>
            <a:r>
              <a:rPr lang="zh-CN" altLang="en-US" sz="2000">
                <a:solidFill>
                  <a:srgbClr val="9C0B15"/>
                </a:solidFill>
              </a:rPr>
              <a:t>）</a:t>
            </a:r>
            <a:r>
              <a:rPr lang="zh-CN" altLang="en-US" sz="2000"/>
              <a:t>，在内存中生成程序的物理布局的</a:t>
            </a:r>
            <a:r>
              <a:rPr lang="zh-CN" altLang="en-US" sz="2000">
                <a:sym typeface="+mn-ea"/>
              </a:rPr>
              <a:t>一个</a:t>
            </a:r>
            <a:r>
              <a:rPr lang="zh-CN" altLang="en-US" sz="2000">
                <a:solidFill>
                  <a:srgbClr val="9C0B15"/>
                </a:solidFill>
              </a:rPr>
              <a:t>实例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（</a:t>
            </a:r>
            <a:r>
              <a:rPr lang="en-US" altLang="zh-CN" sz="2000">
                <a:solidFill>
                  <a:srgbClr val="9C0B15"/>
                </a:solidFill>
              </a:rPr>
              <a:t>Instance</a:t>
            </a:r>
            <a:r>
              <a:rPr lang="zh-CN" altLang="en-US" sz="2000">
                <a:solidFill>
                  <a:srgbClr val="9C0B15"/>
                </a:solidFill>
              </a:rPr>
              <a:t>）</a:t>
            </a:r>
            <a:r>
              <a:rPr lang="zh-CN" altLang="en-US" sz="2000"/>
              <a:t>的过程。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可执行文件头</a:t>
            </a:r>
            <a:r>
              <a:rPr lang="en-US" altLang="zh-CN" sz="2000"/>
              <a:t>	</a:t>
            </a:r>
            <a:r>
              <a:rPr lang="zh-CN" altLang="en-US" sz="2000"/>
              <a:t>描述程序运行时布局的元数据，一般附加在可执行文件头部。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727075" y="4537710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727075" y="5465445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727075" y="5842000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727075" y="4130040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3875405" y="3472180"/>
            <a:ext cx="1350645" cy="43116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Section</a:t>
            </a:r>
            <a:endParaRPr lang="en-US" altLang="zh-CN"/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5226050" y="3472180"/>
            <a:ext cx="1263015" cy="43116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Offset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6489065" y="3472180"/>
            <a:ext cx="1263015" cy="43116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Size</a:t>
            </a:r>
            <a:endParaRPr lang="en-US" altLang="zh-CN"/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7752080" y="3472180"/>
            <a:ext cx="1566545" cy="431165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Load</a:t>
            </a:r>
            <a:endParaRPr lang="en-US" altLang="zh-CN"/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3875405" y="3903345"/>
            <a:ext cx="1350645" cy="43116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26" name="矩形 25"/>
          <p:cNvSpPr/>
          <p:nvPr>
            <p:custDataLst>
              <p:tags r:id="rId11"/>
            </p:custDataLst>
          </p:nvPr>
        </p:nvSpPr>
        <p:spPr>
          <a:xfrm>
            <a:off x="5226050" y="3903345"/>
            <a:ext cx="1263015" cy="43116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6489065" y="3903345"/>
            <a:ext cx="1263015" cy="43116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0x300000</a:t>
            </a:r>
            <a:endParaRPr lang="en-US" altLang="zh-CN"/>
          </a:p>
        </p:txBody>
      </p:sp>
      <p:sp>
        <p:nvSpPr>
          <p:cNvPr id="60" name="矩形 59"/>
          <p:cNvSpPr/>
          <p:nvPr>
            <p:custDataLst>
              <p:tags r:id="rId13"/>
            </p:custDataLst>
          </p:nvPr>
        </p:nvSpPr>
        <p:spPr>
          <a:xfrm>
            <a:off x="7752080" y="3903345"/>
            <a:ext cx="1567180" cy="43116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0x08000000</a:t>
            </a:r>
            <a:endParaRPr lang="en-US" altLang="zh-CN"/>
          </a:p>
        </p:txBody>
      </p:sp>
      <p:sp>
        <p:nvSpPr>
          <p:cNvPr id="61" name="矩形 60"/>
          <p:cNvSpPr/>
          <p:nvPr>
            <p:custDataLst>
              <p:tags r:id="rId14"/>
            </p:custDataLst>
          </p:nvPr>
        </p:nvSpPr>
        <p:spPr>
          <a:xfrm>
            <a:off x="3875405" y="4334510"/>
            <a:ext cx="1350645" cy="4311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62" name="矩形 61"/>
          <p:cNvSpPr/>
          <p:nvPr>
            <p:custDataLst>
              <p:tags r:id="rId15"/>
            </p:custDataLst>
          </p:nvPr>
        </p:nvSpPr>
        <p:spPr>
          <a:xfrm>
            <a:off x="5226050" y="4334510"/>
            <a:ext cx="1263015" cy="4311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0x300000</a:t>
            </a:r>
            <a:endParaRPr lang="en-US" altLang="zh-CN"/>
          </a:p>
        </p:txBody>
      </p:sp>
      <p:sp>
        <p:nvSpPr>
          <p:cNvPr id="63" name="矩形 62"/>
          <p:cNvSpPr/>
          <p:nvPr>
            <p:custDataLst>
              <p:tags r:id="rId16"/>
            </p:custDataLst>
          </p:nvPr>
        </p:nvSpPr>
        <p:spPr>
          <a:xfrm>
            <a:off x="6489065" y="4334510"/>
            <a:ext cx="1263015" cy="4311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0x100000</a:t>
            </a:r>
            <a:endParaRPr lang="en-US" altLang="zh-CN"/>
          </a:p>
        </p:txBody>
      </p:sp>
      <p:sp>
        <p:nvSpPr>
          <p:cNvPr id="64" name="矩形 63"/>
          <p:cNvSpPr/>
          <p:nvPr>
            <p:custDataLst>
              <p:tags r:id="rId17"/>
            </p:custDataLst>
          </p:nvPr>
        </p:nvSpPr>
        <p:spPr>
          <a:xfrm>
            <a:off x="7752080" y="4334510"/>
            <a:ext cx="1567180" cy="4311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0x08300000</a:t>
            </a:r>
            <a:endParaRPr lang="en-US" altLang="zh-CN"/>
          </a:p>
        </p:txBody>
      </p:sp>
      <p:sp>
        <p:nvSpPr>
          <p:cNvPr id="65" name="矩形 64"/>
          <p:cNvSpPr/>
          <p:nvPr>
            <p:custDataLst>
              <p:tags r:id="rId18"/>
            </p:custDataLst>
          </p:nvPr>
        </p:nvSpPr>
        <p:spPr>
          <a:xfrm>
            <a:off x="3875405" y="4765675"/>
            <a:ext cx="1350645" cy="43116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66" name="矩形 65"/>
          <p:cNvSpPr/>
          <p:nvPr>
            <p:custDataLst>
              <p:tags r:id="rId19"/>
            </p:custDataLst>
          </p:nvPr>
        </p:nvSpPr>
        <p:spPr>
          <a:xfrm>
            <a:off x="5226050" y="4765675"/>
            <a:ext cx="1263015" cy="43116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0x400000</a:t>
            </a:r>
            <a:endParaRPr lang="en-US" altLang="zh-CN"/>
          </a:p>
        </p:txBody>
      </p:sp>
      <p:sp>
        <p:nvSpPr>
          <p:cNvPr id="67" name="矩形 66"/>
          <p:cNvSpPr/>
          <p:nvPr>
            <p:custDataLst>
              <p:tags r:id="rId20"/>
            </p:custDataLst>
          </p:nvPr>
        </p:nvSpPr>
        <p:spPr>
          <a:xfrm>
            <a:off x="6489065" y="4765675"/>
            <a:ext cx="1263015" cy="43116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0x200000</a:t>
            </a:r>
            <a:endParaRPr lang="en-US" altLang="zh-CN"/>
          </a:p>
        </p:txBody>
      </p:sp>
      <p:sp>
        <p:nvSpPr>
          <p:cNvPr id="68" name="矩形 67"/>
          <p:cNvSpPr/>
          <p:nvPr>
            <p:custDataLst>
              <p:tags r:id="rId21"/>
            </p:custDataLst>
          </p:nvPr>
        </p:nvSpPr>
        <p:spPr>
          <a:xfrm>
            <a:off x="7752080" y="4765675"/>
            <a:ext cx="1567180" cy="43116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0x20000000</a:t>
            </a:r>
            <a:endParaRPr lang="en-US" altLang="zh-CN"/>
          </a:p>
        </p:txBody>
      </p:sp>
      <p:sp>
        <p:nvSpPr>
          <p:cNvPr id="69" name="矩形 68"/>
          <p:cNvSpPr/>
          <p:nvPr>
            <p:custDataLst>
              <p:tags r:id="rId22"/>
            </p:custDataLst>
          </p:nvPr>
        </p:nvSpPr>
        <p:spPr>
          <a:xfrm>
            <a:off x="3875405" y="5196840"/>
            <a:ext cx="1350645" cy="43116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en-US" altLang="zh-CN"/>
          </a:p>
        </p:txBody>
      </p:sp>
      <p:sp>
        <p:nvSpPr>
          <p:cNvPr id="83" name="矩形 82"/>
          <p:cNvSpPr/>
          <p:nvPr>
            <p:custDataLst>
              <p:tags r:id="rId23"/>
            </p:custDataLst>
          </p:nvPr>
        </p:nvSpPr>
        <p:spPr>
          <a:xfrm>
            <a:off x="5226050" y="5196840"/>
            <a:ext cx="1263015" cy="43116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84" name="矩形 83"/>
          <p:cNvSpPr/>
          <p:nvPr>
            <p:custDataLst>
              <p:tags r:id="rId24"/>
            </p:custDataLst>
          </p:nvPr>
        </p:nvSpPr>
        <p:spPr>
          <a:xfrm>
            <a:off x="6489065" y="5196840"/>
            <a:ext cx="1263015" cy="43116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0x100000</a:t>
            </a:r>
            <a:endParaRPr lang="en-US" altLang="zh-CN"/>
          </a:p>
        </p:txBody>
      </p:sp>
      <p:sp>
        <p:nvSpPr>
          <p:cNvPr id="85" name="矩形 84"/>
          <p:cNvSpPr/>
          <p:nvPr>
            <p:custDataLst>
              <p:tags r:id="rId25"/>
            </p:custDataLst>
          </p:nvPr>
        </p:nvSpPr>
        <p:spPr>
          <a:xfrm>
            <a:off x="7752080" y="5196840"/>
            <a:ext cx="1566545" cy="43116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0x20200000</a:t>
            </a:r>
            <a:endParaRPr lang="en-US" altLang="zh-CN"/>
          </a:p>
        </p:txBody>
      </p:sp>
      <p:sp>
        <p:nvSpPr>
          <p:cNvPr id="86" name="矩形 85"/>
          <p:cNvSpPr/>
          <p:nvPr>
            <p:custDataLst>
              <p:tags r:id="rId26"/>
            </p:custDataLst>
          </p:nvPr>
        </p:nvSpPr>
        <p:spPr>
          <a:xfrm>
            <a:off x="3875405" y="5628005"/>
            <a:ext cx="1350645" cy="43116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87" name="矩形 86"/>
          <p:cNvSpPr/>
          <p:nvPr>
            <p:custDataLst>
              <p:tags r:id="rId27"/>
            </p:custDataLst>
          </p:nvPr>
        </p:nvSpPr>
        <p:spPr>
          <a:xfrm>
            <a:off x="5226050" y="5628005"/>
            <a:ext cx="1263015" cy="43116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88" name="矩形 87"/>
          <p:cNvSpPr/>
          <p:nvPr>
            <p:custDataLst>
              <p:tags r:id="rId28"/>
            </p:custDataLst>
          </p:nvPr>
        </p:nvSpPr>
        <p:spPr>
          <a:xfrm>
            <a:off x="6489065" y="5628005"/>
            <a:ext cx="1263015" cy="43116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0x400000</a:t>
            </a:r>
            <a:endParaRPr lang="en-US" altLang="zh-CN"/>
          </a:p>
        </p:txBody>
      </p:sp>
      <p:sp>
        <p:nvSpPr>
          <p:cNvPr id="89" name="矩形 88"/>
          <p:cNvSpPr/>
          <p:nvPr>
            <p:custDataLst>
              <p:tags r:id="rId29"/>
            </p:custDataLst>
          </p:nvPr>
        </p:nvSpPr>
        <p:spPr>
          <a:xfrm>
            <a:off x="7752080" y="5628005"/>
            <a:ext cx="1567180" cy="43116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0x20300000</a:t>
            </a:r>
            <a:endParaRPr lang="en-US" altLang="zh-CN"/>
          </a:p>
        </p:txBody>
      </p:sp>
      <p:sp>
        <p:nvSpPr>
          <p:cNvPr id="90" name="矩形 89"/>
          <p:cNvSpPr/>
          <p:nvPr>
            <p:custDataLst>
              <p:tags r:id="rId30"/>
            </p:custDataLst>
          </p:nvPr>
        </p:nvSpPr>
        <p:spPr>
          <a:xfrm>
            <a:off x="3875405" y="6059170"/>
            <a:ext cx="1350645" cy="43116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91" name="矩形 90"/>
          <p:cNvSpPr/>
          <p:nvPr>
            <p:custDataLst>
              <p:tags r:id="rId31"/>
            </p:custDataLst>
          </p:nvPr>
        </p:nvSpPr>
        <p:spPr>
          <a:xfrm>
            <a:off x="5226050" y="6059170"/>
            <a:ext cx="1263015" cy="43116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92" name="矩形 91"/>
          <p:cNvSpPr/>
          <p:nvPr>
            <p:custDataLst>
              <p:tags r:id="rId32"/>
            </p:custDataLst>
          </p:nvPr>
        </p:nvSpPr>
        <p:spPr>
          <a:xfrm>
            <a:off x="6489065" y="6059170"/>
            <a:ext cx="1263015" cy="43116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0x100000</a:t>
            </a:r>
            <a:endParaRPr lang="en-US" altLang="zh-CN"/>
          </a:p>
        </p:txBody>
      </p:sp>
      <p:sp>
        <p:nvSpPr>
          <p:cNvPr id="93" name="矩形 92"/>
          <p:cNvSpPr/>
          <p:nvPr>
            <p:custDataLst>
              <p:tags r:id="rId33"/>
            </p:custDataLst>
          </p:nvPr>
        </p:nvSpPr>
        <p:spPr>
          <a:xfrm>
            <a:off x="7752080" y="6059170"/>
            <a:ext cx="1567180" cy="43116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0x20700000</a:t>
            </a:r>
            <a:endParaRPr lang="en-US" altLang="zh-CN"/>
          </a:p>
        </p:txBody>
      </p:sp>
      <p:cxnSp>
        <p:nvCxnSpPr>
          <p:cNvPr id="95" name="直接连接符 94"/>
          <p:cNvCxnSpPr/>
          <p:nvPr/>
        </p:nvCxnSpPr>
        <p:spPr>
          <a:xfrm flipV="1">
            <a:off x="2662555" y="3467735"/>
            <a:ext cx="1186815" cy="63754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>
            <p:custDataLst>
              <p:tags r:id="rId34"/>
            </p:custDataLst>
          </p:nvPr>
        </p:nvCxnSpPr>
        <p:spPr>
          <a:xfrm>
            <a:off x="2657475" y="4540885"/>
            <a:ext cx="1211580" cy="195770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5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代码段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操作系统从可执行文件中读取代码段，并拷贝到内存中的指定地址。</a:t>
            </a:r>
            <a:endParaRPr lang="zh-CN" sz="2000"/>
          </a:p>
          <a:p>
            <a:pPr algn="ctr"/>
            <a:r>
              <a:rPr lang="zh-CN" altLang="en-US" sz="2000">
                <a:sym typeface="+mn-ea"/>
              </a:rPr>
              <a:t>操作系统在拷贝完成后设定该段为可读可执行段。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7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>
            <p:custDataLst>
              <p:tags r:id="rId8"/>
            </p:custDataLst>
          </p:nvPr>
        </p:nvCxnSpPr>
        <p:spPr>
          <a:xfrm flipV="1">
            <a:off x="2912745" y="1939925"/>
            <a:ext cx="1784985" cy="192214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9"/>
            </p:custDataLst>
          </p:nvPr>
        </p:nvCxnSpPr>
        <p:spPr>
          <a:xfrm flipV="1">
            <a:off x="2914015" y="2773680"/>
            <a:ext cx="1793240" cy="200660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endCxn id="5" idx="1"/>
          </p:cNvCxnSpPr>
          <p:nvPr>
            <p:custDataLst>
              <p:tags r:id="rId10"/>
            </p:custDataLst>
          </p:nvPr>
        </p:nvCxnSpPr>
        <p:spPr>
          <a:xfrm flipV="1">
            <a:off x="2907030" y="2371090"/>
            <a:ext cx="1791970" cy="127762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31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只读数据段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与代码段类似的拷贝过程。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8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>
            <p:custDataLst>
              <p:tags r:id="rId9"/>
            </p:custDataLst>
          </p:nvPr>
        </p:nvCxnSpPr>
        <p:spPr>
          <a:xfrm flipV="1">
            <a:off x="2903220" y="2788285"/>
            <a:ext cx="1804670" cy="198120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10"/>
            </p:custDataLst>
          </p:nvPr>
        </p:nvCxnSpPr>
        <p:spPr>
          <a:xfrm flipV="1">
            <a:off x="2903220" y="3141345"/>
            <a:ext cx="1824355" cy="202057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endCxn id="15" idx="1"/>
          </p:cNvCxnSpPr>
          <p:nvPr>
            <p:custDataLst>
              <p:tags r:id="rId11"/>
            </p:custDataLst>
          </p:nvPr>
        </p:nvCxnSpPr>
        <p:spPr>
          <a:xfrm flipV="1">
            <a:off x="2907030" y="2964180"/>
            <a:ext cx="1791970" cy="68453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可读写数据段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操作系统从可执行文件中读取可读写数据段，并拷贝到内存中的指定地址。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699000" y="3773805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9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0"/>
            </p:custDataLst>
          </p:nvPr>
        </p:nvSpPr>
        <p:spPr>
          <a:xfrm>
            <a:off x="6629400" y="3773805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>
            <p:custDataLst>
              <p:tags r:id="rId11"/>
            </p:custDataLst>
          </p:nvPr>
        </p:nvCxnSpPr>
        <p:spPr>
          <a:xfrm flipV="1">
            <a:off x="2893695" y="3769360"/>
            <a:ext cx="1814195" cy="138303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12"/>
            </p:custDataLst>
          </p:nvPr>
        </p:nvCxnSpPr>
        <p:spPr>
          <a:xfrm flipV="1">
            <a:off x="2903220" y="4347845"/>
            <a:ext cx="1785620" cy="145161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endCxn id="25" idx="1"/>
          </p:cNvCxnSpPr>
          <p:nvPr>
            <p:custDataLst>
              <p:tags r:id="rId13"/>
            </p:custDataLst>
          </p:nvPr>
        </p:nvCxnSpPr>
        <p:spPr>
          <a:xfrm>
            <a:off x="2907030" y="3648710"/>
            <a:ext cx="1791970" cy="41211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零初始化数据段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操作系统将内存中的指定地址清零。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699000" y="3773805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9"/>
            </p:custDataLst>
          </p:nvPr>
        </p:nvSpPr>
        <p:spPr>
          <a:xfrm>
            <a:off x="4699000" y="4347845"/>
            <a:ext cx="1930400" cy="42989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9" name="矩形 78"/>
          <p:cNvSpPr/>
          <p:nvPr>
            <p:custDataLst>
              <p:tags r:id="rId10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1"/>
            </p:custDataLst>
          </p:nvPr>
        </p:nvSpPr>
        <p:spPr>
          <a:xfrm>
            <a:off x="6629400" y="3773805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0" name="直接连接符 99"/>
          <p:cNvCxnSpPr>
            <a:stCxn id="2" idx="3"/>
            <a:endCxn id="73" idx="1"/>
          </p:cNvCxnSpPr>
          <p:nvPr>
            <p:custDataLst>
              <p:tags r:id="rId12"/>
            </p:custDataLst>
          </p:nvPr>
        </p:nvCxnSpPr>
        <p:spPr>
          <a:xfrm>
            <a:off x="2907030" y="3648710"/>
            <a:ext cx="1791970" cy="91440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堆段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操作系统在内存中的指定地址初始化堆数据结构。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699000" y="3773805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9"/>
            </p:custDataLst>
          </p:nvPr>
        </p:nvSpPr>
        <p:spPr>
          <a:xfrm>
            <a:off x="4699000" y="4347845"/>
            <a:ext cx="1930400" cy="42989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10"/>
            </p:custDataLst>
          </p:nvPr>
        </p:nvSpPr>
        <p:spPr>
          <a:xfrm>
            <a:off x="4699000" y="4777105"/>
            <a:ext cx="1930400" cy="50482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11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2"/>
            </p:custDataLst>
          </p:nvPr>
        </p:nvSpPr>
        <p:spPr>
          <a:xfrm>
            <a:off x="6629400" y="3773805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4" name="直接连接符 3"/>
          <p:cNvCxnSpPr>
            <a:endCxn id="74" idx="1"/>
          </p:cNvCxnSpPr>
          <p:nvPr>
            <p:custDataLst>
              <p:tags r:id="rId13"/>
            </p:custDataLst>
          </p:nvPr>
        </p:nvCxnSpPr>
        <p:spPr>
          <a:xfrm>
            <a:off x="2907030" y="3648710"/>
            <a:ext cx="1791970" cy="138112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048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栈段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sz="2000"/>
          </a:p>
          <a:p>
            <a:pPr algn="ctr"/>
            <a:r>
              <a:rPr lang="zh-CN" sz="2000"/>
              <a:t>操作系统通常对该段什么也不做。</a:t>
            </a:r>
            <a:endParaRPr lang="zh-CN" sz="2000"/>
          </a:p>
          <a:p>
            <a:pPr algn="ctr"/>
            <a:r>
              <a:rPr lang="zh-CN" sz="2000"/>
              <a:t>最后，在将控制权交给程序时，将</a:t>
            </a:r>
            <a:r>
              <a:rPr lang="en-US" altLang="zh-CN" sz="2000"/>
              <a:t>PC</a:t>
            </a:r>
            <a:r>
              <a:rPr lang="zh-CN" altLang="en-US" sz="2000"/>
              <a:t>指向</a:t>
            </a:r>
            <a:r>
              <a:rPr lang="en-US" altLang="zh-CN" sz="2000"/>
              <a:t>.text</a:t>
            </a:r>
            <a:r>
              <a:rPr lang="zh-CN" altLang="en-US" sz="2000"/>
              <a:t>段，</a:t>
            </a:r>
            <a:r>
              <a:rPr lang="zh-CN" sz="2000"/>
              <a:t>将</a:t>
            </a:r>
            <a:r>
              <a:rPr lang="en-US" altLang="zh-CN" sz="2000"/>
              <a:t>SP</a:t>
            </a:r>
            <a:r>
              <a:rPr lang="zh-CN" sz="2000"/>
              <a:t>指向</a:t>
            </a:r>
            <a:r>
              <a:rPr lang="en-US" altLang="zh-CN" sz="2000"/>
              <a:t>.stack</a:t>
            </a:r>
            <a:r>
              <a:rPr lang="zh-CN" altLang="en-US" sz="2000"/>
              <a:t>段</a:t>
            </a:r>
            <a:r>
              <a:rPr lang="zh-CN" sz="2000"/>
              <a:t>。</a:t>
            </a:r>
            <a:endParaRPr lang="zh-CN" altLang="en-US" sz="2000"/>
          </a:p>
        </p:txBody>
      </p:sp>
      <p:sp>
        <p:nvSpPr>
          <p:cNvPr id="70" name="矩形 69"/>
          <p:cNvSpPr/>
          <p:nvPr>
            <p:custDataLst>
              <p:tags r:id="rId2"/>
            </p:custDataLst>
          </p:nvPr>
        </p:nvSpPr>
        <p:spPr>
          <a:xfrm>
            <a:off x="976630" y="3852545"/>
            <a:ext cx="1930400" cy="92773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71" name="矩形 70"/>
          <p:cNvSpPr/>
          <p:nvPr>
            <p:custDataLst>
              <p:tags r:id="rId3"/>
            </p:custDataLst>
          </p:nvPr>
        </p:nvSpPr>
        <p:spPr>
          <a:xfrm>
            <a:off x="976630" y="4780280"/>
            <a:ext cx="1930400" cy="37655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72" name="矩形 71"/>
          <p:cNvSpPr/>
          <p:nvPr>
            <p:custDataLst>
              <p:tags r:id="rId4"/>
            </p:custDataLst>
          </p:nvPr>
        </p:nvSpPr>
        <p:spPr>
          <a:xfrm>
            <a:off x="976630" y="5156835"/>
            <a:ext cx="1930400" cy="63055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76630" y="3444875"/>
            <a:ext cx="1930400" cy="407670"/>
          </a:xfrm>
          <a:prstGeom prst="rect">
            <a:avLst/>
          </a:prstGeom>
          <a:solidFill>
            <a:schemeClr val="tx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.head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4699000" y="1948815"/>
            <a:ext cx="1930400" cy="843915"/>
          </a:xfrm>
          <a:prstGeom prst="rect">
            <a:avLst/>
          </a:prstGeom>
          <a:solidFill>
            <a:srgbClr val="D02F35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.text</a:t>
            </a:r>
            <a:endParaRPr lang="en-US" altLang="zh-CN"/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4699000" y="2792730"/>
            <a:ext cx="1930400" cy="342265"/>
          </a:xfrm>
          <a:prstGeom prst="rect">
            <a:avLst/>
          </a:prstGeom>
          <a:solidFill>
            <a:schemeClr val="accent2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.rodata</a:t>
            </a:r>
            <a:endParaRPr lang="en-US" altLang="zh-CN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4699000" y="3773805"/>
            <a:ext cx="1930400" cy="573405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.rwdata</a:t>
            </a:r>
            <a:endParaRPr lang="en-US" altLang="zh-CN"/>
          </a:p>
        </p:txBody>
      </p:sp>
      <p:sp>
        <p:nvSpPr>
          <p:cNvPr id="73" name="矩形 72"/>
          <p:cNvSpPr/>
          <p:nvPr>
            <p:custDataLst>
              <p:tags r:id="rId9"/>
            </p:custDataLst>
          </p:nvPr>
        </p:nvSpPr>
        <p:spPr>
          <a:xfrm>
            <a:off x="4699000" y="4347845"/>
            <a:ext cx="1930400" cy="429895"/>
          </a:xfrm>
          <a:prstGeom prst="rect">
            <a:avLst/>
          </a:prstGeom>
          <a:solidFill>
            <a:schemeClr val="accent6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.zidata/.bss</a:t>
            </a:r>
            <a:endParaRPr lang="zh-CN" altLang="en-US"/>
          </a:p>
        </p:txBody>
      </p:sp>
      <p:sp>
        <p:nvSpPr>
          <p:cNvPr id="74" name="矩形 73"/>
          <p:cNvSpPr/>
          <p:nvPr>
            <p:custDataLst>
              <p:tags r:id="rId10"/>
            </p:custDataLst>
          </p:nvPr>
        </p:nvSpPr>
        <p:spPr>
          <a:xfrm>
            <a:off x="4699000" y="4777105"/>
            <a:ext cx="1930400" cy="504825"/>
          </a:xfrm>
          <a:prstGeom prst="rect">
            <a:avLst/>
          </a:prstGeom>
          <a:solidFill>
            <a:srgbClr val="00206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.heap</a:t>
            </a:r>
            <a:endParaRPr lang="en-US" altLang="zh-CN"/>
          </a:p>
        </p:txBody>
      </p:sp>
      <p:sp>
        <p:nvSpPr>
          <p:cNvPr id="75" name="矩形 74"/>
          <p:cNvSpPr/>
          <p:nvPr>
            <p:custDataLst>
              <p:tags r:id="rId11"/>
            </p:custDataLst>
          </p:nvPr>
        </p:nvSpPr>
        <p:spPr>
          <a:xfrm>
            <a:off x="4699000" y="5281930"/>
            <a:ext cx="1930400" cy="504825"/>
          </a:xfrm>
          <a:prstGeom prst="rect">
            <a:avLst/>
          </a:prstGeom>
          <a:solidFill>
            <a:srgbClr val="00B050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.stack</a:t>
            </a:r>
            <a:endParaRPr lang="en-US" altLang="zh-CN"/>
          </a:p>
        </p:txBody>
      </p:sp>
      <p:sp>
        <p:nvSpPr>
          <p:cNvPr id="79" name="矩形 78"/>
          <p:cNvSpPr/>
          <p:nvPr>
            <p:custDataLst>
              <p:tags r:id="rId12"/>
            </p:custDataLst>
          </p:nvPr>
        </p:nvSpPr>
        <p:spPr>
          <a:xfrm>
            <a:off x="6629400" y="1948815"/>
            <a:ext cx="1930400" cy="1186815"/>
          </a:xfrm>
          <a:prstGeom prst="rect">
            <a:avLst/>
          </a:prstGeom>
          <a:solidFill>
            <a:schemeClr val="accent2">
              <a:alpha val="75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0x08000000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只读段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0x083FFFFF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13"/>
            </p:custDataLst>
          </p:nvPr>
        </p:nvSpPr>
        <p:spPr>
          <a:xfrm>
            <a:off x="6629400" y="3773805"/>
            <a:ext cx="1930400" cy="2013585"/>
          </a:xfrm>
          <a:prstGeom prst="rect">
            <a:avLst/>
          </a:prstGeom>
          <a:solidFill>
            <a:srgbClr val="7030A0">
              <a:alpha val="50000"/>
            </a:srgb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0x20000000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读写段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0x207FFFFF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4" name="直接连接符 3"/>
          <p:cNvCxnSpPr>
            <a:endCxn id="75" idx="1"/>
          </p:cNvCxnSpPr>
          <p:nvPr>
            <p:custDataLst>
              <p:tags r:id="rId14"/>
            </p:custDataLst>
          </p:nvPr>
        </p:nvCxnSpPr>
        <p:spPr>
          <a:xfrm>
            <a:off x="2907030" y="3648710"/>
            <a:ext cx="1791970" cy="18859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5"/>
    </p:custData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46380" y="676910"/>
            <a:ext cx="9178290" cy="6092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编译器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高级语言</a:t>
            </a:r>
            <a:r>
              <a:rPr lang="zh-CN" altLang="en-US" sz="2000">
                <a:sym typeface="+mn-ea"/>
              </a:rPr>
              <a:t>源程序翻译成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机器语言</a:t>
            </a:r>
            <a:r>
              <a:rPr lang="zh-CN" altLang="en-US" sz="2000">
                <a:sym typeface="+mn-ea"/>
              </a:rPr>
              <a:t>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有时也先翻译成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汇编语言</a:t>
            </a:r>
            <a:r>
              <a:rPr lang="zh-CN" altLang="en-US" sz="2000">
                <a:sym typeface="+mn-ea"/>
              </a:rPr>
              <a:t>源程序，然后调用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汇编器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如：</a:t>
            </a:r>
            <a:r>
              <a:rPr lang="en-US" altLang="zh-CN" sz="2000">
                <a:sym typeface="+mn-ea"/>
              </a:rPr>
              <a:t>GCC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C++</a:t>
            </a:r>
            <a:r>
              <a:rPr lang="zh-CN" altLang="en-US" sz="2000">
                <a:sym typeface="+mn-ea"/>
              </a:rPr>
              <a:t>等）、</a:t>
            </a:r>
            <a:r>
              <a:rPr lang="en-US" altLang="zh-CN" sz="2000">
                <a:sym typeface="+mn-ea"/>
              </a:rPr>
              <a:t>MSVC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C++</a:t>
            </a:r>
            <a:r>
              <a:rPr lang="zh-CN" altLang="en-US" sz="2000">
                <a:sym typeface="+mn-ea"/>
              </a:rPr>
              <a:t>等）。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汇编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汇编语言</a:t>
            </a:r>
            <a:r>
              <a:rPr lang="zh-CN" altLang="en-US" sz="2000">
                <a:sym typeface="+mn-ea"/>
              </a:rPr>
              <a:t>源程序翻译成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机器语言</a:t>
            </a:r>
            <a:r>
              <a:rPr lang="zh-CN" altLang="en-US" sz="2000">
                <a:sym typeface="+mn-ea"/>
              </a:rPr>
              <a:t>程序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如：</a:t>
            </a:r>
            <a:r>
              <a:rPr lang="en-US" altLang="zh-CN" sz="2000">
                <a:sym typeface="+mn-ea"/>
              </a:rPr>
              <a:t>AS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MASM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TASM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链接器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将机器语言程序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中间文件</a:t>
            </a:r>
            <a:r>
              <a:rPr lang="zh-CN" altLang="en-US" sz="2000">
                <a:sym typeface="+mn-ea"/>
              </a:rPr>
              <a:t>与系统运行库链接生成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可执行的</a:t>
            </a:r>
            <a:r>
              <a:rPr lang="zh-CN" altLang="en-US" sz="2000">
                <a:sym typeface="+mn-ea"/>
              </a:rPr>
              <a:t>机器语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言程序。可能重定位各个段的位置。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如：LD，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LINK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调试器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系统提供给用户的能监督和控制用户程序的一种工具，可以装入、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修改、显示或逐条执行一个程序。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如：</a:t>
            </a:r>
            <a:r>
              <a:rPr lang="en-US" altLang="zh-CN" sz="2000">
                <a:sym typeface="+mn-ea"/>
              </a:rPr>
              <a:t>GDB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DEBUG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解释器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直接</a:t>
            </a:r>
            <a:r>
              <a:rPr lang="zh-CN" altLang="en-US" sz="2000">
                <a:sym typeface="+mn-ea"/>
              </a:rPr>
              <a:t>在机器上解释并执行</a:t>
            </a:r>
            <a:r>
              <a:rPr lang="zh-CN" altLang="en-US" sz="2000">
                <a:sym typeface="+mn-ea"/>
              </a:rPr>
              <a:t>高级语言</a:t>
            </a:r>
            <a:r>
              <a:rPr lang="zh-CN" altLang="en-US" sz="2000">
                <a:sym typeface="+mn-ea"/>
              </a:rPr>
              <a:t>源程序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也不排斥使用编译器技术</a:t>
            </a:r>
            <a:r>
              <a:rPr lang="zh-CN" altLang="en-US" sz="2000">
                <a:sym typeface="+mn-ea"/>
              </a:rPr>
              <a:t>，内部先生成机器语言程序再执行。但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是，解释器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一般不会生成可独立运行的机器语言程序文件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如：Lua、JavaScript、</a:t>
            </a:r>
            <a:r>
              <a:rPr lang="en-US" altLang="zh-CN" sz="2000">
                <a:sym typeface="+mn-ea"/>
              </a:rPr>
              <a:t>Python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66950" y="1803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编译器、</a:t>
            </a:r>
            <a:r>
              <a:rPr lang="zh-CN" altLang="en-US" sz="2000" b="1">
                <a:solidFill>
                  <a:srgbClr val="9C0B15"/>
                </a:solidFill>
              </a:rPr>
              <a:t>汇编器、</a:t>
            </a:r>
            <a:r>
              <a:rPr lang="zh-CN" altLang="en-US" sz="2000" b="1">
                <a:solidFill>
                  <a:srgbClr val="9C0B15"/>
                </a:solidFill>
              </a:rPr>
              <a:t>链接器、调试器与解释器</a:t>
            </a:r>
            <a:r>
              <a:rPr lang="zh-CN" altLang="en-US" sz="2000" b="1">
                <a:solidFill>
                  <a:srgbClr val="9C0B15"/>
                </a:solidFill>
              </a:rPr>
              <a:t>程序</a:t>
            </a:r>
            <a:endParaRPr lang="zh-CN" altLang="en-US" sz="2000" b="1">
              <a:solidFill>
                <a:srgbClr val="9C0B15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59385"/>
            <a:ext cx="912114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工具链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工具链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编写、链接、调试应用程序往往需要一系列工具的帮助，这一</a:t>
            </a:r>
            <a:r>
              <a:rPr lang="en-US" altLang="zh-CN" sz="2000"/>
              <a:t>		</a:t>
            </a:r>
            <a:r>
              <a:rPr lang="zh-CN" altLang="en-US" sz="2000"/>
              <a:t>系列工具被称为工具链。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en-US" altLang="zh-CN" sz="2000"/>
              <a:t>		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工具链</a:t>
            </a:r>
            <a:r>
              <a:rPr lang="en-US" altLang="zh-CN" sz="2000"/>
              <a:t>	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</a:t>
            </a:r>
            <a:r>
              <a:rPr lang="zh-CN" altLang="en-US" sz="2000"/>
              <a:t>基本的编译工具链必须包括编译器、汇编器和链接器，否则无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法生成应用程序。若条件允许，还要包含调试器以便增进调试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/>
              <a:t>效率。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81985" y="716280"/>
            <a:ext cx="3286125" cy="5210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96505" y="2306320"/>
            <a:ext cx="17449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链</a:t>
            </a:r>
            <a:r>
              <a:rPr lang="en-US" altLang="zh-CN" sz="2000">
                <a:sym typeface="+mn-ea"/>
              </a:rPr>
              <a:t>”</a:t>
            </a:r>
            <a:r>
              <a:rPr lang="zh-CN" altLang="en-US" sz="2000">
                <a:sym typeface="+mn-ea"/>
              </a:rPr>
              <a:t>得名于其一环扣一环、相互之间有独立性，但是又需要紧密衔接的特点，好像铁索连环那样。</a:t>
            </a:r>
            <a:endParaRPr lang="zh-CN" altLang="en-US" sz="2000"/>
          </a:p>
        </p:txBody>
      </p:sp>
      <p:sp>
        <p:nvSpPr>
          <p:cNvPr id="6" name="圆角矩形 5"/>
          <p:cNvSpPr/>
          <p:nvPr/>
        </p:nvSpPr>
        <p:spPr>
          <a:xfrm>
            <a:off x="3332480" y="6174740"/>
            <a:ext cx="1360805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汇编器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206365" y="6174740"/>
            <a:ext cx="136017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链接器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068185" y="6174740"/>
            <a:ext cx="136017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调试器</a:t>
            </a:r>
            <a:endParaRPr lang="zh-CN" altLang="en-US"/>
          </a:p>
        </p:txBody>
      </p:sp>
      <p:cxnSp>
        <p:nvCxnSpPr>
          <p:cNvPr id="28" name="直接箭头连接符 27"/>
          <p:cNvCxnSpPr>
            <a:stCxn id="6" idx="3"/>
            <a:endCxn id="7" idx="1"/>
          </p:cNvCxnSpPr>
          <p:nvPr/>
        </p:nvCxnSpPr>
        <p:spPr>
          <a:xfrm>
            <a:off x="4693285" y="6418580"/>
            <a:ext cx="51308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7" idx="3"/>
            <a:endCxn id="8" idx="1"/>
          </p:cNvCxnSpPr>
          <p:nvPr/>
        </p:nvCxnSpPr>
        <p:spPr>
          <a:xfrm>
            <a:off x="6566535" y="6418580"/>
            <a:ext cx="50165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>
            <p:custDataLst>
              <p:tags r:id="rId3"/>
            </p:custDataLst>
          </p:nvPr>
        </p:nvSpPr>
        <p:spPr>
          <a:xfrm>
            <a:off x="1445895" y="6174740"/>
            <a:ext cx="1360805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编译器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2" idx="3"/>
          </p:cNvCxnSpPr>
          <p:nvPr>
            <p:custDataLst>
              <p:tags r:id="rId4"/>
            </p:custDataLst>
          </p:nvPr>
        </p:nvCxnSpPr>
        <p:spPr>
          <a:xfrm>
            <a:off x="2806700" y="6418580"/>
            <a:ext cx="513080" cy="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862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编译器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编译器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负责将输入的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高级语言源程序</a:t>
            </a:r>
            <a:r>
              <a:rPr lang="zh-CN" altLang="en-US" sz="2000">
                <a:sym typeface="+mn-ea"/>
              </a:rPr>
              <a:t>翻译为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汇编语言源程序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高级源程序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程序员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手工编写的高级语言程序</a:t>
            </a:r>
            <a:r>
              <a:rPr lang="zh-CN" altLang="en-US" sz="2000">
                <a:sym typeface="+mn-ea"/>
              </a:rPr>
              <a:t>。一个高级语言程序可以由多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个编译单元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*.C/*.CPP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组成，需要针对每个编译单元调用一次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编译器，分别生成对应于它们的汇编文件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*.S/*.ASM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当然，现代编译器都具备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直接生成机器码目标文件（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*.O/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*.OBJ）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等的能力，可以跳过汇编文件这一步，只是原则上经过了汇编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语言这一层次。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清单列表文件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程序员</a:t>
            </a:r>
            <a:r>
              <a:rPr lang="zh-CN" altLang="en-US" sz="2000">
                <a:sym typeface="+mn-ea"/>
              </a:rPr>
              <a:t>参考的一些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可选信息</a:t>
            </a:r>
            <a:r>
              <a:rPr lang="zh-CN" altLang="en-US" sz="2000">
                <a:sym typeface="+mn-ea"/>
              </a:rPr>
              <a:t>，诸如生成的汇编程序具体与</a:t>
            </a:r>
            <a:r>
              <a:rPr lang="zh-CN" sz="2000">
                <a:sym typeface="+mn-ea"/>
              </a:rPr>
              <a:t>高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级语言</a:t>
            </a:r>
            <a:r>
              <a:rPr lang="zh-CN" altLang="en-US" sz="2000">
                <a:sym typeface="+mn-ea"/>
              </a:rPr>
              <a:t>怎样对应等等，甚至生成混合高级语言代码与汇编代码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的参考文件。这些信息对工具链是无用的，对程序员则很有用。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19400" y="3705860"/>
            <a:ext cx="4148455" cy="18211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汇编器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汇编器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负责将输入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源程序</a:t>
            </a:r>
            <a:r>
              <a:rPr lang="zh-CN" altLang="en-US" sz="2000">
                <a:sym typeface="+mn-ea"/>
              </a:rPr>
              <a:t>中的指令进行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组装</a:t>
            </a:r>
            <a:r>
              <a:rPr lang="zh-CN" altLang="en-US" sz="2000">
                <a:sym typeface="+mn-ea"/>
              </a:rPr>
              <a:t>，生成初步的机器码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目标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文件</a:t>
            </a:r>
            <a:r>
              <a:rPr lang="zh-CN" altLang="en-US" sz="2000">
                <a:sym typeface="+mn-ea"/>
              </a:rPr>
              <a:t>。有时，汇编器还生成供程序员参考的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清单列表文件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汇编源程序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程序员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手工编写的汇编语言程序</a:t>
            </a:r>
            <a:r>
              <a:rPr lang="zh-CN" altLang="en-US" sz="2000">
                <a:sym typeface="+mn-ea"/>
              </a:rPr>
              <a:t>。一个汇编语言程序可以由多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个汇编单元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*.ASM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组成，需要针对每个汇编单元调用一次汇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编器，分别生成</a:t>
            </a:r>
            <a:r>
              <a:rPr lang="zh-CN" altLang="en-US" sz="2000">
                <a:sym typeface="+mn-ea"/>
              </a:rPr>
              <a:t>其目标文件。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目标文件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汇编器组装指令得到的、包含初步机器码的文件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*.OBJ)</a:t>
            </a:r>
            <a:r>
              <a:rPr lang="zh-CN" altLang="en-US" sz="2000">
                <a:sym typeface="+mn-ea"/>
              </a:rPr>
              <a:t>。这些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文件还不能直接被执行，需要进一步链接，确定程序中所含地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址的确切</a:t>
            </a:r>
            <a:r>
              <a:rPr lang="zh-CN" altLang="en-US" sz="2000">
                <a:sym typeface="+mn-ea"/>
              </a:rPr>
              <a:t>值后才可以直接被</a:t>
            </a:r>
            <a:r>
              <a:rPr lang="zh-CN" altLang="en-US" sz="2000">
                <a:sym typeface="+mn-ea"/>
              </a:rPr>
              <a:t>执行。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清单列表文件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程序员</a:t>
            </a:r>
            <a:r>
              <a:rPr lang="zh-CN" altLang="en-US" sz="2000">
                <a:sym typeface="+mn-ea"/>
              </a:rPr>
              <a:t>参考的一些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可选信息</a:t>
            </a:r>
            <a:r>
              <a:rPr lang="zh-CN" altLang="en-US" sz="2000">
                <a:sym typeface="+mn-ea"/>
              </a:rPr>
              <a:t>，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诸如生成的机器码具体与汇编程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序怎样对应、某些定义在第几行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被定义，在第几行被引用等等。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这些信息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对链接器无用</a:t>
            </a:r>
            <a:r>
              <a:rPr lang="zh-CN" altLang="en-US" sz="2000">
                <a:sym typeface="+mn-ea"/>
              </a:rPr>
              <a:t>，完全是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为程序员方便而</a:t>
            </a:r>
            <a:r>
              <a:rPr lang="zh-CN" altLang="en-US" sz="2000">
                <a:sym typeface="+mn-ea"/>
              </a:rPr>
              <a:t>引入的。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MASM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*.LST</a:t>
            </a:r>
            <a:r>
              <a:rPr lang="zh-CN" altLang="en-US" sz="2000">
                <a:sym typeface="+mn-ea"/>
              </a:rPr>
              <a:t>文件负责前者，</a:t>
            </a:r>
            <a:r>
              <a:rPr lang="en-US" altLang="zh-CN" sz="2000">
                <a:sym typeface="+mn-ea"/>
              </a:rPr>
              <a:t>*.CRF</a:t>
            </a:r>
            <a:r>
              <a:rPr lang="zh-CN" altLang="en-US" sz="2000">
                <a:sym typeface="+mn-ea"/>
              </a:rPr>
              <a:t>文件负责后者，但是只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有</a:t>
            </a:r>
            <a:r>
              <a:rPr lang="en-US" altLang="zh-CN" sz="2000">
                <a:sym typeface="+mn-ea"/>
              </a:rPr>
              <a:t>*.LST</a:t>
            </a:r>
            <a:r>
              <a:rPr lang="zh-CN" altLang="en-US" sz="2000">
                <a:sym typeface="+mn-ea"/>
              </a:rPr>
              <a:t>文件是文本文件，</a:t>
            </a:r>
            <a:r>
              <a:rPr lang="en-US" altLang="zh-CN" sz="2000">
                <a:sym typeface="+mn-ea"/>
              </a:rPr>
              <a:t>*.CRF</a:t>
            </a:r>
            <a:r>
              <a:rPr lang="zh-CN" altLang="en-US" sz="2000">
                <a:sym typeface="+mn-ea"/>
              </a:rPr>
              <a:t>则是需经转换才可读的</a:t>
            </a:r>
            <a:r>
              <a:rPr lang="zh-CN" altLang="en-US" sz="2000">
                <a:sym typeface="+mn-ea"/>
              </a:rPr>
              <a:t>文件。</a:t>
            </a:r>
            <a:endParaRPr lang="zh-CN" altLang="en-US" sz="20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6003"/>
          <a:stretch>
            <a:fillRect/>
          </a:stretch>
        </p:blipFill>
        <p:spPr>
          <a:xfrm>
            <a:off x="5969635" y="4218305"/>
            <a:ext cx="3232150" cy="17595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链接器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链接器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负责确定程序各部分所对应的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具体地址</a:t>
            </a:r>
            <a:r>
              <a:rPr lang="zh-CN" altLang="en-US" sz="2000">
                <a:sym typeface="+mn-ea"/>
              </a:rPr>
              <a:t>，并根据该地址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填充所		有符号引用、生成最终可执行二进制文件</a:t>
            </a:r>
            <a:r>
              <a:rPr lang="zh-CN" altLang="en-US" sz="2000">
                <a:sym typeface="+mn-ea"/>
              </a:rPr>
              <a:t>。有时，链接器还生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成供程序员参考的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地址映射文件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可执行文件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可直接在操作系统中执行的应用程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序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*.EXE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或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*.COM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000">
                <a:sym typeface="+mn-ea"/>
              </a:rPr>
              <a:t>，含有完全成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熟的、可直接执行的机器码。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地址映射文件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程序员</a:t>
            </a:r>
            <a:r>
              <a:rPr lang="zh-CN" altLang="en-US" sz="2000">
                <a:sym typeface="+mn-ea"/>
              </a:rPr>
              <a:t>参考的一些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可选地址映射</a:t>
            </a:r>
            <a:endParaRPr lang="zh-CN" altLang="en-US" sz="2000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信息</a:t>
            </a:r>
            <a:r>
              <a:rPr lang="zh-CN" altLang="en-US" sz="2000">
                <a:sym typeface="+mn-ea"/>
              </a:rPr>
              <a:t>，诸如某段程序或数据最终被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链接到哪个地址，</a:t>
            </a:r>
            <a:r>
              <a:rPr lang="zh-CN" altLang="en-US" sz="2000">
                <a:sym typeface="+mn-ea"/>
              </a:rPr>
              <a:t>等等。</a:t>
            </a:r>
            <a:endParaRPr lang="zh-CN" altLang="en-US" sz="20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245" y="2264410"/>
            <a:ext cx="3421380" cy="1624330"/>
          </a:xfrm>
          <a:prstGeom prst="rect">
            <a:avLst/>
          </a:prstGeom>
        </p:spPr>
      </p:pic>
      <p:sp>
        <p:nvSpPr>
          <p:cNvPr id="5" name="流程图: 文档 4"/>
          <p:cNvSpPr/>
          <p:nvPr/>
        </p:nvSpPr>
        <p:spPr>
          <a:xfrm>
            <a:off x="443230" y="4288790"/>
            <a:ext cx="914400" cy="611505"/>
          </a:xfrm>
          <a:prstGeom prst="flowChartDocumen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源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" name="流程图: 文档 5"/>
          <p:cNvSpPr/>
          <p:nvPr/>
        </p:nvSpPr>
        <p:spPr>
          <a:xfrm>
            <a:off x="443230" y="5146675"/>
            <a:ext cx="914400" cy="611505"/>
          </a:xfrm>
          <a:prstGeom prst="flowChartDocumen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源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流程图: 文档 6"/>
          <p:cNvSpPr/>
          <p:nvPr/>
        </p:nvSpPr>
        <p:spPr>
          <a:xfrm>
            <a:off x="443230" y="6004560"/>
            <a:ext cx="914400" cy="611505"/>
          </a:xfrm>
          <a:prstGeom prst="flowChartDocumen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源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2349500" y="4350385"/>
            <a:ext cx="100838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汇编器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349500" y="5208905"/>
            <a:ext cx="100838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汇编器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349500" y="6066790"/>
            <a:ext cx="100838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汇编器</a:t>
            </a:r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340225" y="4318635"/>
            <a:ext cx="1106805" cy="55054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目标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椭圆 25"/>
          <p:cNvSpPr/>
          <p:nvPr/>
        </p:nvSpPr>
        <p:spPr>
          <a:xfrm>
            <a:off x="4349750" y="5177155"/>
            <a:ext cx="1106805" cy="55054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目标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8" name="椭圆 27"/>
          <p:cNvSpPr/>
          <p:nvPr/>
        </p:nvSpPr>
        <p:spPr>
          <a:xfrm>
            <a:off x="4349750" y="6003925"/>
            <a:ext cx="1106805" cy="550545"/>
          </a:xfrm>
          <a:prstGeom prst="ellipse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目标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0" name="圆角矩形 59"/>
          <p:cNvSpPr/>
          <p:nvPr/>
        </p:nvSpPr>
        <p:spPr>
          <a:xfrm>
            <a:off x="6458585" y="5208270"/>
            <a:ext cx="1008380" cy="487680"/>
          </a:xfrm>
          <a:prstGeom prst="roundRect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链接器</a:t>
            </a:r>
            <a:endParaRPr lang="zh-CN" altLang="en-US"/>
          </a:p>
        </p:txBody>
      </p:sp>
      <p:sp>
        <p:nvSpPr>
          <p:cNvPr id="62" name="折角形 61"/>
          <p:cNvSpPr/>
          <p:nvPr/>
        </p:nvSpPr>
        <p:spPr>
          <a:xfrm>
            <a:off x="8448675" y="4994910"/>
            <a:ext cx="914400" cy="914400"/>
          </a:xfrm>
          <a:prstGeom prst="foldedCorne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可执行</a:t>
            </a:r>
            <a:r>
              <a:rPr lang="zh-CN" altLang="en-US"/>
              <a:t>程序</a:t>
            </a:r>
            <a:endParaRPr lang="zh-CN" altLang="en-US"/>
          </a:p>
        </p:txBody>
      </p:sp>
      <p:cxnSp>
        <p:nvCxnSpPr>
          <p:cNvPr id="63" name="直接箭头连接符 62"/>
          <p:cNvCxnSpPr>
            <a:endCxn id="8" idx="1"/>
          </p:cNvCxnSpPr>
          <p:nvPr/>
        </p:nvCxnSpPr>
        <p:spPr>
          <a:xfrm>
            <a:off x="1357630" y="459359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1357630" y="545147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357630" y="631063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357880" y="459295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357880" y="545274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3357880" y="630999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7466965" y="545338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5447030" y="4594225"/>
            <a:ext cx="1029335" cy="61722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5466715" y="545401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V="1">
            <a:off x="5447030" y="5681980"/>
            <a:ext cx="1039495" cy="59690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目标文件的内容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外部符号引用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在一个目标文件中可能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引用了其它目标文件的内容</a:t>
            </a:r>
            <a:r>
              <a:rPr lang="zh-CN" altLang="en-US" sz="2000">
                <a:sym typeface="+mn-ea"/>
              </a:rPr>
              <a:t>。由于编译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器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一次生成一个目标文件</a:t>
            </a:r>
            <a:r>
              <a:rPr lang="zh-CN" altLang="en-US" sz="2000">
                <a:sym typeface="+mn-ea"/>
              </a:rPr>
              <a:t>，因此并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不知道</a:t>
            </a:r>
            <a:r>
              <a:rPr lang="zh-CN" altLang="en-US" sz="2000">
                <a:sym typeface="+mn-ea"/>
              </a:rPr>
              <a:t>那些引用的内容的地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址在哪。况且，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自身在内存中的位置也还没确定</a:t>
            </a:r>
            <a:r>
              <a:rPr lang="zh-CN" altLang="en-US" sz="2000">
                <a:sym typeface="+mn-ea"/>
              </a:rPr>
              <a:t>，因此所有对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符号的引用（全局变量访问、函数调用等等）的具体地址都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只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能推迟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extern关键字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表明引用的符号在当前的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或</a:t>
            </a:r>
            <a:r>
              <a:rPr lang="en-US" altLang="zh-CN" sz="2000">
                <a:sym typeface="+mn-ea"/>
              </a:rPr>
              <a:t>C++</a:t>
            </a:r>
            <a:r>
              <a:rPr lang="zh-CN" altLang="en-US" sz="2000">
                <a:sym typeface="+mn-ea"/>
              </a:rPr>
              <a:t>编译单元中未被定义，需要到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其它</a:t>
            </a:r>
            <a:r>
              <a:rPr lang="zh-CN" altLang="en-US" sz="2000">
                <a:solidFill>
                  <a:srgbClr val="C00000"/>
                </a:solidFill>
                <a:sym typeface="+mn-ea"/>
              </a:rPr>
              <a:t>编译单元</a:t>
            </a:r>
            <a:r>
              <a:rPr lang="zh-CN" altLang="en-US" sz="2000">
                <a:sym typeface="+mn-ea"/>
              </a:rPr>
              <a:t>中去寻找。在调用外部过程库时相当常用。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链接器的操作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链接器会先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收集全部目标文件的符号</a:t>
            </a:r>
            <a:r>
              <a:rPr lang="zh-CN" altLang="en-US" sz="2000">
                <a:sym typeface="+mn-ea"/>
              </a:rPr>
              <a:t>，然后给每个符号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分配地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		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址</a:t>
            </a:r>
            <a:r>
              <a:rPr lang="zh-CN" altLang="en-US" sz="2000">
                <a:sym typeface="+mn-ea"/>
              </a:rPr>
              <a:t>。在地址确定后，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反过来补全</a:t>
            </a:r>
            <a:r>
              <a:rPr lang="zh-CN" altLang="en-US" sz="2000">
                <a:sym typeface="+mn-ea"/>
              </a:rPr>
              <a:t>程序中对这些符号地址的引用。</a:t>
            </a:r>
            <a:endParaRPr lang="zh-CN" altLang="en-US" sz="2000"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977130" y="3429000"/>
            <a:ext cx="44577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?OFFSET VARC?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?PROCB?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2"/>
            </p:custDataLst>
          </p:nvPr>
        </p:nvSpPr>
        <p:spPr>
          <a:xfrm>
            <a:off x="457835" y="3429000"/>
            <a:ext cx="227139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void a(void)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b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c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return;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cxnSp>
        <p:nvCxnSpPr>
          <p:cNvPr id="75" name="直接箭头连接符 74"/>
          <p:cNvCxnSpPr/>
          <p:nvPr>
            <p:custDataLst>
              <p:tags r:id="rId3"/>
            </p:custDataLst>
          </p:nvPr>
        </p:nvCxnSpPr>
        <p:spPr>
          <a:xfrm>
            <a:off x="3392170" y="455168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直接回填法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  <a:p>
            <a:r>
              <a:rPr lang="zh-CN" altLang="en-US" sz="2000" b="1">
                <a:solidFill>
                  <a:srgbClr val="9C0B15"/>
                </a:solidFill>
                <a:sym typeface="+mn-ea"/>
              </a:rPr>
              <a:t>直接回填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链接器生成所有符号的地址后，直接修改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段中对这些符号的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引用，将正确的地址填写到那些引用中去，这样生成的代码就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可以访问那些符号了。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直接回填法会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修改.text段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2"/>
            </p:custDataLst>
          </p:nvPr>
        </p:nvSpPr>
        <p:spPr>
          <a:xfrm>
            <a:off x="189230" y="3224530"/>
            <a:ext cx="423227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?OFFSET VARC?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?PROCB?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089650" y="3224530"/>
            <a:ext cx="367411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0850H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CF20H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cxnSp>
        <p:nvCxnSpPr>
          <p:cNvPr id="71" name="直接箭头连接符 70"/>
          <p:cNvCxnSpPr/>
          <p:nvPr>
            <p:custDataLst>
              <p:tags r:id="rId4"/>
            </p:custDataLst>
          </p:nvPr>
        </p:nvCxnSpPr>
        <p:spPr>
          <a:xfrm>
            <a:off x="4599305" y="4346575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.</a:t>
                      </a: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 过程调用与栈框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间接地址法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间接地址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编译器或汇编器生成目标文件时，在</a:t>
            </a:r>
            <a:r>
              <a:rPr lang="en-US" altLang="zh-CN" sz="2000">
                <a:sym typeface="+mn-ea"/>
              </a:rPr>
              <a:t>.rwdata</a:t>
            </a:r>
            <a:r>
              <a:rPr lang="zh-CN" altLang="en-US" sz="2000">
                <a:sym typeface="+mn-ea"/>
              </a:rPr>
              <a:t>段留出一个表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	</a:t>
            </a:r>
            <a:r>
              <a:rPr lang="zh-CN" altLang="en-US" sz="2000">
                <a:sym typeface="+mn-ea"/>
              </a:rPr>
              <a:t>格，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段中的代码对其它符号的引用均通过这个表格进行。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间接地址法不会修改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段，但会</a:t>
            </a:r>
            <a:r>
              <a:rPr lang="en-US" altLang="zh-CN" sz="2000">
                <a:solidFill>
                  <a:srgbClr val="C00000"/>
                </a:solidFill>
                <a:sym typeface="+mn-ea"/>
              </a:rPr>
              <a:t>修改.rwdata段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2"/>
            </p:custDataLst>
          </p:nvPr>
        </p:nvSpPr>
        <p:spPr>
          <a:xfrm>
            <a:off x="5439410" y="2331085"/>
            <a:ext cx="4438650" cy="4320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SEGMENT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	DW 	183AH, 0850H, CF20H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ENDS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[1]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[DX]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[2]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2075" y="2331085"/>
            <a:ext cx="4340225" cy="4320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SEGMENT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	DW 	16 DUP(0)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92D05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92D050"/>
              </a:solidFill>
              <a:sym typeface="+mn-ea"/>
            </a:endParaRPr>
          </a:p>
          <a:p>
            <a:pPr marL="0" lvl="1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DATA	ENDS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	PROC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[1]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MOV	AX, [DX]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CALL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OFFTBL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[2]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zh-CN" altLang="en-US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C00000"/>
                </a:solidFill>
                <a:sym typeface="+mn-ea"/>
              </a:rPr>
              <a:t>PROCA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cxnSp>
        <p:nvCxnSpPr>
          <p:cNvPr id="71" name="直接箭头连接符 70"/>
          <p:cNvCxnSpPr/>
          <p:nvPr>
            <p:custDataLst>
              <p:tags r:id="rId4"/>
            </p:custDataLst>
          </p:nvPr>
        </p:nvCxnSpPr>
        <p:spPr>
          <a:xfrm>
            <a:off x="4049395" y="4490720"/>
            <a:ext cx="991870" cy="63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过程（</a:t>
            </a:r>
            <a:r>
              <a:rPr lang="zh-CN" altLang="en-US" sz="2000" b="1">
                <a:solidFill>
                  <a:srgbClr val="9C0B15"/>
                </a:solidFill>
              </a:rPr>
              <a:t>子程序）结构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ctr"/>
            <a:r>
              <a:rPr lang="zh-CN" altLang="en-US" sz="2000">
                <a:sym typeface="+mn-ea"/>
              </a:rPr>
              <a:t>程序指针可能在中途反复跳转到同一段过程执行，完</a:t>
            </a:r>
            <a:r>
              <a:rPr lang="zh-CN" altLang="en-US" sz="2000">
                <a:sym typeface="+mn-ea"/>
              </a:rPr>
              <a:t>毕后返回原处</a:t>
            </a:r>
            <a:r>
              <a:rPr lang="zh-CN" altLang="en-US" sz="2000">
                <a:sym typeface="+mn-ea"/>
              </a:rPr>
              <a:t>继续执行。</a:t>
            </a:r>
            <a:endParaRPr lang="zh-CN" altLang="en-US" sz="2000">
              <a:sym typeface="+mn-ea"/>
            </a:endParaRPr>
          </a:p>
          <a:p>
            <a:pPr algn="ctr"/>
            <a:r>
              <a:rPr lang="zh-CN" altLang="en-US" sz="2000">
                <a:sym typeface="+mn-ea"/>
              </a:rPr>
              <a:t>比循环结构更强大，因为过程的尾递归可以实现循环。</a:t>
            </a:r>
            <a:r>
              <a:rPr lang="zh-CN" altLang="en-US" sz="2000">
                <a:sym typeface="+mn-ea"/>
              </a:rPr>
              <a:t>过程还可以</a:t>
            </a:r>
            <a:r>
              <a:rPr lang="zh-CN" altLang="en-US" sz="2000">
                <a:sym typeface="+mn-ea"/>
              </a:rPr>
              <a:t>嵌套。</a:t>
            </a:r>
            <a:endParaRPr lang="zh-CN" altLang="en-US" sz="2000">
              <a:sym typeface="+mn-ea"/>
            </a:endParaRPr>
          </a:p>
        </p:txBody>
      </p:sp>
      <p:sp>
        <p:nvSpPr>
          <p:cNvPr id="8" name="流程图: 终止 7"/>
          <p:cNvSpPr/>
          <p:nvPr/>
        </p:nvSpPr>
        <p:spPr>
          <a:xfrm>
            <a:off x="2781300" y="1646555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</a:t>
            </a:r>
            <a:endParaRPr lang="zh-CN" altLang="en-US"/>
          </a:p>
        </p:txBody>
      </p:sp>
      <p:sp>
        <p:nvSpPr>
          <p:cNvPr id="62" name="流程图: 终止 61"/>
          <p:cNvSpPr/>
          <p:nvPr/>
        </p:nvSpPr>
        <p:spPr>
          <a:xfrm>
            <a:off x="2781300" y="5873115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</a:t>
            </a:r>
            <a:endParaRPr lang="zh-CN" altLang="en-US"/>
          </a:p>
        </p:txBody>
      </p:sp>
      <p:cxnSp>
        <p:nvCxnSpPr>
          <p:cNvPr id="63" name="直接箭头连接符 62"/>
          <p:cNvCxnSpPr>
            <a:stCxn id="8" idx="2"/>
          </p:cNvCxnSpPr>
          <p:nvPr/>
        </p:nvCxnSpPr>
        <p:spPr>
          <a:xfrm>
            <a:off x="3378200" y="215011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3378835" y="320675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3378835" y="426339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过程 4"/>
          <p:cNvSpPr/>
          <p:nvPr/>
        </p:nvSpPr>
        <p:spPr>
          <a:xfrm>
            <a:off x="6123305" y="3684270"/>
            <a:ext cx="119380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流程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6720205" y="4187825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图: 终止 6"/>
          <p:cNvSpPr/>
          <p:nvPr/>
        </p:nvSpPr>
        <p:spPr>
          <a:xfrm>
            <a:off x="6123305" y="2703195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7" idx="2"/>
          </p:cNvCxnSpPr>
          <p:nvPr/>
        </p:nvCxnSpPr>
        <p:spPr>
          <a:xfrm>
            <a:off x="6720205" y="3206750"/>
            <a:ext cx="0" cy="499110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终止 14"/>
          <p:cNvSpPr/>
          <p:nvPr/>
        </p:nvSpPr>
        <p:spPr>
          <a:xfrm>
            <a:off x="6123305" y="4740910"/>
            <a:ext cx="1193800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sp>
        <p:nvSpPr>
          <p:cNvPr id="17" name="流程图: 预定义过程 16"/>
          <p:cNvSpPr/>
          <p:nvPr/>
        </p:nvSpPr>
        <p:spPr>
          <a:xfrm>
            <a:off x="2819400" y="2723515"/>
            <a:ext cx="1116965" cy="462915"/>
          </a:xfrm>
          <a:prstGeom prst="flowChartPredefinedProcess">
            <a:avLst/>
          </a:prstGeom>
          <a:noFill/>
          <a:ln w="635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过程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5" name="流程图: 预定义过程 24"/>
          <p:cNvSpPr/>
          <p:nvPr/>
        </p:nvSpPr>
        <p:spPr>
          <a:xfrm>
            <a:off x="2820670" y="3759835"/>
            <a:ext cx="1116965" cy="462915"/>
          </a:xfrm>
          <a:prstGeom prst="flowChartPredefinedProcess">
            <a:avLst/>
          </a:prstGeom>
          <a:noFill/>
          <a:ln w="635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过程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6" name="流程图: 预定义过程 25"/>
          <p:cNvSpPr/>
          <p:nvPr/>
        </p:nvSpPr>
        <p:spPr>
          <a:xfrm>
            <a:off x="2820670" y="4816475"/>
            <a:ext cx="1116965" cy="462915"/>
          </a:xfrm>
          <a:prstGeom prst="flowChartPredefinedProcess">
            <a:avLst/>
          </a:prstGeom>
          <a:noFill/>
          <a:ln w="63500">
            <a:solidFill>
              <a:srgbClr val="D02F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</a:rPr>
              <a:t>过程</a:t>
            </a:r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3379470" y="532003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endCxn id="7" idx="1"/>
          </p:cNvCxnSpPr>
          <p:nvPr/>
        </p:nvCxnSpPr>
        <p:spPr>
          <a:xfrm>
            <a:off x="3935095" y="2719705"/>
            <a:ext cx="2188210" cy="23558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15" idx="1"/>
          </p:cNvCxnSpPr>
          <p:nvPr/>
        </p:nvCxnSpPr>
        <p:spPr>
          <a:xfrm flipH="1" flipV="1">
            <a:off x="3947795" y="3195955"/>
            <a:ext cx="2175510" cy="1797050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585335" y="2462530"/>
            <a:ext cx="887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C00000"/>
                </a:solidFill>
                <a:sym typeface="+mn-ea"/>
              </a:rPr>
              <a:t>参数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92320" y="4355465"/>
            <a:ext cx="887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C00000"/>
                </a:solidFill>
                <a:sym typeface="+mn-ea"/>
              </a:rPr>
              <a:t>返回值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简单过程</a:t>
            </a:r>
            <a:r>
              <a:rPr lang="zh-CN" altLang="en-US" sz="2000" b="1">
                <a:solidFill>
                  <a:srgbClr val="9C0B15"/>
                </a:solidFill>
              </a:rPr>
              <a:t>程序</a:t>
            </a:r>
            <a:endParaRPr lang="zh-CN" altLang="en-US" sz="2000"/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int main(void)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void subp(void)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{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();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return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近过程型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调用者与被调用者处于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同一个代码段</a:t>
            </a:r>
            <a:r>
              <a:rPr lang="zh-CN" altLang="en-US" sz="2000">
                <a:sym typeface="+mn-ea"/>
              </a:rPr>
              <a:t>内。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NEAR和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PTR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可以不写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PROC	NEAR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 	NEAR PTR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远过程型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调用者与被调用者处于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不同的代码段</a:t>
            </a:r>
            <a:r>
              <a:rPr lang="zh-CN" altLang="en-US" sz="2000">
                <a:sym typeface="+mn-ea"/>
              </a:rPr>
              <a:t>内。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FAR至少要写一处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PROC	FAR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CALL	FAR PTR</a:t>
            </a:r>
            <a:r>
              <a:rPr lang="en-US" altLang="zh-CN" sz="2000">
                <a:sym typeface="+mn-ea"/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...	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RETF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ENDP</a:t>
            </a:r>
            <a:endParaRPr lang="zh-CN" altLang="en-US" sz="20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复杂过程</a:t>
            </a:r>
            <a:r>
              <a:rPr lang="zh-CN" altLang="en-US" sz="2000" b="1">
                <a:solidFill>
                  <a:srgbClr val="9C0B15"/>
                </a:solidFill>
              </a:rPr>
              <a:t>程序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含参数型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调用者向被调用者传递一个或多个参数。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参数的传递有三种方法：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（1）通过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全局变量</a:t>
            </a:r>
            <a:r>
              <a:rPr lang="zh-CN" altLang="en-US" sz="2000">
                <a:sym typeface="+mn-ea"/>
              </a:rPr>
              <a:t>传递（需要在数据段声明）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栈</a:t>
            </a:r>
            <a:r>
              <a:rPr lang="zh-CN" altLang="en-US" sz="2000">
                <a:sym typeface="+mn-ea"/>
              </a:rPr>
              <a:t>传递（记得设置</a:t>
            </a:r>
            <a:r>
              <a:rPr lang="en-US" altLang="zh-CN" sz="2000">
                <a:sym typeface="+mn-ea"/>
              </a:rPr>
              <a:t>SP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SS</a:t>
            </a:r>
            <a:r>
              <a:rPr lang="zh-CN" altLang="en-US" sz="2000">
                <a:sym typeface="+mn-ea"/>
              </a:rPr>
              <a:t>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寄存器</a:t>
            </a:r>
            <a:r>
              <a:rPr lang="zh-CN" altLang="en-US" sz="2000">
                <a:sym typeface="+mn-ea"/>
              </a:rPr>
              <a:t>传递（寄存器数量有限）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int main(void)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void subp(short value)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{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);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return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PROC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</a:t>
            </a:r>
            <a:r>
              <a:rPr lang="en-US" altLang="zh-CN" sz="2000" b="1" u="sng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BP-2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 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ENDP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333375" y="4819015"/>
          <a:ext cx="1481455" cy="19907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0728"/>
                <a:gridCol w="740727"/>
              </a:tblGrid>
              <a:tr h="40576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BP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复杂过程</a:t>
            </a:r>
            <a:r>
              <a:rPr lang="zh-CN" altLang="en-US" sz="2000" b="1">
                <a:solidFill>
                  <a:srgbClr val="9C0B15"/>
                </a:solidFill>
              </a:rPr>
              <a:t>程序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返回值型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>
                <a:sym typeface="+mn-ea"/>
              </a:rPr>
              <a:t>被</a:t>
            </a:r>
            <a:r>
              <a:rPr lang="zh-CN" altLang="en-US" sz="2000">
                <a:sym typeface="+mn-ea"/>
              </a:rPr>
              <a:t>调用者向调用者返回一个或多个返回值。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返回值的传递和参数一样，也有三种方法：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（1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全局变量</a:t>
            </a:r>
            <a:r>
              <a:rPr lang="zh-CN" altLang="en-US" sz="2000">
                <a:sym typeface="+mn-ea"/>
              </a:rPr>
              <a:t>传递（需要在数据段声明）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（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栈</a:t>
            </a:r>
            <a:r>
              <a:rPr lang="zh-CN" altLang="en-US" sz="2000">
                <a:sym typeface="+mn-ea"/>
              </a:rPr>
              <a:t>传递（记得设置</a:t>
            </a:r>
            <a:r>
              <a:rPr lang="en-US" altLang="zh-CN" sz="2000">
                <a:sym typeface="+mn-ea"/>
              </a:rPr>
              <a:t>SP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SS</a:t>
            </a:r>
            <a:r>
              <a:rPr lang="zh-CN" altLang="en-US" sz="2000">
                <a:sym typeface="+mn-ea"/>
              </a:rPr>
              <a:t>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ym typeface="+mn-ea"/>
              </a:rPr>
              <a:t>		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）通过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寄存器</a:t>
            </a:r>
            <a:r>
              <a:rPr lang="zh-CN" altLang="en-US" sz="2000">
                <a:sym typeface="+mn-ea"/>
              </a:rPr>
              <a:t>传递（寄存器数量有限）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int main(void)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short subp(void)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{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{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	...				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=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();</a:t>
            </a:r>
            <a:r>
              <a:rPr lang="en-US" altLang="zh-CN" sz="2000">
                <a:sym typeface="+mn-ea"/>
              </a:rPr>
              <a:t>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return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value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;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FFC000"/>
                </a:solidFill>
                <a:sym typeface="+mn-ea"/>
              </a:rPr>
              <a:t>}</a:t>
            </a:r>
            <a:endParaRPr lang="en-US" altLang="zh-CN" sz="2000" b="1">
              <a:solidFill>
                <a:srgbClr val="FFC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	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PROC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FAR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SUB	SP, 2</a:t>
            </a:r>
            <a:r>
              <a:rPr lang="en-US" altLang="zh-CN" sz="2000">
                <a:sym typeface="+mn-ea"/>
              </a:rPr>
              <a:t>				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 	FAR PTR 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		MOV	DX,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VALUE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</a:t>
            </a:r>
            <a:r>
              <a:rPr lang="en-US" altLang="zh-CN" sz="2000" b="1" u="sng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BP-2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			MOV	[</a:t>
            </a:r>
            <a:r>
              <a:rPr lang="en-US" altLang="zh-CN" sz="2000" b="1" u="sng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BP-2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], 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, AX				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RETF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1371600" lvl="3" indent="457200"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		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	ENDP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	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2"/>
            </p:custDataLst>
          </p:nvPr>
        </p:nvGraphicFramePr>
        <p:xfrm>
          <a:off x="333375" y="4549775"/>
          <a:ext cx="1481455" cy="19907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0728"/>
                <a:gridCol w="740727"/>
              </a:tblGrid>
              <a:tr h="40576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BP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栈的四种类型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57175" y="609600"/>
          <a:ext cx="9272906" cy="6075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27291"/>
                <a:gridCol w="927291"/>
                <a:gridCol w="1854200"/>
                <a:gridCol w="1854962"/>
                <a:gridCol w="1854581"/>
                <a:gridCol w="1854581"/>
              </a:tblGrid>
              <a:tr h="46736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栈类型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递减满栈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递增满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递减空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递增空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6736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增长方向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高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→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低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→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高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高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→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低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→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高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rowSpan="5"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示意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（压栈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2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次）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rowSpan="5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467360">
                <a:tc vMerge="1" gridSpan="2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67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67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新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467360">
                <a:tc vMerge="1" gridSpan="2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新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67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新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FFC000">
                        <a:alpha val="67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50000"/>
                      </a:srgbClr>
                    </a:solidFill>
                  </a:tcPr>
                </a:tc>
              </a:tr>
              <a:tr h="467360">
                <a:tc vMerge="1" gridSpan="2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新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00B0F0">
                        <a:alpha val="50000"/>
                      </a:srgbClr>
                    </a:solidFill>
                  </a:tcPr>
                </a:tc>
              </a:tr>
              <a:tr h="467360">
                <a:tc vMerge="1" gridSpan="2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vMerge="1"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老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SP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46736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栈指针位置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数据有效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数据有效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数据无效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数据无效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压栈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赋值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赋值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赋值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赋值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row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弹栈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取值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取值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v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后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自增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自减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取值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取值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6736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代表架构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8086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RISC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8051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RISC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6502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RISC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RISC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7" name="直接箭头连接符 6"/>
          <p:cNvCxnSpPr/>
          <p:nvPr/>
        </p:nvCxnSpPr>
        <p:spPr>
          <a:xfrm>
            <a:off x="3043555" y="330581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4893945" y="154559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8595360" y="154559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6755130" y="3305810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传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参</a:t>
            </a:r>
            <a:r>
              <a:rPr lang="zh-CN" altLang="en-US" sz="2000" b="1">
                <a:solidFill>
                  <a:srgbClr val="9C0B15"/>
                </a:solidFill>
              </a:rPr>
              <a:t>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参数和返回值的传递都有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多种方法</a:t>
            </a:r>
            <a:r>
              <a:rPr lang="zh-CN" altLang="en-US" sz="2000">
                <a:sym typeface="+mn-ea"/>
              </a:rPr>
              <a:t>。那么，调用一个函数时，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具体采取哪种方法，以及那种方法具体是怎样实现的？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传值约定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被调用者和调用者都遵守的变量和返回值的传递规则。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具体怎		样约定，是随心所欲的</a:t>
            </a:r>
            <a:r>
              <a:rPr lang="zh-CN" altLang="en-US" sz="2000">
                <a:sym typeface="+mn-ea"/>
              </a:rPr>
              <a:t>。但是，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一旦这个标准确定下来，就必		须在整个项目中遵循</a:t>
            </a:r>
            <a:r>
              <a:rPr lang="zh-CN" altLang="en-US" sz="2000">
                <a:sym typeface="+mn-ea"/>
              </a:rPr>
              <a:t>，否则就会乱套。常见的</a:t>
            </a:r>
            <a:r>
              <a:rPr lang="en-US" altLang="zh-CN" sz="2000">
                <a:sym typeface="+mn-ea"/>
              </a:rPr>
              <a:t>80</a:t>
            </a:r>
            <a:r>
              <a:rPr lang="en-US" sz="2000">
                <a:sym typeface="+mn-ea"/>
              </a:rPr>
              <a:t>86</a:t>
            </a:r>
            <a:r>
              <a:rPr lang="zh-CN" altLang="en-US" sz="2000">
                <a:sym typeface="+mn-ea"/>
              </a:rPr>
              <a:t>（包括后续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i686</a:t>
            </a:r>
            <a:r>
              <a:rPr lang="zh-CN" altLang="en-US" sz="2000">
                <a:sym typeface="+mn-ea"/>
              </a:rPr>
              <a:t>扩展）使用的传值约定大体如下。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220345" y="3097530"/>
          <a:ext cx="9346565" cy="3596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95500"/>
                <a:gridCol w="1935480"/>
                <a:gridCol w="2301240"/>
                <a:gridCol w="301434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传递约定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STDCALL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CDECL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FASTCALL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中文名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标准调用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声明调用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快速调用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546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参数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从后到前压栈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从后到前压栈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前两个放置在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和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DX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中，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其余从后到前压栈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返回值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AX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AX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  <a:sym typeface="+mn-ea"/>
                        </a:rPr>
                        <a:t>AX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清理堆栈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被调用者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调用者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调用者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104267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用途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Windows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系统调用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语言编译器的标准约定，汇编过程遵循它就能在</a:t>
                      </a: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C</a:t>
                      </a: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中被当成函数调用。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对速度有要求的场合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传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参</a:t>
            </a:r>
            <a:r>
              <a:rPr lang="zh-CN" altLang="en-US" sz="2000" b="1">
                <a:solidFill>
                  <a:srgbClr val="9C0B15"/>
                </a:solidFill>
              </a:rPr>
              <a:t>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为什么绝大多数调用约定都把参数放在栈上？为什么不使用寄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存器传递所有的参数，或者使用变量传递所有的参数呢？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栈传参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栈的大小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比较大</a:t>
            </a:r>
            <a:r>
              <a:rPr lang="zh-CN" altLang="en-US" sz="2000">
                <a:sym typeface="+mn-ea"/>
              </a:rPr>
              <a:t>，因此传递的参数可以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比较多</a:t>
            </a:r>
            <a:r>
              <a:rPr lang="zh-CN" altLang="en-US" sz="2000">
                <a:sym typeface="+mn-ea"/>
              </a:rPr>
              <a:t>，准确地讲数量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不受限制</a:t>
            </a:r>
            <a:r>
              <a:rPr lang="zh-CN" altLang="en-US" sz="2000">
                <a:sym typeface="+mn-ea"/>
              </a:rPr>
              <a:t>的。此外，栈传递参数非常好理解，一般是把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当前SP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赋给BP</a:t>
            </a:r>
            <a:r>
              <a:rPr lang="zh-CN" altLang="en-US" sz="2000">
                <a:sym typeface="+mn-ea"/>
              </a:rPr>
              <a:t>，然后将参数列表从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右往左依次入栈</a:t>
            </a:r>
            <a:r>
              <a:rPr lang="zh-CN" altLang="en-US" sz="2000">
                <a:sym typeface="+mn-ea"/>
              </a:rPr>
              <a:t>就可以了。被调用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者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通过BP指针就可以寻址各个参数</a:t>
            </a:r>
            <a:r>
              <a:rPr lang="zh-CN" altLang="en-US" sz="2000">
                <a:sym typeface="+mn-ea"/>
              </a:rPr>
              <a:t>，调用完成后要将</a:t>
            </a:r>
            <a:r>
              <a:rPr lang="en-US" altLang="zh-CN" sz="2000">
                <a:sym typeface="+mn-ea"/>
              </a:rPr>
              <a:t>SP</a:t>
            </a:r>
            <a:r>
              <a:rPr lang="zh-CN" altLang="en-US" sz="2000">
                <a:sym typeface="+mn-ea"/>
              </a:rPr>
              <a:t>指针恢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复到原状也只需要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将BP再赋给SP</a:t>
            </a:r>
            <a:r>
              <a:rPr lang="zh-CN" altLang="en-US" sz="2000">
                <a:sym typeface="+mn-ea"/>
              </a:rPr>
              <a:t>，非常方便。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之所以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8086的BP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寄存器被指定隐含SS段寄存器，就是为了方便栈传参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栈框指针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BP叫做栈框指针</a:t>
            </a:r>
            <a:r>
              <a:rPr lang="zh-CN" altLang="en-US" sz="2000">
                <a:sym typeface="+mn-ea"/>
              </a:rPr>
              <a:t>，因为通过它就能找到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与该过程相关的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整个调用栈</a:t>
            </a:r>
            <a:r>
              <a:rPr lang="zh-CN" altLang="en-US" sz="2000">
                <a:sym typeface="+mn-ea"/>
              </a:rPr>
              <a:t>。调用栈包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参数，临时变量，还有返回时的IP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2"/>
            </p:custDataLst>
          </p:nvPr>
        </p:nvGraphicFramePr>
        <p:xfrm>
          <a:off x="333375" y="4294505"/>
          <a:ext cx="1616710" cy="27832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8355"/>
                <a:gridCol w="808355"/>
              </a:tblGrid>
              <a:tr h="40576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栈</a:t>
                      </a:r>
                      <a:endParaRPr lang="zh-CN" altLang="en-US" sz="2000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  <a:tc hMerge="1"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SP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IP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VAL1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VAL2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VAL3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2D050">
                        <a:alpha val="75000"/>
                      </a:srgbClr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BP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思源黑体 CN Regular" panose="020B0500000000000000" charset="-122"/>
                          <a:ea typeface="思源黑体 CN Regular" panose="020B0500000000000000" charset="-122"/>
                          <a:cs typeface="思源黑体 CN Regular" panose="020B0500000000000000" charset="-122"/>
                        </a:rPr>
                        <a:t>-</a:t>
                      </a:r>
                      <a:endParaRPr lang="en-US" altLang="zh-CN" sz="2000">
                        <a:latin typeface="思源黑体 CN Regular" panose="020B0500000000000000" charset="-122"/>
                        <a:ea typeface="思源黑体 CN Regular" panose="020B0500000000000000" charset="-122"/>
                        <a:cs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5" name="直接箭头连接符 14"/>
          <p:cNvCxnSpPr/>
          <p:nvPr/>
        </p:nvCxnSpPr>
        <p:spPr>
          <a:xfrm>
            <a:off x="734060" y="5389245"/>
            <a:ext cx="0" cy="553085"/>
          </a:xfrm>
          <a:prstGeom prst="straightConnector1">
            <a:avLst/>
          </a:prstGeom>
          <a:ln w="63500">
            <a:solidFill>
              <a:srgbClr val="9C0B1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93620" y="4845050"/>
            <a:ext cx="19513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</a:t>
            </a:r>
            <a:r>
              <a:rPr lang="en-US" altLang="zh-CN" sz="2000" b="1">
                <a:solidFill>
                  <a:srgbClr val="00B0F0"/>
                </a:solidFill>
                <a:sym typeface="+mn-ea"/>
              </a:rPr>
              <a:t>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VAL3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VAL1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93895" y="4845050"/>
            <a:ext cx="22771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VAL1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[BP-6]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VAL2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[BP-4]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VAL3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CX, [BP-2]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16750" y="3613785"/>
            <a:ext cx="227711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ADD	BP, 4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VAL1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[BP]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VAL2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[BP+2]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VAL3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CX, [BP+4]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传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参</a:t>
            </a:r>
            <a:r>
              <a:rPr lang="zh-CN" altLang="en-US" sz="2000" b="1">
                <a:solidFill>
                  <a:srgbClr val="9C0B15"/>
                </a:solidFill>
              </a:rPr>
              <a:t>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使用栈传递参数太麻烦了，要保存栈框，还要恢复栈指针。那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么，在小型程序中，能否在数据段定义几个变量传递参数呢？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变量传参</a:t>
            </a: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传递参数</a:t>
            </a:r>
            <a:r>
              <a:rPr lang="zh-CN" altLang="en-US" sz="2000">
                <a:sym typeface="+mn-ea"/>
              </a:rPr>
              <a:t>也可以规定使用变量，比如某几个变量作为过程的输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入，某个变量作为过程的输出。变量传参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适合人类思维</a:t>
            </a:r>
            <a:r>
              <a:rPr lang="zh-CN" altLang="en-US" sz="2000">
                <a:sym typeface="+mn-ea"/>
              </a:rPr>
              <a:t>，因为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参数的名称就是变量名，一目了然</a:t>
            </a:r>
            <a:r>
              <a:rPr lang="zh-CN" altLang="en-US" sz="2000">
                <a:sym typeface="+mn-ea"/>
              </a:rPr>
              <a:t>。然而，使用固定变量传参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的过程是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不可重入的</a:t>
            </a:r>
            <a:r>
              <a:rPr lang="zh-CN" altLang="en-US" sz="2000">
                <a:sym typeface="+mn-ea"/>
              </a:rPr>
              <a:t>，也即一个过程的调用链中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不能包含它自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己</a:t>
            </a:r>
            <a:r>
              <a:rPr lang="zh-CN" altLang="en-US" sz="2000">
                <a:sym typeface="+mn-ea"/>
              </a:rPr>
              <a:t>，因为变量正在被同一个过程的上一个未结束的调用使用。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这等于是说，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不能使用任何形式的递归调用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变量传参在那些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程序存储器小、栈操作不便，且架构寄存器少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的地方很有用，如</a:t>
            </a:r>
            <a:r>
              <a:rPr lang="en-US" altLang="zh-CN" sz="2000">
                <a:sym typeface="+mn-ea"/>
              </a:rPr>
              <a:t>8051</a:t>
            </a:r>
            <a:r>
              <a:rPr lang="zh-CN" altLang="en-US" sz="2000">
                <a:sym typeface="+mn-ea"/>
              </a:rPr>
              <a:t>等经典微控制器。这些架构的链接器会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使用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覆盖分析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Overlay Analysis</a:t>
            </a:r>
            <a:r>
              <a:rPr lang="zh-CN" altLang="en-US" sz="2000">
                <a:sym typeface="+mn-ea"/>
              </a:rPr>
              <a:t>），判断哪些过程不在一条调用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链上，并尽量将它们传参使用的变量复用以节约数据存储器。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85490" y="4845050"/>
            <a:ext cx="32156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VAL1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AX,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VAL1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VAL2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BX,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VAL3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	CX,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VAL3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传参约定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>
                <a:sym typeface="+mn-ea"/>
              </a:rPr>
              <a:t>使用栈</a:t>
            </a:r>
            <a:r>
              <a:rPr lang="zh-CN" sz="2000">
                <a:sym typeface="+mn-ea"/>
              </a:rPr>
              <a:t>和变量传递参数非常慢，因为要访问内存。那么，能否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彻底避免在传递参数时访问内存呢</a:t>
            </a:r>
            <a:r>
              <a:rPr lang="zh-CN" altLang="en-US" sz="2000">
                <a:sym typeface="+mn-ea"/>
              </a:rPr>
              <a:t>？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寄存器传参</a:t>
            </a:r>
            <a:r>
              <a:rPr lang="en-US" altLang="zh-CN" sz="2000">
                <a:sym typeface="+mn-ea"/>
              </a:rPr>
              <a:t>	</a:t>
            </a:r>
            <a:r>
              <a:rPr lang="zh-CN" sz="2000">
                <a:sym typeface="+mn-ea"/>
              </a:rPr>
              <a:t>传递参数还</a:t>
            </a:r>
            <a:r>
              <a:rPr lang="zh-CN" altLang="en-US" sz="2000">
                <a:sym typeface="+mn-ea"/>
              </a:rPr>
              <a:t>可以规定使用寄存器，比如某几个寄存器作为过程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的输入，某个寄存器作为过程的输出。寄存器传参不需要访问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存储器，因此速度很快，但是却需要消耗寄存器。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一旦寄存器		用完了，多余的参数就只好通过栈传递了</a:t>
            </a:r>
            <a:r>
              <a:rPr lang="zh-CN" altLang="en-US" sz="2000">
                <a:sym typeface="+mn-ea"/>
              </a:rPr>
              <a:t>。因此，在寄存器本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来就少的</a:t>
            </a:r>
            <a:r>
              <a:rPr lang="en-US" altLang="zh-CN" sz="2000">
                <a:sym typeface="+mn-ea"/>
              </a:rPr>
              <a:t>CISC</a:t>
            </a:r>
            <a:r>
              <a:rPr lang="zh-CN" altLang="en-US" sz="2000">
                <a:sym typeface="+mn-ea"/>
              </a:rPr>
              <a:t>架构上，寄存器传参往往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仅限于前一两个参数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传参约定选择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一般程序，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推荐使用栈传递参数</a:t>
            </a:r>
            <a:r>
              <a:rPr lang="zh-CN" altLang="en-US" sz="2000">
                <a:sym typeface="+mn-ea"/>
              </a:rPr>
              <a:t>；对速度要求不高的小程序，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以及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新手上路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，推荐使用变量传递参数，这样不容易错</a:t>
            </a:r>
            <a:r>
              <a:rPr lang="zh-CN" altLang="en-US" sz="2000">
                <a:sym typeface="+mn-ea"/>
              </a:rPr>
              <a:t>，当然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也可以使用栈传递参数；对性能要求极高的计算核，推荐使用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寄存器（包括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向量寄存器</a:t>
            </a:r>
            <a:r>
              <a:rPr lang="zh-CN" altLang="en-US" sz="2000">
                <a:sym typeface="+mn-ea"/>
              </a:rPr>
              <a:t>在内，它们空间很足）传递参数。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7620" y="5161280"/>
            <a:ext cx="37903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VAL1 is already in AX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VAL2 is already in 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Parameter VAL3 is already in CX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4095" y="5161280"/>
            <a:ext cx="23634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VAL1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CX,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VAL3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保存约定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问题</a:t>
            </a:r>
            <a:r>
              <a:rPr lang="en-US" altLang="zh-CN" sz="2000" b="1">
                <a:solidFill>
                  <a:srgbClr val="9C0B15"/>
                </a:solidFill>
              </a:rPr>
              <a:t>		</a:t>
            </a:r>
            <a:r>
              <a:rPr lang="zh-CN" altLang="en-US" sz="2000"/>
              <a:t>每个被调用者都可能使用一些临时变量。这些临时变量可能在		三个地方：全局变量、栈、或者甚至寄存器中。如果这些变量		在栈中，那么分配参数时</a:t>
            </a:r>
            <a:r>
              <a:rPr lang="zh-CN" altLang="en-US" sz="2000">
                <a:solidFill>
                  <a:srgbClr val="9C0B15"/>
                </a:solidFill>
              </a:rPr>
              <a:t>只要在栈上多分配一些空的位置</a:t>
            </a:r>
            <a:r>
              <a:rPr lang="zh-CN" altLang="en-US" sz="2000"/>
              <a:t>（使		用</a:t>
            </a:r>
            <a:r>
              <a:rPr lang="zh-CN" altLang="en-US" sz="2000">
                <a:solidFill>
                  <a:srgbClr val="9C0B15"/>
                </a:solidFill>
              </a:rPr>
              <a:t>SUB SP, imm</a:t>
            </a:r>
            <a:r>
              <a:rPr lang="zh-CN" altLang="en-US" sz="2000"/>
              <a:t>）就可以了。但如果它们被</a:t>
            </a:r>
            <a:r>
              <a:rPr lang="zh-CN" altLang="en-US" sz="2000">
                <a:solidFill>
                  <a:srgbClr val="9C0B15"/>
                </a:solidFill>
              </a:rPr>
              <a:t>分配在寄存器中</a:t>
            </a:r>
            <a:r>
              <a:rPr lang="zh-CN" altLang="en-US" sz="2000"/>
              <a:t>，就</a:t>
            </a:r>
            <a:r>
              <a:rPr lang="en-US" altLang="zh-CN" sz="2000"/>
              <a:t>		</a:t>
            </a:r>
            <a:r>
              <a:rPr lang="zh-CN" altLang="en-US" sz="2000"/>
              <a:t>可能干扰调用者本身的执行，因为调用者可能仍然正在使用那</a:t>
            </a:r>
            <a:r>
              <a:rPr lang="en-US" altLang="zh-CN" sz="2000"/>
              <a:t>		</a:t>
            </a:r>
            <a:r>
              <a:rPr lang="zh-CN" altLang="en-US" sz="2000"/>
              <a:t>些寄存器。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保存约定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被调用者使用的寄存器，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由调用者负责保存（压栈）还是由调		用者负责保存</a:t>
            </a:r>
            <a:r>
              <a:rPr lang="zh-CN" altLang="en-US" sz="2000">
                <a:sym typeface="+mn-ea"/>
              </a:rPr>
              <a:t>，以及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SP指针由调用者负责归位（弹栈），还是由		被调用者负责归位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调用约定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ym typeface="+mn-ea"/>
              </a:rPr>
              <a:t>传值约定与保存约定合起来称为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调用约定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37405" y="3963035"/>
            <a:ext cx="504507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Params in AX/BX, locals in callee-save CX/DX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73935" y="3963035"/>
            <a:ext cx="23634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VAL1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BX, 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VAL2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寄存器保护约定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调用者负责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被调用者假设所有的寄存器都可以随便使用。调用者负责保存</a:t>
            </a:r>
            <a:r>
              <a:rPr lang="zh-CN" altLang="en-US" sz="2000">
                <a:solidFill>
                  <a:srgbClr val="9C0B15"/>
                </a:solidFill>
              </a:rPr>
              <a:t>Caller-Save</a:t>
            </a:r>
            <a:r>
              <a:rPr lang="en-US" altLang="zh-CN" sz="2000"/>
              <a:t>	</a:t>
            </a:r>
            <a:r>
              <a:rPr lang="zh-CN" altLang="en-US" sz="2000"/>
              <a:t>它自己用到的寄存器。在下例中，被调用者使用</a:t>
            </a:r>
            <a:r>
              <a:rPr lang="en-US" altLang="zh-CN" sz="2000"/>
              <a:t>AX~DX</a:t>
            </a:r>
            <a:r>
              <a:rPr lang="zh-CN" altLang="en-US" sz="2000"/>
              <a:t>四个寄</a:t>
            </a:r>
            <a:r>
              <a:rPr lang="zh-CN" altLang="en-US" sz="2000">
                <a:solidFill>
                  <a:srgbClr val="9C0B15"/>
                </a:solidFill>
              </a:rPr>
              <a:t>Call-Clobbered</a:t>
            </a:r>
            <a:r>
              <a:rPr lang="en-US" altLang="zh-CN" sz="2000"/>
              <a:t>	</a:t>
            </a:r>
            <a:r>
              <a:rPr lang="zh-CN" altLang="en-US" sz="2000"/>
              <a:t>存器，而</a:t>
            </a:r>
            <a:r>
              <a:rPr lang="zh-CN" altLang="en-US" sz="2000">
                <a:solidFill>
                  <a:srgbClr val="9C0B15"/>
                </a:solidFill>
              </a:rPr>
              <a:t>若调用者的</a:t>
            </a:r>
            <a:r>
              <a:rPr lang="en-US" altLang="zh-CN" sz="2000">
                <a:solidFill>
                  <a:srgbClr val="9C0B15"/>
                </a:solidFill>
              </a:rPr>
              <a:t>A</a:t>
            </a:r>
            <a:r>
              <a:rPr lang="zh-CN" altLang="en-US" sz="2000">
                <a:solidFill>
                  <a:srgbClr val="9C0B15"/>
                </a:solidFill>
              </a:rPr>
              <a:t>X</a:t>
            </a:r>
            <a:r>
              <a:rPr lang="en-US" altLang="zh-CN" sz="2000">
                <a:solidFill>
                  <a:srgbClr val="9C0B15"/>
                </a:solidFill>
              </a:rPr>
              <a:t>~</a:t>
            </a:r>
            <a:r>
              <a:rPr lang="zh-CN" altLang="en-US" sz="2000">
                <a:solidFill>
                  <a:srgbClr val="9C0B15"/>
                </a:solidFill>
              </a:rPr>
              <a:t>DX中含有有用数据，则要自己保护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少保护寄存器</a:t>
            </a:r>
            <a:r>
              <a:rPr lang="zh-CN" altLang="en-US" sz="2000">
                <a:sym typeface="+mn-ea"/>
              </a:rPr>
              <a:t>。上例中被调用者</a:t>
            </a:r>
            <a:r>
              <a:rPr lang="en-US" altLang="zh-CN" sz="2000">
                <a:sym typeface="+mn-ea"/>
              </a:rPr>
              <a:t>SUBP</a:t>
            </a:r>
            <a:r>
              <a:rPr lang="zh-CN" altLang="en-US" sz="2000">
                <a:sym typeface="+mn-ea"/>
              </a:rPr>
              <a:t>（及其调用链）会使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用</a:t>
            </a:r>
            <a:r>
              <a:rPr lang="en-US" altLang="zh-CN" sz="2000">
                <a:sym typeface="+mn-ea"/>
              </a:rPr>
              <a:t>AX~DX</a:t>
            </a:r>
            <a:r>
              <a:rPr lang="zh-CN" altLang="en-US" sz="2000">
                <a:sym typeface="+mn-ea"/>
              </a:rPr>
              <a:t>四个寄存器，而调用者知道这一点，且它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还知道自己调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用SUBP时AX和BX均不包含有效数据</a:t>
            </a:r>
            <a:r>
              <a:rPr lang="zh-CN" altLang="en-US" sz="2000">
                <a:sym typeface="+mn-ea"/>
              </a:rPr>
              <a:t>，那就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只保护CX和DX</a:t>
            </a:r>
            <a:r>
              <a:rPr lang="zh-CN" altLang="en-US" sz="2000">
                <a:sym typeface="+mn-ea"/>
              </a:rPr>
              <a:t>即可，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即使</a:t>
            </a:r>
            <a:r>
              <a:rPr lang="en-US" altLang="zh-CN" sz="2000">
                <a:sym typeface="+mn-ea"/>
              </a:rPr>
              <a:t>AX</a:t>
            </a:r>
            <a:r>
              <a:rPr lang="zh-CN" altLang="en-US" sz="2000">
                <a:sym typeface="+mn-ea"/>
              </a:rPr>
              <a:t>与</a:t>
            </a:r>
            <a:r>
              <a:rPr lang="en-US" altLang="zh-CN" sz="2000">
                <a:sym typeface="+mn-ea"/>
              </a:rPr>
              <a:t>BX</a:t>
            </a:r>
            <a:r>
              <a:rPr lang="zh-CN" altLang="en-US" sz="2000">
                <a:sym typeface="+mn-ea"/>
              </a:rPr>
              <a:t>被修改也无妨。这样，代码的执行效率就比较高。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需要明确知道被调用者（及其下的调用链）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会触碰哪些寄存器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以及自己的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哪些寄存器里面有有效数据</a:t>
            </a:r>
            <a:r>
              <a:rPr lang="zh-CN" altLang="en-US" sz="2000">
                <a:sym typeface="+mn-ea"/>
              </a:rPr>
              <a:t>，才能针对（哪怕是同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一个过程在不同地方的）不同调用实例生成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最小的保护列表</a:t>
            </a:r>
            <a:r>
              <a:rPr lang="zh-CN" altLang="en-US" sz="2000">
                <a:sym typeface="+mn-ea"/>
              </a:rPr>
              <a:t>。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对人而言不那么容易，而且保护列表要反复写，增加代码量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2540" y="1687195"/>
            <a:ext cx="468122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don’t need to care about anything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Mess with AX &amp; BX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Mess with CX &amp; DX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4410" y="1687195"/>
            <a:ext cx="262191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Push useful regs only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Pop saved useful regs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寄存器保护约定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被调用者负责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调用者假设</a:t>
            </a:r>
            <a:r>
              <a:rPr lang="zh-CN" altLang="en-US" sz="2000">
                <a:solidFill>
                  <a:srgbClr val="9C0B15"/>
                </a:solidFill>
              </a:rPr>
              <a:t>所有的、没用来进行参数传递的寄存器都保持不变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9C0B15"/>
                </a:solidFill>
              </a:rPr>
              <a:t>Callee-Save</a:t>
            </a:r>
            <a:r>
              <a:rPr lang="en-US" altLang="zh-CN" sz="2000"/>
              <a:t>	</a:t>
            </a:r>
            <a:r>
              <a:rPr lang="zh-CN" altLang="en-US" sz="2000"/>
              <a:t>被调用者负责确保这一点。在下例中，被调用者使用</a:t>
            </a:r>
            <a:r>
              <a:rPr lang="en-US" altLang="zh-CN" sz="2000"/>
              <a:t>AX~DX</a:t>
            </a:r>
            <a:r>
              <a:rPr lang="zh-CN" altLang="en-US" sz="2000"/>
              <a:t>四个</a:t>
            </a:r>
            <a:r>
              <a:rPr lang="zh-CN" altLang="en-US" sz="2000">
                <a:solidFill>
                  <a:srgbClr val="9C0B15"/>
                </a:solidFill>
              </a:rPr>
              <a:t>Call-</a:t>
            </a:r>
            <a:r>
              <a:rPr lang="en-US" altLang="zh-CN" sz="2000">
                <a:solidFill>
                  <a:srgbClr val="9C0B15"/>
                </a:solidFill>
              </a:rPr>
              <a:t>Preserved</a:t>
            </a:r>
            <a:r>
              <a:rPr lang="en-US" altLang="zh-CN" sz="2000"/>
              <a:t>	</a:t>
            </a:r>
            <a:r>
              <a:rPr lang="zh-CN" altLang="en-US" sz="2000"/>
              <a:t>寄存器，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它总是将这些寄存器压栈，</a:t>
            </a:r>
            <a:r>
              <a:rPr lang="zh-CN" altLang="en-US" sz="2000">
                <a:sym typeface="+mn-ea"/>
              </a:rPr>
              <a:t>不论它们是否含有效数据</a:t>
            </a:r>
            <a:r>
              <a:rPr lang="zh-CN" altLang="en-US" sz="2000"/>
              <a:t>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每个过程都负责清理自己的遗留，容易做到权责一致、做到模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块化，且</a:t>
            </a:r>
            <a:r>
              <a:rPr lang="zh-CN" altLang="en-US" sz="2000">
                <a:sym typeface="+mn-ea"/>
              </a:rPr>
              <a:t>保护列表只用写一次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如果连自己动过哪些寄存器都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懒得想，直接保护整个通用寄存器组（含FLAGS）完事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这无疑会产生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大量不必要的PUSH和POP</a:t>
            </a:r>
            <a:r>
              <a:rPr lang="zh-CN" altLang="en-US" sz="2000">
                <a:sym typeface="+mn-ea"/>
              </a:rPr>
              <a:t>，拖慢程序执行速度。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2540" y="1687195"/>
            <a:ext cx="468122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save/restore all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Mess with AX~DX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4410" y="1687195"/>
            <a:ext cx="24974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Protect nothing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  <a:sym typeface="+mn-ea"/>
              </a:rPr>
              <a:t>寄存器保护约定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混合制负责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部分寄存器由调用者负责保存，另一部分寄存器则由被调用者</a:t>
            </a:r>
            <a:r>
              <a:rPr lang="en-US" altLang="zh-CN" sz="2000"/>
              <a:t>		</a:t>
            </a:r>
            <a:r>
              <a:rPr lang="zh-CN" altLang="en-US" sz="2000"/>
              <a:t>负责保存。下例中，</a:t>
            </a:r>
            <a:r>
              <a:rPr lang="en-US" altLang="zh-CN" sz="2000"/>
              <a:t>AX</a:t>
            </a:r>
            <a:r>
              <a:rPr lang="zh-CN" altLang="en-US" sz="2000"/>
              <a:t>、</a:t>
            </a:r>
            <a:r>
              <a:rPr lang="en-US" altLang="zh-CN" sz="2000"/>
              <a:t>BX</a:t>
            </a:r>
            <a:r>
              <a:rPr lang="zh-CN" altLang="en-US" sz="2000"/>
              <a:t>由调用者负责保存，</a:t>
            </a:r>
            <a:r>
              <a:rPr lang="en-US" altLang="zh-CN" sz="2000"/>
              <a:t>CX</a:t>
            </a:r>
            <a:r>
              <a:rPr lang="zh-CN" altLang="en-US" sz="2000"/>
              <a:t>、</a:t>
            </a:r>
            <a:r>
              <a:rPr lang="en-US" altLang="zh-CN" sz="2000"/>
              <a:t>DX</a:t>
            </a:r>
            <a:r>
              <a:rPr lang="zh-CN" altLang="en-US" sz="2000"/>
              <a:t>则由被</a:t>
            </a:r>
            <a:r>
              <a:rPr lang="en-US" altLang="zh-CN" sz="2000"/>
              <a:t>		</a:t>
            </a:r>
            <a:r>
              <a:rPr lang="zh-CN" altLang="en-US" sz="2000"/>
              <a:t>调用者负责保存，且</a:t>
            </a:r>
            <a:r>
              <a:rPr lang="en-US" altLang="zh-CN" sz="2000"/>
              <a:t>AX~DX</a:t>
            </a:r>
            <a:r>
              <a:rPr lang="zh-CN" altLang="en-US" sz="2000"/>
              <a:t>中均含有调用者的有效数据。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一方面有利于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生成尽量少的PUSH和POP</a:t>
            </a:r>
            <a:r>
              <a:rPr lang="zh-CN" altLang="en-US" sz="2000">
                <a:sym typeface="+mn-ea"/>
              </a:rPr>
              <a:t>，减少代码量，并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方便被		调用者内部决定保护哪些寄存器（若被调用者也不使用那个寄		存器，则不管便可）</a:t>
            </a:r>
            <a:r>
              <a:rPr lang="zh-CN" altLang="en-US" sz="2000">
                <a:sym typeface="+mn-ea"/>
              </a:rPr>
              <a:t>，另一方面也允许在每次调用时定制保</a:t>
            </a:r>
            <a:r>
              <a:rPr lang="zh-CN" sz="2000">
                <a:sym typeface="+mn-ea"/>
              </a:rPr>
              <a:t>护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列表，触碰尽量少的寄存器。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一方面允许编译器进行高度复杂的优化，另一方面也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方便人手		写汇编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约定复杂，写程序时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要准确记得哪些寄存器是谁负责保存</a:t>
            </a:r>
            <a:r>
              <a:rPr lang="zh-CN" altLang="en-US" sz="2000">
                <a:sym typeface="+mn-ea"/>
              </a:rPr>
              <a:t>，一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旦弄错后果就很严重。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2540" y="1687195"/>
            <a:ext cx="468122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save CX/DX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Mess with AX~DX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DX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CX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4410" y="1687195"/>
            <a:ext cx="24974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Caller save AX/BX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AX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栈框恢复约定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调用者负责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被调用者</a:t>
            </a:r>
            <a:r>
              <a:rPr lang="zh-CN" altLang="en-US" sz="2000">
                <a:solidFill>
                  <a:srgbClr val="9C0B15"/>
                </a:solidFill>
              </a:rPr>
              <a:t>不需要保证SP指针在RET结束后回到它被调用之前的状		态</a:t>
            </a:r>
            <a:r>
              <a:rPr lang="zh-CN" altLang="en-US" sz="2000"/>
              <a:t>。</a:t>
            </a:r>
            <a:r>
              <a:rPr lang="en-US" altLang="zh-CN" sz="2000"/>
              <a:t>SP</a:t>
            </a:r>
            <a:r>
              <a:rPr lang="zh-CN" altLang="en-US" sz="2000"/>
              <a:t>指针的调整由调用者负责。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最少化栈框调整</a:t>
            </a:r>
            <a:r>
              <a:rPr lang="zh-CN" altLang="en-US" sz="2000">
                <a:sym typeface="+mn-ea"/>
              </a:rPr>
              <a:t>。如果一个过程被连续调用两次，或者在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循环中被反复调用，或者是可以改写成循环的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尾递归</a:t>
            </a:r>
            <a:r>
              <a:rPr lang="zh-CN" altLang="en-US" sz="2000">
                <a:sym typeface="+mn-ea"/>
              </a:rPr>
              <a:t>，那么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调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整一次SP就足够了，已分配的栈框本身可以重新填值并复用</a:t>
            </a:r>
            <a:r>
              <a:rPr lang="zh-CN" altLang="en-US" sz="2000">
                <a:sym typeface="+mn-ea"/>
              </a:rPr>
              <a:t>。另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外，栈框怎么调整是调用者说了算，因此调用者可以更灵活地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处理参数。这在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可变参数函数</a:t>
            </a:r>
            <a:r>
              <a:rPr lang="zh-CN" altLang="en-US" sz="2000">
                <a:sym typeface="+mn-ea"/>
              </a:rPr>
              <a:t>（如</a:t>
            </a:r>
            <a:r>
              <a:rPr lang="en-US" altLang="zh-CN" sz="2000">
                <a:sym typeface="+mn-ea"/>
              </a:rPr>
              <a:t>C</a:t>
            </a:r>
            <a:r>
              <a:rPr lang="zh-CN" altLang="en-US" sz="2000">
                <a:sym typeface="+mn-ea"/>
              </a:rPr>
              <a:t>语言</a:t>
            </a:r>
            <a:r>
              <a:rPr lang="en-US" altLang="zh-CN" sz="2000">
                <a:sym typeface="+mn-ea"/>
              </a:rPr>
              <a:t>printf</a:t>
            </a:r>
            <a:r>
              <a:rPr lang="zh-CN" altLang="en-US" sz="2000">
                <a:sym typeface="+mn-ea"/>
              </a:rPr>
              <a:t>）中非常有用。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需要记住被调用者的栈框要怎么调整。对人而言这不太好记，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因此我们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总是先保存SP到BP，然后结束调用后将BP赋给SP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2540" y="1341755"/>
            <a:ext cx="4681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don’t need to restore stack frame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4410" y="1341755"/>
            <a:ext cx="29095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Protect then assign 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VAR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Restore SP then BP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栈框恢复约定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被调用者负责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被调用者</a:t>
            </a:r>
            <a:r>
              <a:rPr lang="zh-CN" altLang="en-US" sz="2000">
                <a:solidFill>
                  <a:srgbClr val="9C0B15"/>
                </a:solidFill>
              </a:rPr>
              <a:t>需要保证SP指针在RET结束后回到整个调用序列之前的		状态</a:t>
            </a:r>
            <a:r>
              <a:rPr lang="zh-CN" altLang="en-US" sz="2000"/>
              <a:t>。</a:t>
            </a:r>
            <a:r>
              <a:rPr lang="zh-CN" sz="2000"/>
              <a:t>调用者无需调整</a:t>
            </a:r>
            <a:r>
              <a:rPr lang="en-US" altLang="zh-CN" sz="2000"/>
              <a:t>SP</a:t>
            </a:r>
            <a:r>
              <a:rPr lang="zh-CN" altLang="en-US" sz="2000"/>
              <a:t>指针。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非常适合手写汇编，因为每个过程要弹多少字节的变量区和参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数区是写过程的时候就想明白的（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算算用到多少个栈参数和栈		变量就可以</a:t>
            </a:r>
            <a:r>
              <a:rPr lang="zh-CN" altLang="en-US" sz="2000">
                <a:sym typeface="+mn-ea"/>
              </a:rPr>
              <a:t>）。在算一次之后，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调用过程时候就再也不需要去		记要弹多少栈</a:t>
            </a:r>
            <a:r>
              <a:rPr lang="zh-CN" altLang="en-US" sz="2000"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在那些支持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SP相对寻址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i386</a:t>
            </a:r>
            <a:r>
              <a:rPr lang="zh-CN" altLang="en-US" sz="2000">
                <a:sym typeface="+mn-ea"/>
              </a:rPr>
              <a:t>机器上，采用这种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写法可以让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不擅长指针计算</a:t>
            </a:r>
            <a:r>
              <a:rPr lang="zh-CN" altLang="en-US" sz="2000">
                <a:sym typeface="+mn-ea"/>
              </a:rPr>
              <a:t>的人类程序员也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解放出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BP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gcc -fomit-frame-pointer</a:t>
            </a:r>
            <a:r>
              <a:rPr lang="zh-CN" altLang="en-US" sz="2000">
                <a:sym typeface="+mn-ea"/>
              </a:rPr>
              <a:t>；可惜</a:t>
            </a:r>
            <a:r>
              <a:rPr lang="en-US" altLang="zh-CN" sz="2000">
                <a:sym typeface="+mn-ea"/>
              </a:rPr>
              <a:t>8086</a:t>
            </a:r>
            <a:r>
              <a:rPr lang="zh-CN" altLang="en-US" sz="2000">
                <a:sym typeface="+mn-ea"/>
              </a:rPr>
              <a:t>不行）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刚性强，灵活性差，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无法复用栈框</a:t>
            </a:r>
            <a:r>
              <a:rPr lang="zh-CN" sz="2000">
                <a:sym typeface="+mn-ea"/>
              </a:rPr>
              <a:t>，且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难以处理不定参数的情		况</a:t>
            </a:r>
            <a:r>
              <a:rPr lang="zh-CN" altLang="en-US" sz="2000">
                <a:sym typeface="+mn-ea"/>
              </a:rPr>
              <a:t>（RET指令只能带立即数）。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2065" y="1390015"/>
            <a:ext cx="468122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need to pop off all locals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 and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params. Two params and one local to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pop off here.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[BP-2]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Access param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[BP-4], CX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Access local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	4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73935" y="1390015"/>
            <a:ext cx="290957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Protect then assign 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VAR1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SUB	SP, 2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Local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Just restore BP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01090" y="2334260"/>
            <a:ext cx="7636510" cy="2783840"/>
            <a:chOff x="1734" y="3676"/>
            <a:chExt cx="12026" cy="4384"/>
          </a:xfrm>
        </p:grpSpPr>
        <p:sp>
          <p:nvSpPr>
            <p:cNvPr id="7" name="圆角矩形 6"/>
            <p:cNvSpPr/>
            <p:nvPr/>
          </p:nvSpPr>
          <p:spPr>
            <a:xfrm>
              <a:off x="1734" y="3676"/>
              <a:ext cx="11815" cy="4385"/>
            </a:xfrm>
            <a:prstGeom prst="roundRect">
              <a:avLst/>
            </a:prstGeom>
            <a:solidFill>
              <a:schemeClr val="bg1"/>
            </a:solidFill>
            <a:ln w="50800">
              <a:solidFill>
                <a:srgbClr val="9C0B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6534" y="3930"/>
              <a:ext cx="7227" cy="4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lvl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; Callee need to pop off all locals </a:t>
              </a: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 and</a:t>
              </a:r>
              <a:endParaRPr lang="en-US" altLang="zh-CN" sz="2000" b="1">
                <a:solidFill>
                  <a:srgbClr val="FF0000"/>
                </a:solidFill>
                <a:sym typeface="+mn-ea"/>
              </a:endParaRPr>
            </a:p>
            <a:p>
              <a:pPr marL="0" lvl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; params. Two params and one local to</a:t>
              </a:r>
              <a:endParaRPr lang="en-US" altLang="zh-CN" sz="2000" b="1">
                <a:solidFill>
                  <a:srgbClr val="FF0000"/>
                </a:solidFill>
                <a:sym typeface="+mn-ea"/>
              </a:endParaRPr>
            </a:p>
            <a:p>
              <a:pPr marL="0" lvl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; pop off here.</a:t>
              </a:r>
              <a:endParaRPr lang="en-US" altLang="zh-CN" sz="2000" b="1">
                <a:solidFill>
                  <a:srgbClr val="FF0000"/>
                </a:solidFill>
                <a:sym typeface="+mn-ea"/>
              </a:endParaRPr>
            </a:p>
            <a:p>
              <a:pPr marL="0" lvl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MOV	AX, [</a:t>
              </a: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SP+4]	</a:t>
              </a: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; Access param</a:t>
              </a:r>
              <a:endParaRPr lang="en-US" altLang="zh-CN" sz="2000" b="1">
                <a:solidFill>
                  <a:srgbClr val="FF0000"/>
                </a:solidFill>
                <a:sym typeface="+mn-ea"/>
              </a:endParaRPr>
            </a:p>
            <a:p>
              <a:pPr marL="0" lvl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...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marL="0" lvl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MOV	[</a:t>
              </a: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SP+2], CX	</a:t>
              </a: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; Access local</a:t>
              </a:r>
              <a:endParaRPr lang="en-US" altLang="zh-CN" sz="2000" b="1">
                <a:solidFill>
                  <a:srgbClr val="FF0000"/>
                </a:solidFill>
                <a:sym typeface="+mn-ea"/>
              </a:endParaRPr>
            </a:p>
            <a:p>
              <a:pPr marL="0" lvl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...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marL="0" lvl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7030A0"/>
                  </a:solidFill>
                  <a:sym typeface="+mn-ea"/>
                </a:rPr>
                <a:t>RET	4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951" y="3930"/>
              <a:ext cx="4582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; Protect then assign BP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PUSH	</a:t>
              </a:r>
              <a:r>
                <a:rPr lang="en-US" altLang="zh-CN" sz="2000" b="1">
                  <a:solidFill>
                    <a:srgbClr val="92D050"/>
                  </a:solidFill>
                  <a:sym typeface="+mn-ea"/>
                </a:rPr>
                <a:t>VAR1	</a:t>
              </a: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; Param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SUB	SP, 2</a:t>
              </a:r>
              <a:r>
                <a:rPr lang="en-US" altLang="zh-CN" sz="2000" b="1">
                  <a:solidFill>
                    <a:srgbClr val="92D050"/>
                  </a:solidFill>
                  <a:sym typeface="+mn-ea"/>
                </a:rPr>
                <a:t>	</a:t>
              </a:r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; Local</a:t>
              </a:r>
              <a:endParaRPr lang="en-US" altLang="zh-CN" sz="2000" b="1">
                <a:solidFill>
                  <a:srgbClr val="FF0000"/>
                </a:solidFill>
                <a:sym typeface="+mn-ea"/>
              </a:endParaRPr>
            </a:p>
            <a:p>
              <a:pPr marL="0" lvl="0" indent="0" algn="l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B0F0"/>
                  </a:solidFill>
                  <a:sym typeface="+mn-ea"/>
                </a:rPr>
                <a:t>CALL	</a:t>
              </a:r>
              <a:r>
                <a:rPr lang="en-US" altLang="zh-CN" sz="2000" b="1">
                  <a:solidFill>
                    <a:srgbClr val="C00000"/>
                  </a:solidFill>
                  <a:sym typeface="+mn-ea"/>
                </a:rPr>
                <a:t>SUBP</a:t>
              </a:r>
              <a:endParaRPr lang="en-US" altLang="zh-CN" sz="2000" b="1">
                <a:solidFill>
                  <a:srgbClr val="00B0F0"/>
                </a:solidFill>
                <a:sym typeface="+mn-ea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栈框恢复约定</a:t>
            </a:r>
            <a:endParaRPr lang="zh-CN" altLang="en-US" sz="2000" b="1">
              <a:solidFill>
                <a:srgbClr val="9C0B15"/>
              </a:solidFill>
            </a:endParaRPr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</a:rPr>
              <a:t>混合制负责</a:t>
            </a:r>
            <a:r>
              <a:rPr lang="en-US" altLang="zh-CN" sz="2000" b="1">
                <a:solidFill>
                  <a:srgbClr val="9C0B15"/>
                </a:solidFill>
              </a:rPr>
              <a:t>	</a:t>
            </a:r>
            <a:r>
              <a:rPr lang="zh-CN" altLang="en-US" sz="2000"/>
              <a:t>涉及参数的</a:t>
            </a:r>
            <a:r>
              <a:rPr lang="en-US" altLang="zh-CN" sz="2000"/>
              <a:t>SP</a:t>
            </a:r>
            <a:r>
              <a:rPr lang="zh-CN" altLang="en-US" sz="2000"/>
              <a:t>指针偏移调整由调用者进行，涉及局部变量的</a:t>
            </a:r>
            <a:r>
              <a:rPr lang="en-US" altLang="zh-CN" sz="2000"/>
              <a:t>SP</a:t>
            </a:r>
            <a:r>
              <a:rPr lang="zh-CN" altLang="en-US" sz="2000"/>
              <a:t>指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/>
              <a:t>针偏移</a:t>
            </a:r>
            <a:r>
              <a:rPr lang="zh-CN" altLang="en-US" sz="2000">
                <a:sym typeface="+mn-ea"/>
              </a:rPr>
              <a:t>调整</a:t>
            </a:r>
            <a:r>
              <a:rPr lang="zh-CN" altLang="en-US" sz="2000"/>
              <a:t>由被调用者进行。</a:t>
            </a:r>
            <a:r>
              <a:rPr lang="zh-CN" altLang="en-US" sz="2000">
                <a:solidFill>
                  <a:srgbClr val="9C0B15"/>
                </a:solidFill>
              </a:rPr>
              <a:t>这是很多编译器（如GCC、MSVC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</a:rPr>
              <a:t>等）惯用的方案</a:t>
            </a:r>
            <a:r>
              <a:rPr lang="zh-CN" altLang="en-US" sz="2000"/>
              <a:t>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优点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可以很方便地处理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可变参数、可变返回值</a:t>
            </a:r>
            <a:r>
              <a:rPr lang="zh-CN" altLang="en-US" sz="2000">
                <a:sym typeface="+mn-ea"/>
              </a:rPr>
              <a:t>（在此情形下调用者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更清楚该怎么调整栈框），也可以很方便地处理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可变局部变量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（如</a:t>
            </a:r>
            <a:r>
              <a:rPr lang="en-US" altLang="zh-CN" sz="2000">
                <a:sym typeface="+mn-ea"/>
              </a:rPr>
              <a:t>C99</a:t>
            </a:r>
            <a:r>
              <a:rPr lang="zh-CN" altLang="en-US" sz="2000">
                <a:sym typeface="+mn-ea"/>
              </a:rPr>
              <a:t>的栈上动态局部数组等，</a:t>
            </a:r>
            <a:r>
              <a:rPr lang="zh-CN" altLang="en-US" sz="2000">
                <a:sym typeface="+mn-ea"/>
              </a:rPr>
              <a:t>在此情形下被调用者更清楚该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怎么调整栈框</a:t>
            </a:r>
            <a:r>
              <a:rPr lang="zh-CN" altLang="en-US" sz="2000">
                <a:sym typeface="+mn-ea"/>
              </a:rPr>
              <a:t>）。生成的代码非常适合</a:t>
            </a:r>
            <a:r>
              <a:rPr lang="en-US" altLang="zh-CN" sz="2000">
                <a:sym typeface="+mn-ea"/>
              </a:rPr>
              <a:t>C-</a:t>
            </a:r>
            <a:r>
              <a:rPr lang="zh-CN" altLang="en-US" sz="2000">
                <a:sym typeface="+mn-ea"/>
              </a:rPr>
              <a:t>汇编混合编程。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缺点</a:t>
            </a:r>
            <a:r>
              <a:rPr lang="en-US" altLang="zh-CN" sz="2000">
                <a:sym typeface="+mn-ea"/>
              </a:rPr>
              <a:t>		</a:t>
            </a:r>
            <a:r>
              <a:rPr lang="zh-CN" sz="2000">
                <a:sym typeface="+mn-ea"/>
              </a:rPr>
              <a:t>麻烦，两边都得负责一部分工作，而且人类程序员难以解放</a:t>
            </a:r>
            <a:r>
              <a:rPr lang="en-US" altLang="zh-CN" sz="2000">
                <a:sym typeface="+mn-ea"/>
              </a:rPr>
              <a:t>BP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8415" y="1691640"/>
            <a:ext cx="456565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Callee -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allocate and deallocate locals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BP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		; a.k.a. ENTER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BP, SP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SUB	SP, 2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Local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AX, [BP+4]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Access param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...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[BP-2], CX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Access local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MOV	SP, BP	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a.k.a. LEAVE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POP	BP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7030A0"/>
                </a:solidFill>
                <a:sym typeface="+mn-ea"/>
              </a:rPr>
              <a:t>RET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73935" y="1691640"/>
            <a:ext cx="290957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Caller  - params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PUSH	</a:t>
            </a:r>
            <a:r>
              <a:rPr lang="en-US" altLang="zh-CN" sz="2000" b="1">
                <a:solidFill>
                  <a:srgbClr val="92D050"/>
                </a:solidFill>
                <a:sym typeface="+mn-ea"/>
              </a:rPr>
              <a:t>VAR1	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Param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  <a:p>
            <a:pPr marL="0" lvl="0" indent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CALL	</a:t>
            </a:r>
            <a:r>
              <a:rPr lang="en-US" altLang="zh-CN" sz="2000" b="1">
                <a:solidFill>
                  <a:srgbClr val="C00000"/>
                </a:solidFill>
                <a:sym typeface="+mn-ea"/>
              </a:rPr>
              <a:t>SUBP</a:t>
            </a:r>
            <a:endParaRPr lang="en-US" altLang="zh-CN" sz="2000" b="1">
              <a:solidFill>
                <a:srgbClr val="C0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; Pop off all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params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B0F0"/>
                </a:solidFill>
                <a:sym typeface="+mn-ea"/>
              </a:rPr>
              <a:t>ADD	SP, 2</a:t>
            </a:r>
            <a:endParaRPr lang="en-US" altLang="zh-CN" sz="2000" b="1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3375" y="166370"/>
            <a:ext cx="91211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9C0B15"/>
                </a:solidFill>
              </a:rPr>
              <a:t>过程执行的全景（</a:t>
            </a:r>
            <a:r>
              <a:rPr lang="en-US" altLang="zh-CN" sz="2000" b="1">
                <a:solidFill>
                  <a:srgbClr val="9C0B15"/>
                </a:solidFill>
              </a:rPr>
              <a:t>STDCALL</a:t>
            </a:r>
            <a:r>
              <a:rPr lang="zh-CN" altLang="en-US" sz="2000" b="1">
                <a:solidFill>
                  <a:srgbClr val="9C0B15"/>
                </a:solidFill>
              </a:rPr>
              <a:t>）</a:t>
            </a:r>
            <a:endParaRPr lang="zh-CN" altLang="en-US" sz="2000" b="1">
              <a:solidFill>
                <a:srgbClr val="9C0B15"/>
              </a:solidFill>
            </a:endParaRPr>
          </a:p>
          <a:p>
            <a:pPr algn="ctr"/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序言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Prologue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真正的运算操作开始之前所做的准备工作，如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CALL指令、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保存寄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存器、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读取参数、初始化局部变量</a:t>
            </a:r>
            <a:r>
              <a:rPr lang="en-US" altLang="zh-CN" sz="2000">
                <a:sym typeface="+mn-ea"/>
              </a:rPr>
              <a:t>等称为过程的序言。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在某些说法中，序言仅包括</a:t>
            </a:r>
            <a:r>
              <a:rPr lang="zh-CN" altLang="en-US" sz="2000">
                <a:sym typeface="+mn-ea"/>
              </a:rPr>
              <a:t>后三项。</a:t>
            </a:r>
            <a:endParaRPr lang="zh-CN" altLang="en-US" sz="2000">
              <a:sym typeface="+mn-ea"/>
            </a:endParaRPr>
          </a:p>
          <a:p>
            <a:pPr algn="l"/>
            <a:endParaRPr lang="zh-CN" altLang="en-US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尾声</a:t>
            </a:r>
            <a:r>
              <a:rPr lang="en-US" altLang="zh-CN" sz="2000">
                <a:sym typeface="+mn-ea"/>
              </a:rPr>
              <a:t>	</a:t>
            </a:r>
            <a:r>
              <a:rPr lang="en-US" altLang="zh-CN" sz="2000">
                <a:sym typeface="+mn-ea"/>
              </a:rPr>
              <a:t>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Epilogue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ym typeface="+mn-ea"/>
              </a:rPr>
              <a:t>		</a:t>
            </a:r>
            <a:r>
              <a:rPr lang="en-US" altLang="zh-CN" sz="2000">
                <a:sym typeface="+mn-ea"/>
              </a:rPr>
              <a:t>真正的运算操作结束之后所</a:t>
            </a:r>
            <a:r>
              <a:rPr lang="zh-CN" altLang="en-US" sz="2000">
                <a:sym typeface="+mn-ea"/>
              </a:rPr>
              <a:t>做</a:t>
            </a:r>
            <a:r>
              <a:rPr lang="en-US" altLang="zh-CN" sz="2000">
                <a:sym typeface="+mn-ea"/>
              </a:rPr>
              <a:t>的收尾工作，如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恢复寄存器、调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整栈框、</a:t>
            </a:r>
            <a:r>
              <a:rPr lang="en-US" altLang="zh-CN" sz="2000">
                <a:solidFill>
                  <a:srgbClr val="9C0B15"/>
                </a:solidFill>
                <a:sym typeface="+mn-ea"/>
              </a:rPr>
              <a:t>RET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指令</a:t>
            </a:r>
            <a:r>
              <a:rPr lang="en-US" altLang="zh-CN" sz="2000">
                <a:sym typeface="+mn-ea"/>
              </a:rPr>
              <a:t>等称为过程的尾声。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solidFill>
                  <a:srgbClr val="9C0B15"/>
                </a:solidFill>
                <a:sym typeface="+mn-ea"/>
              </a:rPr>
              <a:t>		</a:t>
            </a:r>
            <a:r>
              <a:rPr lang="zh-CN" altLang="en-US" sz="2000">
                <a:sym typeface="+mn-ea"/>
              </a:rPr>
              <a:t>在某些说法中，尾声仅包括前两项。</a:t>
            </a: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9C0B15"/>
                </a:solidFill>
                <a:sym typeface="+mn-ea"/>
              </a:rPr>
              <a:t>开销</a:t>
            </a:r>
            <a:r>
              <a:rPr lang="en-US" altLang="zh-CN" sz="2000">
                <a:sym typeface="+mn-ea"/>
              </a:rPr>
              <a:t>		</a:t>
            </a:r>
            <a:r>
              <a:rPr lang="zh-CN" altLang="en-US" sz="2000">
                <a:sym typeface="+mn-ea"/>
              </a:rPr>
              <a:t>过程调用的开销就是</a:t>
            </a:r>
            <a:r>
              <a:rPr lang="zh-CN" altLang="en-US" sz="2000">
                <a:solidFill>
                  <a:srgbClr val="9C0B15"/>
                </a:solidFill>
                <a:sym typeface="+mn-ea"/>
              </a:rPr>
              <a:t>序言和尾声之和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>
              <a:sym typeface="+mn-ea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2739390" y="455803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保存</a:t>
            </a:r>
            <a:r>
              <a:rPr lang="zh-CN" altLang="en-US"/>
              <a:t>寄存器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056130" y="4808855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图: 终止 6"/>
          <p:cNvSpPr/>
          <p:nvPr/>
        </p:nvSpPr>
        <p:spPr>
          <a:xfrm>
            <a:off x="229235" y="4558030"/>
            <a:ext cx="1826895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调用</a:t>
            </a:r>
            <a:endParaRPr lang="zh-CN" altLang="en-US"/>
          </a:p>
        </p:txBody>
      </p:sp>
      <p:cxnSp>
        <p:nvCxnSpPr>
          <p:cNvPr id="9" name="肘形连接符 8"/>
          <p:cNvCxnSpPr>
            <a:stCxn id="67" idx="2"/>
            <a:endCxn id="72" idx="3"/>
          </p:cNvCxnSpPr>
          <p:nvPr/>
        </p:nvCxnSpPr>
        <p:spPr>
          <a:xfrm rot="5400000">
            <a:off x="6982778" y="3885883"/>
            <a:ext cx="513080" cy="2864485"/>
          </a:xfrm>
          <a:prstGeom prst="bentConnector2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终止 14"/>
          <p:cNvSpPr/>
          <p:nvPr/>
        </p:nvSpPr>
        <p:spPr>
          <a:xfrm>
            <a:off x="7758430" y="6071870"/>
            <a:ext cx="1826895" cy="503555"/>
          </a:xfrm>
          <a:prstGeom prst="flowChartTerminator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sp>
        <p:nvSpPr>
          <p:cNvPr id="61" name="流程图: 过程 60"/>
          <p:cNvSpPr/>
          <p:nvPr/>
        </p:nvSpPr>
        <p:spPr>
          <a:xfrm>
            <a:off x="5248910" y="455803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读取参数</a:t>
            </a:r>
            <a:endParaRPr lang="zh-CN" altLang="en-US"/>
          </a:p>
        </p:txBody>
      </p:sp>
      <p:sp>
        <p:nvSpPr>
          <p:cNvPr id="67" name="流程图: 过程 66"/>
          <p:cNvSpPr/>
          <p:nvPr/>
        </p:nvSpPr>
        <p:spPr>
          <a:xfrm>
            <a:off x="7758430" y="455803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初始化</a:t>
            </a:r>
            <a:r>
              <a:rPr lang="zh-CN" altLang="en-US"/>
              <a:t>局部变量</a:t>
            </a:r>
            <a:endParaRPr lang="zh-CN" altLang="en-US"/>
          </a:p>
        </p:txBody>
      </p:sp>
      <p:sp>
        <p:nvSpPr>
          <p:cNvPr id="69" name="流程图: 过程 68"/>
          <p:cNvSpPr/>
          <p:nvPr/>
        </p:nvSpPr>
        <p:spPr>
          <a:xfrm>
            <a:off x="229235" y="6071870"/>
            <a:ext cx="182753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恢复寄存器</a:t>
            </a:r>
            <a:endParaRPr lang="zh-CN" altLang="en-US"/>
          </a:p>
        </p:txBody>
      </p:sp>
      <p:sp>
        <p:nvSpPr>
          <p:cNvPr id="71" name="流程图: 过程 70"/>
          <p:cNvSpPr/>
          <p:nvPr/>
        </p:nvSpPr>
        <p:spPr>
          <a:xfrm>
            <a:off x="3980180" y="6071870"/>
            <a:ext cx="1825625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调整栈框</a:t>
            </a:r>
            <a:endParaRPr lang="zh-CN" altLang="en-US"/>
          </a:p>
        </p:txBody>
      </p:sp>
      <p:sp>
        <p:nvSpPr>
          <p:cNvPr id="72" name="流程图: 过程 71"/>
          <p:cNvSpPr/>
          <p:nvPr/>
        </p:nvSpPr>
        <p:spPr>
          <a:xfrm>
            <a:off x="3980815" y="5322570"/>
            <a:ext cx="1826260" cy="503555"/>
          </a:xfrm>
          <a:prstGeom prst="flowChartProcess">
            <a:avLst/>
          </a:prstGeom>
          <a:solidFill>
            <a:srgbClr val="D02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真正的运算</a:t>
            </a:r>
            <a:r>
              <a:rPr lang="zh-CN" altLang="en-US"/>
              <a:t>操作</a:t>
            </a:r>
            <a:endParaRPr lang="zh-CN" altLang="en-US"/>
          </a:p>
        </p:txBody>
      </p:sp>
      <p:cxnSp>
        <p:nvCxnSpPr>
          <p:cNvPr id="73" name="直接箭头连接符 72"/>
          <p:cNvCxnSpPr/>
          <p:nvPr/>
        </p:nvCxnSpPr>
        <p:spPr>
          <a:xfrm flipV="1">
            <a:off x="4554220" y="4806950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7086600" y="4805045"/>
            <a:ext cx="677545" cy="1905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连接符 74"/>
          <p:cNvCxnSpPr>
            <a:stCxn id="72" idx="1"/>
            <a:endCxn id="69" idx="0"/>
          </p:cNvCxnSpPr>
          <p:nvPr/>
        </p:nvCxnSpPr>
        <p:spPr>
          <a:xfrm rot="10800000" flipV="1">
            <a:off x="1143000" y="5574665"/>
            <a:ext cx="2837815" cy="497205"/>
          </a:xfrm>
          <a:prstGeom prst="bentConnector2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69" idx="3"/>
            <a:endCxn id="71" idx="1"/>
          </p:cNvCxnSpPr>
          <p:nvPr/>
        </p:nvCxnSpPr>
        <p:spPr>
          <a:xfrm>
            <a:off x="2056765" y="6323965"/>
            <a:ext cx="1923415" cy="0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71" idx="3"/>
          </p:cNvCxnSpPr>
          <p:nvPr/>
        </p:nvCxnSpPr>
        <p:spPr>
          <a:xfrm>
            <a:off x="5805805" y="6323965"/>
            <a:ext cx="1958340" cy="2540"/>
          </a:xfrm>
          <a:prstGeom prst="straightConnector1">
            <a:avLst/>
          </a:prstGeom>
          <a:ln w="63500">
            <a:solidFill>
              <a:srgbClr val="9C0B1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9"/>
          <p:cNvGrpSpPr>
            <a:grpSpLocks noChangeAspect="1"/>
          </p:cNvGrpSpPr>
          <p:nvPr/>
        </p:nvGrpSpPr>
        <p:grpSpPr>
          <a:xfrm>
            <a:off x="9878060" y="36830"/>
            <a:ext cx="2168525" cy="572770"/>
            <a:chOff x="232331" y="483409"/>
            <a:chExt cx="1887300" cy="498475"/>
          </a:xfrm>
          <a:solidFill>
            <a:srgbClr val="9C0B15"/>
          </a:solidFill>
        </p:grpSpPr>
        <p:sp>
          <p:nvSpPr>
            <p:cNvPr id="14" name="Freeform 5"/>
            <p:cNvSpPr/>
            <p:nvPr/>
          </p:nvSpPr>
          <p:spPr bwMode="auto">
            <a:xfrm>
              <a:off x="951343" y="578788"/>
              <a:ext cx="47906" cy="149758"/>
            </a:xfrm>
            <a:custGeom>
              <a:avLst/>
              <a:gdLst>
                <a:gd name="T0" fmla="*/ 0 w 47"/>
                <a:gd name="T1" fmla="*/ 138 h 146"/>
                <a:gd name="T2" fmla="*/ 8 w 47"/>
                <a:gd name="T3" fmla="*/ 145 h 146"/>
                <a:gd name="T4" fmla="*/ 28 w 47"/>
                <a:gd name="T5" fmla="*/ 113 h 146"/>
                <a:gd name="T6" fmla="*/ 46 w 47"/>
                <a:gd name="T7" fmla="*/ 40 h 146"/>
                <a:gd name="T8" fmla="*/ 18 w 47"/>
                <a:gd name="T9" fmla="*/ 0 h 146"/>
                <a:gd name="T10" fmla="*/ 9 w 47"/>
                <a:gd name="T11" fmla="*/ 8 h 146"/>
                <a:gd name="T12" fmla="*/ 15 w 47"/>
                <a:gd name="T13" fmla="*/ 49 h 146"/>
                <a:gd name="T14" fmla="*/ 8 w 47"/>
                <a:gd name="T15" fmla="*/ 112 h 146"/>
                <a:gd name="T16" fmla="*/ 0 w 47"/>
                <a:gd name="T17" fmla="*/ 1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46">
                  <a:moveTo>
                    <a:pt x="0" y="138"/>
                  </a:moveTo>
                  <a:cubicBezTo>
                    <a:pt x="0" y="138"/>
                    <a:pt x="0" y="146"/>
                    <a:pt x="8" y="145"/>
                  </a:cubicBezTo>
                  <a:cubicBezTo>
                    <a:pt x="8" y="145"/>
                    <a:pt x="27" y="129"/>
                    <a:pt x="28" y="113"/>
                  </a:cubicBezTo>
                  <a:cubicBezTo>
                    <a:pt x="28" y="113"/>
                    <a:pt x="35" y="61"/>
                    <a:pt x="46" y="40"/>
                  </a:cubicBezTo>
                  <a:cubicBezTo>
                    <a:pt x="46" y="40"/>
                    <a:pt x="47" y="27"/>
                    <a:pt x="18" y="0"/>
                  </a:cubicBezTo>
                  <a:cubicBezTo>
                    <a:pt x="18" y="0"/>
                    <a:pt x="8" y="3"/>
                    <a:pt x="9" y="8"/>
                  </a:cubicBezTo>
                  <a:cubicBezTo>
                    <a:pt x="9" y="13"/>
                    <a:pt x="23" y="19"/>
                    <a:pt x="15" y="49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2"/>
                    <a:pt x="7" y="131"/>
                    <a:pt x="0" y="13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07449" y="715167"/>
              <a:ext cx="91927" cy="94516"/>
            </a:xfrm>
            <a:custGeom>
              <a:avLst/>
              <a:gdLst>
                <a:gd name="T0" fmla="*/ 83 w 90"/>
                <a:gd name="T1" fmla="*/ 39 h 92"/>
                <a:gd name="T2" fmla="*/ 54 w 90"/>
                <a:gd name="T3" fmla="*/ 6 h 92"/>
                <a:gd name="T4" fmla="*/ 42 w 90"/>
                <a:gd name="T5" fmla="*/ 14 h 92"/>
                <a:gd name="T6" fmla="*/ 4 w 90"/>
                <a:gd name="T7" fmla="*/ 77 h 92"/>
                <a:gd name="T8" fmla="*/ 16 w 90"/>
                <a:gd name="T9" fmla="*/ 82 h 92"/>
                <a:gd name="T10" fmla="*/ 73 w 90"/>
                <a:gd name="T11" fmla="*/ 56 h 92"/>
                <a:gd name="T12" fmla="*/ 83 w 90"/>
                <a:gd name="T13" fmla="*/ 3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2">
                  <a:moveTo>
                    <a:pt x="83" y="39"/>
                  </a:move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39" y="0"/>
                    <a:pt x="42" y="14"/>
                  </a:cubicBezTo>
                  <a:cubicBezTo>
                    <a:pt x="42" y="14"/>
                    <a:pt x="28" y="64"/>
                    <a:pt x="4" y="77"/>
                  </a:cubicBezTo>
                  <a:cubicBezTo>
                    <a:pt x="4" y="77"/>
                    <a:pt x="0" y="92"/>
                    <a:pt x="16" y="82"/>
                  </a:cubicBezTo>
                  <a:cubicBezTo>
                    <a:pt x="16" y="82"/>
                    <a:pt x="60" y="54"/>
                    <a:pt x="73" y="56"/>
                  </a:cubicBezTo>
                  <a:cubicBezTo>
                    <a:pt x="73" y="56"/>
                    <a:pt x="90" y="51"/>
                    <a:pt x="83" y="3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818417" y="733726"/>
              <a:ext cx="176948" cy="144579"/>
            </a:xfrm>
            <a:custGeom>
              <a:avLst/>
              <a:gdLst>
                <a:gd name="T0" fmla="*/ 167 w 173"/>
                <a:gd name="T1" fmla="*/ 12 h 141"/>
                <a:gd name="T2" fmla="*/ 160 w 173"/>
                <a:gd name="T3" fmla="*/ 3 h 141"/>
                <a:gd name="T4" fmla="*/ 114 w 173"/>
                <a:gd name="T5" fmla="*/ 42 h 141"/>
                <a:gd name="T6" fmla="*/ 73 w 173"/>
                <a:gd name="T7" fmla="*/ 77 h 141"/>
                <a:gd name="T8" fmla="*/ 46 w 173"/>
                <a:gd name="T9" fmla="*/ 98 h 141"/>
                <a:gd name="T10" fmla="*/ 42 w 173"/>
                <a:gd name="T11" fmla="*/ 95 h 141"/>
                <a:gd name="T12" fmla="*/ 38 w 173"/>
                <a:gd name="T13" fmla="*/ 21 h 141"/>
                <a:gd name="T14" fmla="*/ 33 w 173"/>
                <a:gd name="T15" fmla="*/ 33 h 141"/>
                <a:gd name="T16" fmla="*/ 0 w 173"/>
                <a:gd name="T17" fmla="*/ 109 h 141"/>
                <a:gd name="T18" fmla="*/ 27 w 173"/>
                <a:gd name="T19" fmla="*/ 141 h 141"/>
                <a:gd name="T20" fmla="*/ 97 w 173"/>
                <a:gd name="T21" fmla="*/ 104 h 141"/>
                <a:gd name="T22" fmla="*/ 131 w 173"/>
                <a:gd name="T23" fmla="*/ 67 h 141"/>
                <a:gd name="T24" fmla="*/ 167 w 173"/>
                <a:gd name="T25" fmla="*/ 1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141">
                  <a:moveTo>
                    <a:pt x="167" y="12"/>
                  </a:moveTo>
                  <a:cubicBezTo>
                    <a:pt x="167" y="12"/>
                    <a:pt x="173" y="0"/>
                    <a:pt x="160" y="3"/>
                  </a:cubicBezTo>
                  <a:cubicBezTo>
                    <a:pt x="160" y="3"/>
                    <a:pt x="132" y="38"/>
                    <a:pt x="114" y="42"/>
                  </a:cubicBezTo>
                  <a:cubicBezTo>
                    <a:pt x="114" y="42"/>
                    <a:pt x="84" y="72"/>
                    <a:pt x="73" y="77"/>
                  </a:cubicBezTo>
                  <a:cubicBezTo>
                    <a:pt x="73" y="77"/>
                    <a:pt x="49" y="92"/>
                    <a:pt x="46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5"/>
                    <a:pt x="69" y="33"/>
                    <a:pt x="38" y="21"/>
                  </a:cubicBezTo>
                  <a:cubicBezTo>
                    <a:pt x="38" y="21"/>
                    <a:pt x="32" y="24"/>
                    <a:pt x="33" y="33"/>
                  </a:cubicBezTo>
                  <a:cubicBezTo>
                    <a:pt x="33" y="33"/>
                    <a:pt x="15" y="100"/>
                    <a:pt x="0" y="109"/>
                  </a:cubicBezTo>
                  <a:cubicBezTo>
                    <a:pt x="0" y="109"/>
                    <a:pt x="12" y="128"/>
                    <a:pt x="27" y="141"/>
                  </a:cubicBezTo>
                  <a:cubicBezTo>
                    <a:pt x="27" y="141"/>
                    <a:pt x="81" y="116"/>
                    <a:pt x="97" y="104"/>
                  </a:cubicBezTo>
                  <a:cubicBezTo>
                    <a:pt x="97" y="104"/>
                    <a:pt x="125" y="78"/>
                    <a:pt x="131" y="67"/>
                  </a:cubicBezTo>
                  <a:cubicBezTo>
                    <a:pt x="131" y="67"/>
                    <a:pt x="159" y="30"/>
                    <a:pt x="167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475282" y="575767"/>
              <a:ext cx="252043" cy="315917"/>
            </a:xfrm>
            <a:custGeom>
              <a:avLst/>
              <a:gdLst>
                <a:gd name="T0" fmla="*/ 231 w 247"/>
                <a:gd name="T1" fmla="*/ 13 h 308"/>
                <a:gd name="T2" fmla="*/ 217 w 247"/>
                <a:gd name="T3" fmla="*/ 23 h 308"/>
                <a:gd name="T4" fmla="*/ 193 w 247"/>
                <a:gd name="T5" fmla="*/ 36 h 308"/>
                <a:gd name="T6" fmla="*/ 165 w 247"/>
                <a:gd name="T7" fmla="*/ 7 h 308"/>
                <a:gd name="T8" fmla="*/ 148 w 247"/>
                <a:gd name="T9" fmla="*/ 9 h 308"/>
                <a:gd name="T10" fmla="*/ 156 w 247"/>
                <a:gd name="T11" fmla="*/ 42 h 308"/>
                <a:gd name="T12" fmla="*/ 156 w 247"/>
                <a:gd name="T13" fmla="*/ 58 h 308"/>
                <a:gd name="T14" fmla="*/ 105 w 247"/>
                <a:gd name="T15" fmla="*/ 95 h 308"/>
                <a:gd name="T16" fmla="*/ 105 w 247"/>
                <a:gd name="T17" fmla="*/ 65 h 308"/>
                <a:gd name="T18" fmla="*/ 91 w 247"/>
                <a:gd name="T19" fmla="*/ 67 h 308"/>
                <a:gd name="T20" fmla="*/ 93 w 247"/>
                <a:gd name="T21" fmla="*/ 125 h 308"/>
                <a:gd name="T22" fmla="*/ 132 w 247"/>
                <a:gd name="T23" fmla="*/ 129 h 308"/>
                <a:gd name="T24" fmla="*/ 104 w 247"/>
                <a:gd name="T25" fmla="*/ 177 h 308"/>
                <a:gd name="T26" fmla="*/ 16 w 247"/>
                <a:gd name="T27" fmla="*/ 288 h 308"/>
                <a:gd name="T28" fmla="*/ 27 w 247"/>
                <a:gd name="T29" fmla="*/ 298 h 308"/>
                <a:gd name="T30" fmla="*/ 116 w 247"/>
                <a:gd name="T31" fmla="*/ 216 h 308"/>
                <a:gd name="T32" fmla="*/ 200 w 247"/>
                <a:gd name="T33" fmla="*/ 66 h 308"/>
                <a:gd name="T34" fmla="*/ 247 w 247"/>
                <a:gd name="T35" fmla="*/ 33 h 308"/>
                <a:gd name="T36" fmla="*/ 231 w 247"/>
                <a:gd name="T37" fmla="*/ 1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308">
                  <a:moveTo>
                    <a:pt x="231" y="13"/>
                  </a:moveTo>
                  <a:cubicBezTo>
                    <a:pt x="223" y="12"/>
                    <a:pt x="217" y="23"/>
                    <a:pt x="217" y="23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196" y="27"/>
                    <a:pt x="165" y="7"/>
                    <a:pt x="165" y="7"/>
                  </a:cubicBezTo>
                  <a:cubicBezTo>
                    <a:pt x="151" y="0"/>
                    <a:pt x="148" y="9"/>
                    <a:pt x="148" y="9"/>
                  </a:cubicBezTo>
                  <a:cubicBezTo>
                    <a:pt x="144" y="20"/>
                    <a:pt x="156" y="42"/>
                    <a:pt x="156" y="42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9" y="87"/>
                    <a:pt x="105" y="65"/>
                    <a:pt x="105" y="65"/>
                  </a:cubicBezTo>
                  <a:cubicBezTo>
                    <a:pt x="103" y="47"/>
                    <a:pt x="91" y="67"/>
                    <a:pt x="91" y="67"/>
                  </a:cubicBezTo>
                  <a:cubicBezTo>
                    <a:pt x="78" y="97"/>
                    <a:pt x="93" y="125"/>
                    <a:pt x="93" y="125"/>
                  </a:cubicBezTo>
                  <a:cubicBezTo>
                    <a:pt x="106" y="146"/>
                    <a:pt x="127" y="133"/>
                    <a:pt x="132" y="129"/>
                  </a:cubicBezTo>
                  <a:cubicBezTo>
                    <a:pt x="125" y="137"/>
                    <a:pt x="104" y="177"/>
                    <a:pt x="104" y="177"/>
                  </a:cubicBezTo>
                  <a:cubicBezTo>
                    <a:pt x="80" y="242"/>
                    <a:pt x="16" y="288"/>
                    <a:pt x="16" y="288"/>
                  </a:cubicBezTo>
                  <a:cubicBezTo>
                    <a:pt x="0" y="308"/>
                    <a:pt x="27" y="298"/>
                    <a:pt x="27" y="298"/>
                  </a:cubicBezTo>
                  <a:cubicBezTo>
                    <a:pt x="51" y="288"/>
                    <a:pt x="116" y="216"/>
                    <a:pt x="116" y="216"/>
                  </a:cubicBezTo>
                  <a:cubicBezTo>
                    <a:pt x="206" y="108"/>
                    <a:pt x="200" y="66"/>
                    <a:pt x="200" y="66"/>
                  </a:cubicBezTo>
                  <a:cubicBezTo>
                    <a:pt x="222" y="56"/>
                    <a:pt x="247" y="33"/>
                    <a:pt x="247" y="33"/>
                  </a:cubicBezTo>
                  <a:lnTo>
                    <a:pt x="231" y="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1689777" y="747968"/>
              <a:ext cx="69485" cy="122137"/>
            </a:xfrm>
            <a:custGeom>
              <a:avLst/>
              <a:gdLst>
                <a:gd name="T0" fmla="*/ 10 w 68"/>
                <a:gd name="T1" fmla="*/ 26 h 119"/>
                <a:gd name="T2" fmla="*/ 10 w 68"/>
                <a:gd name="T3" fmla="*/ 100 h 119"/>
                <a:gd name="T4" fmla="*/ 16 w 68"/>
                <a:gd name="T5" fmla="*/ 112 h 119"/>
                <a:gd name="T6" fmla="*/ 60 w 68"/>
                <a:gd name="T7" fmla="*/ 58 h 119"/>
                <a:gd name="T8" fmla="*/ 24 w 68"/>
                <a:gd name="T9" fmla="*/ 13 h 119"/>
                <a:gd name="T10" fmla="*/ 10 w 68"/>
                <a:gd name="T11" fmla="*/ 2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19">
                  <a:moveTo>
                    <a:pt x="10" y="26"/>
                  </a:moveTo>
                  <a:cubicBezTo>
                    <a:pt x="10" y="26"/>
                    <a:pt x="27" y="85"/>
                    <a:pt x="10" y="100"/>
                  </a:cubicBezTo>
                  <a:cubicBezTo>
                    <a:pt x="10" y="100"/>
                    <a:pt x="0" y="119"/>
                    <a:pt x="16" y="112"/>
                  </a:cubicBezTo>
                  <a:cubicBezTo>
                    <a:pt x="16" y="112"/>
                    <a:pt x="40" y="72"/>
                    <a:pt x="60" y="58"/>
                  </a:cubicBezTo>
                  <a:cubicBezTo>
                    <a:pt x="60" y="58"/>
                    <a:pt x="68" y="28"/>
                    <a:pt x="24" y="13"/>
                  </a:cubicBezTo>
                  <a:cubicBezTo>
                    <a:pt x="24" y="13"/>
                    <a:pt x="1" y="0"/>
                    <a:pt x="10" y="2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9" name="Freeform 10"/>
            <p:cNvSpPr>
              <a:spLocks noEditPoints="1"/>
            </p:cNvSpPr>
            <p:nvPr/>
          </p:nvSpPr>
          <p:spPr bwMode="auto">
            <a:xfrm>
              <a:off x="1856367" y="483409"/>
              <a:ext cx="263264" cy="451433"/>
            </a:xfrm>
            <a:custGeom>
              <a:avLst/>
              <a:gdLst>
                <a:gd name="T0" fmla="*/ 166 w 258"/>
                <a:gd name="T1" fmla="*/ 8 h 440"/>
                <a:gd name="T2" fmla="*/ 160 w 258"/>
                <a:gd name="T3" fmla="*/ 17 h 440"/>
                <a:gd name="T4" fmla="*/ 133 w 258"/>
                <a:gd name="T5" fmla="*/ 40 h 440"/>
                <a:gd name="T6" fmla="*/ 104 w 258"/>
                <a:gd name="T7" fmla="*/ 52 h 440"/>
                <a:gd name="T8" fmla="*/ 93 w 258"/>
                <a:gd name="T9" fmla="*/ 69 h 440"/>
                <a:gd name="T10" fmla="*/ 46 w 258"/>
                <a:gd name="T11" fmla="*/ 113 h 440"/>
                <a:gd name="T12" fmla="*/ 27 w 258"/>
                <a:gd name="T13" fmla="*/ 97 h 440"/>
                <a:gd name="T14" fmla="*/ 14 w 258"/>
                <a:gd name="T15" fmla="*/ 105 h 440"/>
                <a:gd name="T16" fmla="*/ 21 w 258"/>
                <a:gd name="T17" fmla="*/ 147 h 440"/>
                <a:gd name="T18" fmla="*/ 52 w 258"/>
                <a:gd name="T19" fmla="*/ 131 h 440"/>
                <a:gd name="T20" fmla="*/ 99 w 258"/>
                <a:gd name="T21" fmla="*/ 83 h 440"/>
                <a:gd name="T22" fmla="*/ 133 w 258"/>
                <a:gd name="T23" fmla="*/ 91 h 440"/>
                <a:gd name="T24" fmla="*/ 122 w 258"/>
                <a:gd name="T25" fmla="*/ 117 h 440"/>
                <a:gd name="T26" fmla="*/ 34 w 258"/>
                <a:gd name="T27" fmla="*/ 223 h 440"/>
                <a:gd name="T28" fmla="*/ 33 w 258"/>
                <a:gd name="T29" fmla="*/ 259 h 440"/>
                <a:gd name="T30" fmla="*/ 61 w 258"/>
                <a:gd name="T31" fmla="*/ 260 h 440"/>
                <a:gd name="T32" fmla="*/ 90 w 258"/>
                <a:gd name="T33" fmla="*/ 229 h 440"/>
                <a:gd name="T34" fmla="*/ 80 w 258"/>
                <a:gd name="T35" fmla="*/ 273 h 440"/>
                <a:gd name="T36" fmla="*/ 107 w 258"/>
                <a:gd name="T37" fmla="*/ 288 h 440"/>
                <a:gd name="T38" fmla="*/ 148 w 258"/>
                <a:gd name="T39" fmla="*/ 301 h 440"/>
                <a:gd name="T40" fmla="*/ 4 w 258"/>
                <a:gd name="T41" fmla="*/ 364 h 440"/>
                <a:gd name="T42" fmla="*/ 121 w 258"/>
                <a:gd name="T43" fmla="*/ 426 h 440"/>
                <a:gd name="T44" fmla="*/ 176 w 258"/>
                <a:gd name="T45" fmla="*/ 384 h 440"/>
                <a:gd name="T46" fmla="*/ 176 w 258"/>
                <a:gd name="T47" fmla="*/ 340 h 440"/>
                <a:gd name="T48" fmla="*/ 182 w 258"/>
                <a:gd name="T49" fmla="*/ 331 h 440"/>
                <a:gd name="T50" fmla="*/ 212 w 258"/>
                <a:gd name="T51" fmla="*/ 338 h 440"/>
                <a:gd name="T52" fmla="*/ 228 w 258"/>
                <a:gd name="T53" fmla="*/ 338 h 440"/>
                <a:gd name="T54" fmla="*/ 222 w 258"/>
                <a:gd name="T55" fmla="*/ 309 h 440"/>
                <a:gd name="T56" fmla="*/ 168 w 258"/>
                <a:gd name="T57" fmla="*/ 302 h 440"/>
                <a:gd name="T58" fmla="*/ 118 w 258"/>
                <a:gd name="T59" fmla="*/ 264 h 440"/>
                <a:gd name="T60" fmla="*/ 135 w 258"/>
                <a:gd name="T61" fmla="*/ 191 h 440"/>
                <a:gd name="T62" fmla="*/ 89 w 258"/>
                <a:gd name="T63" fmla="*/ 198 h 440"/>
                <a:gd name="T64" fmla="*/ 132 w 258"/>
                <a:gd name="T65" fmla="*/ 152 h 440"/>
                <a:gd name="T66" fmla="*/ 142 w 258"/>
                <a:gd name="T67" fmla="*/ 131 h 440"/>
                <a:gd name="T68" fmla="*/ 167 w 258"/>
                <a:gd name="T69" fmla="*/ 94 h 440"/>
                <a:gd name="T70" fmla="*/ 204 w 258"/>
                <a:gd name="T71" fmla="*/ 15 h 440"/>
                <a:gd name="T72" fmla="*/ 166 w 258"/>
                <a:gd name="T73" fmla="*/ 8 h 440"/>
                <a:gd name="T74" fmla="*/ 153 w 258"/>
                <a:gd name="T75" fmla="*/ 371 h 440"/>
                <a:gd name="T76" fmla="*/ 75 w 258"/>
                <a:gd name="T77" fmla="*/ 389 h 440"/>
                <a:gd name="T78" fmla="*/ 94 w 258"/>
                <a:gd name="T79" fmla="*/ 355 h 440"/>
                <a:gd name="T80" fmla="*/ 135 w 258"/>
                <a:gd name="T81" fmla="*/ 334 h 440"/>
                <a:gd name="T82" fmla="*/ 153 w 258"/>
                <a:gd name="T83" fmla="*/ 371 h 440"/>
                <a:gd name="T84" fmla="*/ 141 w 258"/>
                <a:gd name="T85" fmla="*/ 58 h 440"/>
                <a:gd name="T86" fmla="*/ 146 w 258"/>
                <a:gd name="T87" fmla="*/ 49 h 440"/>
                <a:gd name="T88" fmla="*/ 161 w 258"/>
                <a:gd name="T89" fmla="*/ 38 h 440"/>
                <a:gd name="T90" fmla="*/ 141 w 258"/>
                <a:gd name="T91" fmla="*/ 58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8" h="440">
                  <a:moveTo>
                    <a:pt x="166" y="8"/>
                  </a:moveTo>
                  <a:cubicBezTo>
                    <a:pt x="160" y="17"/>
                    <a:pt x="160" y="17"/>
                    <a:pt x="160" y="17"/>
                  </a:cubicBezTo>
                  <a:cubicBezTo>
                    <a:pt x="133" y="40"/>
                    <a:pt x="133" y="40"/>
                    <a:pt x="133" y="40"/>
                  </a:cubicBezTo>
                  <a:cubicBezTo>
                    <a:pt x="133" y="40"/>
                    <a:pt x="134" y="61"/>
                    <a:pt x="104" y="52"/>
                  </a:cubicBezTo>
                  <a:cubicBezTo>
                    <a:pt x="104" y="52"/>
                    <a:pt x="94" y="52"/>
                    <a:pt x="93" y="69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31" y="127"/>
                    <a:pt x="27" y="97"/>
                  </a:cubicBezTo>
                  <a:cubicBezTo>
                    <a:pt x="27" y="97"/>
                    <a:pt x="21" y="74"/>
                    <a:pt x="14" y="105"/>
                  </a:cubicBezTo>
                  <a:cubicBezTo>
                    <a:pt x="14" y="105"/>
                    <a:pt x="12" y="142"/>
                    <a:pt x="21" y="147"/>
                  </a:cubicBezTo>
                  <a:cubicBezTo>
                    <a:pt x="21" y="147"/>
                    <a:pt x="49" y="156"/>
                    <a:pt x="52" y="131"/>
                  </a:cubicBezTo>
                  <a:cubicBezTo>
                    <a:pt x="52" y="131"/>
                    <a:pt x="92" y="90"/>
                    <a:pt x="99" y="83"/>
                  </a:cubicBezTo>
                  <a:cubicBezTo>
                    <a:pt x="99" y="83"/>
                    <a:pt x="123" y="96"/>
                    <a:pt x="133" y="91"/>
                  </a:cubicBezTo>
                  <a:cubicBezTo>
                    <a:pt x="133" y="91"/>
                    <a:pt x="143" y="96"/>
                    <a:pt x="122" y="117"/>
                  </a:cubicBezTo>
                  <a:cubicBezTo>
                    <a:pt x="122" y="117"/>
                    <a:pt x="53" y="222"/>
                    <a:pt x="34" y="223"/>
                  </a:cubicBezTo>
                  <a:cubicBezTo>
                    <a:pt x="34" y="223"/>
                    <a:pt x="25" y="246"/>
                    <a:pt x="33" y="259"/>
                  </a:cubicBezTo>
                  <a:cubicBezTo>
                    <a:pt x="33" y="259"/>
                    <a:pt x="56" y="265"/>
                    <a:pt x="61" y="260"/>
                  </a:cubicBezTo>
                  <a:cubicBezTo>
                    <a:pt x="90" y="229"/>
                    <a:pt x="90" y="229"/>
                    <a:pt x="90" y="229"/>
                  </a:cubicBezTo>
                  <a:cubicBezTo>
                    <a:pt x="90" y="229"/>
                    <a:pt x="95" y="245"/>
                    <a:pt x="80" y="273"/>
                  </a:cubicBezTo>
                  <a:cubicBezTo>
                    <a:pt x="80" y="273"/>
                    <a:pt x="79" y="303"/>
                    <a:pt x="107" y="288"/>
                  </a:cubicBezTo>
                  <a:cubicBezTo>
                    <a:pt x="107" y="288"/>
                    <a:pt x="140" y="278"/>
                    <a:pt x="148" y="301"/>
                  </a:cubicBezTo>
                  <a:cubicBezTo>
                    <a:pt x="148" y="301"/>
                    <a:pt x="91" y="290"/>
                    <a:pt x="4" y="364"/>
                  </a:cubicBezTo>
                  <a:cubicBezTo>
                    <a:pt x="4" y="364"/>
                    <a:pt x="0" y="392"/>
                    <a:pt x="121" y="426"/>
                  </a:cubicBezTo>
                  <a:cubicBezTo>
                    <a:pt x="121" y="426"/>
                    <a:pt x="170" y="440"/>
                    <a:pt x="176" y="384"/>
                  </a:cubicBezTo>
                  <a:cubicBezTo>
                    <a:pt x="176" y="340"/>
                    <a:pt x="176" y="340"/>
                    <a:pt x="176" y="340"/>
                  </a:cubicBezTo>
                  <a:cubicBezTo>
                    <a:pt x="176" y="340"/>
                    <a:pt x="170" y="334"/>
                    <a:pt x="182" y="331"/>
                  </a:cubicBezTo>
                  <a:cubicBezTo>
                    <a:pt x="212" y="338"/>
                    <a:pt x="212" y="338"/>
                    <a:pt x="212" y="338"/>
                  </a:cubicBezTo>
                  <a:cubicBezTo>
                    <a:pt x="212" y="338"/>
                    <a:pt x="220" y="353"/>
                    <a:pt x="228" y="338"/>
                  </a:cubicBezTo>
                  <a:cubicBezTo>
                    <a:pt x="228" y="338"/>
                    <a:pt x="258" y="326"/>
                    <a:pt x="222" y="309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68" y="302"/>
                    <a:pt x="179" y="269"/>
                    <a:pt x="118" y="264"/>
                  </a:cubicBezTo>
                  <a:cubicBezTo>
                    <a:pt x="135" y="191"/>
                    <a:pt x="135" y="191"/>
                    <a:pt x="135" y="191"/>
                  </a:cubicBezTo>
                  <a:cubicBezTo>
                    <a:pt x="135" y="191"/>
                    <a:pt x="122" y="167"/>
                    <a:pt x="89" y="198"/>
                  </a:cubicBezTo>
                  <a:cubicBezTo>
                    <a:pt x="89" y="198"/>
                    <a:pt x="116" y="161"/>
                    <a:pt x="132" y="152"/>
                  </a:cubicBezTo>
                  <a:cubicBezTo>
                    <a:pt x="132" y="152"/>
                    <a:pt x="140" y="152"/>
                    <a:pt x="142" y="131"/>
                  </a:cubicBezTo>
                  <a:cubicBezTo>
                    <a:pt x="142" y="131"/>
                    <a:pt x="154" y="129"/>
                    <a:pt x="167" y="94"/>
                  </a:cubicBezTo>
                  <a:cubicBezTo>
                    <a:pt x="167" y="94"/>
                    <a:pt x="186" y="94"/>
                    <a:pt x="204" y="15"/>
                  </a:cubicBezTo>
                  <a:cubicBezTo>
                    <a:pt x="204" y="15"/>
                    <a:pt x="180" y="0"/>
                    <a:pt x="166" y="8"/>
                  </a:cubicBezTo>
                  <a:close/>
                  <a:moveTo>
                    <a:pt x="153" y="371"/>
                  </a:moveTo>
                  <a:cubicBezTo>
                    <a:pt x="145" y="420"/>
                    <a:pt x="75" y="389"/>
                    <a:pt x="75" y="389"/>
                  </a:cubicBezTo>
                  <a:cubicBezTo>
                    <a:pt x="38" y="383"/>
                    <a:pt x="94" y="355"/>
                    <a:pt x="94" y="355"/>
                  </a:cubicBezTo>
                  <a:cubicBezTo>
                    <a:pt x="135" y="334"/>
                    <a:pt x="135" y="334"/>
                    <a:pt x="135" y="334"/>
                  </a:cubicBezTo>
                  <a:cubicBezTo>
                    <a:pt x="172" y="319"/>
                    <a:pt x="153" y="371"/>
                    <a:pt x="153" y="371"/>
                  </a:cubicBezTo>
                  <a:close/>
                  <a:moveTo>
                    <a:pt x="141" y="58"/>
                  </a:moveTo>
                  <a:cubicBezTo>
                    <a:pt x="141" y="58"/>
                    <a:pt x="140" y="53"/>
                    <a:pt x="146" y="49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61" y="38"/>
                    <a:pt x="152" y="74"/>
                    <a:pt x="141" y="5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180081" y="497651"/>
              <a:ext cx="237801" cy="423812"/>
            </a:xfrm>
            <a:custGeom>
              <a:avLst/>
              <a:gdLst>
                <a:gd name="T0" fmla="*/ 136 w 233"/>
                <a:gd name="T1" fmla="*/ 295 h 413"/>
                <a:gd name="T2" fmla="*/ 171 w 233"/>
                <a:gd name="T3" fmla="*/ 228 h 413"/>
                <a:gd name="T4" fmla="*/ 167 w 233"/>
                <a:gd name="T5" fmla="*/ 210 h 413"/>
                <a:gd name="T6" fmla="*/ 172 w 233"/>
                <a:gd name="T7" fmla="*/ 199 h 413"/>
                <a:gd name="T8" fmla="*/ 162 w 233"/>
                <a:gd name="T9" fmla="*/ 191 h 413"/>
                <a:gd name="T10" fmla="*/ 141 w 233"/>
                <a:gd name="T11" fmla="*/ 171 h 413"/>
                <a:gd name="T12" fmla="*/ 153 w 233"/>
                <a:gd name="T13" fmla="*/ 156 h 413"/>
                <a:gd name="T14" fmla="*/ 202 w 233"/>
                <a:gd name="T15" fmla="*/ 127 h 413"/>
                <a:gd name="T16" fmla="*/ 226 w 233"/>
                <a:gd name="T17" fmla="*/ 71 h 413"/>
                <a:gd name="T18" fmla="*/ 214 w 233"/>
                <a:gd name="T19" fmla="*/ 54 h 413"/>
                <a:gd name="T20" fmla="*/ 199 w 233"/>
                <a:gd name="T21" fmla="*/ 73 h 413"/>
                <a:gd name="T22" fmla="*/ 157 w 233"/>
                <a:gd name="T23" fmla="*/ 106 h 413"/>
                <a:gd name="T24" fmla="*/ 179 w 233"/>
                <a:gd name="T25" fmla="*/ 41 h 413"/>
                <a:gd name="T26" fmla="*/ 176 w 233"/>
                <a:gd name="T27" fmla="*/ 18 h 413"/>
                <a:gd name="T28" fmla="*/ 162 w 233"/>
                <a:gd name="T29" fmla="*/ 35 h 413"/>
                <a:gd name="T30" fmla="*/ 106 w 233"/>
                <a:gd name="T31" fmla="*/ 145 h 413"/>
                <a:gd name="T32" fmla="*/ 72 w 233"/>
                <a:gd name="T33" fmla="*/ 163 h 413"/>
                <a:gd name="T34" fmla="*/ 53 w 233"/>
                <a:gd name="T35" fmla="*/ 181 h 413"/>
                <a:gd name="T36" fmla="*/ 82 w 233"/>
                <a:gd name="T37" fmla="*/ 204 h 413"/>
                <a:gd name="T38" fmla="*/ 48 w 233"/>
                <a:gd name="T39" fmla="*/ 276 h 413"/>
                <a:gd name="T40" fmla="*/ 38 w 233"/>
                <a:gd name="T41" fmla="*/ 296 h 413"/>
                <a:gd name="T42" fmla="*/ 62 w 233"/>
                <a:gd name="T43" fmla="*/ 313 h 413"/>
                <a:gd name="T44" fmla="*/ 101 w 233"/>
                <a:gd name="T45" fmla="*/ 291 h 413"/>
                <a:gd name="T46" fmla="*/ 104 w 233"/>
                <a:gd name="T47" fmla="*/ 299 h 413"/>
                <a:gd name="T48" fmla="*/ 93 w 233"/>
                <a:gd name="T49" fmla="*/ 331 h 413"/>
                <a:gd name="T50" fmla="*/ 58 w 233"/>
                <a:gd name="T51" fmla="*/ 357 h 413"/>
                <a:gd name="T52" fmla="*/ 40 w 233"/>
                <a:gd name="T53" fmla="*/ 361 h 413"/>
                <a:gd name="T54" fmla="*/ 37 w 233"/>
                <a:gd name="T55" fmla="*/ 400 h 413"/>
                <a:gd name="T56" fmla="*/ 61 w 233"/>
                <a:gd name="T57" fmla="*/ 392 h 413"/>
                <a:gd name="T58" fmla="*/ 78 w 233"/>
                <a:gd name="T59" fmla="*/ 365 h 413"/>
                <a:gd name="T60" fmla="*/ 127 w 233"/>
                <a:gd name="T61" fmla="*/ 403 h 413"/>
                <a:gd name="T62" fmla="*/ 136 w 233"/>
                <a:gd name="T63" fmla="*/ 365 h 413"/>
                <a:gd name="T64" fmla="*/ 136 w 233"/>
                <a:gd name="T65" fmla="*/ 295 h 413"/>
                <a:gd name="T66" fmla="*/ 100 w 233"/>
                <a:gd name="T67" fmla="*/ 260 h 413"/>
                <a:gd name="T68" fmla="*/ 79 w 233"/>
                <a:gd name="T69" fmla="*/ 273 h 413"/>
                <a:gd name="T70" fmla="*/ 97 w 233"/>
                <a:gd name="T71" fmla="*/ 210 h 413"/>
                <a:gd name="T72" fmla="*/ 125 w 233"/>
                <a:gd name="T73" fmla="*/ 181 h 413"/>
                <a:gd name="T74" fmla="*/ 112 w 233"/>
                <a:gd name="T75" fmla="*/ 233 h 413"/>
                <a:gd name="T76" fmla="*/ 100 w 233"/>
                <a:gd name="T77" fmla="*/ 260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33" h="413">
                  <a:moveTo>
                    <a:pt x="136" y="295"/>
                  </a:moveTo>
                  <a:cubicBezTo>
                    <a:pt x="136" y="295"/>
                    <a:pt x="129" y="275"/>
                    <a:pt x="171" y="228"/>
                  </a:cubicBezTo>
                  <a:cubicBezTo>
                    <a:pt x="167" y="210"/>
                    <a:pt x="167" y="210"/>
                    <a:pt x="167" y="21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62" y="191"/>
                    <a:pt x="162" y="191"/>
                    <a:pt x="162" y="191"/>
                  </a:cubicBezTo>
                  <a:cubicBezTo>
                    <a:pt x="162" y="191"/>
                    <a:pt x="161" y="171"/>
                    <a:pt x="141" y="171"/>
                  </a:cubicBezTo>
                  <a:cubicBezTo>
                    <a:pt x="141" y="171"/>
                    <a:pt x="130" y="168"/>
                    <a:pt x="153" y="156"/>
                  </a:cubicBezTo>
                  <a:cubicBezTo>
                    <a:pt x="202" y="127"/>
                    <a:pt x="202" y="127"/>
                    <a:pt x="202" y="127"/>
                  </a:cubicBezTo>
                  <a:cubicBezTo>
                    <a:pt x="226" y="71"/>
                    <a:pt x="226" y="71"/>
                    <a:pt x="226" y="71"/>
                  </a:cubicBezTo>
                  <a:cubicBezTo>
                    <a:pt x="226" y="71"/>
                    <a:pt x="233" y="61"/>
                    <a:pt x="214" y="54"/>
                  </a:cubicBezTo>
                  <a:cubicBezTo>
                    <a:pt x="214" y="54"/>
                    <a:pt x="212" y="67"/>
                    <a:pt x="199" y="73"/>
                  </a:cubicBezTo>
                  <a:cubicBezTo>
                    <a:pt x="186" y="79"/>
                    <a:pt x="167" y="96"/>
                    <a:pt x="157" y="106"/>
                  </a:cubicBezTo>
                  <a:cubicBezTo>
                    <a:pt x="157" y="106"/>
                    <a:pt x="177" y="53"/>
                    <a:pt x="179" y="41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76" y="18"/>
                    <a:pt x="164" y="0"/>
                    <a:pt x="162" y="3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72" y="163"/>
                    <a:pt x="72" y="163"/>
                    <a:pt x="72" y="163"/>
                  </a:cubicBezTo>
                  <a:cubicBezTo>
                    <a:pt x="72" y="163"/>
                    <a:pt x="38" y="156"/>
                    <a:pt x="53" y="181"/>
                  </a:cubicBezTo>
                  <a:cubicBezTo>
                    <a:pt x="82" y="204"/>
                    <a:pt x="82" y="204"/>
                    <a:pt x="82" y="204"/>
                  </a:cubicBezTo>
                  <a:cubicBezTo>
                    <a:pt x="48" y="276"/>
                    <a:pt x="48" y="276"/>
                    <a:pt x="48" y="276"/>
                  </a:cubicBezTo>
                  <a:cubicBezTo>
                    <a:pt x="38" y="296"/>
                    <a:pt x="38" y="296"/>
                    <a:pt x="38" y="296"/>
                  </a:cubicBezTo>
                  <a:cubicBezTo>
                    <a:pt x="62" y="313"/>
                    <a:pt x="62" y="313"/>
                    <a:pt x="62" y="313"/>
                  </a:cubicBezTo>
                  <a:cubicBezTo>
                    <a:pt x="101" y="291"/>
                    <a:pt x="101" y="291"/>
                    <a:pt x="101" y="291"/>
                  </a:cubicBezTo>
                  <a:cubicBezTo>
                    <a:pt x="101" y="291"/>
                    <a:pt x="106" y="291"/>
                    <a:pt x="104" y="299"/>
                  </a:cubicBezTo>
                  <a:cubicBezTo>
                    <a:pt x="93" y="331"/>
                    <a:pt x="93" y="331"/>
                    <a:pt x="93" y="331"/>
                  </a:cubicBezTo>
                  <a:cubicBezTo>
                    <a:pt x="93" y="331"/>
                    <a:pt x="67" y="358"/>
                    <a:pt x="58" y="357"/>
                  </a:cubicBezTo>
                  <a:cubicBezTo>
                    <a:pt x="58" y="357"/>
                    <a:pt x="54" y="357"/>
                    <a:pt x="40" y="361"/>
                  </a:cubicBezTo>
                  <a:cubicBezTo>
                    <a:pt x="40" y="361"/>
                    <a:pt x="0" y="381"/>
                    <a:pt x="37" y="400"/>
                  </a:cubicBezTo>
                  <a:cubicBezTo>
                    <a:pt x="37" y="400"/>
                    <a:pt x="48" y="413"/>
                    <a:pt x="61" y="392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127" y="403"/>
                    <a:pt x="127" y="403"/>
                    <a:pt x="127" y="403"/>
                  </a:cubicBezTo>
                  <a:cubicBezTo>
                    <a:pt x="127" y="403"/>
                    <a:pt x="138" y="390"/>
                    <a:pt x="136" y="365"/>
                  </a:cubicBezTo>
                  <a:lnTo>
                    <a:pt x="136" y="295"/>
                  </a:lnTo>
                  <a:close/>
                  <a:moveTo>
                    <a:pt x="100" y="260"/>
                  </a:moveTo>
                  <a:cubicBezTo>
                    <a:pt x="79" y="273"/>
                    <a:pt x="79" y="273"/>
                    <a:pt x="79" y="273"/>
                  </a:cubicBezTo>
                  <a:cubicBezTo>
                    <a:pt x="97" y="210"/>
                    <a:pt x="97" y="210"/>
                    <a:pt x="97" y="210"/>
                  </a:cubicBezTo>
                  <a:cubicBezTo>
                    <a:pt x="104" y="190"/>
                    <a:pt x="125" y="181"/>
                    <a:pt x="125" y="181"/>
                  </a:cubicBezTo>
                  <a:cubicBezTo>
                    <a:pt x="125" y="200"/>
                    <a:pt x="112" y="233"/>
                    <a:pt x="112" y="233"/>
                  </a:cubicBezTo>
                  <a:cubicBezTo>
                    <a:pt x="107" y="250"/>
                    <a:pt x="100" y="260"/>
                    <a:pt x="100" y="2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1313008" y="816589"/>
              <a:ext cx="84590" cy="75095"/>
            </a:xfrm>
            <a:custGeom>
              <a:avLst/>
              <a:gdLst>
                <a:gd name="T0" fmla="*/ 61 w 83"/>
                <a:gd name="T1" fmla="*/ 10 h 73"/>
                <a:gd name="T2" fmla="*/ 26 w 83"/>
                <a:gd name="T3" fmla="*/ 0 h 73"/>
                <a:gd name="T4" fmla="*/ 21 w 83"/>
                <a:gd name="T5" fmla="*/ 13 h 73"/>
                <a:gd name="T6" fmla="*/ 44 w 83"/>
                <a:gd name="T7" fmla="*/ 46 h 73"/>
                <a:gd name="T8" fmla="*/ 68 w 83"/>
                <a:gd name="T9" fmla="*/ 52 h 73"/>
                <a:gd name="T10" fmla="*/ 76 w 83"/>
                <a:gd name="T11" fmla="*/ 35 h 73"/>
                <a:gd name="T12" fmla="*/ 61 w 83"/>
                <a:gd name="T13" fmla="*/ 1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3">
                  <a:moveTo>
                    <a:pt x="61" y="1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0" y="0"/>
                    <a:pt x="21" y="13"/>
                  </a:cubicBezTo>
                  <a:cubicBezTo>
                    <a:pt x="21" y="13"/>
                    <a:pt x="39" y="31"/>
                    <a:pt x="44" y="46"/>
                  </a:cubicBezTo>
                  <a:cubicBezTo>
                    <a:pt x="44" y="46"/>
                    <a:pt x="49" y="73"/>
                    <a:pt x="68" y="52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83" y="19"/>
                    <a:pt x="61" y="1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51445" tIns="25721" rIns="51445" bIns="25721" numCol="1" anchor="t" anchorCtr="0" compatLnSpc="1"/>
            <a:lstStyle/>
            <a:p>
              <a:pPr defTabSz="685800"/>
              <a:endParaRPr lang="zh-CN" altLang="en-US" sz="1015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grpSp>
          <p:nvGrpSpPr>
            <p:cNvPr id="23" name="组合 28"/>
            <p:cNvGrpSpPr/>
            <p:nvPr/>
          </p:nvGrpSpPr>
          <p:grpSpPr>
            <a:xfrm>
              <a:off x="232331" y="500672"/>
              <a:ext cx="476896" cy="481212"/>
              <a:chOff x="232331" y="500672"/>
              <a:chExt cx="476896" cy="481212"/>
            </a:xfrm>
            <a:grpFill/>
          </p:grpSpPr>
          <p:sp>
            <p:nvSpPr>
              <p:cNvPr id="24" name="Freeform 13"/>
              <p:cNvSpPr>
                <a:spLocks noEditPoints="1"/>
              </p:cNvSpPr>
              <p:nvPr/>
            </p:nvSpPr>
            <p:spPr bwMode="auto">
              <a:xfrm>
                <a:off x="232331" y="500672"/>
                <a:ext cx="476896" cy="481212"/>
              </a:xfrm>
              <a:custGeom>
                <a:avLst/>
                <a:gdLst>
                  <a:gd name="T0" fmla="*/ 234 w 467"/>
                  <a:gd name="T1" fmla="*/ 0 h 469"/>
                  <a:gd name="T2" fmla="*/ 0 w 467"/>
                  <a:gd name="T3" fmla="*/ 235 h 469"/>
                  <a:gd name="T4" fmla="*/ 234 w 467"/>
                  <a:gd name="T5" fmla="*/ 469 h 469"/>
                  <a:gd name="T6" fmla="*/ 467 w 467"/>
                  <a:gd name="T7" fmla="*/ 235 h 469"/>
                  <a:gd name="T8" fmla="*/ 234 w 467"/>
                  <a:gd name="T9" fmla="*/ 0 h 469"/>
                  <a:gd name="T10" fmla="*/ 234 w 467"/>
                  <a:gd name="T11" fmla="*/ 461 h 469"/>
                  <a:gd name="T12" fmla="*/ 9 w 467"/>
                  <a:gd name="T13" fmla="*/ 235 h 469"/>
                  <a:gd name="T14" fmla="*/ 234 w 467"/>
                  <a:gd name="T15" fmla="*/ 9 h 469"/>
                  <a:gd name="T16" fmla="*/ 459 w 467"/>
                  <a:gd name="T17" fmla="*/ 235 h 469"/>
                  <a:gd name="T18" fmla="*/ 234 w 467"/>
                  <a:gd name="T19" fmla="*/ 461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7" h="469">
                    <a:moveTo>
                      <a:pt x="234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4"/>
                      <a:pt x="105" y="469"/>
                      <a:pt x="234" y="469"/>
                    </a:cubicBezTo>
                    <a:cubicBezTo>
                      <a:pt x="363" y="469"/>
                      <a:pt x="467" y="364"/>
                      <a:pt x="467" y="235"/>
                    </a:cubicBezTo>
                    <a:cubicBezTo>
                      <a:pt x="467" y="105"/>
                      <a:pt x="363" y="0"/>
                      <a:pt x="234" y="0"/>
                    </a:cubicBezTo>
                    <a:close/>
                    <a:moveTo>
                      <a:pt x="234" y="461"/>
                    </a:moveTo>
                    <a:cubicBezTo>
                      <a:pt x="109" y="461"/>
                      <a:pt x="9" y="360"/>
                      <a:pt x="9" y="235"/>
                    </a:cubicBezTo>
                    <a:cubicBezTo>
                      <a:pt x="9" y="110"/>
                      <a:pt x="109" y="9"/>
                      <a:pt x="234" y="9"/>
                    </a:cubicBezTo>
                    <a:cubicBezTo>
                      <a:pt x="358" y="9"/>
                      <a:pt x="459" y="110"/>
                      <a:pt x="459" y="235"/>
                    </a:cubicBezTo>
                    <a:cubicBezTo>
                      <a:pt x="459" y="360"/>
                      <a:pt x="358" y="461"/>
                      <a:pt x="234" y="4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7" name="Freeform 14"/>
              <p:cNvSpPr/>
              <p:nvPr/>
            </p:nvSpPr>
            <p:spPr bwMode="auto">
              <a:xfrm>
                <a:off x="427405" y="919305"/>
                <a:ext cx="29779" cy="32800"/>
              </a:xfrm>
              <a:custGeom>
                <a:avLst/>
                <a:gdLst>
                  <a:gd name="T0" fmla="*/ 15 w 29"/>
                  <a:gd name="T1" fmla="*/ 20 h 32"/>
                  <a:gd name="T2" fmla="*/ 15 w 29"/>
                  <a:gd name="T3" fmla="*/ 15 h 32"/>
                  <a:gd name="T4" fmla="*/ 29 w 29"/>
                  <a:gd name="T5" fmla="*/ 17 h 32"/>
                  <a:gd name="T6" fmla="*/ 27 w 29"/>
                  <a:gd name="T7" fmla="*/ 29 h 32"/>
                  <a:gd name="T8" fmla="*/ 21 w 29"/>
                  <a:gd name="T9" fmla="*/ 31 h 32"/>
                  <a:gd name="T10" fmla="*/ 13 w 29"/>
                  <a:gd name="T11" fmla="*/ 31 h 32"/>
                  <a:gd name="T12" fmla="*/ 5 w 29"/>
                  <a:gd name="T13" fmla="*/ 28 h 32"/>
                  <a:gd name="T14" fmla="*/ 1 w 29"/>
                  <a:gd name="T15" fmla="*/ 22 h 32"/>
                  <a:gd name="T16" fmla="*/ 0 w 29"/>
                  <a:gd name="T17" fmla="*/ 14 h 32"/>
                  <a:gd name="T18" fmla="*/ 3 w 29"/>
                  <a:gd name="T19" fmla="*/ 6 h 32"/>
                  <a:gd name="T20" fmla="*/ 10 w 29"/>
                  <a:gd name="T21" fmla="*/ 1 h 32"/>
                  <a:gd name="T22" fmla="*/ 18 w 29"/>
                  <a:gd name="T23" fmla="*/ 1 h 32"/>
                  <a:gd name="T24" fmla="*/ 26 w 29"/>
                  <a:gd name="T25" fmla="*/ 4 h 32"/>
                  <a:gd name="T26" fmla="*/ 29 w 29"/>
                  <a:gd name="T27" fmla="*/ 11 h 32"/>
                  <a:gd name="T28" fmla="*/ 23 w 29"/>
                  <a:gd name="T29" fmla="*/ 11 h 32"/>
                  <a:gd name="T30" fmla="*/ 21 w 29"/>
                  <a:gd name="T31" fmla="*/ 8 h 32"/>
                  <a:gd name="T32" fmla="*/ 17 w 29"/>
                  <a:gd name="T33" fmla="*/ 6 h 32"/>
                  <a:gd name="T34" fmla="*/ 10 w 29"/>
                  <a:gd name="T35" fmla="*/ 7 h 32"/>
                  <a:gd name="T36" fmla="*/ 7 w 29"/>
                  <a:gd name="T37" fmla="*/ 14 h 32"/>
                  <a:gd name="T38" fmla="*/ 8 w 29"/>
                  <a:gd name="T39" fmla="*/ 23 h 32"/>
                  <a:gd name="T40" fmla="*/ 14 w 29"/>
                  <a:gd name="T41" fmla="*/ 26 h 32"/>
                  <a:gd name="T42" fmla="*/ 17 w 29"/>
                  <a:gd name="T43" fmla="*/ 26 h 32"/>
                  <a:gd name="T44" fmla="*/ 21 w 29"/>
                  <a:gd name="T45" fmla="*/ 25 h 32"/>
                  <a:gd name="T46" fmla="*/ 22 w 29"/>
                  <a:gd name="T47" fmla="*/ 21 h 32"/>
                  <a:gd name="T48" fmla="*/ 15 w 29"/>
                  <a:gd name="T4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" h="32">
                    <a:moveTo>
                      <a:pt x="15" y="20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5" y="30"/>
                      <a:pt x="23" y="30"/>
                      <a:pt x="21" y="31"/>
                    </a:cubicBezTo>
                    <a:cubicBezTo>
                      <a:pt x="18" y="32"/>
                      <a:pt x="16" y="32"/>
                      <a:pt x="13" y="31"/>
                    </a:cubicBezTo>
                    <a:cubicBezTo>
                      <a:pt x="10" y="31"/>
                      <a:pt x="7" y="30"/>
                      <a:pt x="5" y="28"/>
                    </a:cubicBezTo>
                    <a:cubicBezTo>
                      <a:pt x="3" y="26"/>
                      <a:pt x="2" y="24"/>
                      <a:pt x="1" y="22"/>
                    </a:cubicBezTo>
                    <a:cubicBezTo>
                      <a:pt x="0" y="19"/>
                      <a:pt x="0" y="16"/>
                      <a:pt x="0" y="14"/>
                    </a:cubicBezTo>
                    <a:cubicBezTo>
                      <a:pt x="1" y="11"/>
                      <a:pt x="2" y="8"/>
                      <a:pt x="3" y="6"/>
                    </a:cubicBezTo>
                    <a:cubicBezTo>
                      <a:pt x="5" y="3"/>
                      <a:pt x="7" y="2"/>
                      <a:pt x="10" y="1"/>
                    </a:cubicBezTo>
                    <a:cubicBezTo>
                      <a:pt x="12" y="0"/>
                      <a:pt x="15" y="0"/>
                      <a:pt x="18" y="1"/>
                    </a:cubicBezTo>
                    <a:cubicBezTo>
                      <a:pt x="21" y="1"/>
                      <a:pt x="24" y="2"/>
                      <a:pt x="26" y="4"/>
                    </a:cubicBezTo>
                    <a:cubicBezTo>
                      <a:pt x="28" y="6"/>
                      <a:pt x="29" y="8"/>
                      <a:pt x="29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0"/>
                      <a:pt x="22" y="9"/>
                      <a:pt x="21" y="8"/>
                    </a:cubicBezTo>
                    <a:cubicBezTo>
                      <a:pt x="20" y="7"/>
                      <a:pt x="18" y="6"/>
                      <a:pt x="17" y="6"/>
                    </a:cubicBezTo>
                    <a:cubicBezTo>
                      <a:pt x="14" y="5"/>
                      <a:pt x="12" y="6"/>
                      <a:pt x="10" y="7"/>
                    </a:cubicBezTo>
                    <a:cubicBezTo>
                      <a:pt x="8" y="9"/>
                      <a:pt x="7" y="11"/>
                      <a:pt x="7" y="14"/>
                    </a:cubicBezTo>
                    <a:cubicBezTo>
                      <a:pt x="6" y="18"/>
                      <a:pt x="6" y="21"/>
                      <a:pt x="8" y="23"/>
                    </a:cubicBezTo>
                    <a:cubicBezTo>
                      <a:pt x="9" y="25"/>
                      <a:pt x="11" y="26"/>
                      <a:pt x="14" y="26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9" y="26"/>
                      <a:pt x="20" y="25"/>
                      <a:pt x="21" y="25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15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29" name="Freeform 15"/>
              <p:cNvSpPr/>
              <p:nvPr/>
            </p:nvSpPr>
            <p:spPr bwMode="auto">
              <a:xfrm>
                <a:off x="391584" y="908947"/>
                <a:ext cx="34095" cy="37116"/>
              </a:xfrm>
              <a:custGeom>
                <a:avLst/>
                <a:gdLst>
                  <a:gd name="T0" fmla="*/ 0 w 79"/>
                  <a:gd name="T1" fmla="*/ 67 h 86"/>
                  <a:gd name="T2" fmla="*/ 24 w 79"/>
                  <a:gd name="T3" fmla="*/ 0 h 86"/>
                  <a:gd name="T4" fmla="*/ 36 w 79"/>
                  <a:gd name="T5" fmla="*/ 5 h 86"/>
                  <a:gd name="T6" fmla="*/ 48 w 79"/>
                  <a:gd name="T7" fmla="*/ 60 h 86"/>
                  <a:gd name="T8" fmla="*/ 64 w 79"/>
                  <a:gd name="T9" fmla="*/ 14 h 86"/>
                  <a:gd name="T10" fmla="*/ 79 w 79"/>
                  <a:gd name="T11" fmla="*/ 19 h 86"/>
                  <a:gd name="T12" fmla="*/ 55 w 79"/>
                  <a:gd name="T13" fmla="*/ 86 h 86"/>
                  <a:gd name="T14" fmla="*/ 41 w 79"/>
                  <a:gd name="T15" fmla="*/ 81 h 86"/>
                  <a:gd name="T16" fmla="*/ 29 w 79"/>
                  <a:gd name="T17" fmla="*/ 26 h 86"/>
                  <a:gd name="T18" fmla="*/ 12 w 79"/>
                  <a:gd name="T19" fmla="*/ 72 h 86"/>
                  <a:gd name="T20" fmla="*/ 0 w 79"/>
                  <a:gd name="T21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" h="86">
                    <a:moveTo>
                      <a:pt x="0" y="67"/>
                    </a:moveTo>
                    <a:lnTo>
                      <a:pt x="24" y="0"/>
                    </a:lnTo>
                    <a:lnTo>
                      <a:pt x="36" y="5"/>
                    </a:lnTo>
                    <a:lnTo>
                      <a:pt x="48" y="60"/>
                    </a:lnTo>
                    <a:lnTo>
                      <a:pt x="64" y="14"/>
                    </a:lnTo>
                    <a:lnTo>
                      <a:pt x="79" y="19"/>
                    </a:lnTo>
                    <a:lnTo>
                      <a:pt x="55" y="86"/>
                    </a:lnTo>
                    <a:lnTo>
                      <a:pt x="41" y="81"/>
                    </a:lnTo>
                    <a:lnTo>
                      <a:pt x="29" y="26"/>
                    </a:lnTo>
                    <a:lnTo>
                      <a:pt x="12" y="72"/>
                    </a:lnTo>
                    <a:lnTo>
                      <a:pt x="0" y="6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0" name="Freeform 16"/>
              <p:cNvSpPr/>
              <p:nvPr/>
            </p:nvSpPr>
            <p:spPr bwMode="auto">
              <a:xfrm>
                <a:off x="303110" y="850684"/>
                <a:ext cx="39705" cy="38842"/>
              </a:xfrm>
              <a:custGeom>
                <a:avLst/>
                <a:gdLst>
                  <a:gd name="T0" fmla="*/ 0 w 92"/>
                  <a:gd name="T1" fmla="*/ 47 h 90"/>
                  <a:gd name="T2" fmla="*/ 56 w 92"/>
                  <a:gd name="T3" fmla="*/ 0 h 90"/>
                  <a:gd name="T4" fmla="*/ 66 w 92"/>
                  <a:gd name="T5" fmla="*/ 12 h 90"/>
                  <a:gd name="T6" fmla="*/ 47 w 92"/>
                  <a:gd name="T7" fmla="*/ 64 h 90"/>
                  <a:gd name="T8" fmla="*/ 85 w 92"/>
                  <a:gd name="T9" fmla="*/ 33 h 90"/>
                  <a:gd name="T10" fmla="*/ 92 w 92"/>
                  <a:gd name="T11" fmla="*/ 43 h 90"/>
                  <a:gd name="T12" fmla="*/ 37 w 92"/>
                  <a:gd name="T13" fmla="*/ 90 h 90"/>
                  <a:gd name="T14" fmla="*/ 28 w 92"/>
                  <a:gd name="T15" fmla="*/ 78 h 90"/>
                  <a:gd name="T16" fmla="*/ 45 w 92"/>
                  <a:gd name="T17" fmla="*/ 26 h 90"/>
                  <a:gd name="T18" fmla="*/ 9 w 92"/>
                  <a:gd name="T19" fmla="*/ 57 h 90"/>
                  <a:gd name="T20" fmla="*/ 0 w 92"/>
                  <a:gd name="T21" fmla="*/ 47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" h="90">
                    <a:moveTo>
                      <a:pt x="0" y="47"/>
                    </a:moveTo>
                    <a:lnTo>
                      <a:pt x="56" y="0"/>
                    </a:lnTo>
                    <a:lnTo>
                      <a:pt x="66" y="12"/>
                    </a:lnTo>
                    <a:lnTo>
                      <a:pt x="47" y="64"/>
                    </a:lnTo>
                    <a:lnTo>
                      <a:pt x="85" y="33"/>
                    </a:lnTo>
                    <a:lnTo>
                      <a:pt x="92" y="43"/>
                    </a:lnTo>
                    <a:lnTo>
                      <a:pt x="37" y="90"/>
                    </a:lnTo>
                    <a:lnTo>
                      <a:pt x="28" y="78"/>
                    </a:lnTo>
                    <a:lnTo>
                      <a:pt x="45" y="26"/>
                    </a:lnTo>
                    <a:lnTo>
                      <a:pt x="9" y="57"/>
                    </a:lnTo>
                    <a:lnTo>
                      <a:pt x="0" y="4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1" name="Freeform 17"/>
              <p:cNvSpPr>
                <a:spLocks noEditPoints="1"/>
              </p:cNvSpPr>
              <p:nvPr/>
            </p:nvSpPr>
            <p:spPr bwMode="auto">
              <a:xfrm>
                <a:off x="360079" y="896863"/>
                <a:ext cx="32800" cy="32800"/>
              </a:xfrm>
              <a:custGeom>
                <a:avLst/>
                <a:gdLst>
                  <a:gd name="T0" fmla="*/ 15 w 32"/>
                  <a:gd name="T1" fmla="*/ 6 h 32"/>
                  <a:gd name="T2" fmla="*/ 21 w 32"/>
                  <a:gd name="T3" fmla="*/ 7 h 32"/>
                  <a:gd name="T4" fmla="*/ 25 w 32"/>
                  <a:gd name="T5" fmla="*/ 13 h 32"/>
                  <a:gd name="T6" fmla="*/ 23 w 32"/>
                  <a:gd name="T7" fmla="*/ 20 h 32"/>
                  <a:gd name="T8" fmla="*/ 17 w 32"/>
                  <a:gd name="T9" fmla="*/ 26 h 32"/>
                  <a:gd name="T10" fmla="*/ 11 w 32"/>
                  <a:gd name="T11" fmla="*/ 25 h 32"/>
                  <a:gd name="T12" fmla="*/ 7 w 32"/>
                  <a:gd name="T13" fmla="*/ 20 h 32"/>
                  <a:gd name="T14" fmla="*/ 9 w 32"/>
                  <a:gd name="T15" fmla="*/ 12 h 32"/>
                  <a:gd name="T16" fmla="*/ 15 w 32"/>
                  <a:gd name="T17" fmla="*/ 6 h 32"/>
                  <a:gd name="T18" fmla="*/ 1 w 32"/>
                  <a:gd name="T19" fmla="*/ 20 h 32"/>
                  <a:gd name="T20" fmla="*/ 8 w 32"/>
                  <a:gd name="T21" fmla="*/ 29 h 32"/>
                  <a:gd name="T22" fmla="*/ 19 w 32"/>
                  <a:gd name="T23" fmla="*/ 31 h 32"/>
                  <a:gd name="T24" fmla="*/ 29 w 32"/>
                  <a:gd name="T25" fmla="*/ 24 h 32"/>
                  <a:gd name="T26" fmla="*/ 31 w 32"/>
                  <a:gd name="T27" fmla="*/ 12 h 32"/>
                  <a:gd name="T28" fmla="*/ 24 w 32"/>
                  <a:gd name="T29" fmla="*/ 3 h 32"/>
                  <a:gd name="T30" fmla="*/ 18 w 32"/>
                  <a:gd name="T31" fmla="*/ 1 h 32"/>
                  <a:gd name="T32" fmla="*/ 13 w 32"/>
                  <a:gd name="T33" fmla="*/ 1 h 32"/>
                  <a:gd name="T34" fmla="*/ 8 w 32"/>
                  <a:gd name="T35" fmla="*/ 3 h 32"/>
                  <a:gd name="T36" fmla="*/ 3 w 32"/>
                  <a:gd name="T37" fmla="*/ 9 h 32"/>
                  <a:gd name="T38" fmla="*/ 1 w 32"/>
                  <a:gd name="T39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2" h="32">
                    <a:moveTo>
                      <a:pt x="15" y="6"/>
                    </a:moveTo>
                    <a:cubicBezTo>
                      <a:pt x="17" y="6"/>
                      <a:pt x="19" y="6"/>
                      <a:pt x="21" y="7"/>
                    </a:cubicBezTo>
                    <a:cubicBezTo>
                      <a:pt x="24" y="9"/>
                      <a:pt x="25" y="10"/>
                      <a:pt x="25" y="13"/>
                    </a:cubicBezTo>
                    <a:cubicBezTo>
                      <a:pt x="26" y="15"/>
                      <a:pt x="25" y="17"/>
                      <a:pt x="23" y="20"/>
                    </a:cubicBezTo>
                    <a:cubicBezTo>
                      <a:pt x="21" y="23"/>
                      <a:pt x="19" y="25"/>
                      <a:pt x="17" y="26"/>
                    </a:cubicBezTo>
                    <a:cubicBezTo>
                      <a:pt x="15" y="27"/>
                      <a:pt x="13" y="26"/>
                      <a:pt x="11" y="25"/>
                    </a:cubicBezTo>
                    <a:cubicBezTo>
                      <a:pt x="8" y="24"/>
                      <a:pt x="7" y="22"/>
                      <a:pt x="7" y="20"/>
                    </a:cubicBezTo>
                    <a:cubicBezTo>
                      <a:pt x="6" y="17"/>
                      <a:pt x="7" y="15"/>
                      <a:pt x="9" y="12"/>
                    </a:cubicBezTo>
                    <a:cubicBezTo>
                      <a:pt x="11" y="9"/>
                      <a:pt x="13" y="7"/>
                      <a:pt x="15" y="6"/>
                    </a:cubicBezTo>
                    <a:close/>
                    <a:moveTo>
                      <a:pt x="1" y="20"/>
                    </a:moveTo>
                    <a:cubicBezTo>
                      <a:pt x="2" y="24"/>
                      <a:pt x="4" y="27"/>
                      <a:pt x="8" y="29"/>
                    </a:cubicBezTo>
                    <a:cubicBezTo>
                      <a:pt x="12" y="32"/>
                      <a:pt x="15" y="32"/>
                      <a:pt x="19" y="31"/>
                    </a:cubicBezTo>
                    <a:cubicBezTo>
                      <a:pt x="23" y="30"/>
                      <a:pt x="26" y="28"/>
                      <a:pt x="29" y="24"/>
                    </a:cubicBezTo>
                    <a:cubicBezTo>
                      <a:pt x="31" y="20"/>
                      <a:pt x="32" y="16"/>
                      <a:pt x="31" y="12"/>
                    </a:cubicBezTo>
                    <a:cubicBezTo>
                      <a:pt x="30" y="8"/>
                      <a:pt x="28" y="5"/>
                      <a:pt x="24" y="3"/>
                    </a:cubicBezTo>
                    <a:cubicBezTo>
                      <a:pt x="22" y="2"/>
                      <a:pt x="20" y="1"/>
                      <a:pt x="18" y="1"/>
                    </a:cubicBezTo>
                    <a:cubicBezTo>
                      <a:pt x="16" y="0"/>
                      <a:pt x="15" y="0"/>
                      <a:pt x="13" y="1"/>
                    </a:cubicBezTo>
                    <a:cubicBezTo>
                      <a:pt x="11" y="1"/>
                      <a:pt x="10" y="2"/>
                      <a:pt x="8" y="3"/>
                    </a:cubicBezTo>
                    <a:cubicBezTo>
                      <a:pt x="7" y="4"/>
                      <a:pt x="5" y="6"/>
                      <a:pt x="3" y="9"/>
                    </a:cubicBezTo>
                    <a:cubicBezTo>
                      <a:pt x="1" y="13"/>
                      <a:pt x="0" y="17"/>
                      <a:pt x="1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2" name="Freeform 18"/>
              <p:cNvSpPr>
                <a:spLocks noEditPoints="1"/>
              </p:cNvSpPr>
              <p:nvPr/>
            </p:nvSpPr>
            <p:spPr bwMode="auto">
              <a:xfrm>
                <a:off x="327279" y="873989"/>
                <a:ext cx="34958" cy="34958"/>
              </a:xfrm>
              <a:custGeom>
                <a:avLst/>
                <a:gdLst>
                  <a:gd name="T0" fmla="*/ 24 w 34"/>
                  <a:gd name="T1" fmla="*/ 9 h 34"/>
                  <a:gd name="T2" fmla="*/ 27 w 34"/>
                  <a:gd name="T3" fmla="*/ 13 h 34"/>
                  <a:gd name="T4" fmla="*/ 28 w 34"/>
                  <a:gd name="T5" fmla="*/ 15 h 34"/>
                  <a:gd name="T6" fmla="*/ 28 w 34"/>
                  <a:gd name="T7" fmla="*/ 19 h 34"/>
                  <a:gd name="T8" fmla="*/ 25 w 34"/>
                  <a:gd name="T9" fmla="*/ 23 h 34"/>
                  <a:gd name="T10" fmla="*/ 21 w 34"/>
                  <a:gd name="T11" fmla="*/ 27 h 34"/>
                  <a:gd name="T12" fmla="*/ 18 w 34"/>
                  <a:gd name="T13" fmla="*/ 28 h 34"/>
                  <a:gd name="T14" fmla="*/ 15 w 34"/>
                  <a:gd name="T15" fmla="*/ 28 h 34"/>
                  <a:gd name="T16" fmla="*/ 12 w 34"/>
                  <a:gd name="T17" fmla="*/ 25 h 34"/>
                  <a:gd name="T18" fmla="*/ 8 w 34"/>
                  <a:gd name="T19" fmla="*/ 23 h 34"/>
                  <a:gd name="T20" fmla="*/ 21 w 34"/>
                  <a:gd name="T21" fmla="*/ 7 h 34"/>
                  <a:gd name="T22" fmla="*/ 24 w 34"/>
                  <a:gd name="T23" fmla="*/ 9 h 34"/>
                  <a:gd name="T24" fmla="*/ 0 w 34"/>
                  <a:gd name="T25" fmla="*/ 23 h 34"/>
                  <a:gd name="T26" fmla="*/ 9 w 34"/>
                  <a:gd name="T27" fmla="*/ 30 h 34"/>
                  <a:gd name="T28" fmla="*/ 14 w 34"/>
                  <a:gd name="T29" fmla="*/ 33 h 34"/>
                  <a:gd name="T30" fmla="*/ 19 w 34"/>
                  <a:gd name="T31" fmla="*/ 34 h 34"/>
                  <a:gd name="T32" fmla="*/ 25 w 34"/>
                  <a:gd name="T33" fmla="*/ 32 h 34"/>
                  <a:gd name="T34" fmla="*/ 29 w 34"/>
                  <a:gd name="T35" fmla="*/ 28 h 34"/>
                  <a:gd name="T36" fmla="*/ 33 w 34"/>
                  <a:gd name="T37" fmla="*/ 21 h 34"/>
                  <a:gd name="T38" fmla="*/ 34 w 34"/>
                  <a:gd name="T39" fmla="*/ 16 h 34"/>
                  <a:gd name="T40" fmla="*/ 33 w 34"/>
                  <a:gd name="T41" fmla="*/ 11 h 34"/>
                  <a:gd name="T42" fmla="*/ 29 w 34"/>
                  <a:gd name="T43" fmla="*/ 7 h 34"/>
                  <a:gd name="T44" fmla="*/ 20 w 34"/>
                  <a:gd name="T45" fmla="*/ 0 h 34"/>
                  <a:gd name="T46" fmla="*/ 0 w 34"/>
                  <a:gd name="T47" fmla="*/ 2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4" h="34">
                    <a:moveTo>
                      <a:pt x="24" y="9"/>
                    </a:moveTo>
                    <a:cubicBezTo>
                      <a:pt x="25" y="11"/>
                      <a:pt x="27" y="12"/>
                      <a:pt x="27" y="13"/>
                    </a:cubicBezTo>
                    <a:cubicBezTo>
                      <a:pt x="28" y="14"/>
                      <a:pt x="28" y="14"/>
                      <a:pt x="28" y="15"/>
                    </a:cubicBezTo>
                    <a:cubicBezTo>
                      <a:pt x="29" y="16"/>
                      <a:pt x="28" y="18"/>
                      <a:pt x="28" y="19"/>
                    </a:cubicBezTo>
                    <a:cubicBezTo>
                      <a:pt x="27" y="20"/>
                      <a:pt x="26" y="22"/>
                      <a:pt x="25" y="23"/>
                    </a:cubicBezTo>
                    <a:cubicBezTo>
                      <a:pt x="23" y="25"/>
                      <a:pt x="22" y="26"/>
                      <a:pt x="21" y="27"/>
                    </a:cubicBezTo>
                    <a:cubicBezTo>
                      <a:pt x="20" y="28"/>
                      <a:pt x="18" y="28"/>
                      <a:pt x="18" y="28"/>
                    </a:cubicBezTo>
                    <a:cubicBezTo>
                      <a:pt x="17" y="28"/>
                      <a:pt x="16" y="28"/>
                      <a:pt x="15" y="28"/>
                    </a:cubicBezTo>
                    <a:cubicBezTo>
                      <a:pt x="14" y="27"/>
                      <a:pt x="13" y="27"/>
                      <a:pt x="12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21" y="7"/>
                      <a:pt x="21" y="7"/>
                      <a:pt x="21" y="7"/>
                    </a:cubicBezTo>
                    <a:lnTo>
                      <a:pt x="24" y="9"/>
                    </a:lnTo>
                    <a:close/>
                    <a:moveTo>
                      <a:pt x="0" y="23"/>
                    </a:move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2" y="32"/>
                      <a:pt x="14" y="33"/>
                    </a:cubicBezTo>
                    <a:cubicBezTo>
                      <a:pt x="15" y="34"/>
                      <a:pt x="17" y="34"/>
                      <a:pt x="19" y="34"/>
                    </a:cubicBezTo>
                    <a:cubicBezTo>
                      <a:pt x="21" y="34"/>
                      <a:pt x="23" y="33"/>
                      <a:pt x="25" y="32"/>
                    </a:cubicBezTo>
                    <a:cubicBezTo>
                      <a:pt x="26" y="31"/>
                      <a:pt x="28" y="29"/>
                      <a:pt x="29" y="28"/>
                    </a:cubicBezTo>
                    <a:cubicBezTo>
                      <a:pt x="31" y="25"/>
                      <a:pt x="33" y="23"/>
                      <a:pt x="33" y="21"/>
                    </a:cubicBezTo>
                    <a:cubicBezTo>
                      <a:pt x="34" y="20"/>
                      <a:pt x="34" y="18"/>
                      <a:pt x="34" y="16"/>
                    </a:cubicBezTo>
                    <a:cubicBezTo>
                      <a:pt x="34" y="14"/>
                      <a:pt x="34" y="12"/>
                      <a:pt x="33" y="11"/>
                    </a:cubicBezTo>
                    <a:cubicBezTo>
                      <a:pt x="32" y="10"/>
                      <a:pt x="31" y="8"/>
                      <a:pt x="29" y="7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3" name="Freeform 19"/>
              <p:cNvSpPr>
                <a:spLocks noEditPoints="1"/>
              </p:cNvSpPr>
              <p:nvPr/>
            </p:nvSpPr>
            <p:spPr bwMode="auto">
              <a:xfrm>
                <a:off x="282394" y="832126"/>
                <a:ext cx="36684" cy="31937"/>
              </a:xfrm>
              <a:custGeom>
                <a:avLst/>
                <a:gdLst>
                  <a:gd name="T0" fmla="*/ 38 w 85"/>
                  <a:gd name="T1" fmla="*/ 19 h 74"/>
                  <a:gd name="T2" fmla="*/ 67 w 85"/>
                  <a:gd name="T3" fmla="*/ 14 h 74"/>
                  <a:gd name="T4" fmla="*/ 50 w 85"/>
                  <a:gd name="T5" fmla="*/ 36 h 74"/>
                  <a:gd name="T6" fmla="*/ 38 w 85"/>
                  <a:gd name="T7" fmla="*/ 19 h 74"/>
                  <a:gd name="T8" fmla="*/ 85 w 85"/>
                  <a:gd name="T9" fmla="*/ 14 h 74"/>
                  <a:gd name="T10" fmla="*/ 78 w 85"/>
                  <a:gd name="T11" fmla="*/ 0 h 74"/>
                  <a:gd name="T12" fmla="*/ 0 w 85"/>
                  <a:gd name="T13" fmla="*/ 12 h 74"/>
                  <a:gd name="T14" fmla="*/ 10 w 85"/>
                  <a:gd name="T15" fmla="*/ 24 h 74"/>
                  <a:gd name="T16" fmla="*/ 26 w 85"/>
                  <a:gd name="T17" fmla="*/ 21 h 74"/>
                  <a:gd name="T18" fmla="*/ 40 w 85"/>
                  <a:gd name="T19" fmla="*/ 47 h 74"/>
                  <a:gd name="T20" fmla="*/ 29 w 85"/>
                  <a:gd name="T21" fmla="*/ 59 h 74"/>
                  <a:gd name="T22" fmla="*/ 38 w 85"/>
                  <a:gd name="T23" fmla="*/ 74 h 74"/>
                  <a:gd name="T24" fmla="*/ 85 w 85"/>
                  <a:gd name="T25" fmla="*/ 1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5" h="74">
                    <a:moveTo>
                      <a:pt x="38" y="19"/>
                    </a:moveTo>
                    <a:lnTo>
                      <a:pt x="67" y="14"/>
                    </a:lnTo>
                    <a:lnTo>
                      <a:pt x="50" y="36"/>
                    </a:lnTo>
                    <a:lnTo>
                      <a:pt x="38" y="19"/>
                    </a:lnTo>
                    <a:close/>
                    <a:moveTo>
                      <a:pt x="85" y="14"/>
                    </a:moveTo>
                    <a:lnTo>
                      <a:pt x="78" y="0"/>
                    </a:lnTo>
                    <a:lnTo>
                      <a:pt x="0" y="12"/>
                    </a:lnTo>
                    <a:lnTo>
                      <a:pt x="10" y="24"/>
                    </a:lnTo>
                    <a:lnTo>
                      <a:pt x="26" y="21"/>
                    </a:lnTo>
                    <a:lnTo>
                      <a:pt x="40" y="47"/>
                    </a:lnTo>
                    <a:lnTo>
                      <a:pt x="29" y="59"/>
                    </a:lnTo>
                    <a:lnTo>
                      <a:pt x="38" y="74"/>
                    </a:lnTo>
                    <a:lnTo>
                      <a:pt x="85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4" name="Freeform 20"/>
              <p:cNvSpPr/>
              <p:nvPr/>
            </p:nvSpPr>
            <p:spPr bwMode="auto">
              <a:xfrm>
                <a:off x="271173" y="796305"/>
                <a:ext cx="37979" cy="32800"/>
              </a:xfrm>
              <a:custGeom>
                <a:avLst/>
                <a:gdLst>
                  <a:gd name="T0" fmla="*/ 0 w 88"/>
                  <a:gd name="T1" fmla="*/ 24 h 76"/>
                  <a:gd name="T2" fmla="*/ 66 w 88"/>
                  <a:gd name="T3" fmla="*/ 0 h 76"/>
                  <a:gd name="T4" fmla="*/ 71 w 88"/>
                  <a:gd name="T5" fmla="*/ 12 h 76"/>
                  <a:gd name="T6" fmla="*/ 45 w 88"/>
                  <a:gd name="T7" fmla="*/ 24 h 76"/>
                  <a:gd name="T8" fmla="*/ 55 w 88"/>
                  <a:gd name="T9" fmla="*/ 50 h 76"/>
                  <a:gd name="T10" fmla="*/ 83 w 88"/>
                  <a:gd name="T11" fmla="*/ 40 h 76"/>
                  <a:gd name="T12" fmla="*/ 88 w 88"/>
                  <a:gd name="T13" fmla="*/ 52 h 76"/>
                  <a:gd name="T14" fmla="*/ 19 w 88"/>
                  <a:gd name="T15" fmla="*/ 76 h 76"/>
                  <a:gd name="T16" fmla="*/ 14 w 88"/>
                  <a:gd name="T17" fmla="*/ 64 h 76"/>
                  <a:gd name="T18" fmla="*/ 43 w 88"/>
                  <a:gd name="T19" fmla="*/ 52 h 76"/>
                  <a:gd name="T20" fmla="*/ 33 w 88"/>
                  <a:gd name="T21" fmla="*/ 26 h 76"/>
                  <a:gd name="T22" fmla="*/ 5 w 88"/>
                  <a:gd name="T23" fmla="*/ 38 h 76"/>
                  <a:gd name="T24" fmla="*/ 0 w 88"/>
                  <a:gd name="T25" fmla="*/ 2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76">
                    <a:moveTo>
                      <a:pt x="0" y="24"/>
                    </a:moveTo>
                    <a:lnTo>
                      <a:pt x="66" y="0"/>
                    </a:lnTo>
                    <a:lnTo>
                      <a:pt x="71" y="12"/>
                    </a:lnTo>
                    <a:lnTo>
                      <a:pt x="45" y="24"/>
                    </a:lnTo>
                    <a:lnTo>
                      <a:pt x="55" y="50"/>
                    </a:lnTo>
                    <a:lnTo>
                      <a:pt x="83" y="40"/>
                    </a:lnTo>
                    <a:lnTo>
                      <a:pt x="88" y="52"/>
                    </a:lnTo>
                    <a:lnTo>
                      <a:pt x="19" y="76"/>
                    </a:lnTo>
                    <a:lnTo>
                      <a:pt x="14" y="64"/>
                    </a:lnTo>
                    <a:lnTo>
                      <a:pt x="43" y="52"/>
                    </a:lnTo>
                    <a:lnTo>
                      <a:pt x="33" y="26"/>
                    </a:lnTo>
                    <a:lnTo>
                      <a:pt x="5" y="38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5" name="Freeform 21"/>
              <p:cNvSpPr/>
              <p:nvPr/>
            </p:nvSpPr>
            <p:spPr bwMode="auto">
              <a:xfrm>
                <a:off x="264268" y="768683"/>
                <a:ext cx="33663" cy="26326"/>
              </a:xfrm>
              <a:custGeom>
                <a:avLst/>
                <a:gdLst>
                  <a:gd name="T0" fmla="*/ 9 w 33"/>
                  <a:gd name="T1" fmla="*/ 1 h 26"/>
                  <a:gd name="T2" fmla="*/ 11 w 33"/>
                  <a:gd name="T3" fmla="*/ 7 h 26"/>
                  <a:gd name="T4" fmla="*/ 7 w 33"/>
                  <a:gd name="T5" fmla="*/ 10 h 26"/>
                  <a:gd name="T6" fmla="*/ 6 w 33"/>
                  <a:gd name="T7" fmla="*/ 15 h 26"/>
                  <a:gd name="T8" fmla="*/ 8 w 33"/>
                  <a:gd name="T9" fmla="*/ 19 h 26"/>
                  <a:gd name="T10" fmla="*/ 11 w 33"/>
                  <a:gd name="T11" fmla="*/ 20 h 26"/>
                  <a:gd name="T12" fmla="*/ 13 w 33"/>
                  <a:gd name="T13" fmla="*/ 19 h 26"/>
                  <a:gd name="T14" fmla="*/ 14 w 33"/>
                  <a:gd name="T15" fmla="*/ 16 h 26"/>
                  <a:gd name="T16" fmla="*/ 14 w 33"/>
                  <a:gd name="T17" fmla="*/ 11 h 26"/>
                  <a:gd name="T18" fmla="*/ 16 w 33"/>
                  <a:gd name="T19" fmla="*/ 4 h 26"/>
                  <a:gd name="T20" fmla="*/ 22 w 33"/>
                  <a:gd name="T21" fmla="*/ 0 h 26"/>
                  <a:gd name="T22" fmla="*/ 26 w 33"/>
                  <a:gd name="T23" fmla="*/ 1 h 26"/>
                  <a:gd name="T24" fmla="*/ 30 w 33"/>
                  <a:gd name="T25" fmla="*/ 4 h 26"/>
                  <a:gd name="T26" fmla="*/ 32 w 33"/>
                  <a:gd name="T27" fmla="*/ 10 h 26"/>
                  <a:gd name="T28" fmla="*/ 31 w 33"/>
                  <a:gd name="T29" fmla="*/ 18 h 26"/>
                  <a:gd name="T30" fmla="*/ 25 w 33"/>
                  <a:gd name="T31" fmla="*/ 22 h 26"/>
                  <a:gd name="T32" fmla="*/ 24 w 33"/>
                  <a:gd name="T33" fmla="*/ 17 h 26"/>
                  <a:gd name="T34" fmla="*/ 27 w 33"/>
                  <a:gd name="T35" fmla="*/ 14 h 26"/>
                  <a:gd name="T36" fmla="*/ 27 w 33"/>
                  <a:gd name="T37" fmla="*/ 10 h 26"/>
                  <a:gd name="T38" fmla="*/ 25 w 33"/>
                  <a:gd name="T39" fmla="*/ 7 h 26"/>
                  <a:gd name="T40" fmla="*/ 23 w 33"/>
                  <a:gd name="T41" fmla="*/ 6 h 26"/>
                  <a:gd name="T42" fmla="*/ 21 w 33"/>
                  <a:gd name="T43" fmla="*/ 7 h 26"/>
                  <a:gd name="T44" fmla="*/ 20 w 33"/>
                  <a:gd name="T45" fmla="*/ 13 h 26"/>
                  <a:gd name="T46" fmla="*/ 19 w 33"/>
                  <a:gd name="T47" fmla="*/ 20 h 26"/>
                  <a:gd name="T48" fmla="*/ 17 w 33"/>
                  <a:gd name="T49" fmla="*/ 24 h 26"/>
                  <a:gd name="T50" fmla="*/ 12 w 33"/>
                  <a:gd name="T51" fmla="*/ 26 h 26"/>
                  <a:gd name="T52" fmla="*/ 7 w 33"/>
                  <a:gd name="T53" fmla="*/ 25 h 26"/>
                  <a:gd name="T54" fmla="*/ 3 w 33"/>
                  <a:gd name="T55" fmla="*/ 22 h 26"/>
                  <a:gd name="T56" fmla="*/ 1 w 33"/>
                  <a:gd name="T57" fmla="*/ 15 h 26"/>
                  <a:gd name="T58" fmla="*/ 2 w 33"/>
                  <a:gd name="T59" fmla="*/ 6 h 26"/>
                  <a:gd name="T60" fmla="*/ 9 w 33"/>
                  <a:gd name="T61" fmla="*/ 1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" h="26">
                    <a:moveTo>
                      <a:pt x="9" y="1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9" y="8"/>
                      <a:pt x="7" y="9"/>
                      <a:pt x="7" y="10"/>
                    </a:cubicBezTo>
                    <a:cubicBezTo>
                      <a:pt x="6" y="11"/>
                      <a:pt x="6" y="13"/>
                      <a:pt x="6" y="15"/>
                    </a:cubicBezTo>
                    <a:cubicBezTo>
                      <a:pt x="6" y="16"/>
                      <a:pt x="7" y="18"/>
                      <a:pt x="8" y="19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12" y="19"/>
                      <a:pt x="12" y="19"/>
                      <a:pt x="13" y="19"/>
                    </a:cubicBezTo>
                    <a:cubicBezTo>
                      <a:pt x="13" y="18"/>
                      <a:pt x="14" y="17"/>
                      <a:pt x="14" y="16"/>
                    </a:cubicBezTo>
                    <a:cubicBezTo>
                      <a:pt x="14" y="16"/>
                      <a:pt x="14" y="14"/>
                      <a:pt x="14" y="11"/>
                    </a:cubicBezTo>
                    <a:cubicBezTo>
                      <a:pt x="14" y="8"/>
                      <a:pt x="15" y="6"/>
                      <a:pt x="16" y="4"/>
                    </a:cubicBezTo>
                    <a:cubicBezTo>
                      <a:pt x="17" y="2"/>
                      <a:pt x="19" y="1"/>
                      <a:pt x="22" y="0"/>
                    </a:cubicBezTo>
                    <a:cubicBezTo>
                      <a:pt x="23" y="0"/>
                      <a:pt x="25" y="0"/>
                      <a:pt x="26" y="1"/>
                    </a:cubicBezTo>
                    <a:cubicBezTo>
                      <a:pt x="28" y="1"/>
                      <a:pt x="29" y="2"/>
                      <a:pt x="30" y="4"/>
                    </a:cubicBezTo>
                    <a:cubicBezTo>
                      <a:pt x="31" y="5"/>
                      <a:pt x="31" y="7"/>
                      <a:pt x="32" y="10"/>
                    </a:cubicBezTo>
                    <a:cubicBezTo>
                      <a:pt x="33" y="13"/>
                      <a:pt x="32" y="16"/>
                      <a:pt x="31" y="18"/>
                    </a:cubicBezTo>
                    <a:cubicBezTo>
                      <a:pt x="30" y="20"/>
                      <a:pt x="28" y="22"/>
                      <a:pt x="25" y="2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5" y="16"/>
                      <a:pt x="26" y="15"/>
                      <a:pt x="27" y="14"/>
                    </a:cubicBezTo>
                    <a:cubicBezTo>
                      <a:pt x="27" y="13"/>
                      <a:pt x="27" y="12"/>
                      <a:pt x="27" y="10"/>
                    </a:cubicBezTo>
                    <a:cubicBezTo>
                      <a:pt x="27" y="9"/>
                      <a:pt x="26" y="7"/>
                      <a:pt x="25" y="7"/>
                    </a:cubicBezTo>
                    <a:cubicBezTo>
                      <a:pt x="24" y="6"/>
                      <a:pt x="24" y="6"/>
                      <a:pt x="23" y="6"/>
                    </a:cubicBezTo>
                    <a:cubicBezTo>
                      <a:pt x="22" y="6"/>
                      <a:pt x="22" y="6"/>
                      <a:pt x="21" y="7"/>
                    </a:cubicBezTo>
                    <a:cubicBezTo>
                      <a:pt x="21" y="8"/>
                      <a:pt x="21" y="10"/>
                      <a:pt x="20" y="13"/>
                    </a:cubicBezTo>
                    <a:cubicBezTo>
                      <a:pt x="20" y="16"/>
                      <a:pt x="20" y="18"/>
                      <a:pt x="19" y="20"/>
                    </a:cubicBezTo>
                    <a:cubicBezTo>
                      <a:pt x="19" y="21"/>
                      <a:pt x="18" y="23"/>
                      <a:pt x="17" y="24"/>
                    </a:cubicBezTo>
                    <a:cubicBezTo>
                      <a:pt x="16" y="25"/>
                      <a:pt x="14" y="25"/>
                      <a:pt x="12" y="26"/>
                    </a:cubicBezTo>
                    <a:cubicBezTo>
                      <a:pt x="11" y="26"/>
                      <a:pt x="9" y="26"/>
                      <a:pt x="7" y="25"/>
                    </a:cubicBezTo>
                    <a:cubicBezTo>
                      <a:pt x="6" y="24"/>
                      <a:pt x="4" y="23"/>
                      <a:pt x="3" y="22"/>
                    </a:cubicBezTo>
                    <a:cubicBezTo>
                      <a:pt x="2" y="20"/>
                      <a:pt x="1" y="18"/>
                      <a:pt x="1" y="15"/>
                    </a:cubicBezTo>
                    <a:cubicBezTo>
                      <a:pt x="0" y="12"/>
                      <a:pt x="0" y="9"/>
                      <a:pt x="2" y="6"/>
                    </a:cubicBezTo>
                    <a:cubicBezTo>
                      <a:pt x="3" y="4"/>
                      <a:pt x="6" y="2"/>
                      <a:pt x="9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Freeform 22"/>
              <p:cNvSpPr/>
              <p:nvPr/>
            </p:nvSpPr>
            <p:spPr bwMode="auto">
              <a:xfrm>
                <a:off x="477469" y="920168"/>
                <a:ext cx="26758" cy="32800"/>
              </a:xfrm>
              <a:custGeom>
                <a:avLst/>
                <a:gdLst>
                  <a:gd name="T0" fmla="*/ 0 w 26"/>
                  <a:gd name="T1" fmla="*/ 3 h 32"/>
                  <a:gd name="T2" fmla="*/ 6 w 26"/>
                  <a:gd name="T3" fmla="*/ 2 h 32"/>
                  <a:gd name="T4" fmla="*/ 8 w 26"/>
                  <a:gd name="T5" fmla="*/ 18 h 32"/>
                  <a:gd name="T6" fmla="*/ 8 w 26"/>
                  <a:gd name="T7" fmla="*/ 23 h 32"/>
                  <a:gd name="T8" fmla="*/ 10 w 26"/>
                  <a:gd name="T9" fmla="*/ 26 h 32"/>
                  <a:gd name="T10" fmla="*/ 14 w 26"/>
                  <a:gd name="T11" fmla="*/ 27 h 32"/>
                  <a:gd name="T12" fmla="*/ 18 w 26"/>
                  <a:gd name="T13" fmla="*/ 25 h 32"/>
                  <a:gd name="T14" fmla="*/ 20 w 26"/>
                  <a:gd name="T15" fmla="*/ 23 h 32"/>
                  <a:gd name="T16" fmla="*/ 19 w 26"/>
                  <a:gd name="T17" fmla="*/ 17 h 32"/>
                  <a:gd name="T18" fmla="*/ 18 w 26"/>
                  <a:gd name="T19" fmla="*/ 1 h 32"/>
                  <a:gd name="T20" fmla="*/ 24 w 26"/>
                  <a:gd name="T21" fmla="*/ 0 h 32"/>
                  <a:gd name="T22" fmla="*/ 25 w 26"/>
                  <a:gd name="T23" fmla="*/ 16 h 32"/>
                  <a:gd name="T24" fmla="*/ 26 w 26"/>
                  <a:gd name="T25" fmla="*/ 24 h 32"/>
                  <a:gd name="T26" fmla="*/ 24 w 26"/>
                  <a:gd name="T27" fmla="*/ 28 h 32"/>
                  <a:gd name="T28" fmla="*/ 21 w 26"/>
                  <a:gd name="T29" fmla="*/ 30 h 32"/>
                  <a:gd name="T30" fmla="*/ 15 w 26"/>
                  <a:gd name="T31" fmla="*/ 32 h 32"/>
                  <a:gd name="T32" fmla="*/ 8 w 26"/>
                  <a:gd name="T33" fmla="*/ 31 h 32"/>
                  <a:gd name="T34" fmla="*/ 5 w 26"/>
                  <a:gd name="T35" fmla="*/ 29 h 32"/>
                  <a:gd name="T36" fmla="*/ 3 w 26"/>
                  <a:gd name="T37" fmla="*/ 26 h 32"/>
                  <a:gd name="T38" fmla="*/ 1 w 26"/>
                  <a:gd name="T39" fmla="*/ 18 h 32"/>
                  <a:gd name="T40" fmla="*/ 0 w 26"/>
                  <a:gd name="T41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6" h="32">
                    <a:moveTo>
                      <a:pt x="0" y="3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21"/>
                      <a:pt x="8" y="22"/>
                      <a:pt x="8" y="23"/>
                    </a:cubicBezTo>
                    <a:cubicBezTo>
                      <a:pt x="9" y="24"/>
                      <a:pt x="9" y="25"/>
                      <a:pt x="10" y="26"/>
                    </a:cubicBezTo>
                    <a:cubicBezTo>
                      <a:pt x="11" y="27"/>
                      <a:pt x="13" y="27"/>
                      <a:pt x="14" y="27"/>
                    </a:cubicBezTo>
                    <a:cubicBezTo>
                      <a:pt x="16" y="27"/>
                      <a:pt x="17" y="26"/>
                      <a:pt x="18" y="25"/>
                    </a:cubicBezTo>
                    <a:cubicBezTo>
                      <a:pt x="19" y="25"/>
                      <a:pt x="20" y="24"/>
                      <a:pt x="20" y="23"/>
                    </a:cubicBezTo>
                    <a:cubicBezTo>
                      <a:pt x="20" y="22"/>
                      <a:pt x="20" y="20"/>
                      <a:pt x="19" y="17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6" y="20"/>
                      <a:pt x="26" y="22"/>
                      <a:pt x="26" y="24"/>
                    </a:cubicBezTo>
                    <a:cubicBezTo>
                      <a:pt x="25" y="25"/>
                      <a:pt x="25" y="27"/>
                      <a:pt x="24" y="28"/>
                    </a:cubicBezTo>
                    <a:cubicBezTo>
                      <a:pt x="23" y="29"/>
                      <a:pt x="22" y="30"/>
                      <a:pt x="21" y="30"/>
                    </a:cubicBezTo>
                    <a:cubicBezTo>
                      <a:pt x="19" y="31"/>
                      <a:pt x="17" y="32"/>
                      <a:pt x="15" y="32"/>
                    </a:cubicBezTo>
                    <a:cubicBezTo>
                      <a:pt x="12" y="32"/>
                      <a:pt x="10" y="32"/>
                      <a:pt x="8" y="31"/>
                    </a:cubicBezTo>
                    <a:cubicBezTo>
                      <a:pt x="7" y="31"/>
                      <a:pt x="6" y="30"/>
                      <a:pt x="5" y="29"/>
                    </a:cubicBezTo>
                    <a:cubicBezTo>
                      <a:pt x="4" y="28"/>
                      <a:pt x="3" y="27"/>
                      <a:pt x="3" y="26"/>
                    </a:cubicBezTo>
                    <a:cubicBezTo>
                      <a:pt x="2" y="24"/>
                      <a:pt x="2" y="22"/>
                      <a:pt x="1" y="18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7" name="Freeform 23"/>
              <p:cNvSpPr/>
              <p:nvPr/>
            </p:nvSpPr>
            <p:spPr bwMode="auto">
              <a:xfrm>
                <a:off x="508111" y="913263"/>
                <a:ext cx="32800" cy="35821"/>
              </a:xfrm>
              <a:custGeom>
                <a:avLst/>
                <a:gdLst>
                  <a:gd name="T0" fmla="*/ 21 w 76"/>
                  <a:gd name="T1" fmla="*/ 83 h 83"/>
                  <a:gd name="T2" fmla="*/ 0 w 76"/>
                  <a:gd name="T3" fmla="*/ 14 h 83"/>
                  <a:gd name="T4" fmla="*/ 14 w 76"/>
                  <a:gd name="T5" fmla="*/ 12 h 83"/>
                  <a:gd name="T6" fmla="*/ 57 w 76"/>
                  <a:gd name="T7" fmla="*/ 50 h 83"/>
                  <a:gd name="T8" fmla="*/ 43 w 76"/>
                  <a:gd name="T9" fmla="*/ 2 h 83"/>
                  <a:gd name="T10" fmla="*/ 55 w 76"/>
                  <a:gd name="T11" fmla="*/ 0 h 83"/>
                  <a:gd name="T12" fmla="*/ 76 w 76"/>
                  <a:gd name="T13" fmla="*/ 69 h 83"/>
                  <a:gd name="T14" fmla="*/ 62 w 76"/>
                  <a:gd name="T15" fmla="*/ 71 h 83"/>
                  <a:gd name="T16" fmla="*/ 21 w 76"/>
                  <a:gd name="T17" fmla="*/ 35 h 83"/>
                  <a:gd name="T18" fmla="*/ 33 w 76"/>
                  <a:gd name="T19" fmla="*/ 81 h 83"/>
                  <a:gd name="T20" fmla="*/ 21 w 76"/>
                  <a:gd name="T21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3">
                    <a:moveTo>
                      <a:pt x="21" y="83"/>
                    </a:moveTo>
                    <a:lnTo>
                      <a:pt x="0" y="14"/>
                    </a:lnTo>
                    <a:lnTo>
                      <a:pt x="14" y="12"/>
                    </a:lnTo>
                    <a:lnTo>
                      <a:pt x="57" y="50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76" y="69"/>
                    </a:lnTo>
                    <a:lnTo>
                      <a:pt x="62" y="71"/>
                    </a:lnTo>
                    <a:lnTo>
                      <a:pt x="21" y="35"/>
                    </a:lnTo>
                    <a:lnTo>
                      <a:pt x="33" y="81"/>
                    </a:lnTo>
                    <a:lnTo>
                      <a:pt x="21" y="83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8" name="Freeform 24"/>
              <p:cNvSpPr/>
              <p:nvPr/>
            </p:nvSpPr>
            <p:spPr bwMode="auto">
              <a:xfrm>
                <a:off x="538753" y="908084"/>
                <a:ext cx="17263" cy="30642"/>
              </a:xfrm>
              <a:custGeom>
                <a:avLst/>
                <a:gdLst>
                  <a:gd name="T0" fmla="*/ 26 w 40"/>
                  <a:gd name="T1" fmla="*/ 71 h 71"/>
                  <a:gd name="T2" fmla="*/ 0 w 40"/>
                  <a:gd name="T3" fmla="*/ 5 h 71"/>
                  <a:gd name="T4" fmla="*/ 12 w 40"/>
                  <a:gd name="T5" fmla="*/ 0 h 71"/>
                  <a:gd name="T6" fmla="*/ 40 w 40"/>
                  <a:gd name="T7" fmla="*/ 66 h 71"/>
                  <a:gd name="T8" fmla="*/ 26 w 40"/>
                  <a:gd name="T9" fmla="*/ 7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71">
                    <a:moveTo>
                      <a:pt x="26" y="71"/>
                    </a:moveTo>
                    <a:lnTo>
                      <a:pt x="0" y="5"/>
                    </a:lnTo>
                    <a:lnTo>
                      <a:pt x="12" y="0"/>
                    </a:lnTo>
                    <a:lnTo>
                      <a:pt x="40" y="66"/>
                    </a:lnTo>
                    <a:lnTo>
                      <a:pt x="26" y="7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9" name="Freeform 25"/>
              <p:cNvSpPr/>
              <p:nvPr/>
            </p:nvSpPr>
            <p:spPr bwMode="auto">
              <a:xfrm>
                <a:off x="546953" y="893842"/>
                <a:ext cx="30642" cy="34526"/>
              </a:xfrm>
              <a:custGeom>
                <a:avLst/>
                <a:gdLst>
                  <a:gd name="T0" fmla="*/ 57 w 71"/>
                  <a:gd name="T1" fmla="*/ 80 h 80"/>
                  <a:gd name="T2" fmla="*/ 0 w 71"/>
                  <a:gd name="T3" fmla="*/ 30 h 80"/>
                  <a:gd name="T4" fmla="*/ 14 w 71"/>
                  <a:gd name="T5" fmla="*/ 23 h 80"/>
                  <a:gd name="T6" fmla="*/ 57 w 71"/>
                  <a:gd name="T7" fmla="*/ 61 h 80"/>
                  <a:gd name="T8" fmla="*/ 45 w 71"/>
                  <a:gd name="T9" fmla="*/ 7 h 80"/>
                  <a:gd name="T10" fmla="*/ 59 w 71"/>
                  <a:gd name="T11" fmla="*/ 0 h 80"/>
                  <a:gd name="T12" fmla="*/ 71 w 71"/>
                  <a:gd name="T13" fmla="*/ 73 h 80"/>
                  <a:gd name="T14" fmla="*/ 57 w 71"/>
                  <a:gd name="T1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80">
                    <a:moveTo>
                      <a:pt x="57" y="80"/>
                    </a:moveTo>
                    <a:lnTo>
                      <a:pt x="0" y="30"/>
                    </a:lnTo>
                    <a:lnTo>
                      <a:pt x="14" y="23"/>
                    </a:lnTo>
                    <a:lnTo>
                      <a:pt x="57" y="61"/>
                    </a:lnTo>
                    <a:lnTo>
                      <a:pt x="45" y="7"/>
                    </a:lnTo>
                    <a:lnTo>
                      <a:pt x="59" y="0"/>
                    </a:lnTo>
                    <a:lnTo>
                      <a:pt x="71" y="73"/>
                    </a:lnTo>
                    <a:lnTo>
                      <a:pt x="57" y="8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0" name="Freeform 26"/>
              <p:cNvSpPr/>
              <p:nvPr/>
            </p:nvSpPr>
            <p:spPr bwMode="auto">
              <a:xfrm>
                <a:off x="574574" y="877442"/>
                <a:ext cx="37979" cy="37547"/>
              </a:xfrm>
              <a:custGeom>
                <a:avLst/>
                <a:gdLst>
                  <a:gd name="T0" fmla="*/ 45 w 88"/>
                  <a:gd name="T1" fmla="*/ 87 h 87"/>
                  <a:gd name="T2" fmla="*/ 0 w 88"/>
                  <a:gd name="T3" fmla="*/ 33 h 87"/>
                  <a:gd name="T4" fmla="*/ 43 w 88"/>
                  <a:gd name="T5" fmla="*/ 0 h 87"/>
                  <a:gd name="T6" fmla="*/ 50 w 88"/>
                  <a:gd name="T7" fmla="*/ 9 h 87"/>
                  <a:gd name="T8" fmla="*/ 19 w 88"/>
                  <a:gd name="T9" fmla="*/ 33 h 87"/>
                  <a:gd name="T10" fmla="*/ 28 w 88"/>
                  <a:gd name="T11" fmla="*/ 45 h 87"/>
                  <a:gd name="T12" fmla="*/ 57 w 88"/>
                  <a:gd name="T13" fmla="*/ 23 h 87"/>
                  <a:gd name="T14" fmla="*/ 66 w 88"/>
                  <a:gd name="T15" fmla="*/ 33 h 87"/>
                  <a:gd name="T16" fmla="*/ 38 w 88"/>
                  <a:gd name="T17" fmla="*/ 54 h 87"/>
                  <a:gd name="T18" fmla="*/ 50 w 88"/>
                  <a:gd name="T19" fmla="*/ 68 h 87"/>
                  <a:gd name="T20" fmla="*/ 80 w 88"/>
                  <a:gd name="T21" fmla="*/ 45 h 87"/>
                  <a:gd name="T22" fmla="*/ 88 w 88"/>
                  <a:gd name="T23" fmla="*/ 54 h 87"/>
                  <a:gd name="T24" fmla="*/ 45 w 88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7">
                    <a:moveTo>
                      <a:pt x="45" y="87"/>
                    </a:moveTo>
                    <a:lnTo>
                      <a:pt x="0" y="33"/>
                    </a:lnTo>
                    <a:lnTo>
                      <a:pt x="43" y="0"/>
                    </a:lnTo>
                    <a:lnTo>
                      <a:pt x="50" y="9"/>
                    </a:lnTo>
                    <a:lnTo>
                      <a:pt x="19" y="33"/>
                    </a:lnTo>
                    <a:lnTo>
                      <a:pt x="28" y="45"/>
                    </a:lnTo>
                    <a:lnTo>
                      <a:pt x="57" y="23"/>
                    </a:lnTo>
                    <a:lnTo>
                      <a:pt x="66" y="33"/>
                    </a:lnTo>
                    <a:lnTo>
                      <a:pt x="38" y="54"/>
                    </a:lnTo>
                    <a:lnTo>
                      <a:pt x="50" y="68"/>
                    </a:lnTo>
                    <a:lnTo>
                      <a:pt x="80" y="45"/>
                    </a:lnTo>
                    <a:lnTo>
                      <a:pt x="88" y="54"/>
                    </a:lnTo>
                    <a:lnTo>
                      <a:pt x="45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1" name="Freeform 27"/>
              <p:cNvSpPr>
                <a:spLocks noEditPoints="1"/>
              </p:cNvSpPr>
              <p:nvPr/>
            </p:nvSpPr>
            <p:spPr bwMode="auto">
              <a:xfrm>
                <a:off x="597016" y="857589"/>
                <a:ext cx="41863" cy="36253"/>
              </a:xfrm>
              <a:custGeom>
                <a:avLst/>
                <a:gdLst>
                  <a:gd name="T0" fmla="*/ 8 w 41"/>
                  <a:gd name="T1" fmla="*/ 14 h 35"/>
                  <a:gd name="T2" fmla="*/ 11 w 41"/>
                  <a:gd name="T3" fmla="*/ 11 h 35"/>
                  <a:gd name="T4" fmla="*/ 14 w 41"/>
                  <a:gd name="T5" fmla="*/ 7 h 35"/>
                  <a:gd name="T6" fmla="*/ 17 w 41"/>
                  <a:gd name="T7" fmla="*/ 7 h 35"/>
                  <a:gd name="T8" fmla="*/ 19 w 41"/>
                  <a:gd name="T9" fmla="*/ 8 h 35"/>
                  <a:gd name="T10" fmla="*/ 21 w 41"/>
                  <a:gd name="T11" fmla="*/ 10 h 35"/>
                  <a:gd name="T12" fmla="*/ 20 w 41"/>
                  <a:gd name="T13" fmla="*/ 12 h 35"/>
                  <a:gd name="T14" fmla="*/ 17 w 41"/>
                  <a:gd name="T15" fmla="*/ 16 h 35"/>
                  <a:gd name="T16" fmla="*/ 14 w 41"/>
                  <a:gd name="T17" fmla="*/ 19 h 35"/>
                  <a:gd name="T18" fmla="*/ 8 w 41"/>
                  <a:gd name="T19" fmla="*/ 14 h 35"/>
                  <a:gd name="T20" fmla="*/ 27 w 41"/>
                  <a:gd name="T21" fmla="*/ 31 h 35"/>
                  <a:gd name="T22" fmla="*/ 17 w 41"/>
                  <a:gd name="T23" fmla="*/ 22 h 35"/>
                  <a:gd name="T24" fmla="*/ 18 w 41"/>
                  <a:gd name="T25" fmla="*/ 22 h 35"/>
                  <a:gd name="T26" fmla="*/ 21 w 41"/>
                  <a:gd name="T27" fmla="*/ 19 h 35"/>
                  <a:gd name="T28" fmla="*/ 23 w 41"/>
                  <a:gd name="T29" fmla="*/ 19 h 35"/>
                  <a:gd name="T30" fmla="*/ 28 w 41"/>
                  <a:gd name="T31" fmla="*/ 20 h 35"/>
                  <a:gd name="T32" fmla="*/ 36 w 41"/>
                  <a:gd name="T33" fmla="*/ 21 h 35"/>
                  <a:gd name="T34" fmla="*/ 41 w 41"/>
                  <a:gd name="T35" fmla="*/ 15 h 35"/>
                  <a:gd name="T36" fmla="*/ 34 w 41"/>
                  <a:gd name="T37" fmla="*/ 14 h 35"/>
                  <a:gd name="T38" fmla="*/ 28 w 41"/>
                  <a:gd name="T39" fmla="*/ 13 h 35"/>
                  <a:gd name="T40" fmla="*/ 24 w 41"/>
                  <a:gd name="T41" fmla="*/ 14 h 35"/>
                  <a:gd name="T42" fmla="*/ 26 w 41"/>
                  <a:gd name="T43" fmla="*/ 8 h 35"/>
                  <a:gd name="T44" fmla="*/ 23 w 41"/>
                  <a:gd name="T45" fmla="*/ 3 h 35"/>
                  <a:gd name="T46" fmla="*/ 19 w 41"/>
                  <a:gd name="T47" fmla="*/ 0 h 35"/>
                  <a:gd name="T48" fmla="*/ 14 w 41"/>
                  <a:gd name="T49" fmla="*/ 1 h 35"/>
                  <a:gd name="T50" fmla="*/ 9 w 41"/>
                  <a:gd name="T51" fmla="*/ 6 h 35"/>
                  <a:gd name="T52" fmla="*/ 0 w 41"/>
                  <a:gd name="T53" fmla="*/ 15 h 35"/>
                  <a:gd name="T54" fmla="*/ 23 w 41"/>
                  <a:gd name="T55" fmla="*/ 35 h 35"/>
                  <a:gd name="T56" fmla="*/ 27 w 41"/>
                  <a:gd name="T57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35">
                    <a:moveTo>
                      <a:pt x="8" y="14"/>
                    </a:moveTo>
                    <a:cubicBezTo>
                      <a:pt x="11" y="11"/>
                      <a:pt x="11" y="11"/>
                      <a:pt x="11" y="11"/>
                    </a:cubicBezTo>
                    <a:cubicBezTo>
                      <a:pt x="13" y="9"/>
                      <a:pt x="14" y="8"/>
                      <a:pt x="14" y="7"/>
                    </a:cubicBezTo>
                    <a:cubicBezTo>
                      <a:pt x="15" y="7"/>
                      <a:pt x="16" y="6"/>
                      <a:pt x="17" y="7"/>
                    </a:cubicBezTo>
                    <a:cubicBezTo>
                      <a:pt x="18" y="7"/>
                      <a:pt x="18" y="7"/>
                      <a:pt x="19" y="8"/>
                    </a:cubicBezTo>
                    <a:cubicBezTo>
                      <a:pt x="20" y="8"/>
                      <a:pt x="20" y="9"/>
                      <a:pt x="21" y="10"/>
                    </a:cubicBezTo>
                    <a:cubicBezTo>
                      <a:pt x="21" y="10"/>
                      <a:pt x="21" y="11"/>
                      <a:pt x="20" y="12"/>
                    </a:cubicBezTo>
                    <a:cubicBezTo>
                      <a:pt x="20" y="12"/>
                      <a:pt x="19" y="14"/>
                      <a:pt x="17" y="16"/>
                    </a:cubicBezTo>
                    <a:cubicBezTo>
                      <a:pt x="14" y="19"/>
                      <a:pt x="14" y="19"/>
                      <a:pt x="14" y="19"/>
                    </a:cubicBezTo>
                    <a:lnTo>
                      <a:pt x="8" y="14"/>
                    </a:lnTo>
                    <a:close/>
                    <a:moveTo>
                      <a:pt x="27" y="31"/>
                    </a:moveTo>
                    <a:cubicBezTo>
                      <a:pt x="17" y="22"/>
                      <a:pt x="17" y="22"/>
                      <a:pt x="17" y="22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0" y="20"/>
                      <a:pt x="21" y="19"/>
                    </a:cubicBezTo>
                    <a:cubicBezTo>
                      <a:pt x="21" y="19"/>
                      <a:pt x="22" y="19"/>
                      <a:pt x="23" y="19"/>
                    </a:cubicBezTo>
                    <a:cubicBezTo>
                      <a:pt x="24" y="19"/>
                      <a:pt x="25" y="19"/>
                      <a:pt x="28" y="20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1" y="14"/>
                      <a:pt x="29" y="13"/>
                      <a:pt x="28" y="13"/>
                    </a:cubicBezTo>
                    <a:cubicBezTo>
                      <a:pt x="27" y="13"/>
                      <a:pt x="26" y="14"/>
                      <a:pt x="24" y="14"/>
                    </a:cubicBezTo>
                    <a:cubicBezTo>
                      <a:pt x="26" y="12"/>
                      <a:pt x="26" y="10"/>
                      <a:pt x="26" y="8"/>
                    </a:cubicBezTo>
                    <a:cubicBezTo>
                      <a:pt x="26" y="6"/>
                      <a:pt x="25" y="4"/>
                      <a:pt x="23" y="3"/>
                    </a:cubicBezTo>
                    <a:cubicBezTo>
                      <a:pt x="22" y="2"/>
                      <a:pt x="20" y="1"/>
                      <a:pt x="19" y="0"/>
                    </a:cubicBezTo>
                    <a:cubicBezTo>
                      <a:pt x="17" y="0"/>
                      <a:pt x="16" y="0"/>
                      <a:pt x="14" y="1"/>
                    </a:cubicBezTo>
                    <a:cubicBezTo>
                      <a:pt x="13" y="2"/>
                      <a:pt x="11" y="3"/>
                      <a:pt x="9" y="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2" name="Freeform 28"/>
              <p:cNvSpPr/>
              <p:nvPr/>
            </p:nvSpPr>
            <p:spPr bwMode="auto">
              <a:xfrm>
                <a:off x="620322" y="834284"/>
                <a:ext cx="32800" cy="30642"/>
              </a:xfrm>
              <a:custGeom>
                <a:avLst/>
                <a:gdLst>
                  <a:gd name="T0" fmla="*/ 13 w 32"/>
                  <a:gd name="T1" fmla="*/ 28 h 30"/>
                  <a:gd name="T2" fmla="*/ 16 w 32"/>
                  <a:gd name="T3" fmla="*/ 22 h 30"/>
                  <a:gd name="T4" fmla="*/ 21 w 32"/>
                  <a:gd name="T5" fmla="*/ 23 h 30"/>
                  <a:gd name="T6" fmla="*/ 25 w 32"/>
                  <a:gd name="T7" fmla="*/ 20 h 30"/>
                  <a:gd name="T8" fmla="*/ 26 w 32"/>
                  <a:gd name="T9" fmla="*/ 16 h 30"/>
                  <a:gd name="T10" fmla="*/ 25 w 32"/>
                  <a:gd name="T11" fmla="*/ 13 h 30"/>
                  <a:gd name="T12" fmla="*/ 23 w 32"/>
                  <a:gd name="T13" fmla="*/ 13 h 30"/>
                  <a:gd name="T14" fmla="*/ 20 w 32"/>
                  <a:gd name="T15" fmla="*/ 14 h 30"/>
                  <a:gd name="T16" fmla="*/ 17 w 32"/>
                  <a:gd name="T17" fmla="*/ 17 h 30"/>
                  <a:gd name="T18" fmla="*/ 10 w 32"/>
                  <a:gd name="T19" fmla="*/ 21 h 30"/>
                  <a:gd name="T20" fmla="*/ 4 w 32"/>
                  <a:gd name="T21" fmla="*/ 20 h 30"/>
                  <a:gd name="T22" fmla="*/ 1 w 32"/>
                  <a:gd name="T23" fmla="*/ 16 h 30"/>
                  <a:gd name="T24" fmla="*/ 0 w 32"/>
                  <a:gd name="T25" fmla="*/ 12 h 30"/>
                  <a:gd name="T26" fmla="*/ 3 w 32"/>
                  <a:gd name="T27" fmla="*/ 6 h 30"/>
                  <a:gd name="T28" fmla="*/ 10 w 32"/>
                  <a:gd name="T29" fmla="*/ 1 h 30"/>
                  <a:gd name="T30" fmla="*/ 17 w 32"/>
                  <a:gd name="T31" fmla="*/ 2 h 30"/>
                  <a:gd name="T32" fmla="*/ 14 w 32"/>
                  <a:gd name="T33" fmla="*/ 7 h 30"/>
                  <a:gd name="T34" fmla="*/ 10 w 32"/>
                  <a:gd name="T35" fmla="*/ 6 h 30"/>
                  <a:gd name="T36" fmla="*/ 7 w 32"/>
                  <a:gd name="T37" fmla="*/ 9 h 30"/>
                  <a:gd name="T38" fmla="*/ 5 w 32"/>
                  <a:gd name="T39" fmla="*/ 13 h 30"/>
                  <a:gd name="T40" fmla="*/ 6 w 32"/>
                  <a:gd name="T41" fmla="*/ 15 h 30"/>
                  <a:gd name="T42" fmla="*/ 9 w 32"/>
                  <a:gd name="T43" fmla="*/ 15 h 30"/>
                  <a:gd name="T44" fmla="*/ 13 w 32"/>
                  <a:gd name="T45" fmla="*/ 12 h 30"/>
                  <a:gd name="T46" fmla="*/ 19 w 32"/>
                  <a:gd name="T47" fmla="*/ 7 h 30"/>
                  <a:gd name="T48" fmla="*/ 23 w 32"/>
                  <a:gd name="T49" fmla="*/ 6 h 30"/>
                  <a:gd name="T50" fmla="*/ 28 w 32"/>
                  <a:gd name="T51" fmla="*/ 8 h 30"/>
                  <a:gd name="T52" fmla="*/ 31 w 32"/>
                  <a:gd name="T53" fmla="*/ 12 h 30"/>
                  <a:gd name="T54" fmla="*/ 32 w 32"/>
                  <a:gd name="T55" fmla="*/ 17 h 30"/>
                  <a:gd name="T56" fmla="*/ 29 w 32"/>
                  <a:gd name="T57" fmla="*/ 23 h 30"/>
                  <a:gd name="T58" fmla="*/ 22 w 32"/>
                  <a:gd name="T59" fmla="*/ 29 h 30"/>
                  <a:gd name="T60" fmla="*/ 13 w 32"/>
                  <a:gd name="T61" fmla="*/ 2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30">
                    <a:moveTo>
                      <a:pt x="13" y="28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3"/>
                      <a:pt x="20" y="23"/>
                      <a:pt x="21" y="23"/>
                    </a:cubicBezTo>
                    <a:cubicBezTo>
                      <a:pt x="23" y="23"/>
                      <a:pt x="24" y="22"/>
                      <a:pt x="25" y="20"/>
                    </a:cubicBezTo>
                    <a:cubicBezTo>
                      <a:pt x="26" y="19"/>
                      <a:pt x="26" y="17"/>
                      <a:pt x="26" y="16"/>
                    </a:cubicBezTo>
                    <a:cubicBezTo>
                      <a:pt x="26" y="15"/>
                      <a:pt x="26" y="14"/>
                      <a:pt x="25" y="13"/>
                    </a:cubicBezTo>
                    <a:cubicBezTo>
                      <a:pt x="24" y="13"/>
                      <a:pt x="23" y="13"/>
                      <a:pt x="23" y="13"/>
                    </a:cubicBezTo>
                    <a:cubicBezTo>
                      <a:pt x="22" y="13"/>
                      <a:pt x="21" y="13"/>
                      <a:pt x="20" y="14"/>
                    </a:cubicBezTo>
                    <a:cubicBezTo>
                      <a:pt x="20" y="14"/>
                      <a:pt x="19" y="15"/>
                      <a:pt x="17" y="17"/>
                    </a:cubicBezTo>
                    <a:cubicBezTo>
                      <a:pt x="14" y="19"/>
                      <a:pt x="12" y="20"/>
                      <a:pt x="10" y="21"/>
                    </a:cubicBezTo>
                    <a:cubicBezTo>
                      <a:pt x="8" y="22"/>
                      <a:pt x="6" y="21"/>
                      <a:pt x="4" y="20"/>
                    </a:cubicBezTo>
                    <a:cubicBezTo>
                      <a:pt x="2" y="19"/>
                      <a:pt x="1" y="18"/>
                      <a:pt x="1" y="16"/>
                    </a:cubicBezTo>
                    <a:cubicBezTo>
                      <a:pt x="0" y="15"/>
                      <a:pt x="0" y="13"/>
                      <a:pt x="0" y="12"/>
                    </a:cubicBezTo>
                    <a:cubicBezTo>
                      <a:pt x="1" y="10"/>
                      <a:pt x="1" y="8"/>
                      <a:pt x="3" y="6"/>
                    </a:cubicBezTo>
                    <a:cubicBezTo>
                      <a:pt x="5" y="3"/>
                      <a:pt x="7" y="1"/>
                      <a:pt x="10" y="1"/>
                    </a:cubicBezTo>
                    <a:cubicBezTo>
                      <a:pt x="12" y="0"/>
                      <a:pt x="14" y="0"/>
                      <a:pt x="17" y="2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2" y="6"/>
                      <a:pt x="11" y="6"/>
                      <a:pt x="10" y="6"/>
                    </a:cubicBezTo>
                    <a:cubicBezTo>
                      <a:pt x="9" y="7"/>
                      <a:pt x="8" y="8"/>
                      <a:pt x="7" y="9"/>
                    </a:cubicBezTo>
                    <a:cubicBezTo>
                      <a:pt x="6" y="10"/>
                      <a:pt x="5" y="12"/>
                      <a:pt x="5" y="13"/>
                    </a:cubicBezTo>
                    <a:cubicBezTo>
                      <a:pt x="5" y="14"/>
                      <a:pt x="6" y="14"/>
                      <a:pt x="6" y="15"/>
                    </a:cubicBezTo>
                    <a:cubicBezTo>
                      <a:pt x="7" y="15"/>
                      <a:pt x="8" y="15"/>
                      <a:pt x="9" y="15"/>
                    </a:cubicBezTo>
                    <a:cubicBezTo>
                      <a:pt x="9" y="15"/>
                      <a:pt x="11" y="14"/>
                      <a:pt x="13" y="12"/>
                    </a:cubicBezTo>
                    <a:cubicBezTo>
                      <a:pt x="16" y="10"/>
                      <a:pt x="17" y="8"/>
                      <a:pt x="19" y="7"/>
                    </a:cubicBezTo>
                    <a:cubicBezTo>
                      <a:pt x="20" y="7"/>
                      <a:pt x="22" y="6"/>
                      <a:pt x="23" y="6"/>
                    </a:cubicBezTo>
                    <a:cubicBezTo>
                      <a:pt x="25" y="6"/>
                      <a:pt x="26" y="7"/>
                      <a:pt x="28" y="8"/>
                    </a:cubicBezTo>
                    <a:cubicBezTo>
                      <a:pt x="30" y="9"/>
                      <a:pt x="31" y="10"/>
                      <a:pt x="31" y="12"/>
                    </a:cubicBezTo>
                    <a:cubicBezTo>
                      <a:pt x="32" y="13"/>
                      <a:pt x="32" y="15"/>
                      <a:pt x="32" y="17"/>
                    </a:cubicBezTo>
                    <a:cubicBezTo>
                      <a:pt x="32" y="19"/>
                      <a:pt x="31" y="21"/>
                      <a:pt x="29" y="23"/>
                    </a:cubicBezTo>
                    <a:cubicBezTo>
                      <a:pt x="27" y="26"/>
                      <a:pt x="25" y="28"/>
                      <a:pt x="22" y="29"/>
                    </a:cubicBezTo>
                    <a:cubicBezTo>
                      <a:pt x="19" y="30"/>
                      <a:pt x="17" y="29"/>
                      <a:pt x="1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Freeform 29"/>
              <p:cNvSpPr/>
              <p:nvPr/>
            </p:nvSpPr>
            <p:spPr bwMode="auto">
              <a:xfrm>
                <a:off x="632837" y="819610"/>
                <a:ext cx="30642" cy="19853"/>
              </a:xfrm>
              <a:custGeom>
                <a:avLst/>
                <a:gdLst>
                  <a:gd name="T0" fmla="*/ 64 w 71"/>
                  <a:gd name="T1" fmla="*/ 46 h 46"/>
                  <a:gd name="T2" fmla="*/ 0 w 71"/>
                  <a:gd name="T3" fmla="*/ 15 h 46"/>
                  <a:gd name="T4" fmla="*/ 5 w 71"/>
                  <a:gd name="T5" fmla="*/ 0 h 46"/>
                  <a:gd name="T6" fmla="*/ 71 w 71"/>
                  <a:gd name="T7" fmla="*/ 31 h 46"/>
                  <a:gd name="T8" fmla="*/ 64 w 71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46">
                    <a:moveTo>
                      <a:pt x="64" y="46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71" y="31"/>
                    </a:lnTo>
                    <a:lnTo>
                      <a:pt x="64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4" name="Freeform 30"/>
              <p:cNvSpPr/>
              <p:nvPr/>
            </p:nvSpPr>
            <p:spPr bwMode="auto">
              <a:xfrm>
                <a:off x="636722" y="794147"/>
                <a:ext cx="34958" cy="24600"/>
              </a:xfrm>
              <a:custGeom>
                <a:avLst/>
                <a:gdLst>
                  <a:gd name="T0" fmla="*/ 76 w 81"/>
                  <a:gd name="T1" fmla="*/ 57 h 57"/>
                  <a:gd name="T2" fmla="*/ 19 w 81"/>
                  <a:gd name="T3" fmla="*/ 36 h 57"/>
                  <a:gd name="T4" fmla="*/ 12 w 81"/>
                  <a:gd name="T5" fmla="*/ 57 h 57"/>
                  <a:gd name="T6" fmla="*/ 0 w 81"/>
                  <a:gd name="T7" fmla="*/ 52 h 57"/>
                  <a:gd name="T8" fmla="*/ 19 w 81"/>
                  <a:gd name="T9" fmla="*/ 0 h 57"/>
                  <a:gd name="T10" fmla="*/ 31 w 81"/>
                  <a:gd name="T11" fmla="*/ 2 h 57"/>
                  <a:gd name="T12" fmla="*/ 24 w 81"/>
                  <a:gd name="T13" fmla="*/ 24 h 57"/>
                  <a:gd name="T14" fmla="*/ 81 w 81"/>
                  <a:gd name="T15" fmla="*/ 43 h 57"/>
                  <a:gd name="T16" fmla="*/ 76 w 81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57">
                    <a:moveTo>
                      <a:pt x="76" y="57"/>
                    </a:moveTo>
                    <a:lnTo>
                      <a:pt x="19" y="36"/>
                    </a:lnTo>
                    <a:lnTo>
                      <a:pt x="12" y="57"/>
                    </a:lnTo>
                    <a:lnTo>
                      <a:pt x="0" y="52"/>
                    </a:lnTo>
                    <a:lnTo>
                      <a:pt x="19" y="0"/>
                    </a:lnTo>
                    <a:lnTo>
                      <a:pt x="31" y="2"/>
                    </a:lnTo>
                    <a:lnTo>
                      <a:pt x="24" y="24"/>
                    </a:lnTo>
                    <a:lnTo>
                      <a:pt x="81" y="43"/>
                    </a:lnTo>
                    <a:lnTo>
                      <a:pt x="76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5" name="Freeform 31"/>
              <p:cNvSpPr/>
              <p:nvPr/>
            </p:nvSpPr>
            <p:spPr bwMode="auto">
              <a:xfrm>
                <a:off x="646216" y="764368"/>
                <a:ext cx="33663" cy="28916"/>
              </a:xfrm>
              <a:custGeom>
                <a:avLst/>
                <a:gdLst>
                  <a:gd name="T0" fmla="*/ 75 w 78"/>
                  <a:gd name="T1" fmla="*/ 52 h 67"/>
                  <a:gd name="T2" fmla="*/ 45 w 78"/>
                  <a:gd name="T3" fmla="*/ 48 h 67"/>
                  <a:gd name="T4" fmla="*/ 0 w 78"/>
                  <a:gd name="T5" fmla="*/ 67 h 67"/>
                  <a:gd name="T6" fmla="*/ 2 w 78"/>
                  <a:gd name="T7" fmla="*/ 50 h 67"/>
                  <a:gd name="T8" fmla="*/ 33 w 78"/>
                  <a:gd name="T9" fmla="*/ 38 h 67"/>
                  <a:gd name="T10" fmla="*/ 9 w 78"/>
                  <a:gd name="T11" fmla="*/ 17 h 67"/>
                  <a:gd name="T12" fmla="*/ 11 w 78"/>
                  <a:gd name="T13" fmla="*/ 0 h 67"/>
                  <a:gd name="T14" fmla="*/ 47 w 78"/>
                  <a:gd name="T15" fmla="*/ 33 h 67"/>
                  <a:gd name="T16" fmla="*/ 78 w 78"/>
                  <a:gd name="T17" fmla="*/ 38 h 67"/>
                  <a:gd name="T18" fmla="*/ 75 w 78"/>
                  <a:gd name="T19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8" h="67">
                    <a:moveTo>
                      <a:pt x="75" y="52"/>
                    </a:moveTo>
                    <a:lnTo>
                      <a:pt x="45" y="48"/>
                    </a:lnTo>
                    <a:lnTo>
                      <a:pt x="0" y="67"/>
                    </a:lnTo>
                    <a:lnTo>
                      <a:pt x="2" y="50"/>
                    </a:lnTo>
                    <a:lnTo>
                      <a:pt x="33" y="38"/>
                    </a:lnTo>
                    <a:lnTo>
                      <a:pt x="9" y="17"/>
                    </a:lnTo>
                    <a:lnTo>
                      <a:pt x="11" y="0"/>
                    </a:lnTo>
                    <a:lnTo>
                      <a:pt x="47" y="33"/>
                    </a:lnTo>
                    <a:lnTo>
                      <a:pt x="78" y="38"/>
                    </a:lnTo>
                    <a:lnTo>
                      <a:pt x="75" y="5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6" name="Freeform 32"/>
              <p:cNvSpPr>
                <a:spLocks noEditPoints="1"/>
              </p:cNvSpPr>
              <p:nvPr/>
            </p:nvSpPr>
            <p:spPr bwMode="auto">
              <a:xfrm>
                <a:off x="306131" y="576630"/>
                <a:ext cx="328864" cy="327138"/>
              </a:xfrm>
              <a:custGeom>
                <a:avLst/>
                <a:gdLst>
                  <a:gd name="T0" fmla="*/ 161 w 322"/>
                  <a:gd name="T1" fmla="*/ 0 h 319"/>
                  <a:gd name="T2" fmla="*/ 0 w 322"/>
                  <a:gd name="T3" fmla="*/ 159 h 319"/>
                  <a:gd name="T4" fmla="*/ 161 w 322"/>
                  <a:gd name="T5" fmla="*/ 319 h 319"/>
                  <a:gd name="T6" fmla="*/ 322 w 322"/>
                  <a:gd name="T7" fmla="*/ 159 h 319"/>
                  <a:gd name="T8" fmla="*/ 161 w 322"/>
                  <a:gd name="T9" fmla="*/ 0 h 319"/>
                  <a:gd name="T10" fmla="*/ 161 w 322"/>
                  <a:gd name="T11" fmla="*/ 6 h 319"/>
                  <a:gd name="T12" fmla="*/ 316 w 322"/>
                  <a:gd name="T13" fmla="*/ 159 h 319"/>
                  <a:gd name="T14" fmla="*/ 299 w 322"/>
                  <a:gd name="T15" fmla="*/ 228 h 319"/>
                  <a:gd name="T16" fmla="*/ 23 w 322"/>
                  <a:gd name="T17" fmla="*/ 228 h 319"/>
                  <a:gd name="T18" fmla="*/ 23 w 322"/>
                  <a:gd name="T19" fmla="*/ 229 h 319"/>
                  <a:gd name="T20" fmla="*/ 6 w 322"/>
                  <a:gd name="T21" fmla="*/ 159 h 319"/>
                  <a:gd name="T22" fmla="*/ 161 w 322"/>
                  <a:gd name="T23" fmla="*/ 6 h 319"/>
                  <a:gd name="T24" fmla="*/ 161 w 322"/>
                  <a:gd name="T25" fmla="*/ 313 h 319"/>
                  <a:gd name="T26" fmla="*/ 27 w 322"/>
                  <a:gd name="T27" fmla="*/ 236 h 319"/>
                  <a:gd name="T28" fmla="*/ 295 w 322"/>
                  <a:gd name="T29" fmla="*/ 236 h 319"/>
                  <a:gd name="T30" fmla="*/ 161 w 322"/>
                  <a:gd name="T31" fmla="*/ 313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2" h="319">
                    <a:moveTo>
                      <a:pt x="161" y="0"/>
                    </a:moveTo>
                    <a:cubicBezTo>
                      <a:pt x="72" y="0"/>
                      <a:pt x="0" y="71"/>
                      <a:pt x="0" y="159"/>
                    </a:cubicBezTo>
                    <a:cubicBezTo>
                      <a:pt x="0" y="248"/>
                      <a:pt x="72" y="319"/>
                      <a:pt x="161" y="319"/>
                    </a:cubicBezTo>
                    <a:cubicBezTo>
                      <a:pt x="250" y="319"/>
                      <a:pt x="322" y="248"/>
                      <a:pt x="322" y="159"/>
                    </a:cubicBezTo>
                    <a:cubicBezTo>
                      <a:pt x="322" y="71"/>
                      <a:pt x="250" y="0"/>
                      <a:pt x="161" y="0"/>
                    </a:cubicBezTo>
                    <a:close/>
                    <a:moveTo>
                      <a:pt x="161" y="6"/>
                    </a:moveTo>
                    <a:cubicBezTo>
                      <a:pt x="247" y="6"/>
                      <a:pt x="316" y="75"/>
                      <a:pt x="316" y="159"/>
                    </a:cubicBezTo>
                    <a:cubicBezTo>
                      <a:pt x="316" y="184"/>
                      <a:pt x="310" y="208"/>
                      <a:pt x="299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12" y="208"/>
                      <a:pt x="6" y="184"/>
                      <a:pt x="6" y="159"/>
                    </a:cubicBezTo>
                    <a:cubicBezTo>
                      <a:pt x="6" y="75"/>
                      <a:pt x="75" y="6"/>
                      <a:pt x="161" y="6"/>
                    </a:cubicBezTo>
                    <a:close/>
                    <a:moveTo>
                      <a:pt x="161" y="313"/>
                    </a:moveTo>
                    <a:cubicBezTo>
                      <a:pt x="104" y="313"/>
                      <a:pt x="54" y="282"/>
                      <a:pt x="27" y="236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69" y="282"/>
                      <a:pt x="218" y="313"/>
                      <a:pt x="161" y="3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7" name="Freeform 33"/>
              <p:cNvSpPr>
                <a:spLocks noEditPoints="1"/>
              </p:cNvSpPr>
              <p:nvPr/>
            </p:nvSpPr>
            <p:spPr bwMode="auto">
              <a:xfrm>
                <a:off x="327279" y="596051"/>
                <a:ext cx="286138" cy="212337"/>
              </a:xfrm>
              <a:custGeom>
                <a:avLst/>
                <a:gdLst>
                  <a:gd name="T0" fmla="*/ 236 w 280"/>
                  <a:gd name="T1" fmla="*/ 171 h 207"/>
                  <a:gd name="T2" fmla="*/ 158 w 280"/>
                  <a:gd name="T3" fmla="*/ 183 h 207"/>
                  <a:gd name="T4" fmla="*/ 187 w 280"/>
                  <a:gd name="T5" fmla="*/ 139 h 207"/>
                  <a:gd name="T6" fmla="*/ 214 w 280"/>
                  <a:gd name="T7" fmla="*/ 153 h 207"/>
                  <a:gd name="T8" fmla="*/ 232 w 280"/>
                  <a:gd name="T9" fmla="*/ 139 h 207"/>
                  <a:gd name="T10" fmla="*/ 259 w 280"/>
                  <a:gd name="T11" fmla="*/ 152 h 207"/>
                  <a:gd name="T12" fmla="*/ 271 w 280"/>
                  <a:gd name="T13" fmla="*/ 139 h 207"/>
                  <a:gd name="T14" fmla="*/ 242 w 280"/>
                  <a:gd name="T15" fmla="*/ 120 h 207"/>
                  <a:gd name="T16" fmla="*/ 179 w 280"/>
                  <a:gd name="T17" fmla="*/ 78 h 207"/>
                  <a:gd name="T18" fmla="*/ 101 w 280"/>
                  <a:gd name="T19" fmla="*/ 78 h 207"/>
                  <a:gd name="T20" fmla="*/ 46 w 280"/>
                  <a:gd name="T21" fmla="*/ 106 h 207"/>
                  <a:gd name="T22" fmla="*/ 9 w 280"/>
                  <a:gd name="T23" fmla="*/ 125 h 207"/>
                  <a:gd name="T24" fmla="*/ 24 w 280"/>
                  <a:gd name="T25" fmla="*/ 149 h 207"/>
                  <a:gd name="T26" fmla="*/ 56 w 280"/>
                  <a:gd name="T27" fmla="*/ 124 h 207"/>
                  <a:gd name="T28" fmla="*/ 69 w 280"/>
                  <a:gd name="T29" fmla="*/ 149 h 207"/>
                  <a:gd name="T30" fmla="*/ 100 w 280"/>
                  <a:gd name="T31" fmla="*/ 124 h 207"/>
                  <a:gd name="T32" fmla="*/ 120 w 280"/>
                  <a:gd name="T33" fmla="*/ 138 h 207"/>
                  <a:gd name="T34" fmla="*/ 123 w 280"/>
                  <a:gd name="T35" fmla="*/ 182 h 207"/>
                  <a:gd name="T36" fmla="*/ 44 w 280"/>
                  <a:gd name="T37" fmla="*/ 171 h 207"/>
                  <a:gd name="T38" fmla="*/ 0 w 280"/>
                  <a:gd name="T39" fmla="*/ 186 h 207"/>
                  <a:gd name="T40" fmla="*/ 98 w 280"/>
                  <a:gd name="T41" fmla="*/ 188 h 207"/>
                  <a:gd name="T42" fmla="*/ 183 w 280"/>
                  <a:gd name="T43" fmla="*/ 188 h 207"/>
                  <a:gd name="T44" fmla="*/ 280 w 280"/>
                  <a:gd name="T45" fmla="*/ 186 h 207"/>
                  <a:gd name="T46" fmla="*/ 203 w 280"/>
                  <a:gd name="T47" fmla="*/ 79 h 207"/>
                  <a:gd name="T48" fmla="*/ 199 w 280"/>
                  <a:gd name="T49" fmla="*/ 122 h 207"/>
                  <a:gd name="T50" fmla="*/ 203 w 280"/>
                  <a:gd name="T51" fmla="*/ 79 h 207"/>
                  <a:gd name="T52" fmla="*/ 65 w 280"/>
                  <a:gd name="T53" fmla="*/ 105 h 207"/>
                  <a:gd name="T54" fmla="*/ 93 w 280"/>
                  <a:gd name="T55" fmla="*/ 95 h 207"/>
                  <a:gd name="T56" fmla="*/ 148 w 280"/>
                  <a:gd name="T57" fmla="*/ 108 h 207"/>
                  <a:gd name="T58" fmla="*/ 136 w 280"/>
                  <a:gd name="T59" fmla="*/ 84 h 207"/>
                  <a:gd name="T60" fmla="*/ 108 w 280"/>
                  <a:gd name="T61" fmla="*/ 107 h 207"/>
                  <a:gd name="T62" fmla="*/ 179 w 280"/>
                  <a:gd name="T63" fmla="*/ 122 h 207"/>
                  <a:gd name="T64" fmla="*/ 161 w 280"/>
                  <a:gd name="T65" fmla="*/ 108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0" h="207">
                    <a:moveTo>
                      <a:pt x="275" y="174"/>
                    </a:moveTo>
                    <a:cubicBezTo>
                      <a:pt x="253" y="191"/>
                      <a:pt x="236" y="171"/>
                      <a:pt x="236" y="171"/>
                    </a:cubicBezTo>
                    <a:cubicBezTo>
                      <a:pt x="207" y="198"/>
                      <a:pt x="184" y="172"/>
                      <a:pt x="184" y="172"/>
                    </a:cubicBezTo>
                    <a:cubicBezTo>
                      <a:pt x="166" y="185"/>
                      <a:pt x="158" y="183"/>
                      <a:pt x="158" y="183"/>
                    </a:cubicBezTo>
                    <a:cubicBezTo>
                      <a:pt x="152" y="139"/>
                      <a:pt x="152" y="139"/>
                      <a:pt x="152" y="139"/>
                    </a:cubicBezTo>
                    <a:cubicBezTo>
                      <a:pt x="187" y="139"/>
                      <a:pt x="187" y="139"/>
                      <a:pt x="187" y="139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214" y="153"/>
                      <a:pt x="214" y="153"/>
                      <a:pt x="214" y="153"/>
                    </a:cubicBezTo>
                    <a:cubicBezTo>
                      <a:pt x="208" y="139"/>
                      <a:pt x="208" y="139"/>
                      <a:pt x="208" y="139"/>
                    </a:cubicBezTo>
                    <a:cubicBezTo>
                      <a:pt x="232" y="139"/>
                      <a:pt x="232" y="139"/>
                      <a:pt x="232" y="139"/>
                    </a:cubicBezTo>
                    <a:cubicBezTo>
                      <a:pt x="238" y="153"/>
                      <a:pt x="238" y="153"/>
                      <a:pt x="238" y="153"/>
                    </a:cubicBezTo>
                    <a:cubicBezTo>
                      <a:pt x="259" y="152"/>
                      <a:pt x="259" y="152"/>
                      <a:pt x="259" y="152"/>
                    </a:cubicBezTo>
                    <a:cubicBezTo>
                      <a:pt x="253" y="139"/>
                      <a:pt x="253" y="139"/>
                      <a:pt x="253" y="139"/>
                    </a:cubicBezTo>
                    <a:cubicBezTo>
                      <a:pt x="271" y="139"/>
                      <a:pt x="271" y="139"/>
                      <a:pt x="271" y="139"/>
                    </a:cubicBezTo>
                    <a:cubicBezTo>
                      <a:pt x="271" y="119"/>
                      <a:pt x="271" y="119"/>
                      <a:pt x="271" y="119"/>
                    </a:cubicBezTo>
                    <a:cubicBezTo>
                      <a:pt x="242" y="120"/>
                      <a:pt x="242" y="120"/>
                      <a:pt x="242" y="120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179" y="78"/>
                      <a:pt x="179" y="78"/>
                      <a:pt x="179" y="78"/>
                    </a:cubicBezTo>
                    <a:cubicBezTo>
                      <a:pt x="141" y="0"/>
                      <a:pt x="141" y="0"/>
                      <a:pt x="141" y="0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46" y="106"/>
                      <a:pt x="46" y="106"/>
                      <a:pt x="46" y="106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9" y="125"/>
                      <a:pt x="9" y="125"/>
                      <a:pt x="9" y="125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24" y="149"/>
                      <a:pt x="24" y="149"/>
                      <a:pt x="24" y="149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56" y="124"/>
                      <a:pt x="56" y="124"/>
                      <a:pt x="56" y="124"/>
                    </a:cubicBezTo>
                    <a:cubicBezTo>
                      <a:pt x="80" y="124"/>
                      <a:pt x="80" y="124"/>
                      <a:pt x="80" y="124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100" y="124"/>
                      <a:pt x="100" y="124"/>
                      <a:pt x="100" y="124"/>
                    </a:cubicBezTo>
                    <a:cubicBezTo>
                      <a:pt x="131" y="124"/>
                      <a:pt x="131" y="124"/>
                      <a:pt x="131" y="124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9" y="139"/>
                      <a:pt x="129" y="139"/>
                      <a:pt x="129" y="139"/>
                    </a:cubicBezTo>
                    <a:cubicBezTo>
                      <a:pt x="123" y="182"/>
                      <a:pt x="123" y="182"/>
                      <a:pt x="123" y="182"/>
                    </a:cubicBezTo>
                    <a:cubicBezTo>
                      <a:pt x="113" y="185"/>
                      <a:pt x="98" y="172"/>
                      <a:pt x="98" y="172"/>
                    </a:cubicBezTo>
                    <a:cubicBezTo>
                      <a:pt x="69" y="198"/>
                      <a:pt x="44" y="171"/>
                      <a:pt x="44" y="171"/>
                    </a:cubicBezTo>
                    <a:cubicBezTo>
                      <a:pt x="26" y="191"/>
                      <a:pt x="5" y="174"/>
                      <a:pt x="5" y="174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23" y="201"/>
                      <a:pt x="45" y="187"/>
                      <a:pt x="45" y="187"/>
                    </a:cubicBezTo>
                    <a:cubicBezTo>
                      <a:pt x="74" y="206"/>
                      <a:pt x="98" y="188"/>
                      <a:pt x="98" y="188"/>
                    </a:cubicBezTo>
                    <a:cubicBezTo>
                      <a:pt x="127" y="207"/>
                      <a:pt x="140" y="189"/>
                      <a:pt x="140" y="189"/>
                    </a:cubicBezTo>
                    <a:cubicBezTo>
                      <a:pt x="159" y="206"/>
                      <a:pt x="183" y="188"/>
                      <a:pt x="183" y="188"/>
                    </a:cubicBezTo>
                    <a:cubicBezTo>
                      <a:pt x="207" y="207"/>
                      <a:pt x="235" y="187"/>
                      <a:pt x="235" y="187"/>
                    </a:cubicBezTo>
                    <a:cubicBezTo>
                      <a:pt x="259" y="202"/>
                      <a:pt x="280" y="186"/>
                      <a:pt x="280" y="186"/>
                    </a:cubicBezTo>
                    <a:lnTo>
                      <a:pt x="275" y="174"/>
                    </a:lnTo>
                    <a:close/>
                    <a:moveTo>
                      <a:pt x="203" y="79"/>
                    </a:moveTo>
                    <a:cubicBezTo>
                      <a:pt x="223" y="121"/>
                      <a:pt x="223" y="121"/>
                      <a:pt x="223" y="121"/>
                    </a:cubicBezTo>
                    <a:cubicBezTo>
                      <a:pt x="199" y="122"/>
                      <a:pt x="199" y="122"/>
                      <a:pt x="199" y="122"/>
                    </a:cubicBezTo>
                    <a:cubicBezTo>
                      <a:pt x="187" y="95"/>
                      <a:pt x="187" y="95"/>
                      <a:pt x="187" y="95"/>
                    </a:cubicBezTo>
                    <a:lnTo>
                      <a:pt x="203" y="79"/>
                    </a:lnTo>
                    <a:close/>
                    <a:moveTo>
                      <a:pt x="88" y="106"/>
                    </a:moveTo>
                    <a:cubicBezTo>
                      <a:pt x="65" y="105"/>
                      <a:pt x="65" y="105"/>
                      <a:pt x="65" y="105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93" y="95"/>
                      <a:pt x="93" y="95"/>
                      <a:pt x="93" y="95"/>
                    </a:cubicBezTo>
                    <a:lnTo>
                      <a:pt x="88" y="106"/>
                    </a:lnTo>
                    <a:close/>
                    <a:moveTo>
                      <a:pt x="148" y="108"/>
                    </a:moveTo>
                    <a:cubicBezTo>
                      <a:pt x="145" y="84"/>
                      <a:pt x="145" y="84"/>
                      <a:pt x="145" y="84"/>
                    </a:cubicBezTo>
                    <a:cubicBezTo>
                      <a:pt x="136" y="84"/>
                      <a:pt x="136" y="84"/>
                      <a:pt x="136" y="84"/>
                    </a:cubicBezTo>
                    <a:cubicBezTo>
                      <a:pt x="132" y="108"/>
                      <a:pt x="132" y="108"/>
                      <a:pt x="132" y="108"/>
                    </a:cubicBezTo>
                    <a:cubicBezTo>
                      <a:pt x="108" y="107"/>
                      <a:pt x="108" y="107"/>
                      <a:pt x="108" y="107"/>
                    </a:cubicBezTo>
                    <a:cubicBezTo>
                      <a:pt x="141" y="39"/>
                      <a:pt x="141" y="39"/>
                      <a:pt x="141" y="39"/>
                    </a:cubicBezTo>
                    <a:cubicBezTo>
                      <a:pt x="179" y="122"/>
                      <a:pt x="179" y="122"/>
                      <a:pt x="179" y="122"/>
                    </a:cubicBezTo>
                    <a:cubicBezTo>
                      <a:pt x="150" y="123"/>
                      <a:pt x="150" y="123"/>
                      <a:pt x="150" y="123"/>
                    </a:cubicBezTo>
                    <a:cubicBezTo>
                      <a:pt x="161" y="108"/>
                      <a:pt x="161" y="108"/>
                      <a:pt x="161" y="108"/>
                    </a:cubicBezTo>
                    <a:lnTo>
                      <a:pt x="148" y="10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8" name="Freeform 34"/>
              <p:cNvSpPr/>
              <p:nvPr/>
            </p:nvSpPr>
            <p:spPr bwMode="auto">
              <a:xfrm>
                <a:off x="271173" y="644388"/>
                <a:ext cx="17263" cy="19421"/>
              </a:xfrm>
              <a:custGeom>
                <a:avLst/>
                <a:gdLst>
                  <a:gd name="T0" fmla="*/ 15 w 17"/>
                  <a:gd name="T1" fmla="*/ 18 h 19"/>
                  <a:gd name="T2" fmla="*/ 17 w 17"/>
                  <a:gd name="T3" fmla="*/ 18 h 19"/>
                  <a:gd name="T4" fmla="*/ 16 w 17"/>
                  <a:gd name="T5" fmla="*/ 12 h 19"/>
                  <a:gd name="T6" fmla="*/ 9 w 17"/>
                  <a:gd name="T7" fmla="*/ 1 h 19"/>
                  <a:gd name="T8" fmla="*/ 1 w 17"/>
                  <a:gd name="T9" fmla="*/ 0 h 19"/>
                  <a:gd name="T10" fmla="*/ 1 w 17"/>
                  <a:gd name="T11" fmla="*/ 2 h 19"/>
                  <a:gd name="T12" fmla="*/ 7 w 17"/>
                  <a:gd name="T13" fmla="*/ 6 h 19"/>
                  <a:gd name="T14" fmla="*/ 13 w 17"/>
                  <a:gd name="T15" fmla="*/ 14 h 19"/>
                  <a:gd name="T16" fmla="*/ 15 w 17"/>
                  <a:gd name="T17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" h="19">
                    <a:moveTo>
                      <a:pt x="15" y="18"/>
                    </a:moveTo>
                    <a:cubicBezTo>
                      <a:pt x="15" y="18"/>
                      <a:pt x="16" y="19"/>
                      <a:pt x="17" y="18"/>
                    </a:cubicBezTo>
                    <a:cubicBezTo>
                      <a:pt x="17" y="18"/>
                      <a:pt x="17" y="14"/>
                      <a:pt x="16" y="12"/>
                    </a:cubicBezTo>
                    <a:cubicBezTo>
                      <a:pt x="16" y="12"/>
                      <a:pt x="10" y="5"/>
                      <a:pt x="9" y="1"/>
                    </a:cubicBezTo>
                    <a:cubicBezTo>
                      <a:pt x="9" y="1"/>
                      <a:pt x="8" y="0"/>
                      <a:pt x="1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2" y="2"/>
                      <a:pt x="4" y="1"/>
                      <a:pt x="7" y="6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4"/>
                      <a:pt x="15" y="17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9" name="Freeform 35"/>
              <p:cNvSpPr/>
              <p:nvPr/>
            </p:nvSpPr>
            <p:spPr bwMode="auto">
              <a:xfrm>
                <a:off x="297931" y="650430"/>
                <a:ext cx="12084" cy="17695"/>
              </a:xfrm>
              <a:custGeom>
                <a:avLst/>
                <a:gdLst>
                  <a:gd name="T0" fmla="*/ 10 w 12"/>
                  <a:gd name="T1" fmla="*/ 1 h 17"/>
                  <a:gd name="T2" fmla="*/ 3 w 12"/>
                  <a:gd name="T3" fmla="*/ 0 h 17"/>
                  <a:gd name="T4" fmla="*/ 2 w 12"/>
                  <a:gd name="T5" fmla="*/ 2 h 17"/>
                  <a:gd name="T6" fmla="*/ 5 w 12"/>
                  <a:gd name="T7" fmla="*/ 15 h 17"/>
                  <a:gd name="T8" fmla="*/ 7 w 12"/>
                  <a:gd name="T9" fmla="*/ 14 h 17"/>
                  <a:gd name="T10" fmla="*/ 11 w 12"/>
                  <a:gd name="T11" fmla="*/ 4 h 17"/>
                  <a:gd name="T12" fmla="*/ 10 w 12"/>
                  <a:gd name="T13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7">
                    <a:moveTo>
                      <a:pt x="10" y="1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0" y="1"/>
                      <a:pt x="2" y="2"/>
                    </a:cubicBezTo>
                    <a:cubicBezTo>
                      <a:pt x="2" y="2"/>
                      <a:pt x="6" y="10"/>
                      <a:pt x="5" y="15"/>
                    </a:cubicBezTo>
                    <a:cubicBezTo>
                      <a:pt x="5" y="15"/>
                      <a:pt x="6" y="17"/>
                      <a:pt x="7" y="14"/>
                    </a:cubicBezTo>
                    <a:cubicBezTo>
                      <a:pt x="7" y="14"/>
                      <a:pt x="9" y="5"/>
                      <a:pt x="11" y="4"/>
                    </a:cubicBezTo>
                    <a:cubicBezTo>
                      <a:pt x="11" y="4"/>
                      <a:pt x="12" y="1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Freeform 36"/>
              <p:cNvSpPr/>
              <p:nvPr/>
            </p:nvSpPr>
            <p:spPr bwMode="auto">
              <a:xfrm>
                <a:off x="278510" y="659925"/>
                <a:ext cx="18126" cy="34526"/>
              </a:xfrm>
              <a:custGeom>
                <a:avLst/>
                <a:gdLst>
                  <a:gd name="T0" fmla="*/ 15 w 18"/>
                  <a:gd name="T1" fmla="*/ 2 h 34"/>
                  <a:gd name="T2" fmla="*/ 14 w 18"/>
                  <a:gd name="T3" fmla="*/ 2 h 34"/>
                  <a:gd name="T4" fmla="*/ 12 w 18"/>
                  <a:gd name="T5" fmla="*/ 12 h 34"/>
                  <a:gd name="T6" fmla="*/ 12 w 18"/>
                  <a:gd name="T7" fmla="*/ 21 h 34"/>
                  <a:gd name="T8" fmla="*/ 11 w 18"/>
                  <a:gd name="T9" fmla="*/ 27 h 34"/>
                  <a:gd name="T10" fmla="*/ 10 w 18"/>
                  <a:gd name="T11" fmla="*/ 27 h 34"/>
                  <a:gd name="T12" fmla="*/ 1 w 18"/>
                  <a:gd name="T13" fmla="*/ 18 h 34"/>
                  <a:gd name="T14" fmla="*/ 2 w 18"/>
                  <a:gd name="T15" fmla="*/ 20 h 34"/>
                  <a:gd name="T16" fmla="*/ 6 w 18"/>
                  <a:gd name="T17" fmla="*/ 33 h 34"/>
                  <a:gd name="T18" fmla="*/ 13 w 18"/>
                  <a:gd name="T19" fmla="*/ 34 h 34"/>
                  <a:gd name="T20" fmla="*/ 18 w 18"/>
                  <a:gd name="T21" fmla="*/ 21 h 34"/>
                  <a:gd name="T22" fmla="*/ 17 w 18"/>
                  <a:gd name="T23" fmla="*/ 13 h 34"/>
                  <a:gd name="T24" fmla="*/ 15 w 18"/>
                  <a:gd name="T25" fmla="*/ 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34">
                    <a:moveTo>
                      <a:pt x="15" y="2"/>
                    </a:moveTo>
                    <a:cubicBezTo>
                      <a:pt x="15" y="2"/>
                      <a:pt x="15" y="0"/>
                      <a:pt x="14" y="2"/>
                    </a:cubicBezTo>
                    <a:cubicBezTo>
                      <a:pt x="14" y="2"/>
                      <a:pt x="14" y="9"/>
                      <a:pt x="12" y="12"/>
                    </a:cubicBezTo>
                    <a:cubicBezTo>
                      <a:pt x="12" y="12"/>
                      <a:pt x="12" y="19"/>
                      <a:pt x="12" y="21"/>
                    </a:cubicBezTo>
                    <a:cubicBezTo>
                      <a:pt x="12" y="21"/>
                      <a:pt x="10" y="26"/>
                      <a:pt x="11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27"/>
                      <a:pt x="6" y="16"/>
                      <a:pt x="1" y="18"/>
                    </a:cubicBezTo>
                    <a:cubicBezTo>
                      <a:pt x="1" y="18"/>
                      <a:pt x="0" y="19"/>
                      <a:pt x="2" y="20"/>
                    </a:cubicBezTo>
                    <a:cubicBezTo>
                      <a:pt x="2" y="20"/>
                      <a:pt x="7" y="30"/>
                      <a:pt x="6" y="33"/>
                    </a:cubicBezTo>
                    <a:cubicBezTo>
                      <a:pt x="6" y="33"/>
                      <a:pt x="10" y="34"/>
                      <a:pt x="13" y="34"/>
                    </a:cubicBezTo>
                    <a:cubicBezTo>
                      <a:pt x="13" y="34"/>
                      <a:pt x="17" y="25"/>
                      <a:pt x="18" y="21"/>
                    </a:cubicBezTo>
                    <a:cubicBezTo>
                      <a:pt x="18" y="21"/>
                      <a:pt x="18" y="15"/>
                      <a:pt x="17" y="13"/>
                    </a:cubicBezTo>
                    <a:cubicBezTo>
                      <a:pt x="17" y="13"/>
                      <a:pt x="17" y="5"/>
                      <a:pt x="15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1" name="Freeform 37"/>
              <p:cNvSpPr/>
              <p:nvPr/>
            </p:nvSpPr>
            <p:spPr bwMode="auto">
              <a:xfrm>
                <a:off x="508111" y="546851"/>
                <a:ext cx="59127" cy="27621"/>
              </a:xfrm>
              <a:custGeom>
                <a:avLst/>
                <a:gdLst>
                  <a:gd name="T0" fmla="*/ 58 w 58"/>
                  <a:gd name="T1" fmla="*/ 9 h 27"/>
                  <a:gd name="T2" fmla="*/ 55 w 58"/>
                  <a:gd name="T3" fmla="*/ 9 h 27"/>
                  <a:gd name="T4" fmla="*/ 51 w 58"/>
                  <a:gd name="T5" fmla="*/ 8 h 27"/>
                  <a:gd name="T6" fmla="*/ 50 w 58"/>
                  <a:gd name="T7" fmla="*/ 2 h 27"/>
                  <a:gd name="T8" fmla="*/ 47 w 58"/>
                  <a:gd name="T9" fmla="*/ 0 h 27"/>
                  <a:gd name="T10" fmla="*/ 45 w 58"/>
                  <a:gd name="T11" fmla="*/ 5 h 27"/>
                  <a:gd name="T12" fmla="*/ 44 w 58"/>
                  <a:gd name="T13" fmla="*/ 7 h 27"/>
                  <a:gd name="T14" fmla="*/ 34 w 58"/>
                  <a:gd name="T15" fmla="*/ 7 h 27"/>
                  <a:gd name="T16" fmla="*/ 37 w 58"/>
                  <a:gd name="T17" fmla="*/ 4 h 27"/>
                  <a:gd name="T18" fmla="*/ 35 w 58"/>
                  <a:gd name="T19" fmla="*/ 3 h 27"/>
                  <a:gd name="T20" fmla="*/ 30 w 58"/>
                  <a:gd name="T21" fmla="*/ 10 h 27"/>
                  <a:gd name="T22" fmla="*/ 34 w 58"/>
                  <a:gd name="T23" fmla="*/ 14 h 27"/>
                  <a:gd name="T24" fmla="*/ 26 w 58"/>
                  <a:gd name="T25" fmla="*/ 18 h 27"/>
                  <a:gd name="T26" fmla="*/ 4 w 58"/>
                  <a:gd name="T27" fmla="*/ 24 h 27"/>
                  <a:gd name="T28" fmla="*/ 5 w 58"/>
                  <a:gd name="T29" fmla="*/ 26 h 27"/>
                  <a:gd name="T30" fmla="*/ 24 w 58"/>
                  <a:gd name="T31" fmla="*/ 24 h 27"/>
                  <a:gd name="T32" fmla="*/ 49 w 58"/>
                  <a:gd name="T33" fmla="*/ 13 h 27"/>
                  <a:gd name="T34" fmla="*/ 58 w 58"/>
                  <a:gd name="T35" fmla="*/ 13 h 27"/>
                  <a:gd name="T36" fmla="*/ 58 w 58"/>
                  <a:gd name="T37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8" h="27">
                    <a:moveTo>
                      <a:pt x="58" y="9"/>
                    </a:moveTo>
                    <a:cubicBezTo>
                      <a:pt x="57" y="8"/>
                      <a:pt x="55" y="9"/>
                      <a:pt x="55" y="9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7"/>
                      <a:pt x="50" y="2"/>
                      <a:pt x="50" y="2"/>
                    </a:cubicBezTo>
                    <a:cubicBezTo>
                      <a:pt x="49" y="0"/>
                      <a:pt x="47" y="0"/>
                      <a:pt x="47" y="0"/>
                    </a:cubicBezTo>
                    <a:cubicBezTo>
                      <a:pt x="46" y="1"/>
                      <a:pt x="45" y="5"/>
                      <a:pt x="45" y="5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5"/>
                      <a:pt x="37" y="4"/>
                      <a:pt x="37" y="4"/>
                    </a:cubicBezTo>
                    <a:cubicBezTo>
                      <a:pt x="38" y="1"/>
                      <a:pt x="35" y="3"/>
                      <a:pt x="35" y="3"/>
                    </a:cubicBezTo>
                    <a:cubicBezTo>
                      <a:pt x="30" y="5"/>
                      <a:pt x="30" y="10"/>
                      <a:pt x="30" y="10"/>
                    </a:cubicBezTo>
                    <a:cubicBezTo>
                      <a:pt x="29" y="14"/>
                      <a:pt x="33" y="14"/>
                      <a:pt x="34" y="14"/>
                    </a:cubicBezTo>
                    <a:cubicBezTo>
                      <a:pt x="33" y="15"/>
                      <a:pt x="26" y="18"/>
                      <a:pt x="26" y="18"/>
                    </a:cubicBezTo>
                    <a:cubicBezTo>
                      <a:pt x="17" y="24"/>
                      <a:pt x="4" y="24"/>
                      <a:pt x="4" y="24"/>
                    </a:cubicBezTo>
                    <a:cubicBezTo>
                      <a:pt x="0" y="25"/>
                      <a:pt x="5" y="26"/>
                      <a:pt x="5" y="26"/>
                    </a:cubicBezTo>
                    <a:cubicBezTo>
                      <a:pt x="9" y="27"/>
                      <a:pt x="24" y="24"/>
                      <a:pt x="24" y="24"/>
                    </a:cubicBezTo>
                    <a:cubicBezTo>
                      <a:pt x="46" y="18"/>
                      <a:pt x="49" y="13"/>
                      <a:pt x="49" y="13"/>
                    </a:cubicBezTo>
                    <a:cubicBezTo>
                      <a:pt x="53" y="13"/>
                      <a:pt x="58" y="13"/>
                      <a:pt x="58" y="13"/>
                    </a:cubicBezTo>
                    <a:lnTo>
                      <a:pt x="58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2" name="Freeform 38"/>
              <p:cNvSpPr/>
              <p:nvPr/>
            </p:nvSpPr>
            <p:spPr bwMode="auto">
              <a:xfrm>
                <a:off x="537890" y="573609"/>
                <a:ext cx="18126" cy="16400"/>
              </a:xfrm>
              <a:custGeom>
                <a:avLst/>
                <a:gdLst>
                  <a:gd name="T0" fmla="*/ 10 w 18"/>
                  <a:gd name="T1" fmla="*/ 5 h 16"/>
                  <a:gd name="T2" fmla="*/ 4 w 18"/>
                  <a:gd name="T3" fmla="*/ 14 h 16"/>
                  <a:gd name="T4" fmla="*/ 3 w 18"/>
                  <a:gd name="T5" fmla="*/ 16 h 16"/>
                  <a:gd name="T6" fmla="*/ 14 w 18"/>
                  <a:gd name="T7" fmla="*/ 13 h 16"/>
                  <a:gd name="T8" fmla="*/ 14 w 18"/>
                  <a:gd name="T9" fmla="*/ 4 h 16"/>
                  <a:gd name="T10" fmla="*/ 10 w 18"/>
                  <a:gd name="T11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16">
                    <a:moveTo>
                      <a:pt x="10" y="5"/>
                    </a:moveTo>
                    <a:cubicBezTo>
                      <a:pt x="10" y="5"/>
                      <a:pt x="7" y="14"/>
                      <a:pt x="4" y="14"/>
                    </a:cubicBezTo>
                    <a:cubicBezTo>
                      <a:pt x="4" y="14"/>
                      <a:pt x="0" y="16"/>
                      <a:pt x="3" y="16"/>
                    </a:cubicBezTo>
                    <a:cubicBezTo>
                      <a:pt x="3" y="16"/>
                      <a:pt x="10" y="13"/>
                      <a:pt x="14" y="13"/>
                    </a:cubicBezTo>
                    <a:cubicBezTo>
                      <a:pt x="14" y="13"/>
                      <a:pt x="18" y="10"/>
                      <a:pt x="14" y="4"/>
                    </a:cubicBezTo>
                    <a:cubicBezTo>
                      <a:pt x="14" y="4"/>
                      <a:pt x="12" y="0"/>
                      <a:pt x="1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3" name="Freeform 39"/>
              <p:cNvSpPr>
                <a:spLocks noEditPoints="1"/>
              </p:cNvSpPr>
              <p:nvPr/>
            </p:nvSpPr>
            <p:spPr bwMode="auto">
              <a:xfrm>
                <a:off x="625501" y="652588"/>
                <a:ext cx="61284" cy="38842"/>
              </a:xfrm>
              <a:custGeom>
                <a:avLst/>
                <a:gdLst>
                  <a:gd name="T0" fmla="*/ 59 w 60"/>
                  <a:gd name="T1" fmla="*/ 18 h 38"/>
                  <a:gd name="T2" fmla="*/ 58 w 60"/>
                  <a:gd name="T3" fmla="*/ 18 h 38"/>
                  <a:gd name="T4" fmla="*/ 54 w 60"/>
                  <a:gd name="T5" fmla="*/ 15 h 38"/>
                  <a:gd name="T6" fmla="*/ 52 w 60"/>
                  <a:gd name="T7" fmla="*/ 11 h 38"/>
                  <a:gd name="T8" fmla="*/ 49 w 60"/>
                  <a:gd name="T9" fmla="*/ 10 h 38"/>
                  <a:gd name="T10" fmla="*/ 42 w 60"/>
                  <a:gd name="T11" fmla="*/ 5 h 38"/>
                  <a:gd name="T12" fmla="*/ 44 w 60"/>
                  <a:gd name="T13" fmla="*/ 2 h 38"/>
                  <a:gd name="T14" fmla="*/ 42 w 60"/>
                  <a:gd name="T15" fmla="*/ 0 h 38"/>
                  <a:gd name="T16" fmla="*/ 36 w 60"/>
                  <a:gd name="T17" fmla="*/ 2 h 38"/>
                  <a:gd name="T18" fmla="*/ 39 w 60"/>
                  <a:gd name="T19" fmla="*/ 6 h 38"/>
                  <a:gd name="T20" fmla="*/ 47 w 60"/>
                  <a:gd name="T21" fmla="*/ 11 h 38"/>
                  <a:gd name="T22" fmla="*/ 47 w 60"/>
                  <a:gd name="T23" fmla="*/ 16 h 38"/>
                  <a:gd name="T24" fmla="*/ 43 w 60"/>
                  <a:gd name="T25" fmla="*/ 15 h 38"/>
                  <a:gd name="T26" fmla="*/ 26 w 60"/>
                  <a:gd name="T27" fmla="*/ 5 h 38"/>
                  <a:gd name="T28" fmla="*/ 21 w 60"/>
                  <a:gd name="T29" fmla="*/ 6 h 38"/>
                  <a:gd name="T30" fmla="*/ 22 w 60"/>
                  <a:gd name="T31" fmla="*/ 10 h 38"/>
                  <a:gd name="T32" fmla="*/ 27 w 60"/>
                  <a:gd name="T33" fmla="*/ 13 h 38"/>
                  <a:gd name="T34" fmla="*/ 21 w 60"/>
                  <a:gd name="T35" fmla="*/ 13 h 38"/>
                  <a:gd name="T36" fmla="*/ 19 w 60"/>
                  <a:gd name="T37" fmla="*/ 17 h 38"/>
                  <a:gd name="T38" fmla="*/ 18 w 60"/>
                  <a:gd name="T39" fmla="*/ 23 h 38"/>
                  <a:gd name="T40" fmla="*/ 6 w 60"/>
                  <a:gd name="T41" fmla="*/ 5 h 38"/>
                  <a:gd name="T42" fmla="*/ 1 w 60"/>
                  <a:gd name="T43" fmla="*/ 22 h 38"/>
                  <a:gd name="T44" fmla="*/ 8 w 60"/>
                  <a:gd name="T45" fmla="*/ 29 h 38"/>
                  <a:gd name="T46" fmla="*/ 14 w 60"/>
                  <a:gd name="T47" fmla="*/ 28 h 38"/>
                  <a:gd name="T48" fmla="*/ 15 w 60"/>
                  <a:gd name="T49" fmla="*/ 28 h 38"/>
                  <a:gd name="T50" fmla="*/ 15 w 60"/>
                  <a:gd name="T51" fmla="*/ 32 h 38"/>
                  <a:gd name="T52" fmla="*/ 15 w 60"/>
                  <a:gd name="T53" fmla="*/ 35 h 38"/>
                  <a:gd name="T54" fmla="*/ 19 w 60"/>
                  <a:gd name="T55" fmla="*/ 33 h 38"/>
                  <a:gd name="T56" fmla="*/ 19 w 60"/>
                  <a:gd name="T57" fmla="*/ 26 h 38"/>
                  <a:gd name="T58" fmla="*/ 23 w 60"/>
                  <a:gd name="T59" fmla="*/ 18 h 38"/>
                  <a:gd name="T60" fmla="*/ 33 w 60"/>
                  <a:gd name="T61" fmla="*/ 18 h 38"/>
                  <a:gd name="T62" fmla="*/ 31 w 60"/>
                  <a:gd name="T63" fmla="*/ 12 h 38"/>
                  <a:gd name="T64" fmla="*/ 38 w 60"/>
                  <a:gd name="T65" fmla="*/ 17 h 38"/>
                  <a:gd name="T66" fmla="*/ 42 w 60"/>
                  <a:gd name="T67" fmla="*/ 18 h 38"/>
                  <a:gd name="T68" fmla="*/ 47 w 60"/>
                  <a:gd name="T69" fmla="*/ 21 h 38"/>
                  <a:gd name="T70" fmla="*/ 59 w 60"/>
                  <a:gd name="T71" fmla="*/ 24 h 38"/>
                  <a:gd name="T72" fmla="*/ 59 w 60"/>
                  <a:gd name="T73" fmla="*/ 18 h 38"/>
                  <a:gd name="T74" fmla="*/ 9 w 60"/>
                  <a:gd name="T75" fmla="*/ 25 h 38"/>
                  <a:gd name="T76" fmla="*/ 5 w 60"/>
                  <a:gd name="T77" fmla="*/ 15 h 38"/>
                  <a:gd name="T78" fmla="*/ 10 w 60"/>
                  <a:gd name="T79" fmla="*/ 17 h 38"/>
                  <a:gd name="T80" fmla="*/ 14 w 60"/>
                  <a:gd name="T81" fmla="*/ 22 h 38"/>
                  <a:gd name="T82" fmla="*/ 9 w 60"/>
                  <a:gd name="T83" fmla="*/ 25 h 38"/>
                  <a:gd name="T84" fmla="*/ 52 w 60"/>
                  <a:gd name="T85" fmla="*/ 16 h 38"/>
                  <a:gd name="T86" fmla="*/ 53 w 60"/>
                  <a:gd name="T87" fmla="*/ 17 h 38"/>
                  <a:gd name="T88" fmla="*/ 55 w 60"/>
                  <a:gd name="T89" fmla="*/ 18 h 38"/>
                  <a:gd name="T90" fmla="*/ 52 w 60"/>
                  <a:gd name="T91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0" h="38">
                    <a:moveTo>
                      <a:pt x="59" y="18"/>
                    </a:moveTo>
                    <a:cubicBezTo>
                      <a:pt x="58" y="18"/>
                      <a:pt x="58" y="18"/>
                      <a:pt x="5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1" y="15"/>
                      <a:pt x="52" y="11"/>
                    </a:cubicBezTo>
                    <a:cubicBezTo>
                      <a:pt x="52" y="11"/>
                      <a:pt x="51" y="10"/>
                      <a:pt x="49" y="10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0" y="3"/>
                      <a:pt x="44" y="2"/>
                    </a:cubicBezTo>
                    <a:cubicBezTo>
                      <a:pt x="44" y="2"/>
                      <a:pt x="47" y="0"/>
                      <a:pt x="42" y="0"/>
                    </a:cubicBezTo>
                    <a:cubicBezTo>
                      <a:pt x="42" y="0"/>
                      <a:pt x="37" y="1"/>
                      <a:pt x="36" y="2"/>
                    </a:cubicBezTo>
                    <a:cubicBezTo>
                      <a:pt x="36" y="2"/>
                      <a:pt x="36" y="6"/>
                      <a:pt x="39" y="6"/>
                    </a:cubicBezTo>
                    <a:cubicBezTo>
                      <a:pt x="39" y="6"/>
                      <a:pt x="46" y="10"/>
                      <a:pt x="47" y="11"/>
                    </a:cubicBezTo>
                    <a:cubicBezTo>
                      <a:pt x="47" y="11"/>
                      <a:pt x="46" y="15"/>
                      <a:pt x="47" y="16"/>
                    </a:cubicBezTo>
                    <a:cubicBezTo>
                      <a:pt x="47" y="16"/>
                      <a:pt x="46" y="17"/>
                      <a:pt x="43" y="15"/>
                    </a:cubicBezTo>
                    <a:cubicBezTo>
                      <a:pt x="43" y="15"/>
                      <a:pt x="27" y="8"/>
                      <a:pt x="26" y="5"/>
                    </a:cubicBezTo>
                    <a:cubicBezTo>
                      <a:pt x="26" y="5"/>
                      <a:pt x="23" y="5"/>
                      <a:pt x="21" y="6"/>
                    </a:cubicBezTo>
                    <a:cubicBezTo>
                      <a:pt x="21" y="6"/>
                      <a:pt x="21" y="9"/>
                      <a:pt x="22" y="10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3"/>
                      <a:pt x="25" y="14"/>
                      <a:pt x="21" y="13"/>
                    </a:cubicBezTo>
                    <a:cubicBezTo>
                      <a:pt x="21" y="13"/>
                      <a:pt x="17" y="14"/>
                      <a:pt x="19" y="17"/>
                    </a:cubicBezTo>
                    <a:cubicBezTo>
                      <a:pt x="19" y="17"/>
                      <a:pt x="21" y="21"/>
                      <a:pt x="18" y="23"/>
                    </a:cubicBezTo>
                    <a:cubicBezTo>
                      <a:pt x="18" y="23"/>
                      <a:pt x="19" y="15"/>
                      <a:pt x="6" y="5"/>
                    </a:cubicBezTo>
                    <a:cubicBezTo>
                      <a:pt x="6" y="5"/>
                      <a:pt x="3" y="5"/>
                      <a:pt x="1" y="22"/>
                    </a:cubicBezTo>
                    <a:cubicBezTo>
                      <a:pt x="1" y="22"/>
                      <a:pt x="0" y="29"/>
                      <a:pt x="8" y="29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8"/>
                      <a:pt x="14" y="27"/>
                      <a:pt x="15" y="28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13" y="34"/>
                      <a:pt x="15" y="35"/>
                    </a:cubicBezTo>
                    <a:cubicBezTo>
                      <a:pt x="15" y="35"/>
                      <a:pt x="18" y="38"/>
                      <a:pt x="19" y="33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24" y="26"/>
                      <a:pt x="2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6" y="16"/>
                      <a:pt x="31" y="12"/>
                    </a:cubicBezTo>
                    <a:cubicBezTo>
                      <a:pt x="31" y="12"/>
                      <a:pt x="37" y="15"/>
                      <a:pt x="38" y="17"/>
                    </a:cubicBezTo>
                    <a:cubicBezTo>
                      <a:pt x="38" y="17"/>
                      <a:pt x="39" y="18"/>
                      <a:pt x="42" y="18"/>
                    </a:cubicBezTo>
                    <a:cubicBezTo>
                      <a:pt x="42" y="18"/>
                      <a:pt x="42" y="20"/>
                      <a:pt x="47" y="21"/>
                    </a:cubicBezTo>
                    <a:cubicBezTo>
                      <a:pt x="47" y="21"/>
                      <a:pt x="48" y="23"/>
                      <a:pt x="59" y="24"/>
                    </a:cubicBezTo>
                    <a:cubicBezTo>
                      <a:pt x="59" y="24"/>
                      <a:pt x="60" y="20"/>
                      <a:pt x="59" y="18"/>
                    </a:cubicBezTo>
                    <a:close/>
                    <a:moveTo>
                      <a:pt x="9" y="25"/>
                    </a:moveTo>
                    <a:cubicBezTo>
                      <a:pt x="2" y="25"/>
                      <a:pt x="5" y="15"/>
                      <a:pt x="5" y="15"/>
                    </a:cubicBezTo>
                    <a:cubicBezTo>
                      <a:pt x="5" y="10"/>
                      <a:pt x="10" y="17"/>
                      <a:pt x="10" y="17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7" y="26"/>
                      <a:pt x="9" y="25"/>
                      <a:pt x="9" y="25"/>
                    </a:cubicBezTo>
                    <a:close/>
                    <a:moveTo>
                      <a:pt x="52" y="16"/>
                    </a:moveTo>
                    <a:cubicBezTo>
                      <a:pt x="52" y="16"/>
                      <a:pt x="52" y="16"/>
                      <a:pt x="53" y="17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5" y="18"/>
                      <a:pt x="50" y="18"/>
                      <a:pt x="52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4" name="Freeform 40"/>
              <p:cNvSpPr>
                <a:spLocks noEditPoints="1"/>
              </p:cNvSpPr>
              <p:nvPr/>
            </p:nvSpPr>
            <p:spPr bwMode="auto">
              <a:xfrm>
                <a:off x="371300" y="535630"/>
                <a:ext cx="27621" cy="59558"/>
              </a:xfrm>
              <a:custGeom>
                <a:avLst/>
                <a:gdLst>
                  <a:gd name="T0" fmla="*/ 21 w 27"/>
                  <a:gd name="T1" fmla="*/ 38 h 58"/>
                  <a:gd name="T2" fmla="*/ 21 w 27"/>
                  <a:gd name="T3" fmla="*/ 28 h 58"/>
                  <a:gd name="T4" fmla="*/ 20 w 27"/>
                  <a:gd name="T5" fmla="*/ 26 h 58"/>
                  <a:gd name="T6" fmla="*/ 19 w 27"/>
                  <a:gd name="T7" fmla="*/ 24 h 58"/>
                  <a:gd name="T8" fmla="*/ 18 w 27"/>
                  <a:gd name="T9" fmla="*/ 24 h 58"/>
                  <a:gd name="T10" fmla="*/ 14 w 27"/>
                  <a:gd name="T11" fmla="*/ 23 h 58"/>
                  <a:gd name="T12" fmla="*/ 14 w 27"/>
                  <a:gd name="T13" fmla="*/ 20 h 58"/>
                  <a:gd name="T14" fmla="*/ 19 w 27"/>
                  <a:gd name="T15" fmla="*/ 13 h 58"/>
                  <a:gd name="T16" fmla="*/ 18 w 27"/>
                  <a:gd name="T17" fmla="*/ 5 h 58"/>
                  <a:gd name="T18" fmla="*/ 16 w 27"/>
                  <a:gd name="T19" fmla="*/ 4 h 58"/>
                  <a:gd name="T20" fmla="*/ 15 w 27"/>
                  <a:gd name="T21" fmla="*/ 7 h 58"/>
                  <a:gd name="T22" fmla="*/ 12 w 27"/>
                  <a:gd name="T23" fmla="*/ 14 h 58"/>
                  <a:gd name="T24" fmla="*/ 10 w 27"/>
                  <a:gd name="T25" fmla="*/ 4 h 58"/>
                  <a:gd name="T26" fmla="*/ 9 w 27"/>
                  <a:gd name="T27" fmla="*/ 2 h 58"/>
                  <a:gd name="T28" fmla="*/ 8 w 27"/>
                  <a:gd name="T29" fmla="*/ 5 h 58"/>
                  <a:gd name="T30" fmla="*/ 8 w 27"/>
                  <a:gd name="T31" fmla="*/ 22 h 58"/>
                  <a:gd name="T32" fmla="*/ 5 w 27"/>
                  <a:gd name="T33" fmla="*/ 26 h 58"/>
                  <a:gd name="T34" fmla="*/ 4 w 27"/>
                  <a:gd name="T35" fmla="*/ 29 h 58"/>
                  <a:gd name="T36" fmla="*/ 9 w 27"/>
                  <a:gd name="T37" fmla="*/ 30 h 58"/>
                  <a:gd name="T38" fmla="*/ 9 w 27"/>
                  <a:gd name="T39" fmla="*/ 41 h 58"/>
                  <a:gd name="T40" fmla="*/ 9 w 27"/>
                  <a:gd name="T41" fmla="*/ 44 h 58"/>
                  <a:gd name="T42" fmla="*/ 13 w 27"/>
                  <a:gd name="T43" fmla="*/ 45 h 58"/>
                  <a:gd name="T44" fmla="*/ 16 w 27"/>
                  <a:gd name="T45" fmla="*/ 40 h 58"/>
                  <a:gd name="T46" fmla="*/ 17 w 27"/>
                  <a:gd name="T47" fmla="*/ 41 h 58"/>
                  <a:gd name="T48" fmla="*/ 18 w 27"/>
                  <a:gd name="T49" fmla="*/ 45 h 58"/>
                  <a:gd name="T50" fmla="*/ 15 w 27"/>
                  <a:gd name="T51" fmla="*/ 51 h 58"/>
                  <a:gd name="T52" fmla="*/ 13 w 27"/>
                  <a:gd name="T53" fmla="*/ 52 h 58"/>
                  <a:gd name="T54" fmla="*/ 15 w 27"/>
                  <a:gd name="T55" fmla="*/ 57 h 58"/>
                  <a:gd name="T56" fmla="*/ 18 w 27"/>
                  <a:gd name="T57" fmla="*/ 55 h 58"/>
                  <a:gd name="T58" fmla="*/ 18 w 27"/>
                  <a:gd name="T59" fmla="*/ 50 h 58"/>
                  <a:gd name="T60" fmla="*/ 27 w 27"/>
                  <a:gd name="T61" fmla="*/ 52 h 58"/>
                  <a:gd name="T62" fmla="*/ 25 w 27"/>
                  <a:gd name="T63" fmla="*/ 47 h 58"/>
                  <a:gd name="T64" fmla="*/ 21 w 27"/>
                  <a:gd name="T65" fmla="*/ 38 h 58"/>
                  <a:gd name="T66" fmla="*/ 14 w 27"/>
                  <a:gd name="T67" fmla="*/ 36 h 58"/>
                  <a:gd name="T68" fmla="*/ 13 w 27"/>
                  <a:gd name="T69" fmla="*/ 39 h 58"/>
                  <a:gd name="T70" fmla="*/ 11 w 27"/>
                  <a:gd name="T71" fmla="*/ 30 h 58"/>
                  <a:gd name="T72" fmla="*/ 13 w 27"/>
                  <a:gd name="T73" fmla="*/ 25 h 58"/>
                  <a:gd name="T74" fmla="*/ 14 w 27"/>
                  <a:gd name="T75" fmla="*/ 32 h 58"/>
                  <a:gd name="T76" fmla="*/ 14 w 27"/>
                  <a:gd name="T77" fmla="*/ 3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" h="58">
                    <a:moveTo>
                      <a:pt x="21" y="38"/>
                    </a:moveTo>
                    <a:cubicBezTo>
                      <a:pt x="21" y="38"/>
                      <a:pt x="19" y="36"/>
                      <a:pt x="21" y="2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6" y="21"/>
                      <a:pt x="14" y="23"/>
                    </a:cubicBezTo>
                    <a:cubicBezTo>
                      <a:pt x="14" y="23"/>
                      <a:pt x="12" y="23"/>
                      <a:pt x="14" y="2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3"/>
                      <a:pt x="16" y="4"/>
                    </a:cubicBezTo>
                    <a:cubicBezTo>
                      <a:pt x="16" y="4"/>
                      <a:pt x="16" y="5"/>
                      <a:pt x="15" y="7"/>
                    </a:cubicBezTo>
                    <a:cubicBezTo>
                      <a:pt x="14" y="9"/>
                      <a:pt x="12" y="12"/>
                      <a:pt x="12" y="14"/>
                    </a:cubicBezTo>
                    <a:cubicBezTo>
                      <a:pt x="12" y="14"/>
                      <a:pt x="11" y="6"/>
                      <a:pt x="10" y="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6" y="0"/>
                      <a:pt x="8" y="5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6"/>
                      <a:pt x="0" y="27"/>
                      <a:pt x="4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0"/>
                      <a:pt x="17" y="40"/>
                      <a:pt x="17" y="41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5"/>
                      <a:pt x="16" y="50"/>
                      <a:pt x="15" y="51"/>
                    </a:cubicBezTo>
                    <a:cubicBezTo>
                      <a:pt x="15" y="51"/>
                      <a:pt x="15" y="51"/>
                      <a:pt x="13" y="52"/>
                    </a:cubicBezTo>
                    <a:cubicBezTo>
                      <a:pt x="13" y="52"/>
                      <a:pt x="10" y="57"/>
                      <a:pt x="15" y="57"/>
                    </a:cubicBezTo>
                    <a:cubicBezTo>
                      <a:pt x="15" y="57"/>
                      <a:pt x="18" y="58"/>
                      <a:pt x="18" y="55"/>
                    </a:cubicBezTo>
                    <a:cubicBezTo>
                      <a:pt x="18" y="50"/>
                      <a:pt x="18" y="50"/>
                      <a:pt x="18" y="50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7" y="52"/>
                      <a:pt x="27" y="50"/>
                      <a:pt x="25" y="47"/>
                    </a:cubicBezTo>
                    <a:lnTo>
                      <a:pt x="21" y="38"/>
                    </a:lnTo>
                    <a:close/>
                    <a:moveTo>
                      <a:pt x="14" y="36"/>
                    </a:moveTo>
                    <a:cubicBezTo>
                      <a:pt x="13" y="39"/>
                      <a:pt x="13" y="39"/>
                      <a:pt x="13" y="39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0" y="27"/>
                      <a:pt x="13" y="25"/>
                      <a:pt x="13" y="25"/>
                    </a:cubicBezTo>
                    <a:cubicBezTo>
                      <a:pt x="14" y="27"/>
                      <a:pt x="14" y="32"/>
                      <a:pt x="14" y="32"/>
                    </a:cubicBezTo>
                    <a:cubicBezTo>
                      <a:pt x="15" y="35"/>
                      <a:pt x="14" y="36"/>
                      <a:pt x="14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392879" y="574472"/>
                <a:ext cx="12084" cy="8200"/>
              </a:xfrm>
              <a:custGeom>
                <a:avLst/>
                <a:gdLst>
                  <a:gd name="T0" fmla="*/ 8 w 12"/>
                  <a:gd name="T1" fmla="*/ 0 h 8"/>
                  <a:gd name="T2" fmla="*/ 4 w 12"/>
                  <a:gd name="T3" fmla="*/ 1 h 8"/>
                  <a:gd name="T4" fmla="*/ 4 w 12"/>
                  <a:gd name="T5" fmla="*/ 3 h 8"/>
                  <a:gd name="T6" fmla="*/ 9 w 12"/>
                  <a:gd name="T7" fmla="*/ 5 h 8"/>
                  <a:gd name="T8" fmla="*/ 12 w 12"/>
                  <a:gd name="T9" fmla="*/ 5 h 8"/>
                  <a:gd name="T10" fmla="*/ 12 w 12"/>
                  <a:gd name="T11" fmla="*/ 2 h 8"/>
                  <a:gd name="T12" fmla="*/ 8 w 1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8">
                    <a:moveTo>
                      <a:pt x="8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0" y="3"/>
                      <a:pt x="4" y="3"/>
                    </a:cubicBezTo>
                    <a:cubicBezTo>
                      <a:pt x="4" y="3"/>
                      <a:pt x="7" y="4"/>
                      <a:pt x="9" y="5"/>
                    </a:cubicBezTo>
                    <a:cubicBezTo>
                      <a:pt x="9" y="5"/>
                      <a:pt x="11" y="8"/>
                      <a:pt x="12" y="5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0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416184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9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9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510269" y="837305"/>
                <a:ext cx="10358" cy="32800"/>
              </a:xfrm>
              <a:custGeom>
                <a:avLst/>
                <a:gdLst>
                  <a:gd name="T0" fmla="*/ 14 w 24"/>
                  <a:gd name="T1" fmla="*/ 16 h 76"/>
                  <a:gd name="T2" fmla="*/ 5 w 24"/>
                  <a:gd name="T3" fmla="*/ 24 h 76"/>
                  <a:gd name="T4" fmla="*/ 0 w 24"/>
                  <a:gd name="T5" fmla="*/ 14 h 76"/>
                  <a:gd name="T6" fmla="*/ 16 w 24"/>
                  <a:gd name="T7" fmla="*/ 0 h 76"/>
                  <a:gd name="T8" fmla="*/ 24 w 24"/>
                  <a:gd name="T9" fmla="*/ 5 h 76"/>
                  <a:gd name="T10" fmla="*/ 24 w 24"/>
                  <a:gd name="T11" fmla="*/ 76 h 76"/>
                  <a:gd name="T12" fmla="*/ 14 w 24"/>
                  <a:gd name="T13" fmla="*/ 76 h 76"/>
                  <a:gd name="T14" fmla="*/ 14 w 24"/>
                  <a:gd name="T15" fmla="*/ 1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76">
                    <a:moveTo>
                      <a:pt x="14" y="16"/>
                    </a:moveTo>
                    <a:lnTo>
                      <a:pt x="5" y="24"/>
                    </a:lnTo>
                    <a:lnTo>
                      <a:pt x="0" y="14"/>
                    </a:lnTo>
                    <a:lnTo>
                      <a:pt x="16" y="0"/>
                    </a:lnTo>
                    <a:lnTo>
                      <a:pt x="24" y="5"/>
                    </a:lnTo>
                    <a:lnTo>
                      <a:pt x="24" y="76"/>
                    </a:lnTo>
                    <a:lnTo>
                      <a:pt x="14" y="76"/>
                    </a:lnTo>
                    <a:lnTo>
                      <a:pt x="14" y="16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8" name="Freeform 44"/>
              <p:cNvSpPr>
                <a:spLocks noEditPoints="1"/>
              </p:cNvSpPr>
              <p:nvPr/>
            </p:nvSpPr>
            <p:spPr bwMode="auto">
              <a:xfrm>
                <a:off x="442942" y="837305"/>
                <a:ext cx="19421" cy="32800"/>
              </a:xfrm>
              <a:custGeom>
                <a:avLst/>
                <a:gdLst>
                  <a:gd name="T0" fmla="*/ 15 w 19"/>
                  <a:gd name="T1" fmla="*/ 10 h 32"/>
                  <a:gd name="T2" fmla="*/ 15 w 19"/>
                  <a:gd name="T3" fmla="*/ 13 h 32"/>
                  <a:gd name="T4" fmla="*/ 14 w 19"/>
                  <a:gd name="T5" fmla="*/ 15 h 32"/>
                  <a:gd name="T6" fmla="*/ 11 w 19"/>
                  <a:gd name="T7" fmla="*/ 16 h 32"/>
                  <a:gd name="T8" fmla="*/ 8 w 19"/>
                  <a:gd name="T9" fmla="*/ 16 h 32"/>
                  <a:gd name="T10" fmla="*/ 6 w 19"/>
                  <a:gd name="T11" fmla="*/ 15 h 32"/>
                  <a:gd name="T12" fmla="*/ 5 w 19"/>
                  <a:gd name="T13" fmla="*/ 13 h 32"/>
                  <a:gd name="T14" fmla="*/ 5 w 19"/>
                  <a:gd name="T15" fmla="*/ 10 h 32"/>
                  <a:gd name="T16" fmla="*/ 5 w 19"/>
                  <a:gd name="T17" fmla="*/ 8 h 32"/>
                  <a:gd name="T18" fmla="*/ 6 w 19"/>
                  <a:gd name="T19" fmla="*/ 6 h 32"/>
                  <a:gd name="T20" fmla="*/ 8 w 19"/>
                  <a:gd name="T21" fmla="*/ 5 h 32"/>
                  <a:gd name="T22" fmla="*/ 10 w 19"/>
                  <a:gd name="T23" fmla="*/ 5 h 32"/>
                  <a:gd name="T24" fmla="*/ 13 w 19"/>
                  <a:gd name="T25" fmla="*/ 5 h 32"/>
                  <a:gd name="T26" fmla="*/ 15 w 19"/>
                  <a:gd name="T27" fmla="*/ 7 h 32"/>
                  <a:gd name="T28" fmla="*/ 15 w 19"/>
                  <a:gd name="T29" fmla="*/ 10 h 32"/>
                  <a:gd name="T30" fmla="*/ 15 w 19"/>
                  <a:gd name="T31" fmla="*/ 21 h 32"/>
                  <a:gd name="T32" fmla="*/ 15 w 19"/>
                  <a:gd name="T33" fmla="*/ 23 h 32"/>
                  <a:gd name="T34" fmla="*/ 14 w 19"/>
                  <a:gd name="T35" fmla="*/ 25 h 32"/>
                  <a:gd name="T36" fmla="*/ 13 w 19"/>
                  <a:gd name="T37" fmla="*/ 27 h 32"/>
                  <a:gd name="T38" fmla="*/ 11 w 19"/>
                  <a:gd name="T39" fmla="*/ 28 h 32"/>
                  <a:gd name="T40" fmla="*/ 9 w 19"/>
                  <a:gd name="T41" fmla="*/ 28 h 32"/>
                  <a:gd name="T42" fmla="*/ 6 w 19"/>
                  <a:gd name="T43" fmla="*/ 27 h 32"/>
                  <a:gd name="T44" fmla="*/ 5 w 19"/>
                  <a:gd name="T45" fmla="*/ 26 h 32"/>
                  <a:gd name="T46" fmla="*/ 5 w 19"/>
                  <a:gd name="T47" fmla="*/ 24 h 32"/>
                  <a:gd name="T48" fmla="*/ 0 w 19"/>
                  <a:gd name="T49" fmla="*/ 24 h 32"/>
                  <a:gd name="T50" fmla="*/ 1 w 19"/>
                  <a:gd name="T51" fmla="*/ 26 h 32"/>
                  <a:gd name="T52" fmla="*/ 2 w 19"/>
                  <a:gd name="T53" fmla="*/ 29 h 32"/>
                  <a:gd name="T54" fmla="*/ 4 w 19"/>
                  <a:gd name="T55" fmla="*/ 31 h 32"/>
                  <a:gd name="T56" fmla="*/ 6 w 19"/>
                  <a:gd name="T57" fmla="*/ 32 h 32"/>
                  <a:gd name="T58" fmla="*/ 10 w 19"/>
                  <a:gd name="T59" fmla="*/ 32 h 32"/>
                  <a:gd name="T60" fmla="*/ 13 w 19"/>
                  <a:gd name="T61" fmla="*/ 32 h 32"/>
                  <a:gd name="T62" fmla="*/ 16 w 19"/>
                  <a:gd name="T63" fmla="*/ 31 h 32"/>
                  <a:gd name="T64" fmla="*/ 18 w 19"/>
                  <a:gd name="T65" fmla="*/ 29 h 32"/>
                  <a:gd name="T66" fmla="*/ 19 w 19"/>
                  <a:gd name="T67" fmla="*/ 27 h 32"/>
                  <a:gd name="T68" fmla="*/ 19 w 19"/>
                  <a:gd name="T69" fmla="*/ 24 h 32"/>
                  <a:gd name="T70" fmla="*/ 19 w 19"/>
                  <a:gd name="T71" fmla="*/ 20 h 32"/>
                  <a:gd name="T72" fmla="*/ 19 w 19"/>
                  <a:gd name="T73" fmla="*/ 11 h 32"/>
                  <a:gd name="T74" fmla="*/ 19 w 19"/>
                  <a:gd name="T75" fmla="*/ 7 h 32"/>
                  <a:gd name="T76" fmla="*/ 17 w 19"/>
                  <a:gd name="T77" fmla="*/ 4 h 32"/>
                  <a:gd name="T78" fmla="*/ 14 w 19"/>
                  <a:gd name="T79" fmla="*/ 1 h 32"/>
                  <a:gd name="T80" fmla="*/ 10 w 19"/>
                  <a:gd name="T81" fmla="*/ 0 h 32"/>
                  <a:gd name="T82" fmla="*/ 7 w 19"/>
                  <a:gd name="T83" fmla="*/ 1 h 32"/>
                  <a:gd name="T84" fmla="*/ 4 w 19"/>
                  <a:gd name="T85" fmla="*/ 3 h 32"/>
                  <a:gd name="T86" fmla="*/ 2 w 19"/>
                  <a:gd name="T87" fmla="*/ 5 h 32"/>
                  <a:gd name="T88" fmla="*/ 1 w 19"/>
                  <a:gd name="T89" fmla="*/ 8 h 32"/>
                  <a:gd name="T90" fmla="*/ 1 w 19"/>
                  <a:gd name="T91" fmla="*/ 11 h 32"/>
                  <a:gd name="T92" fmla="*/ 1 w 19"/>
                  <a:gd name="T93" fmla="*/ 15 h 32"/>
                  <a:gd name="T94" fmla="*/ 3 w 19"/>
                  <a:gd name="T95" fmla="*/ 18 h 32"/>
                  <a:gd name="T96" fmla="*/ 6 w 19"/>
                  <a:gd name="T97" fmla="*/ 20 h 32"/>
                  <a:gd name="T98" fmla="*/ 10 w 19"/>
                  <a:gd name="T99" fmla="*/ 20 h 32"/>
                  <a:gd name="T100" fmla="*/ 13 w 19"/>
                  <a:gd name="T101" fmla="*/ 20 h 32"/>
                  <a:gd name="T102" fmla="*/ 14 w 19"/>
                  <a:gd name="T103" fmla="*/ 20 h 32"/>
                  <a:gd name="T104" fmla="*/ 15 w 19"/>
                  <a:gd name="T105" fmla="*/ 19 h 32"/>
                  <a:gd name="T106" fmla="*/ 15 w 19"/>
                  <a:gd name="T107" fmla="*/ 2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" h="32">
                    <a:moveTo>
                      <a:pt x="15" y="10"/>
                    </a:moveTo>
                    <a:cubicBezTo>
                      <a:pt x="15" y="11"/>
                      <a:pt x="15" y="12"/>
                      <a:pt x="15" y="13"/>
                    </a:cubicBezTo>
                    <a:cubicBezTo>
                      <a:pt x="15" y="14"/>
                      <a:pt x="14" y="15"/>
                      <a:pt x="14" y="15"/>
                    </a:cubicBezTo>
                    <a:cubicBezTo>
                      <a:pt x="13" y="16"/>
                      <a:pt x="12" y="16"/>
                      <a:pt x="11" y="16"/>
                    </a:cubicBezTo>
                    <a:cubicBezTo>
                      <a:pt x="10" y="16"/>
                      <a:pt x="9" y="16"/>
                      <a:pt x="8" y="16"/>
                    </a:cubicBezTo>
                    <a:cubicBezTo>
                      <a:pt x="8" y="16"/>
                      <a:pt x="7" y="16"/>
                      <a:pt x="6" y="15"/>
                    </a:cubicBezTo>
                    <a:cubicBezTo>
                      <a:pt x="6" y="15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0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6" y="7"/>
                      <a:pt x="6" y="6"/>
                      <a:pt x="6" y="6"/>
                    </a:cubicBezTo>
                    <a:cubicBezTo>
                      <a:pt x="7" y="5"/>
                      <a:pt x="7" y="5"/>
                      <a:pt x="8" y="5"/>
                    </a:cubicBezTo>
                    <a:cubicBezTo>
                      <a:pt x="9" y="5"/>
                      <a:pt x="9" y="5"/>
                      <a:pt x="10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4" y="6"/>
                      <a:pt x="14" y="6"/>
                      <a:pt x="15" y="7"/>
                    </a:cubicBezTo>
                    <a:cubicBezTo>
                      <a:pt x="15" y="8"/>
                      <a:pt x="15" y="8"/>
                      <a:pt x="15" y="10"/>
                    </a:cubicBezTo>
                    <a:close/>
                    <a:moveTo>
                      <a:pt x="15" y="21"/>
                    </a:moveTo>
                    <a:cubicBezTo>
                      <a:pt x="15" y="22"/>
                      <a:pt x="15" y="23"/>
                      <a:pt x="15" y="23"/>
                    </a:cubicBezTo>
                    <a:cubicBezTo>
                      <a:pt x="15" y="24"/>
                      <a:pt x="15" y="25"/>
                      <a:pt x="14" y="25"/>
                    </a:cubicBezTo>
                    <a:cubicBezTo>
                      <a:pt x="14" y="26"/>
                      <a:pt x="14" y="27"/>
                      <a:pt x="13" y="27"/>
                    </a:cubicBezTo>
                    <a:cubicBezTo>
                      <a:pt x="13" y="27"/>
                      <a:pt x="12" y="28"/>
                      <a:pt x="11" y="28"/>
                    </a:cubicBezTo>
                    <a:cubicBezTo>
                      <a:pt x="10" y="28"/>
                      <a:pt x="10" y="28"/>
                      <a:pt x="9" y="28"/>
                    </a:cubicBezTo>
                    <a:cubicBezTo>
                      <a:pt x="8" y="28"/>
                      <a:pt x="7" y="28"/>
                      <a:pt x="6" y="27"/>
                    </a:cubicBezTo>
                    <a:cubicBezTo>
                      <a:pt x="6" y="27"/>
                      <a:pt x="5" y="26"/>
                      <a:pt x="5" y="26"/>
                    </a:cubicBezTo>
                    <a:cubicBezTo>
                      <a:pt x="5" y="25"/>
                      <a:pt x="5" y="25"/>
                      <a:pt x="5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7"/>
                      <a:pt x="1" y="28"/>
                      <a:pt x="2" y="29"/>
                    </a:cubicBezTo>
                    <a:cubicBezTo>
                      <a:pt x="2" y="30"/>
                      <a:pt x="3" y="30"/>
                      <a:pt x="4" y="31"/>
                    </a:cubicBezTo>
                    <a:cubicBezTo>
                      <a:pt x="4" y="31"/>
                      <a:pt x="5" y="32"/>
                      <a:pt x="6" y="32"/>
                    </a:cubicBezTo>
                    <a:cubicBezTo>
                      <a:pt x="8" y="32"/>
                      <a:pt x="9" y="32"/>
                      <a:pt x="10" y="32"/>
                    </a:cubicBezTo>
                    <a:cubicBezTo>
                      <a:pt x="11" y="32"/>
                      <a:pt x="12" y="32"/>
                      <a:pt x="13" y="32"/>
                    </a:cubicBezTo>
                    <a:cubicBezTo>
                      <a:pt x="14" y="32"/>
                      <a:pt x="15" y="31"/>
                      <a:pt x="16" y="31"/>
                    </a:cubicBezTo>
                    <a:cubicBezTo>
                      <a:pt x="16" y="30"/>
                      <a:pt x="17" y="30"/>
                      <a:pt x="18" y="29"/>
                    </a:cubicBezTo>
                    <a:cubicBezTo>
                      <a:pt x="18" y="28"/>
                      <a:pt x="18" y="27"/>
                      <a:pt x="19" y="27"/>
                    </a:cubicBezTo>
                    <a:cubicBezTo>
                      <a:pt x="19" y="26"/>
                      <a:pt x="19" y="25"/>
                      <a:pt x="19" y="24"/>
                    </a:cubicBezTo>
                    <a:cubicBezTo>
                      <a:pt x="19" y="23"/>
                      <a:pt x="19" y="22"/>
                      <a:pt x="19" y="20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8"/>
                      <a:pt x="19" y="7"/>
                    </a:cubicBezTo>
                    <a:cubicBezTo>
                      <a:pt x="19" y="6"/>
                      <a:pt x="18" y="5"/>
                      <a:pt x="17" y="4"/>
                    </a:cubicBezTo>
                    <a:cubicBezTo>
                      <a:pt x="17" y="3"/>
                      <a:pt x="16" y="2"/>
                      <a:pt x="14" y="1"/>
                    </a:cubicBezTo>
                    <a:cubicBezTo>
                      <a:pt x="13" y="1"/>
                      <a:pt x="12" y="0"/>
                      <a:pt x="10" y="0"/>
                    </a:cubicBezTo>
                    <a:cubicBezTo>
                      <a:pt x="9" y="0"/>
                      <a:pt x="8" y="1"/>
                      <a:pt x="7" y="1"/>
                    </a:cubicBezTo>
                    <a:cubicBezTo>
                      <a:pt x="5" y="1"/>
                      <a:pt x="4" y="2"/>
                      <a:pt x="4" y="3"/>
                    </a:cubicBezTo>
                    <a:cubicBezTo>
                      <a:pt x="3" y="3"/>
                      <a:pt x="2" y="4"/>
                      <a:pt x="2" y="5"/>
                    </a:cubicBezTo>
                    <a:cubicBezTo>
                      <a:pt x="1" y="6"/>
                      <a:pt x="1" y="7"/>
                      <a:pt x="1" y="8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3"/>
                      <a:pt x="1" y="14"/>
                      <a:pt x="1" y="15"/>
                    </a:cubicBezTo>
                    <a:cubicBezTo>
                      <a:pt x="2" y="16"/>
                      <a:pt x="2" y="17"/>
                      <a:pt x="3" y="18"/>
                    </a:cubicBezTo>
                    <a:cubicBezTo>
                      <a:pt x="3" y="18"/>
                      <a:pt x="4" y="19"/>
                      <a:pt x="6" y="20"/>
                    </a:cubicBezTo>
                    <a:cubicBezTo>
                      <a:pt x="7" y="20"/>
                      <a:pt x="9" y="20"/>
                      <a:pt x="10" y="20"/>
                    </a:cubicBezTo>
                    <a:cubicBezTo>
                      <a:pt x="11" y="20"/>
                      <a:pt x="12" y="20"/>
                      <a:pt x="13" y="20"/>
                    </a:cubicBezTo>
                    <a:cubicBezTo>
                      <a:pt x="13" y="20"/>
                      <a:pt x="14" y="20"/>
                      <a:pt x="14" y="20"/>
                    </a:cubicBezTo>
                    <a:cubicBezTo>
                      <a:pt x="15" y="19"/>
                      <a:pt x="15" y="19"/>
                      <a:pt x="15" y="19"/>
                    </a:cubicBezTo>
                    <a:lnTo>
                      <a:pt x="15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Freeform 45"/>
              <p:cNvSpPr>
                <a:spLocks noEditPoints="1"/>
              </p:cNvSpPr>
              <p:nvPr/>
            </p:nvSpPr>
            <p:spPr bwMode="auto">
              <a:xfrm>
                <a:off x="476605" y="837305"/>
                <a:ext cx="21579" cy="32800"/>
              </a:xfrm>
              <a:custGeom>
                <a:avLst/>
                <a:gdLst>
                  <a:gd name="T0" fmla="*/ 17 w 21"/>
                  <a:gd name="T1" fmla="*/ 18 h 32"/>
                  <a:gd name="T2" fmla="*/ 17 w 21"/>
                  <a:gd name="T3" fmla="*/ 22 h 32"/>
                  <a:gd name="T4" fmla="*/ 15 w 21"/>
                  <a:gd name="T5" fmla="*/ 25 h 32"/>
                  <a:gd name="T6" fmla="*/ 13 w 21"/>
                  <a:gd name="T7" fmla="*/ 27 h 32"/>
                  <a:gd name="T8" fmla="*/ 11 w 21"/>
                  <a:gd name="T9" fmla="*/ 28 h 32"/>
                  <a:gd name="T10" fmla="*/ 8 w 21"/>
                  <a:gd name="T11" fmla="*/ 27 h 32"/>
                  <a:gd name="T12" fmla="*/ 6 w 21"/>
                  <a:gd name="T13" fmla="*/ 25 h 32"/>
                  <a:gd name="T14" fmla="*/ 5 w 21"/>
                  <a:gd name="T15" fmla="*/ 21 h 32"/>
                  <a:gd name="T16" fmla="*/ 4 w 21"/>
                  <a:gd name="T17" fmla="*/ 17 h 32"/>
                  <a:gd name="T18" fmla="*/ 4 w 21"/>
                  <a:gd name="T19" fmla="*/ 14 h 32"/>
                  <a:gd name="T20" fmla="*/ 5 w 21"/>
                  <a:gd name="T21" fmla="*/ 11 h 32"/>
                  <a:gd name="T22" fmla="*/ 6 w 21"/>
                  <a:gd name="T23" fmla="*/ 7 h 32"/>
                  <a:gd name="T24" fmla="*/ 8 w 21"/>
                  <a:gd name="T25" fmla="*/ 5 h 32"/>
                  <a:gd name="T26" fmla="*/ 11 w 21"/>
                  <a:gd name="T27" fmla="*/ 4 h 32"/>
                  <a:gd name="T28" fmla="*/ 13 w 21"/>
                  <a:gd name="T29" fmla="*/ 5 h 32"/>
                  <a:gd name="T30" fmla="*/ 15 w 21"/>
                  <a:gd name="T31" fmla="*/ 7 h 32"/>
                  <a:gd name="T32" fmla="*/ 17 w 21"/>
                  <a:gd name="T33" fmla="*/ 10 h 32"/>
                  <a:gd name="T34" fmla="*/ 17 w 21"/>
                  <a:gd name="T35" fmla="*/ 15 h 32"/>
                  <a:gd name="T36" fmla="*/ 17 w 21"/>
                  <a:gd name="T37" fmla="*/ 18 h 32"/>
                  <a:gd name="T38" fmla="*/ 21 w 21"/>
                  <a:gd name="T39" fmla="*/ 13 h 32"/>
                  <a:gd name="T40" fmla="*/ 21 w 21"/>
                  <a:gd name="T41" fmla="*/ 9 h 32"/>
                  <a:gd name="T42" fmla="*/ 19 w 21"/>
                  <a:gd name="T43" fmla="*/ 5 h 32"/>
                  <a:gd name="T44" fmla="*/ 17 w 21"/>
                  <a:gd name="T45" fmla="*/ 2 h 32"/>
                  <a:gd name="T46" fmla="*/ 14 w 21"/>
                  <a:gd name="T47" fmla="*/ 1 h 32"/>
                  <a:gd name="T48" fmla="*/ 11 w 21"/>
                  <a:gd name="T49" fmla="*/ 0 h 32"/>
                  <a:gd name="T50" fmla="*/ 7 w 21"/>
                  <a:gd name="T51" fmla="*/ 1 h 32"/>
                  <a:gd name="T52" fmla="*/ 4 w 21"/>
                  <a:gd name="T53" fmla="*/ 3 h 32"/>
                  <a:gd name="T54" fmla="*/ 2 w 21"/>
                  <a:gd name="T55" fmla="*/ 6 h 32"/>
                  <a:gd name="T56" fmla="*/ 1 w 21"/>
                  <a:gd name="T57" fmla="*/ 10 h 32"/>
                  <a:gd name="T58" fmla="*/ 0 w 21"/>
                  <a:gd name="T59" fmla="*/ 14 h 32"/>
                  <a:gd name="T60" fmla="*/ 0 w 21"/>
                  <a:gd name="T61" fmla="*/ 18 h 32"/>
                  <a:gd name="T62" fmla="*/ 1 w 21"/>
                  <a:gd name="T63" fmla="*/ 22 h 32"/>
                  <a:gd name="T64" fmla="*/ 2 w 21"/>
                  <a:gd name="T65" fmla="*/ 26 h 32"/>
                  <a:gd name="T66" fmla="*/ 4 w 21"/>
                  <a:gd name="T67" fmla="*/ 29 h 32"/>
                  <a:gd name="T68" fmla="*/ 7 w 21"/>
                  <a:gd name="T69" fmla="*/ 32 h 32"/>
                  <a:gd name="T70" fmla="*/ 11 w 21"/>
                  <a:gd name="T71" fmla="*/ 32 h 32"/>
                  <a:gd name="T72" fmla="*/ 14 w 21"/>
                  <a:gd name="T73" fmla="*/ 32 h 32"/>
                  <a:gd name="T74" fmla="*/ 17 w 21"/>
                  <a:gd name="T75" fmla="*/ 30 h 32"/>
                  <a:gd name="T76" fmla="*/ 19 w 21"/>
                  <a:gd name="T77" fmla="*/ 28 h 32"/>
                  <a:gd name="T78" fmla="*/ 20 w 21"/>
                  <a:gd name="T79" fmla="*/ 24 h 32"/>
                  <a:gd name="T80" fmla="*/ 21 w 21"/>
                  <a:gd name="T81" fmla="*/ 21 h 32"/>
                  <a:gd name="T82" fmla="*/ 21 w 21"/>
                  <a:gd name="T83" fmla="*/ 18 h 32"/>
                  <a:gd name="T84" fmla="*/ 21 w 21"/>
                  <a:gd name="T85" fmla="*/ 1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" h="32">
                    <a:moveTo>
                      <a:pt x="17" y="18"/>
                    </a:moveTo>
                    <a:cubicBezTo>
                      <a:pt x="17" y="19"/>
                      <a:pt x="17" y="20"/>
                      <a:pt x="17" y="22"/>
                    </a:cubicBezTo>
                    <a:cubicBezTo>
                      <a:pt x="16" y="23"/>
                      <a:pt x="16" y="24"/>
                      <a:pt x="15" y="25"/>
                    </a:cubicBezTo>
                    <a:cubicBezTo>
                      <a:pt x="15" y="26"/>
                      <a:pt x="14" y="27"/>
                      <a:pt x="13" y="27"/>
                    </a:cubicBezTo>
                    <a:cubicBezTo>
                      <a:pt x="12" y="28"/>
                      <a:pt x="12" y="28"/>
                      <a:pt x="11" y="28"/>
                    </a:cubicBezTo>
                    <a:cubicBezTo>
                      <a:pt x="9" y="28"/>
                      <a:pt x="9" y="28"/>
                      <a:pt x="8" y="27"/>
                    </a:cubicBezTo>
                    <a:cubicBezTo>
                      <a:pt x="7" y="27"/>
                      <a:pt x="6" y="26"/>
                      <a:pt x="6" y="25"/>
                    </a:cubicBezTo>
                    <a:cubicBezTo>
                      <a:pt x="5" y="24"/>
                      <a:pt x="5" y="23"/>
                      <a:pt x="5" y="21"/>
                    </a:cubicBezTo>
                    <a:cubicBezTo>
                      <a:pt x="4" y="20"/>
                      <a:pt x="4" y="19"/>
                      <a:pt x="4" y="17"/>
                    </a:cubicBezTo>
                    <a:cubicBezTo>
                      <a:pt x="4" y="15"/>
                      <a:pt x="4" y="14"/>
                      <a:pt x="4" y="14"/>
                    </a:cubicBezTo>
                    <a:cubicBezTo>
                      <a:pt x="4" y="13"/>
                      <a:pt x="5" y="12"/>
                      <a:pt x="5" y="11"/>
                    </a:cubicBezTo>
                    <a:cubicBezTo>
                      <a:pt x="5" y="10"/>
                      <a:pt x="5" y="8"/>
                      <a:pt x="6" y="7"/>
                    </a:cubicBezTo>
                    <a:cubicBezTo>
                      <a:pt x="6" y="7"/>
                      <a:pt x="7" y="6"/>
                      <a:pt x="8" y="5"/>
                    </a:cubicBezTo>
                    <a:cubicBezTo>
                      <a:pt x="9" y="5"/>
                      <a:pt x="10" y="4"/>
                      <a:pt x="11" y="4"/>
                    </a:cubicBezTo>
                    <a:cubicBezTo>
                      <a:pt x="12" y="4"/>
                      <a:pt x="13" y="5"/>
                      <a:pt x="13" y="5"/>
                    </a:cubicBezTo>
                    <a:cubicBezTo>
                      <a:pt x="14" y="6"/>
                      <a:pt x="15" y="6"/>
                      <a:pt x="15" y="7"/>
                    </a:cubicBezTo>
                    <a:cubicBezTo>
                      <a:pt x="16" y="8"/>
                      <a:pt x="16" y="9"/>
                      <a:pt x="17" y="10"/>
                    </a:cubicBezTo>
                    <a:cubicBezTo>
                      <a:pt x="17" y="12"/>
                      <a:pt x="17" y="13"/>
                      <a:pt x="17" y="15"/>
                    </a:cubicBezTo>
                    <a:cubicBezTo>
                      <a:pt x="17" y="16"/>
                      <a:pt x="17" y="17"/>
                      <a:pt x="17" y="18"/>
                    </a:cubicBezTo>
                    <a:close/>
                    <a:moveTo>
                      <a:pt x="21" y="13"/>
                    </a:moveTo>
                    <a:cubicBezTo>
                      <a:pt x="21" y="12"/>
                      <a:pt x="21" y="10"/>
                      <a:pt x="21" y="9"/>
                    </a:cubicBezTo>
                    <a:cubicBezTo>
                      <a:pt x="20" y="8"/>
                      <a:pt x="20" y="7"/>
                      <a:pt x="19" y="5"/>
                    </a:cubicBezTo>
                    <a:cubicBezTo>
                      <a:pt x="19" y="4"/>
                      <a:pt x="18" y="3"/>
                      <a:pt x="17" y="2"/>
                    </a:cubicBezTo>
                    <a:cubicBezTo>
                      <a:pt x="16" y="2"/>
                      <a:pt x="15" y="1"/>
                      <a:pt x="14" y="1"/>
                    </a:cubicBezTo>
                    <a:cubicBezTo>
                      <a:pt x="13" y="0"/>
                      <a:pt x="12" y="0"/>
                      <a:pt x="11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5" y="2"/>
                      <a:pt x="5" y="2"/>
                      <a:pt x="4" y="3"/>
                    </a:cubicBezTo>
                    <a:cubicBezTo>
                      <a:pt x="3" y="4"/>
                      <a:pt x="2" y="5"/>
                      <a:pt x="2" y="6"/>
                    </a:cubicBezTo>
                    <a:cubicBezTo>
                      <a:pt x="1" y="7"/>
                      <a:pt x="1" y="9"/>
                      <a:pt x="1" y="10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6"/>
                      <a:pt x="0" y="18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1" y="24"/>
                      <a:pt x="1" y="25"/>
                      <a:pt x="2" y="26"/>
                    </a:cubicBezTo>
                    <a:cubicBezTo>
                      <a:pt x="2" y="27"/>
                      <a:pt x="3" y="28"/>
                      <a:pt x="4" y="29"/>
                    </a:cubicBezTo>
                    <a:cubicBezTo>
                      <a:pt x="5" y="30"/>
                      <a:pt x="6" y="31"/>
                      <a:pt x="7" y="32"/>
                    </a:cubicBezTo>
                    <a:cubicBezTo>
                      <a:pt x="8" y="32"/>
                      <a:pt x="9" y="32"/>
                      <a:pt x="11" y="32"/>
                    </a:cubicBezTo>
                    <a:cubicBezTo>
                      <a:pt x="12" y="32"/>
                      <a:pt x="13" y="32"/>
                      <a:pt x="14" y="32"/>
                    </a:cubicBezTo>
                    <a:cubicBezTo>
                      <a:pt x="15" y="31"/>
                      <a:pt x="16" y="31"/>
                      <a:pt x="17" y="30"/>
                    </a:cubicBezTo>
                    <a:cubicBezTo>
                      <a:pt x="18" y="30"/>
                      <a:pt x="18" y="29"/>
                      <a:pt x="19" y="28"/>
                    </a:cubicBezTo>
                    <a:cubicBezTo>
                      <a:pt x="20" y="27"/>
                      <a:pt x="20" y="26"/>
                      <a:pt x="20" y="24"/>
                    </a:cubicBezTo>
                    <a:cubicBezTo>
                      <a:pt x="21" y="23"/>
                      <a:pt x="21" y="22"/>
                      <a:pt x="21" y="21"/>
                    </a:cubicBezTo>
                    <a:cubicBezTo>
                      <a:pt x="21" y="19"/>
                      <a:pt x="21" y="18"/>
                      <a:pt x="21" y="18"/>
                    </a:cubicBezTo>
                    <a:cubicBezTo>
                      <a:pt x="21" y="16"/>
                      <a:pt x="21" y="15"/>
                      <a:pt x="21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51445" tIns="25721" rIns="51445" bIns="25721" numCol="1" anchor="t" anchorCtr="0" compatLnSpc="1"/>
              <a:lstStyle/>
              <a:p>
                <a:pPr defTabSz="685800"/>
                <a:endParaRPr lang="zh-CN" altLang="en-US" sz="1015">
                  <a:solidFill>
                    <a:prstClr val="black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</p:grp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9763760" y="676910"/>
          <a:ext cx="2428240" cy="619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</a:tblGrid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solidFill>
                            <a:schemeClr val="dk1"/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  <a:sym typeface="纤黑体" panose="02000000000000000000" charset="-122"/>
                        </a:rPr>
                        <a:t>简单程序的结构</a:t>
                      </a:r>
                      <a:endParaRPr lang="zh-CN" altLang="en-US" sz="2000" b="1">
                        <a:solidFill>
                          <a:schemeClr val="dk1"/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  <a:sym typeface="纤黑体" panose="020000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50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一、运行时视图</a:t>
                      </a:r>
                      <a:endParaRPr lang="zh-CN" altLang="en-US" b="1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1.1 代码段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1.2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数据段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1.3 </a:t>
                      </a:r>
                      <a:r>
                        <a:rPr lang="zh-CN" altLang="en-US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堆段与栈段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二、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程序的装入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2.1 代码的搬运</a:t>
                      </a:r>
                      <a:endParaRPr lang="zh-CN" altLang="en-US"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2.2 数据的搬运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三</a:t>
                      </a:r>
                      <a:r>
                        <a:rPr lang="en-US" altLang="zh-CN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1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程序的生成</a:t>
                      </a:r>
                      <a:endParaRPr lang="zh-CN" altLang="en-US" sz="1800" b="1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3.1 编程语言与工具链</a:t>
                      </a:r>
                      <a:endParaRPr lang="zh-CN" altLang="en-US" sz="1800"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3.2 程序的编译与链接</a:t>
                      </a:r>
                      <a:endParaRPr lang="zh-CN" altLang="en-US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800">
                          <a:ln w="28575" cmpd="dbl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glow rad="12700">
                              <a:schemeClr val="bg1">
                                <a:alpha val="40000"/>
                              </a:schemeClr>
                            </a:glow>
                          </a:effectLst>
                          <a:latin typeface="思源黑体 CN Regular" panose="020B0500000000000000" charset="-122"/>
                          <a:ea typeface="思源黑体 CN Regular" panose="020B0500000000000000" charset="-122"/>
                          <a:sym typeface="+mn-ea"/>
                        </a:rPr>
                        <a:t>3.3 过程调用与栈框</a:t>
                      </a:r>
                      <a:endParaRPr lang="zh-CN" altLang="en-US" sz="1800">
                        <a:ln w="28575" cmpd="dbl">
                          <a:noFill/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glow rad="12700">
                            <a:schemeClr val="bg1">
                              <a:alpha val="40000"/>
                            </a:schemeClr>
                          </a:glow>
                        </a:effectLst>
                        <a:latin typeface="思源黑体 CN Regular" panose="020B0500000000000000" charset="-122"/>
                        <a:ea typeface="思源黑体 CN Regular" panose="020B0500000000000000" charset="-122"/>
                        <a:sym typeface="+mn-ea"/>
                      </a:endParaRPr>
                    </a:p>
                  </a:txBody>
                  <a:tcPr anchor="ctr" anchorCtr="0">
                    <a:solidFill>
                      <a:srgbClr val="9C0B15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潘润宇</a:t>
                      </a:r>
                      <a:r>
                        <a:rPr lang="en-US" altLang="zh-CN" sz="1200" b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思源黑体 CN Regular" panose="020B0500000000000000" charset="-122"/>
                          <a:ea typeface="思源黑体 CN Regular" panose="020B0500000000000000" charset="-122"/>
                        </a:rPr>
                        <a:t> 2023.03</a:t>
                      </a:r>
                      <a:endParaRPr lang="en-US" altLang="zh-CN" sz="1200" b="1">
                        <a:solidFill>
                          <a:schemeClr val="bg1">
                            <a:lumMod val="65000"/>
                          </a:schemeClr>
                        </a:solidFill>
                        <a:latin typeface="思源黑体 CN Regular" panose="020B0500000000000000" charset="-122"/>
                        <a:ea typeface="思源黑体 CN Regular" panose="020B0500000000000000" charset="-122"/>
                      </a:endParaRPr>
                    </a:p>
                  </a:txBody>
                  <a:tcPr anchor="ctr" anchorCtr="0">
                    <a:solidFill>
                      <a:srgbClr val="9C0B15">
                        <a:alpha val="2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" name="圆角矩形 1"/>
          <p:cNvSpPr/>
          <p:nvPr/>
        </p:nvSpPr>
        <p:spPr>
          <a:xfrm>
            <a:off x="23495" y="36830"/>
            <a:ext cx="9740265" cy="6746240"/>
          </a:xfrm>
          <a:prstGeom prst="roundRect">
            <a:avLst>
              <a:gd name="adj" fmla="val 1863"/>
            </a:avLst>
          </a:prstGeom>
          <a:noFill/>
          <a:ln w="44450" cmpd="sng">
            <a:solidFill>
              <a:srgbClr val="9C0B15"/>
            </a:solidFill>
            <a:prstDash val="solid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Text Box 2"/>
          <p:cNvSpPr txBox="1"/>
          <p:nvPr>
            <p:custDataLst>
              <p:tags r:id="rId2"/>
            </p:custDataLst>
          </p:nvPr>
        </p:nvSpPr>
        <p:spPr>
          <a:xfrm>
            <a:off x="428625" y="140335"/>
            <a:ext cx="8930640" cy="624713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SzTx/>
              <a:buFontTx/>
            </a:pPr>
            <a:r>
              <a:rPr lang="en-US" altLang="zh-CN" sz="2000" b="1">
                <a:solidFill>
                  <a:srgbClr val="9C0B15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号作业：第</a:t>
            </a:r>
            <a:r>
              <a:rPr lang="en-US" altLang="zh-CN" sz="2000" b="1">
                <a:solidFill>
                  <a:srgbClr val="9C0B15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rgbClr val="9C0B15"/>
                </a:solidFill>
                <a:sym typeface="+mn-ea"/>
              </a:rPr>
              <a:t>周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题目一</a:t>
            </a:r>
            <a:r>
              <a:rPr lang="en-US" altLang="zh-CN" sz="2000">
                <a:sym typeface="+mn-ea"/>
              </a:rPr>
              <a:t>  </a:t>
            </a:r>
            <a:r>
              <a:rPr lang="zh-CN" altLang="en-US" sz="2000">
                <a:sym typeface="+mn-ea"/>
              </a:rPr>
              <a:t>如果代码段所在的外存可以直接执行，是否一定需要操作系统来进行其它段的装入和初始化？为什么？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题目二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如果程序的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.rodata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.rwdata</a:t>
            </a:r>
            <a:r>
              <a:rPr lang="zh-CN" altLang="en-US" sz="2000">
                <a:sym typeface="+mn-ea"/>
              </a:rPr>
              <a:t>中包含有大量的重复数据，有无可能通过某种方法让外存上的可执行文件的体积进一步减小？这样做除了节约外存空间之外还有什么好处？业界的常见解决方案是什么，能否给出一个（工程上的）例子？提示：自解压压缩文件、内外存的访问速度差别。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题目三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在某些操作系统（尤指嵌入式系统）中，</a:t>
            </a:r>
            <a:r>
              <a:rPr lang="en-US" altLang="zh-CN" sz="2000">
                <a:sym typeface="+mn-ea"/>
              </a:rPr>
              <a:t>.text</a:t>
            </a:r>
            <a:r>
              <a:rPr lang="zh-CN" altLang="en-US" sz="2000">
                <a:sym typeface="+mn-ea"/>
              </a:rPr>
              <a:t>段被加载为不可读写仅可执行（</a:t>
            </a:r>
            <a:r>
              <a:rPr lang="en-US" altLang="zh-CN" sz="2000">
                <a:sym typeface="+mn-ea"/>
              </a:rPr>
              <a:t>execute-only code</a:t>
            </a:r>
            <a:r>
              <a:rPr lang="zh-CN" altLang="en-US" sz="2000">
                <a:sym typeface="+mn-ea"/>
              </a:rPr>
              <a:t>）</a:t>
            </a:r>
            <a:r>
              <a:rPr lang="zh-CN" sz="2000">
                <a:sym typeface="+mn-ea"/>
              </a:rPr>
              <a:t>。查阅相关资料，简述这样做的好处。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题目四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对几个</a:t>
            </a:r>
            <a:r>
              <a:rPr lang="en-US" altLang="zh-CN" sz="2000">
                <a:sym typeface="+mn-ea"/>
              </a:rPr>
              <a:t>Linux</a:t>
            </a:r>
            <a:r>
              <a:rPr lang="zh-CN" altLang="en-US" sz="2000">
                <a:sym typeface="+mn-ea"/>
              </a:rPr>
              <a:t>下的可执行程序与目标文件使用</a:t>
            </a:r>
            <a:r>
              <a:rPr lang="en-US" altLang="zh-CN" sz="2000">
                <a:sym typeface="+mn-ea"/>
              </a:rPr>
              <a:t>objdump -S</a:t>
            </a:r>
            <a:r>
              <a:rPr lang="zh-CN" altLang="en-US" sz="2000">
                <a:sym typeface="+mn-ea"/>
              </a:rPr>
              <a:t>。简要讲讲输出的内容都包含什么？可执行程序的输出与尚未链接的目标文件的输出有何不同？</a:t>
            </a:r>
            <a:endParaRPr lang="zh-CN" altLang="en-US" sz="2000"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endParaRPr lang="zh-CN" altLang="en-US" sz="2000" b="1">
              <a:solidFill>
                <a:srgbClr val="9C0B15"/>
              </a:solidFill>
              <a:sym typeface="+mn-ea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2000" b="1">
                <a:sym typeface="+mn-ea"/>
              </a:rPr>
              <a:t>题目五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说明栈框的内容，解释过程调用、执行和返回过程中栈框内容的变化情况。查找资料，简要叙述尾递归优化和栈框复用之间的关系。</a:t>
            </a:r>
            <a:endParaRPr lang="zh-CN" altLang="en-US" sz="2000" b="1">
              <a:solidFill>
                <a:srgbClr val="9C0B15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IMING" val="|0.3|0.8|0.7|0.7|1.2|1.3"/>
</p:tagLst>
</file>

<file path=ppt/tags/tag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TIMING" val="|0.6|0.8|1.2|0.9|0.6|1.1|0.7|0.6|0.8|0.4|1"/>
</p:tagLst>
</file>

<file path=ppt/tags/tag1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TIMING" val="|0.6|0.8|1.2|0.9|0.6|1.1|0.7|0.6|0.8|0.4|1"/>
</p:tagLst>
</file>

<file path=ppt/tags/tag3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TIMING" val="|0.6|0.8|1.2|0.9|0.6|1.1|0.7|0.6|0.8|0.4|1"/>
</p:tagLst>
</file>

<file path=ppt/tags/tag4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TIMING" val="|0.6|0.8|1.2|0.9|0.6|1.1|0.7|0.6|0.8|0.4|1"/>
</p:tagLst>
</file>

<file path=ppt/tags/tag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TIMING" val="|0.6|0.8|1.2|0.9|0.6|1.1|0.7|0.6|0.8|0.4|1"/>
</p:tagLst>
</file>

<file path=ppt/tags/tag8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TIMING" val="|0.6|0.8|1.2|0.9|0.6|1.1|0.7|0.6|0.8|0.4|1"/>
</p:tagLst>
</file>

<file path=ppt/tags/tag9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TIMING" val="|0.6|0.8|1.2|0.9|0.6|1.1|0.7|0.6|0.8|0.4|1"/>
</p:tagLst>
</file>

<file path=ppt/tags/tag11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TIMING" val="|0.6|0.8|1.2|0.9|0.6|1.1|0.7|0.6|0.8|0.4|1"/>
</p:tagLst>
</file>

<file path=ppt/tags/tag1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29.xml><?xml version="1.0" encoding="utf-8"?>
<p:tagLst xmlns:p="http://schemas.openxmlformats.org/presentationml/2006/main">
  <p:tag name="TIMING" val="|0.6|0.8|1.2|0.9|0.6|1.1|0.7|0.6|0.8|0.4|1"/>
</p:tagLst>
</file>

<file path=ppt/tags/tag13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31.xml><?xml version="1.0" encoding="utf-8"?>
<p:tagLst xmlns:p="http://schemas.openxmlformats.org/presentationml/2006/main">
  <p:tag name="TIMING" val="|0.6|0.8|1.2|0.9|0.6|1.1|0.7|0.6|0.8|0.4|1"/>
</p:tagLst>
</file>

<file path=ppt/tags/tag13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TIMING" val="|0.6|0.8|1.2|0.9|0.6|1.1|0.7|0.6|0.8|0.4|1"/>
</p:tagLst>
</file>

<file path=ppt/tags/tag14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TIMING" val="|0.6|0.8|1.2|0.9|0.6|1.1|0.7|0.6|0.8|0.4|1"/>
</p:tagLst>
</file>

<file path=ppt/tags/tag16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65.xml><?xml version="1.0" encoding="utf-8"?>
<p:tagLst xmlns:p="http://schemas.openxmlformats.org/presentationml/2006/main">
  <p:tag name="TIMING" val="|0.6|0.8|1.2|0.9|0.6|1.1|0.7|0.6|0.8|0.4|1"/>
</p:tagLst>
</file>

<file path=ppt/tags/tag16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TIMING" val="|0.6|0.8|1.2|0.9|0.6|1.1|0.7|0.6|0.8|0.4|1"/>
</p:tagLst>
</file>

<file path=ppt/tags/tag18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TIMING" val="|0.6|0.8|1.2|0.9|0.6|1.1|0.7|0.6|0.8|0.4|1"/>
</p:tagLst>
</file>

<file path=ppt/tags/tag21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TIMING" val="|0.6|0.8|1.2|0.9|0.6|1.1|0.7|0.6|0.8|0.4|1"/>
</p:tagLst>
</file>

<file path=ppt/tags/tag2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TIMING" val="|0.6|0.8|1.2|0.9|0.6|1.1|0.7|0.6|0.8|0.4|1"/>
</p:tagLst>
</file>

<file path=ppt/tags/tag24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TIMING" val="|0.6|0.8|1.2|0.9|0.6|1.1|0.7|0.6|0.8|0.4|1"/>
</p:tagLst>
</file>

<file path=ppt/tags/tag25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TIMING" val="|0.6|0.8|1.2|0.9|0.6|1.1|0.7|0.6|0.8|0.4|1"/>
</p:tagLst>
</file>

<file path=ppt/tags/tag26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TIMING" val="|0.6|0.8|1.2|0.9|0.6|1.1|0.7|0.6|0.8|0.4|1"/>
</p:tagLst>
</file>

<file path=ppt/tags/tag28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TIMING" val="|0.6|0.8|1.2|0.9|0.6|1.1|0.7|0.6|0.8|0.4|1"/>
</p:tagLst>
</file>

<file path=ppt/tags/tag29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97.xml><?xml version="1.0" encoding="utf-8"?>
<p:tagLst xmlns:p="http://schemas.openxmlformats.org/presentationml/2006/main">
  <p:tag name="TIMING" val="|0.6|0.8|1.2|0.9|0.6|1.1|0.7|0.6|0.8|0.4|1"/>
</p:tagLst>
</file>

<file path=ppt/tags/tag29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TIMING" val="|0.6|0.8|1.2|0.9|0.6|1.1|0.7|0.6|0.8|0.4|1"/>
</p:tagLst>
</file>

<file path=ppt/tags/tag302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TIMING" val="|0.6|0.8|1.2|0.9|0.6|1.1|0.7|0.6|0.8|0.4|1"/>
</p:tagLst>
</file>

<file path=ppt/tags/tag30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6.xml><?xml version="1.0" encoding="utf-8"?>
<p:tagLst xmlns:p="http://schemas.openxmlformats.org/presentationml/2006/main">
  <p:tag name="KSO_WM_UNIT_PLACING_PICTURE_USER_VIEWPORT" val="{&quot;height&quot;:3180,&quot;width&quot;:5490}"/>
</p:tagLst>
</file>

<file path=ppt/tags/tag307.xml><?xml version="1.0" encoding="utf-8"?>
<p:tagLst xmlns:p="http://schemas.openxmlformats.org/presentationml/2006/main">
  <p:tag name="TIMING" val="|0.6|0.8|1.2|0.9|0.6|1.1|0.7|0.6|0.8|0.4|1"/>
</p:tagLst>
</file>

<file path=ppt/tags/tag30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09.xml><?xml version="1.0" encoding="utf-8"?>
<p:tagLst xmlns:p="http://schemas.openxmlformats.org/presentationml/2006/main">
  <p:tag name="TIMING" val="|0.6|0.8|1.2|0.9|0.6|1.1|0.7|0.6|0.8|0.4|1"/>
</p:tagLst>
</file>

<file path=ppt/tags/tag31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TIMING" val="|0.6|0.8|1.2|0.9|0.6|1.1|0.7|0.6|0.8|0.4|1"/>
</p:tagLst>
</file>

<file path=ppt/tags/tag31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TIMING" val="|0.6|0.8|1.2|0.9|0.6|1.1|0.7|0.6|0.8|0.4|1"/>
</p:tagLst>
</file>

<file path=ppt/tags/tag31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TIMING" val="|0.6|0.8|1.2|0.9|0.6|1.1|0.7|0.6|0.8|0.4|1"/>
</p:tagLst>
</file>

<file path=ppt/tags/tag32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5.xml><?xml version="1.0" encoding="utf-8"?>
<p:tagLst xmlns:p="http://schemas.openxmlformats.org/presentationml/2006/main">
  <p:tag name="TIMING" val="|0.6|0.8|1.2|0.9|0.6|1.1|0.7|0.6|0.8|0.4|1"/>
</p:tagLst>
</file>

<file path=ppt/tags/tag326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7.xml><?xml version="1.0" encoding="utf-8"?>
<p:tagLst xmlns:p="http://schemas.openxmlformats.org/presentationml/2006/main">
  <p:tag name="TIMING" val="|0.6|0.8|1.2|0.9|0.6|1.1|0.7|0.6|0.8|0.4|1"/>
</p:tagLst>
</file>

<file path=ppt/tags/tag328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29.xml><?xml version="1.0" encoding="utf-8"?>
<p:tagLst xmlns:p="http://schemas.openxmlformats.org/presentationml/2006/main">
  <p:tag name="KSO_WM_UNIT_TABLE_BEAUTIFY" val="smartTable{f8eb800a-d3a0-43de-ad0e-1525fc90ab16}"/>
</p:tagLst>
</file>

<file path=ppt/tags/tag330.xml><?xml version="1.0" encoding="utf-8"?>
<p:tagLst xmlns:p="http://schemas.openxmlformats.org/presentationml/2006/main">
  <p:tag name="TIMING" val="|0.6|0.8|1.2|0.9|0.6|1.1|0.7|0.6|0.8|0.4|1"/>
</p:tagLst>
</file>

<file path=ppt/tags/tag33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2.xml><?xml version="1.0" encoding="utf-8"?>
<p:tagLst xmlns:p="http://schemas.openxmlformats.org/presentationml/2006/main">
  <p:tag name="KSO_WM_UNIT_TABLE_BEAUTIFY" val="smartTable{8678f89f-5388-4589-a2d2-2714e8a9cdb4}"/>
</p:tagLst>
</file>

<file path=ppt/tags/tag333.xml><?xml version="1.0" encoding="utf-8"?>
<p:tagLst xmlns:p="http://schemas.openxmlformats.org/presentationml/2006/main">
  <p:tag name="TIMING" val="|0.6|0.8|1.2|0.9|0.6|1.1|0.7|0.6|0.8|0.4|1"/>
</p:tagLst>
</file>

<file path=ppt/tags/tag334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5.xml><?xml version="1.0" encoding="utf-8"?>
<p:tagLst xmlns:p="http://schemas.openxmlformats.org/presentationml/2006/main">
  <p:tag name="KSO_WM_UNIT_TABLE_BEAUTIFY" val="smartTable{21265262-35c2-4106-8d15-85af962a1768}"/>
</p:tagLst>
</file>

<file path=ppt/tags/tag336.xml><?xml version="1.0" encoding="utf-8"?>
<p:tagLst xmlns:p="http://schemas.openxmlformats.org/presentationml/2006/main">
  <p:tag name="TIMING" val="|0.6|0.8|1.2|0.9|0.6|1.1|0.7|0.6|0.8|0.4|1"/>
</p:tagLst>
</file>

<file path=ppt/tags/tag33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38.xml><?xml version="1.0" encoding="utf-8"?>
<p:tagLst xmlns:p="http://schemas.openxmlformats.org/presentationml/2006/main">
  <p:tag name="KSO_WM_UNIT_TABLE_BEAUTIFY" val="smartTable{f6ae9bbf-5ac0-495b-8ab4-75f2943a9ed5}"/>
  <p:tag name="TABLE_ENDDRAG_ORIGIN_RECT" val="675*318"/>
  <p:tag name="TABLE_ENDDRAG_RECT" val="60*215*675*318"/>
</p:tagLst>
</file>

<file path=ppt/tags/tag339.xml><?xml version="1.0" encoding="utf-8"?>
<p:tagLst xmlns:p="http://schemas.openxmlformats.org/presentationml/2006/main">
  <p:tag name="TIMING" val="|0.6|0.8|1.2|0.9|0.6|1.1|0.7|0.6|0.8|0.4|1"/>
</p:tagLst>
</file>

<file path=ppt/tags/tag340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1.xml><?xml version="1.0" encoding="utf-8"?>
<p:tagLst xmlns:p="http://schemas.openxmlformats.org/presentationml/2006/main">
  <p:tag name="KSO_WM_UNIT_TABLE_BEAUTIFY" val="smartTable{8678f89f-5388-4589-a2d2-2714e8a9cdb4}"/>
  <p:tag name="TABLE_ENDDRAG_ORIGIN_RECT" val="127*204"/>
  <p:tag name="TABLE_ENDDRAG_RECT" val="26*358*127*204"/>
</p:tagLst>
</file>

<file path=ppt/tags/tag342.xml><?xml version="1.0" encoding="utf-8"?>
<p:tagLst xmlns:p="http://schemas.openxmlformats.org/presentationml/2006/main">
  <p:tag name="TIMING" val="|0.6|0.8|1.2|0.9|0.6|1.1|0.7|0.6|0.8|0.4|1"/>
</p:tagLst>
</file>

<file path=ppt/tags/tag34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4.xml><?xml version="1.0" encoding="utf-8"?>
<p:tagLst xmlns:p="http://schemas.openxmlformats.org/presentationml/2006/main">
  <p:tag name="TIMING" val="|0.6|0.8|1.2|0.9|0.6|1.1|0.7|0.6|0.8|0.4|1"/>
</p:tagLst>
</file>

<file path=ppt/tags/tag34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6.xml><?xml version="1.0" encoding="utf-8"?>
<p:tagLst xmlns:p="http://schemas.openxmlformats.org/presentationml/2006/main">
  <p:tag name="TIMING" val="|0.6|0.8|1.2|0.9|0.6|1.1|0.7|0.6|0.8|0.4|1"/>
</p:tagLst>
</file>

<file path=ppt/tags/tag34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48.xml><?xml version="1.0" encoding="utf-8"?>
<p:tagLst xmlns:p="http://schemas.openxmlformats.org/presentationml/2006/main">
  <p:tag name="TIMING" val="|0.6|0.8|1.2|0.9|0.6|1.1|0.7|0.6|0.8|0.4|1"/>
</p:tagLst>
</file>

<file path=ppt/tags/tag34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0.xml><?xml version="1.0" encoding="utf-8"?>
<p:tagLst xmlns:p="http://schemas.openxmlformats.org/presentationml/2006/main">
  <p:tag name="TIMING" val="|0.6|0.8|1.2|0.9|0.6|1.1|0.7|0.6|0.8|0.4|1"/>
</p:tagLst>
</file>

<file path=ppt/tags/tag35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2.xml><?xml version="1.0" encoding="utf-8"?>
<p:tagLst xmlns:p="http://schemas.openxmlformats.org/presentationml/2006/main">
  <p:tag name="TIMING" val="|0.6|0.8|1.2|0.9|0.6|1.1|0.7|0.6|0.8|0.4|1"/>
</p:tagLst>
</file>

<file path=ppt/tags/tag35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4.xml><?xml version="1.0" encoding="utf-8"?>
<p:tagLst xmlns:p="http://schemas.openxmlformats.org/presentationml/2006/main">
  <p:tag name="TIMING" val="|0.6|0.8|1.2|0.9|0.6|1.1|0.7|0.6|0.8|0.4|1"/>
</p:tagLst>
</file>

<file path=ppt/tags/tag355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6.xml><?xml version="1.0" encoding="utf-8"?>
<p:tagLst xmlns:p="http://schemas.openxmlformats.org/presentationml/2006/main">
  <p:tag name="TIMING" val="|0.6|0.8|1.2|0.9|0.6|1.1|0.7|0.6|0.8|0.4|1"/>
</p:tagLst>
</file>

<file path=ppt/tags/tag357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58.xml><?xml version="1.0" encoding="utf-8"?>
<p:tagLst xmlns:p="http://schemas.openxmlformats.org/presentationml/2006/main">
  <p:tag name="TIMING" val="|0.6|0.8|1.2|0.9|0.6|1.1|0.7|0.6|0.8|0.4|1"/>
</p:tagLst>
</file>

<file path=ppt/tags/tag359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0.xml><?xml version="1.0" encoding="utf-8"?>
<p:tagLst xmlns:p="http://schemas.openxmlformats.org/presentationml/2006/main">
  <p:tag name="TIMING" val="|0.6|0.8|1.2|0.9|0.6|1.1|0.7|0.6|0.8|0.4|1"/>
</p:tagLst>
</file>

<file path=ppt/tags/tag361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2.xml><?xml version="1.0" encoding="utf-8"?>
<p:tagLst xmlns:p="http://schemas.openxmlformats.org/presentationml/2006/main">
  <p:tag name="TIMING" val="|0.6|0.8|1.2|0.9|0.6|1.1|0.7|0.6|0.8|0.4|1"/>
</p:tagLst>
</file>

<file path=ppt/tags/tag363.xml><?xml version="1.0" encoding="utf-8"?>
<p:tagLst xmlns:p="http://schemas.openxmlformats.org/presentationml/2006/main">
  <p:tag name="TABLE_ENDDRAG_ORIGIN_RECT" val="191*487"/>
  <p:tag name="TABLE_ENDDRAG_RECT" val="768*53*191*487"/>
</p:tagLst>
</file>

<file path=ppt/tags/tag364.xml><?xml version="1.0" encoding="utf-8"?>
<p:tagLst xmlns:p="http://schemas.openxmlformats.org/presentationml/2006/main">
  <p:tag name="KSO_WM_UNIT_PLACING_PICTURE_USER_VIEWPORT" val="{&quot;height&quot;:628,&quot;width&quot;:14064}"/>
</p:tagLst>
</file>

<file path=ppt/tags/tag365.xml><?xml version="1.0" encoding="utf-8"?>
<p:tagLst xmlns:p="http://schemas.openxmlformats.org/presentationml/2006/main">
  <p:tag name="TIMING" val="|0.6|0.8|1.2|0.9|0.6|1.1|0.7|0.6|0.8|0.4|1"/>
</p:tagLst>
</file>

<file path=ppt/tags/tag366.xml><?xml version="1.0" encoding="utf-8"?>
<p:tagLst xmlns:p="http://schemas.openxmlformats.org/presentationml/2006/main">
  <p:tag name="COMMONDATA" val="eyJoZGlkIjoiYWEwMGE1NWI5YzQ1ZTYxZmY0OTNkMmVjYzk0YWI1NTEifQ=="/>
  <p:tag name="KSO_WPP_MARK_KEY" val="ea960164-350d-4fc9-8fca-74c705e2302e"/>
  <p:tag name="commondata" val="eyJoZGlkIjoiNGY1OTNlYzdlMWQ2NDQ3ODU2NzFhYmIzMTgyYzM0ZG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02F3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19628</Words>
  <Application>WPS 演示</Application>
  <PresentationFormat>宽屏</PresentationFormat>
  <Paragraphs>2864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0" baseType="lpstr">
      <vt:lpstr>Arial</vt:lpstr>
      <vt:lpstr>宋体</vt:lpstr>
      <vt:lpstr>Wingdings</vt:lpstr>
      <vt:lpstr>Calibri</vt:lpstr>
      <vt:lpstr>等线</vt:lpstr>
      <vt:lpstr>华文楷体</vt:lpstr>
      <vt:lpstr>思源黑体 CN Regular</vt:lpstr>
      <vt:lpstr>纤黑体</vt:lpstr>
      <vt:lpstr>黑体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</dc:creator>
  <cp:lastModifiedBy>风暴鸟</cp:lastModifiedBy>
  <cp:revision>1467</cp:revision>
  <dcterms:created xsi:type="dcterms:W3CDTF">2020-07-23T10:11:00Z</dcterms:created>
  <dcterms:modified xsi:type="dcterms:W3CDTF">2026-03-16T11:07:45Z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5A1EE12111F04212A09581045797DBEA</vt:lpwstr>
  </property>
</Properties>
</file>